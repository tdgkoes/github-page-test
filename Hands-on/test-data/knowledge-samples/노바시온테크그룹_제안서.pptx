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7" r:id="rId4"/>
  </p:sldMasterIdLst>
  <p:notesMasterIdLst>
    <p:notesMasterId r:id="rId45"/>
  </p:notesMasterIdLst>
  <p:sldIdLst>
    <p:sldId id="401" r:id="rId5"/>
    <p:sldId id="402" r:id="rId6"/>
    <p:sldId id="403" r:id="rId7"/>
    <p:sldId id="404" r:id="rId8"/>
    <p:sldId id="405" r:id="rId9"/>
    <p:sldId id="406" r:id="rId10"/>
    <p:sldId id="407" r:id="rId11"/>
    <p:sldId id="408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6" r:id="rId20"/>
    <p:sldId id="417" r:id="rId21"/>
    <p:sldId id="418" r:id="rId22"/>
    <p:sldId id="419" r:id="rId23"/>
    <p:sldId id="420" r:id="rId24"/>
    <p:sldId id="421" r:id="rId25"/>
    <p:sldId id="422" r:id="rId26"/>
    <p:sldId id="423" r:id="rId27"/>
    <p:sldId id="424" r:id="rId28"/>
    <p:sldId id="425" r:id="rId29"/>
    <p:sldId id="426" r:id="rId30"/>
    <p:sldId id="427" r:id="rId31"/>
    <p:sldId id="428" r:id="rId32"/>
    <p:sldId id="429" r:id="rId33"/>
    <p:sldId id="430" r:id="rId34"/>
    <p:sldId id="431" r:id="rId35"/>
    <p:sldId id="432" r:id="rId36"/>
    <p:sldId id="433" r:id="rId37"/>
    <p:sldId id="434" r:id="rId38"/>
    <p:sldId id="435" r:id="rId39"/>
    <p:sldId id="436" r:id="rId40"/>
    <p:sldId id="437" r:id="rId41"/>
    <p:sldId id="438" r:id="rId42"/>
    <p:sldId id="439" r:id="rId43"/>
    <p:sldId id="440" r:id="rId44"/>
  </p:sldIdLst>
  <p:sldSz cx="9906000" cy="6858000" type="A4"/>
  <p:notesSz cx="6797675" cy="9926638"/>
  <p:embeddedFontLst>
    <p:embeddedFont>
      <p:font typeface="Pretendard" panose="020B0600000101010101" charset="-127"/>
      <p:regular r:id="rId46"/>
      <p:bold r:id="rId47"/>
    </p:embeddedFont>
    <p:embeddedFont>
      <p:font typeface="Pretendard ExtraBold" panose="020B0600000101010101" charset="-127"/>
      <p:bold r:id="rId48"/>
    </p:embeddedFont>
    <p:embeddedFont>
      <p:font typeface="Pretendard Medium" panose="020B0600000101010101" charset="-127"/>
      <p:regular r:id="rId49"/>
    </p:embeddedFont>
    <p:embeddedFont>
      <p:font typeface="Pretendard SemiBold" panose="020B0600000101010101" charset="-127"/>
      <p:regular r:id="rId50"/>
      <p:bold r:id="rId51"/>
    </p:embeddedFont>
  </p:embeddedFontLst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349116F-1A07-4A26-B524-A519365B690D}">
          <p14:sldIdLst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</p14:sldIdLst>
        </p14:section>
        <p14:section name="목차" id="{949A6207-4FCE-4309-93A7-F59175B68E7A}">
          <p14:sldIdLst/>
        </p14:section>
        <p14:section name="간지" id="{98057C28-1E84-415F-9752-1F23E1C9443D}">
          <p14:sldIdLst/>
        </p14:section>
        <p14:section name="본문 레이아웃" id="{949BF017-1A58-4684-BBEC-A41839703D2C}">
          <p14:sldIdLst/>
        </p14:section>
        <p14:section name="브랜드 가이드" id="{8328ABE2-E753-4AF6-8DD4-2BCDFCB0D8B6}">
          <p14:sldIdLst/>
        </p14:section>
        <p14:section name="도형 · 색상 라이브러리" id="{290AA657-6A97-4861-976E-E2CA05D19540}">
          <p14:sldIdLst/>
        </p14:section>
      </p14:sectionLst>
    </p:ext>
    <p:ext uri="{EFAFB233-063F-42B5-8137-9DF3F51BA10A}">
      <p15:sldGuideLst xmlns:p15="http://schemas.microsoft.com/office/powerpoint/2012/main">
        <p15:guide id="4" pos="6023" userDrawn="1">
          <p15:clr>
            <a:srgbClr val="A4A3A4"/>
          </p15:clr>
        </p15:guide>
        <p15:guide id="29" orient="horz" pos="981" userDrawn="1">
          <p15:clr>
            <a:srgbClr val="A4A3A4"/>
          </p15:clr>
        </p15:guide>
        <p15:guide id="30" orient="horz" pos="4020" userDrawn="1">
          <p15:clr>
            <a:srgbClr val="A4A3A4"/>
          </p15:clr>
        </p15:guide>
        <p15:guide id="31" pos="217" userDrawn="1">
          <p15:clr>
            <a:srgbClr val="A4A3A4"/>
          </p15:clr>
        </p15:guide>
        <p15:guide id="32" pos="3120" userDrawn="1">
          <p15:clr>
            <a:srgbClr val="A4A3A4"/>
          </p15:clr>
        </p15:guide>
        <p15:guide id="33" orient="horz" pos="2500" userDrawn="1">
          <p15:clr>
            <a:srgbClr val="A4A3A4"/>
          </p15:clr>
        </p15:guide>
        <p15:guide id="34" orient="horz" pos="120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하 은지" initials="하은" lastIdx="3" clrIdx="0">
    <p:extLst>
      <p:ext uri="{19B8F6BF-5375-455C-9EA6-DF929625EA0E}">
        <p15:presenceInfo xmlns:p15="http://schemas.microsoft.com/office/powerpoint/2012/main" userId="4f1175881cdac2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8BFF"/>
    <a:srgbClr val="E8ECF9"/>
    <a:srgbClr val="E6F3FF"/>
    <a:srgbClr val="FFC000"/>
    <a:srgbClr val="00B28F"/>
    <a:srgbClr val="1A47C6"/>
    <a:srgbClr val="B4DCFF"/>
    <a:srgbClr val="FFAE23"/>
    <a:srgbClr val="FFAA2B"/>
    <a:srgbClr val="067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614" y="114"/>
      </p:cViewPr>
      <p:guideLst>
        <p:guide pos="6023"/>
        <p:guide orient="horz" pos="981"/>
        <p:guide orient="horz" pos="4020"/>
        <p:guide pos="217"/>
        <p:guide pos="3120"/>
        <p:guide orient="horz" pos="2500"/>
        <p:guide orient="horz" pos="12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3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C29C3-E76F-4C28-858E-BA0A2B9779E0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5BD2D-87F5-4D83-AE38-415393435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4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379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850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527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442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272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615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696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898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522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110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349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552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575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51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062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296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540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6971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481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9378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1174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4368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4564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790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4621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4954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7037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6230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0014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024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9852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8780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2459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121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6604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866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5795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5743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5BD2D-87F5-4D83-AE38-4153934359D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056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jpeg"/><Relationship Id="rId7" Type="http://schemas.openxmlformats.org/officeDocument/2006/relationships/image" Target="../media/image7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6BC2FF-847C-1A3D-973A-DB6525D73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42938"/>
            <a:ext cx="5728253" cy="4748761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299AC2B5-4B86-4172-1008-8341F2DAE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3001" y="3510280"/>
            <a:ext cx="2925000" cy="877500"/>
          </a:xfrm>
          <a:prstGeom prst="rect">
            <a:avLst/>
          </a:prstGeom>
          <a:noFill/>
        </p:spPr>
        <p:txBody>
          <a:bodyPr wrap="square" rtlCol="0" anchor="ctr">
            <a:normAutofit fontScale="62500" lnSpcReduction="20000"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r>
              <a:rPr lang="ko-KR" altLang="en-US" sz="4875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제목 스타일 편집</a:t>
            </a:r>
            <a:endParaRPr lang="en-US" altLang="ko-KR" sz="4875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FF9D1B-5D8A-B6BF-61F7-8E010233A16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838403" y="5173743"/>
            <a:ext cx="2925000" cy="702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2763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10DEC-E314-E27B-7BDD-E81D5CC29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8403" y="4708311"/>
            <a:ext cx="3861000" cy="292500"/>
          </a:xfrm>
          <a:prstGeom prst="rect">
            <a:avLst/>
          </a:prstGeom>
          <a:solidFill>
            <a:srgbClr val="1A47C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5500" rIns="73125" rtlCol="0" anchor="ctr"/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138">
                <a:ln w="6350">
                  <a:noFill/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12" name="삼각형 11">
            <a:extLst>
              <a:ext uri="{FF2B5EF4-FFF2-40B4-BE49-F238E27FC236}">
                <a16:creationId xmlns:a16="http://schemas.microsoft.com/office/drawing/2014/main" id="{F4955769-7E47-049A-9AFD-47EA2D1FBAD0}"/>
              </a:ext>
            </a:extLst>
          </p:cNvPr>
          <p:cNvSpPr>
            <a:spLocks noChangeAspect="1"/>
          </p:cNvSpPr>
          <p:nvPr/>
        </p:nvSpPr>
        <p:spPr>
          <a:xfrm rot="5400000">
            <a:off x="9514733" y="4811696"/>
            <a:ext cx="99450" cy="85733"/>
          </a:xfrm>
          <a:prstGeom prst="triangle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975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8C2D637-7713-8770-7A1A-F150044DB74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7593488" y="5378493"/>
            <a:ext cx="1755000" cy="2925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138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마스터 텍스트 스타일을 편집하려면 클릭</a:t>
            </a:r>
          </a:p>
        </p:txBody>
      </p:sp>
      <p:pic>
        <p:nvPicPr>
          <p:cNvPr id="17" name="그림 16" descr="원, 스크린샷, 우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37C978-6865-03A3-70FB-31AD31B06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144" t="25803"/>
          <a:stretch>
            <a:fillRect/>
          </a:stretch>
        </p:blipFill>
        <p:spPr>
          <a:xfrm>
            <a:off x="0" y="642939"/>
            <a:ext cx="5728253" cy="5008737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F796D07F-72B3-09D5-CC3A-06ED6E4BCA11}"/>
              </a:ext>
            </a:extLst>
          </p:cNvPr>
          <p:cNvSpPr>
            <a:spLocks noChangeAspect="1"/>
          </p:cNvSpPr>
          <p:nvPr/>
        </p:nvSpPr>
        <p:spPr>
          <a:xfrm>
            <a:off x="989753" y="5047033"/>
            <a:ext cx="877500" cy="877234"/>
          </a:xfrm>
          <a:prstGeom prst="ellipse">
            <a:avLst/>
          </a:prstGeom>
          <a:solidFill>
            <a:srgbClr val="1A47C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975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4DD37B9-A8BB-BD3E-16DF-48252886DAEB}"/>
              </a:ext>
            </a:extLst>
          </p:cNvPr>
          <p:cNvSpPr/>
          <p:nvPr/>
        </p:nvSpPr>
        <p:spPr>
          <a:xfrm>
            <a:off x="891928" y="3781411"/>
            <a:ext cx="1073150" cy="1073150"/>
          </a:xfrm>
          <a:prstGeom prst="ellipse">
            <a:avLst/>
          </a:prstGeom>
          <a:solidFill>
            <a:srgbClr val="0C3389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975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32C253A-47A1-1DE0-D4CC-4D1A405CC67B}"/>
              </a:ext>
            </a:extLst>
          </p:cNvPr>
          <p:cNvSpPr>
            <a:spLocks noChangeAspect="1"/>
          </p:cNvSpPr>
          <p:nvPr/>
        </p:nvSpPr>
        <p:spPr>
          <a:xfrm>
            <a:off x="206598" y="4754532"/>
            <a:ext cx="585000" cy="585000"/>
          </a:xfrm>
          <a:prstGeom prst="ellipse">
            <a:avLst/>
          </a:prstGeom>
          <a:solidFill>
            <a:srgbClr val="058B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975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1" name="Google Shape;7697;p61">
            <a:extLst>
              <a:ext uri="{FF2B5EF4-FFF2-40B4-BE49-F238E27FC236}">
                <a16:creationId xmlns:a16="http://schemas.microsoft.com/office/drawing/2014/main" id="{E1AA6626-CBC6-02EB-1502-267F24191B58}"/>
              </a:ext>
            </a:extLst>
          </p:cNvPr>
          <p:cNvGrpSpPr/>
          <p:nvPr/>
        </p:nvGrpSpPr>
        <p:grpSpPr>
          <a:xfrm>
            <a:off x="1081617" y="3963561"/>
            <a:ext cx="693773" cy="708851"/>
            <a:chOff x="-24353875" y="3147725"/>
            <a:chExt cx="289875" cy="296175"/>
          </a:xfrm>
          <a:solidFill>
            <a:schemeClr val="bg1"/>
          </a:solidFill>
        </p:grpSpPr>
        <p:sp>
          <p:nvSpPr>
            <p:cNvPr id="22" name="Google Shape;7698;p61">
              <a:extLst>
                <a:ext uri="{FF2B5EF4-FFF2-40B4-BE49-F238E27FC236}">
                  <a16:creationId xmlns:a16="http://schemas.microsoft.com/office/drawing/2014/main" id="{F9106391-5476-01FD-425B-68E9F4B59ED7}"/>
                </a:ext>
              </a:extLst>
            </p:cNvPr>
            <p:cNvSpPr/>
            <p:nvPr/>
          </p:nvSpPr>
          <p:spPr>
            <a:xfrm>
              <a:off x="-24238100" y="3271375"/>
              <a:ext cx="52025" cy="51225"/>
            </a:xfrm>
            <a:custGeom>
              <a:avLst/>
              <a:gdLst/>
              <a:ahLst/>
              <a:cxnLst/>
              <a:rect l="l" t="t" r="r" b="b"/>
              <a:pathLst>
                <a:path w="2081" h="2049" extrusionOk="0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grpFill/>
            <a:ln w="19050">
              <a:solidFill>
                <a:srgbClr val="0C3389"/>
              </a:solidFill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  <p:sp>
          <p:nvSpPr>
            <p:cNvPr id="23" name="Google Shape;7699;p61">
              <a:extLst>
                <a:ext uri="{FF2B5EF4-FFF2-40B4-BE49-F238E27FC236}">
                  <a16:creationId xmlns:a16="http://schemas.microsoft.com/office/drawing/2014/main" id="{2667E175-1E61-D40D-8263-056FBF6663E1}"/>
                </a:ext>
              </a:extLst>
            </p:cNvPr>
            <p:cNvSpPr/>
            <p:nvPr/>
          </p:nvSpPr>
          <p:spPr>
            <a:xfrm>
              <a:off x="-24353875" y="3147725"/>
              <a:ext cx="289875" cy="296175"/>
            </a:xfrm>
            <a:custGeom>
              <a:avLst/>
              <a:gdLst/>
              <a:ahLst/>
              <a:cxnLst/>
              <a:rect l="l" t="t" r="r" b="b"/>
              <a:pathLst>
                <a:path w="11595" h="11847" extrusionOk="0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grpFill/>
            <a:ln w="19050">
              <a:solidFill>
                <a:srgbClr val="0C3389"/>
              </a:solidFill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</p:grpSp>
      <p:sp>
        <p:nvSpPr>
          <p:cNvPr id="27" name="자유형 26">
            <a:extLst>
              <a:ext uri="{FF2B5EF4-FFF2-40B4-BE49-F238E27FC236}">
                <a16:creationId xmlns:a16="http://schemas.microsoft.com/office/drawing/2014/main" id="{F2C82E66-26A0-1B36-17EE-6EE1C8D2B17F}"/>
              </a:ext>
            </a:extLst>
          </p:cNvPr>
          <p:cNvSpPr/>
          <p:nvPr/>
        </p:nvSpPr>
        <p:spPr>
          <a:xfrm>
            <a:off x="1171439" y="5312588"/>
            <a:ext cx="499050" cy="339086"/>
          </a:xfrm>
          <a:custGeom>
            <a:avLst/>
            <a:gdLst>
              <a:gd name="connsiteX0" fmla="*/ 181975 w 407803"/>
              <a:gd name="connsiteY0" fmla="*/ 0 h 277088"/>
              <a:gd name="connsiteX1" fmla="*/ 289177 w 407803"/>
              <a:gd name="connsiteY1" fmla="*/ 71058 h 277088"/>
              <a:gd name="connsiteX2" fmla="*/ 291795 w 407803"/>
              <a:gd name="connsiteY2" fmla="*/ 84025 h 277088"/>
              <a:gd name="connsiteX3" fmla="*/ 313089 w 407803"/>
              <a:gd name="connsiteY3" fmla="*/ 78985 h 277088"/>
              <a:gd name="connsiteX4" fmla="*/ 355114 w 407803"/>
              <a:gd name="connsiteY4" fmla="*/ 89247 h 277088"/>
              <a:gd name="connsiteX5" fmla="*/ 393202 w 407803"/>
              <a:gd name="connsiteY5" fmla="*/ 125262 h 277088"/>
              <a:gd name="connsiteX6" fmla="*/ 407803 w 407803"/>
              <a:gd name="connsiteY6" fmla="*/ 178015 h 277088"/>
              <a:gd name="connsiteX7" fmla="*/ 313110 w 407803"/>
              <a:gd name="connsiteY7" fmla="*/ 277088 h 277088"/>
              <a:gd name="connsiteX8" fmla="*/ 82314 w 407803"/>
              <a:gd name="connsiteY8" fmla="*/ 277088 h 277088"/>
              <a:gd name="connsiteX9" fmla="*/ 0 w 407803"/>
              <a:gd name="connsiteY9" fmla="*/ 191008 h 277088"/>
              <a:gd name="connsiteX10" fmla="*/ 50313 w 407803"/>
              <a:gd name="connsiteY10" fmla="*/ 111703 h 277088"/>
              <a:gd name="connsiteX11" fmla="*/ 67293 w 407803"/>
              <a:gd name="connsiteY11" fmla="*/ 108108 h 277088"/>
              <a:gd name="connsiteX12" fmla="*/ 74773 w 407803"/>
              <a:gd name="connsiteY12" fmla="*/ 71058 h 277088"/>
              <a:gd name="connsiteX13" fmla="*/ 181975 w 407803"/>
              <a:gd name="connsiteY13" fmla="*/ 0 h 27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7803" h="277088">
                <a:moveTo>
                  <a:pt x="181975" y="0"/>
                </a:moveTo>
                <a:cubicBezTo>
                  <a:pt x="230167" y="0"/>
                  <a:pt x="271515" y="29300"/>
                  <a:pt x="289177" y="71058"/>
                </a:cubicBezTo>
                <a:lnTo>
                  <a:pt x="291795" y="84025"/>
                </a:lnTo>
                <a:lnTo>
                  <a:pt x="313089" y="78985"/>
                </a:lnTo>
                <a:cubicBezTo>
                  <a:pt x="327521" y="78985"/>
                  <a:pt x="341952" y="82392"/>
                  <a:pt x="355114" y="89247"/>
                </a:cubicBezTo>
                <a:cubicBezTo>
                  <a:pt x="370899" y="97479"/>
                  <a:pt x="384103" y="109963"/>
                  <a:pt x="393202" y="125262"/>
                </a:cubicBezTo>
                <a:cubicBezTo>
                  <a:pt x="402767" y="141175"/>
                  <a:pt x="407803" y="159415"/>
                  <a:pt x="407803" y="178015"/>
                </a:cubicBezTo>
                <a:cubicBezTo>
                  <a:pt x="407803" y="232693"/>
                  <a:pt x="365292" y="277088"/>
                  <a:pt x="313110" y="277088"/>
                </a:cubicBezTo>
                <a:lnTo>
                  <a:pt x="82314" y="277088"/>
                </a:lnTo>
                <a:cubicBezTo>
                  <a:pt x="36883" y="277088"/>
                  <a:pt x="0" y="238491"/>
                  <a:pt x="0" y="191008"/>
                </a:cubicBezTo>
                <a:cubicBezTo>
                  <a:pt x="0" y="155411"/>
                  <a:pt x="20782" y="124789"/>
                  <a:pt x="50313" y="111703"/>
                </a:cubicBezTo>
                <a:lnTo>
                  <a:pt x="67293" y="108108"/>
                </a:lnTo>
                <a:lnTo>
                  <a:pt x="74773" y="71058"/>
                </a:lnTo>
                <a:cubicBezTo>
                  <a:pt x="92435" y="29300"/>
                  <a:pt x="133783" y="0"/>
                  <a:pt x="1819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endParaRPr sz="1950">
              <a:solidFill>
                <a:srgbClr val="435D74"/>
              </a:solidFill>
            </a:endParaRPr>
          </a:p>
        </p:txBody>
      </p:sp>
      <p:grpSp>
        <p:nvGrpSpPr>
          <p:cNvPr id="28" name="Google Shape;9043;p64">
            <a:extLst>
              <a:ext uri="{FF2B5EF4-FFF2-40B4-BE49-F238E27FC236}">
                <a16:creationId xmlns:a16="http://schemas.microsoft.com/office/drawing/2014/main" id="{548FE4A8-0FA0-4141-2D11-C80B99CBDA20}"/>
              </a:ext>
            </a:extLst>
          </p:cNvPr>
          <p:cNvGrpSpPr>
            <a:grpSpLocks noChangeAspect="1"/>
          </p:cNvGrpSpPr>
          <p:nvPr/>
        </p:nvGrpSpPr>
        <p:grpSpPr>
          <a:xfrm>
            <a:off x="362761" y="4873991"/>
            <a:ext cx="270797" cy="321750"/>
            <a:chOff x="-48233050" y="3569725"/>
            <a:chExt cx="252050" cy="299475"/>
          </a:xfrm>
          <a:solidFill>
            <a:schemeClr val="bg1"/>
          </a:solidFill>
        </p:grpSpPr>
        <p:sp>
          <p:nvSpPr>
            <p:cNvPr id="29" name="Google Shape;9044;p64">
              <a:extLst>
                <a:ext uri="{FF2B5EF4-FFF2-40B4-BE49-F238E27FC236}">
                  <a16:creationId xmlns:a16="http://schemas.microsoft.com/office/drawing/2014/main" id="{B026C6E5-396F-1241-D5AB-DE4C4CAEF5D0}"/>
                </a:ext>
              </a:extLst>
            </p:cNvPr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  <p:sp>
          <p:nvSpPr>
            <p:cNvPr id="30" name="Google Shape;9045;p64">
              <a:extLst>
                <a:ext uri="{FF2B5EF4-FFF2-40B4-BE49-F238E27FC236}">
                  <a16:creationId xmlns:a16="http://schemas.microsoft.com/office/drawing/2014/main" id="{15229D55-59F3-F114-90BE-BD889AE04635}"/>
                </a:ext>
              </a:extLst>
            </p:cNvPr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  <p:sp>
          <p:nvSpPr>
            <p:cNvPr id="31" name="Google Shape;9046;p64">
              <a:extLst>
                <a:ext uri="{FF2B5EF4-FFF2-40B4-BE49-F238E27FC236}">
                  <a16:creationId xmlns:a16="http://schemas.microsoft.com/office/drawing/2014/main" id="{A7F99F33-65D0-655D-4F6F-029AC5B36B5A}"/>
                </a:ext>
              </a:extLst>
            </p:cNvPr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</p:grpSp>
    </p:spTree>
    <p:extLst>
      <p:ext uri="{BB962C8B-B14F-4D97-AF65-F5344CB8AC3E}">
        <p14:creationId xmlns:p14="http://schemas.microsoft.com/office/powerpoint/2010/main" val="67962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>
          <a:extLst>
            <a:ext uri="{FF2B5EF4-FFF2-40B4-BE49-F238E27FC236}">
              <a16:creationId xmlns:a16="http://schemas.microsoft.com/office/drawing/2014/main" id="{153A8A4B-FA23-BC5B-B930-A5E10038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키보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AED3E4-037B-A242-9B57-54270B115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42938"/>
            <a:ext cx="4953000" cy="5572125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24D782BE-8676-D5E0-639A-4ABCBCC0EC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30914" y="1801761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>
                <a:ln w="6350">
                  <a:noFill/>
                </a:ln>
                <a:solidFill>
                  <a:srgbClr val="0C3389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마스터 제목 스타일 편집</a:t>
            </a:r>
            <a:endParaRPr lang="en-US" altLang="ko-KR" sz="6500">
              <a:ln w="6350">
                <a:noFill/>
              </a:ln>
              <a:solidFill>
                <a:srgbClr val="0C3389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A830E-1D06-67FB-1BAF-A9C0C18915CD}"/>
              </a:ext>
            </a:extLst>
          </p:cNvPr>
          <p:cNvSpPr txBox="1"/>
          <p:nvPr/>
        </p:nvSpPr>
        <p:spPr>
          <a:xfrm>
            <a:off x="6947763" y="2549518"/>
            <a:ext cx="2580230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ko-KR" sz="975" b="0" spc="244">
                <a:ln w="6350">
                  <a:noFill/>
                </a:ln>
                <a:solidFill>
                  <a:srgbClr val="1A1A1A">
                    <a:alpha val="60000"/>
                  </a:srgb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CONTENTS</a:t>
            </a:r>
            <a:endParaRPr lang="ko-KR" altLang="ko-KR" sz="975" b="0" spc="244">
              <a:ln w="6350">
                <a:noFill/>
              </a:ln>
              <a:solidFill>
                <a:srgbClr val="1A1A1A">
                  <a:alpha val="6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D9C2BD7E-93C1-E963-893F-B56ACA362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24717" y="3259300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E1AD8764-6C9D-87F6-1400-63307F3292F9}"/>
              </a:ext>
            </a:extLst>
          </p:cNvPr>
          <p:cNvSpPr>
            <a:spLocks noChangeAspect="1"/>
          </p:cNvSpPr>
          <p:nvPr/>
        </p:nvSpPr>
        <p:spPr>
          <a:xfrm>
            <a:off x="5304038" y="3265211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9D6020-D6AE-C133-08A3-9D62E1BA5F1B}"/>
              </a:ext>
            </a:extLst>
          </p:cNvPr>
          <p:cNvSpPr txBox="1"/>
          <p:nvPr/>
        </p:nvSpPr>
        <p:spPr>
          <a:xfrm>
            <a:off x="5230915" y="3284306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01</a:t>
            </a:r>
          </a:p>
        </p:txBody>
      </p: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id="{DAA11C16-0E44-6F03-EE20-B4A6859EDC2B}"/>
              </a:ext>
            </a:extLst>
          </p:cNvPr>
          <p:cNvCxnSpPr>
            <a:cxnSpLocks/>
          </p:cNvCxnSpPr>
          <p:nvPr/>
        </p:nvCxnSpPr>
        <p:spPr>
          <a:xfrm>
            <a:off x="6949682" y="3396836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B319463-7C6F-6396-ECDF-8ADB97C7645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491162" y="3263113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28" name="텍스트 개체 틀 27">
            <a:extLst>
              <a:ext uri="{FF2B5EF4-FFF2-40B4-BE49-F238E27FC236}">
                <a16:creationId xmlns:a16="http://schemas.microsoft.com/office/drawing/2014/main" id="{2FE322A2-9E16-1EDE-A13E-DCB04CAA2DE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724717" y="3660733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3C5EEC4B-F5BC-6A5E-DC6D-9FC03692B574}"/>
              </a:ext>
            </a:extLst>
          </p:cNvPr>
          <p:cNvSpPr>
            <a:spLocks noChangeAspect="1"/>
          </p:cNvSpPr>
          <p:nvPr/>
        </p:nvSpPr>
        <p:spPr>
          <a:xfrm>
            <a:off x="5304038" y="3666644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9C8964-96FD-B595-D838-923148E13968}"/>
              </a:ext>
            </a:extLst>
          </p:cNvPr>
          <p:cNvSpPr txBox="1"/>
          <p:nvPr/>
        </p:nvSpPr>
        <p:spPr>
          <a:xfrm>
            <a:off x="5230915" y="3685739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02</a:t>
            </a:r>
          </a:p>
        </p:txBody>
      </p: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9944FB45-3C79-A375-F8C2-8CCDA920DD9A}"/>
              </a:ext>
            </a:extLst>
          </p:cNvPr>
          <p:cNvCxnSpPr>
            <a:cxnSpLocks/>
          </p:cNvCxnSpPr>
          <p:nvPr/>
        </p:nvCxnSpPr>
        <p:spPr>
          <a:xfrm>
            <a:off x="6949682" y="3798269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4EB83EB-5474-FE1F-EE83-CA814F13C7E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491162" y="3664547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B680FDBF-B0CA-864B-1B53-0B501C15C975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5724717" y="4062167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2CCD3165-F976-1193-217D-81D85F0F0AC6}"/>
              </a:ext>
            </a:extLst>
          </p:cNvPr>
          <p:cNvSpPr>
            <a:spLocks noChangeAspect="1"/>
          </p:cNvSpPr>
          <p:nvPr/>
        </p:nvSpPr>
        <p:spPr>
          <a:xfrm>
            <a:off x="5304038" y="4068078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26D2ED-35CB-6DEA-F685-3FA50694BF8C}"/>
              </a:ext>
            </a:extLst>
          </p:cNvPr>
          <p:cNvSpPr txBox="1"/>
          <p:nvPr/>
        </p:nvSpPr>
        <p:spPr>
          <a:xfrm>
            <a:off x="5230915" y="4087173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03</a:t>
            </a:r>
          </a:p>
        </p:txBody>
      </p: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2CE6DA96-4916-B5EE-A8C0-354149FD3EBE}"/>
              </a:ext>
            </a:extLst>
          </p:cNvPr>
          <p:cNvCxnSpPr>
            <a:cxnSpLocks/>
          </p:cNvCxnSpPr>
          <p:nvPr/>
        </p:nvCxnSpPr>
        <p:spPr>
          <a:xfrm>
            <a:off x="6949682" y="4199703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387D318C-E164-E781-2FD3-C2E8A57EB3FE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8491162" y="4065980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EE695D00-B02D-4229-CB4E-A4FDC18E2B5D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5724717" y="4463600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8EE3E060-2505-1D44-4295-2C039A54A303}"/>
              </a:ext>
            </a:extLst>
          </p:cNvPr>
          <p:cNvSpPr>
            <a:spLocks noChangeAspect="1"/>
          </p:cNvSpPr>
          <p:nvPr/>
        </p:nvSpPr>
        <p:spPr>
          <a:xfrm>
            <a:off x="5304038" y="4469513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CC3879-3ECD-22AD-F35C-5D70CEE1F133}"/>
              </a:ext>
            </a:extLst>
          </p:cNvPr>
          <p:cNvSpPr txBox="1"/>
          <p:nvPr/>
        </p:nvSpPr>
        <p:spPr>
          <a:xfrm>
            <a:off x="5230915" y="4488607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04</a:t>
            </a: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F1702200-C3D7-EA5C-5981-E959D7BC732C}"/>
              </a:ext>
            </a:extLst>
          </p:cNvPr>
          <p:cNvCxnSpPr>
            <a:cxnSpLocks/>
          </p:cNvCxnSpPr>
          <p:nvPr/>
        </p:nvCxnSpPr>
        <p:spPr>
          <a:xfrm>
            <a:off x="6949682" y="4601138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7B5EA1F5-AA4E-A2C2-52E4-FC0884615706}"/>
              </a:ext>
            </a:extLst>
          </p:cNvPr>
          <p:cNvSpPr txBox="1">
            <a:spLocks noGrp="1"/>
          </p:cNvSpPr>
          <p:nvPr>
            <p:ph type="body" idx="8"/>
          </p:nvPr>
        </p:nvSpPr>
        <p:spPr>
          <a:xfrm>
            <a:off x="8491162" y="4467414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2E3D6C-2297-4BC9-05CE-748BA1A7DF40}"/>
              </a:ext>
            </a:extLst>
          </p:cNvPr>
          <p:cNvSpPr txBox="1">
            <a:spLocks noGrp="1"/>
          </p:cNvSpPr>
          <p:nvPr>
            <p:ph type="body" idx="9"/>
          </p:nvPr>
        </p:nvSpPr>
        <p:spPr>
          <a:xfrm>
            <a:off x="5724717" y="4870300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5" name="모서리가 둥근 직사각형 37">
            <a:extLst>
              <a:ext uri="{FF2B5EF4-FFF2-40B4-BE49-F238E27FC236}">
                <a16:creationId xmlns:a16="http://schemas.microsoft.com/office/drawing/2014/main" id="{B5A7E6BD-49A5-D152-F887-AFCCF91F9391}"/>
              </a:ext>
            </a:extLst>
          </p:cNvPr>
          <p:cNvSpPr>
            <a:spLocks noChangeAspect="1"/>
          </p:cNvSpPr>
          <p:nvPr/>
        </p:nvSpPr>
        <p:spPr>
          <a:xfrm>
            <a:off x="5304038" y="4876212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909B3D-97C1-CB34-68D3-C04FE93FF04E}"/>
              </a:ext>
            </a:extLst>
          </p:cNvPr>
          <p:cNvSpPr txBox="1"/>
          <p:nvPr/>
        </p:nvSpPr>
        <p:spPr>
          <a:xfrm>
            <a:off x="5230915" y="4895307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05</a:t>
            </a:r>
          </a:p>
        </p:txBody>
      </p:sp>
      <p:cxnSp>
        <p:nvCxnSpPr>
          <p:cNvPr id="9" name="직선 연결선[R] 1">
            <a:extLst>
              <a:ext uri="{FF2B5EF4-FFF2-40B4-BE49-F238E27FC236}">
                <a16:creationId xmlns:a16="http://schemas.microsoft.com/office/drawing/2014/main" id="{9739835D-3A61-8F93-581B-0F7A8C4D8E67}"/>
              </a:ext>
            </a:extLst>
          </p:cNvPr>
          <p:cNvCxnSpPr>
            <a:cxnSpLocks/>
          </p:cNvCxnSpPr>
          <p:nvPr/>
        </p:nvCxnSpPr>
        <p:spPr>
          <a:xfrm>
            <a:off x="6949682" y="5007837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C11DD685-FC7B-10D3-E5F2-298949FE943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91162" y="4874115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C4052C23-EB6D-A649-7D5F-D9E9C1B9F301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5724717" y="5283592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16" name="모서리가 둥근 직사각형 37">
            <a:extLst>
              <a:ext uri="{FF2B5EF4-FFF2-40B4-BE49-F238E27FC236}">
                <a16:creationId xmlns:a16="http://schemas.microsoft.com/office/drawing/2014/main" id="{0AB21A25-BC89-35F9-4692-C1723F01BDCD}"/>
              </a:ext>
            </a:extLst>
          </p:cNvPr>
          <p:cNvSpPr>
            <a:spLocks noChangeAspect="1"/>
          </p:cNvSpPr>
          <p:nvPr/>
        </p:nvSpPr>
        <p:spPr>
          <a:xfrm>
            <a:off x="5304038" y="5289502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D23B9D-8F7A-5482-FC75-8A4BDAEA7556}"/>
              </a:ext>
            </a:extLst>
          </p:cNvPr>
          <p:cNvSpPr txBox="1"/>
          <p:nvPr/>
        </p:nvSpPr>
        <p:spPr>
          <a:xfrm>
            <a:off x="5230915" y="5308598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06</a:t>
            </a:r>
          </a:p>
        </p:txBody>
      </p:sp>
      <p:cxnSp>
        <p:nvCxnSpPr>
          <p:cNvPr id="18" name="직선 연결선[R] 1">
            <a:extLst>
              <a:ext uri="{FF2B5EF4-FFF2-40B4-BE49-F238E27FC236}">
                <a16:creationId xmlns:a16="http://schemas.microsoft.com/office/drawing/2014/main" id="{67991669-7A7E-423D-9E8F-14BBF74B0DE0}"/>
              </a:ext>
            </a:extLst>
          </p:cNvPr>
          <p:cNvCxnSpPr>
            <a:cxnSpLocks/>
          </p:cNvCxnSpPr>
          <p:nvPr/>
        </p:nvCxnSpPr>
        <p:spPr>
          <a:xfrm>
            <a:off x="6949682" y="5421127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393D4247-1FB8-FB5C-E74F-68C76BFC061E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8491162" y="5287405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22EDD43-E9A2-E151-B55D-220E5032CE90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5724717" y="5696881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21" name="모서리가 둥근 직사각형 37">
            <a:extLst>
              <a:ext uri="{FF2B5EF4-FFF2-40B4-BE49-F238E27FC236}">
                <a16:creationId xmlns:a16="http://schemas.microsoft.com/office/drawing/2014/main" id="{B16F9428-6F71-1115-25C1-296CA1F15015}"/>
              </a:ext>
            </a:extLst>
          </p:cNvPr>
          <p:cNvSpPr>
            <a:spLocks noChangeAspect="1"/>
          </p:cNvSpPr>
          <p:nvPr/>
        </p:nvSpPr>
        <p:spPr>
          <a:xfrm>
            <a:off x="5304038" y="5702793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CD4BC3-8334-96D0-9DCC-328914AF7107}"/>
              </a:ext>
            </a:extLst>
          </p:cNvPr>
          <p:cNvSpPr txBox="1"/>
          <p:nvPr/>
        </p:nvSpPr>
        <p:spPr>
          <a:xfrm>
            <a:off x="5230915" y="5721887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07</a:t>
            </a:r>
          </a:p>
        </p:txBody>
      </p:sp>
      <p:cxnSp>
        <p:nvCxnSpPr>
          <p:cNvPr id="23" name="직선 연결선[R] 1">
            <a:extLst>
              <a:ext uri="{FF2B5EF4-FFF2-40B4-BE49-F238E27FC236}">
                <a16:creationId xmlns:a16="http://schemas.microsoft.com/office/drawing/2014/main" id="{5AFC66A5-2792-E716-2891-78825632701B}"/>
              </a:ext>
            </a:extLst>
          </p:cNvPr>
          <p:cNvCxnSpPr>
            <a:cxnSpLocks/>
          </p:cNvCxnSpPr>
          <p:nvPr/>
        </p:nvCxnSpPr>
        <p:spPr>
          <a:xfrm>
            <a:off x="6949682" y="5834418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2DD20F8A-8860-B606-53F4-515D58168C0A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8491162" y="5700695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/>
            <a:r>
              <a:rPr lang="ko-KR" altLang="en-US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07250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간지">
    <p:spTree>
      <p:nvGrpSpPr>
        <p:cNvPr id="1" name="">
          <a:extLst>
            <a:ext uri="{FF2B5EF4-FFF2-40B4-BE49-F238E27FC236}">
              <a16:creationId xmlns:a16="http://schemas.microsoft.com/office/drawing/2014/main" id="{DADDCFBE-2467-A786-94E7-BE506507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20A8F78F-BF48-18C7-C5D6-C869F482F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2125" y="642938"/>
            <a:ext cx="4333875" cy="5572125"/>
          </a:xfrm>
          <a:prstGeom prst="rect">
            <a:avLst/>
          </a:prstGeom>
        </p:spPr>
      </p:pic>
      <p:pic>
        <p:nvPicPr>
          <p:cNvPr id="6" name="그림 5" descr="구름, 하늘, 야외, 낮시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74A743-AB27-05C1-B025-801D4386D9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25" y="642938"/>
            <a:ext cx="4333876" cy="5572125"/>
          </a:xfrm>
          <a:prstGeom prst="rect">
            <a:avLst/>
          </a:prstGeom>
        </p:spPr>
      </p:pic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8C7F482-0306-B981-2FF4-1D070492B489}"/>
              </a:ext>
            </a:extLst>
          </p:cNvPr>
          <p:cNvSpPr/>
          <p:nvPr/>
        </p:nvSpPr>
        <p:spPr>
          <a:xfrm>
            <a:off x="151140" y="1738237"/>
            <a:ext cx="742950" cy="742950"/>
          </a:xfrm>
          <a:prstGeom prst="roundRect">
            <a:avLst/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38B32F-DD91-6A58-8331-94300C4607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8620" y="1572068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>
                <a:solidFill>
                  <a:srgbClr val="1A1A1A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마스터 제목 스타일 편집</a:t>
            </a:r>
            <a:endParaRPr lang="en-US" altLang="ko-KR" sz="6500">
              <a:solidFill>
                <a:srgbClr val="1A1A1A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3553572-B5C2-6FB6-DF98-515964AC5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8989" y="1445901"/>
            <a:ext cx="258023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lvl="0" algn="l">
              <a:lnSpc>
                <a:spcPct val="100000"/>
              </a:lnSpc>
            </a:pPr>
            <a:r>
              <a:rPr lang="ko-KR" altLang="en-US" sz="1138" b="0">
                <a:ln w="6350">
                  <a:noFill/>
                </a:ln>
                <a:solidFill>
                  <a:srgbClr val="1A1A1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9D6D44C-19AD-9447-1513-9195A065B8BF}"/>
              </a:ext>
            </a:extLst>
          </p:cNvPr>
          <p:cNvSpPr/>
          <p:nvPr/>
        </p:nvSpPr>
        <p:spPr>
          <a:xfrm rot="18900000">
            <a:off x="804006" y="2034181"/>
            <a:ext cx="151063" cy="151063"/>
          </a:xfrm>
          <a:prstGeom prst="roundRect">
            <a:avLst>
              <a:gd name="adj" fmla="val 1013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EEADED-17C4-A95A-9E11-EDA0D8E0E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437" y="642937"/>
            <a:ext cx="1960563" cy="19605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ED21DCB-CBAF-137F-20F6-8EA9A615D8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8582" y="5675861"/>
            <a:ext cx="2264355" cy="615011"/>
          </a:xfrm>
          <a:prstGeom prst="rect">
            <a:avLst/>
          </a:prstGeom>
        </p:spPr>
      </p:pic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5B19AD1-5574-89BC-EE53-53E412D78D7D}"/>
              </a:ext>
            </a:extLst>
          </p:cNvPr>
          <p:cNvSpPr txBox="1">
            <a:spLocks noGrp="1"/>
          </p:cNvSpPr>
          <p:nvPr>
            <p:ph type="body" idx="2"/>
          </p:nvPr>
        </p:nvSpPr>
        <p:spPr bwMode="gray">
          <a:xfrm>
            <a:off x="151140" y="1734610"/>
            <a:ext cx="742951" cy="7502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 algn="ctr"/>
            <a:r>
              <a:rPr lang="ko-KR" altLang="en-US" sz="4875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마스터 텍스트 스타일을 편집하려면 클릭</a:t>
            </a:r>
          </a:p>
        </p:txBody>
      </p:sp>
      <p:sp>
        <p:nvSpPr>
          <p:cNvPr id="30" name="양쪽 모서리가 둥근 사각형 19">
            <a:extLst>
              <a:ext uri="{FF2B5EF4-FFF2-40B4-BE49-F238E27FC236}">
                <a16:creationId xmlns:a16="http://schemas.microsoft.com/office/drawing/2014/main" id="{2B950893-DDDC-A9C4-D8DB-389276C3C9B3}"/>
              </a:ext>
            </a:extLst>
          </p:cNvPr>
          <p:cNvSpPr/>
          <p:nvPr/>
        </p:nvSpPr>
        <p:spPr>
          <a:xfrm rot="5400000">
            <a:off x="1111500" y="1789089"/>
            <a:ext cx="2457000" cy="468000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5D7AD7-A462-382F-B431-FFEA5E5643A6}"/>
              </a:ext>
            </a:extLst>
          </p:cNvPr>
          <p:cNvGrpSpPr/>
          <p:nvPr/>
        </p:nvGrpSpPr>
        <p:grpSpPr>
          <a:xfrm>
            <a:off x="691804" y="3141987"/>
            <a:ext cx="3785841" cy="1974208"/>
            <a:chOff x="851451" y="3411056"/>
            <a:chExt cx="4659496" cy="2429793"/>
          </a:xfrm>
        </p:grpSpPr>
        <p:sp>
          <p:nvSpPr>
            <p:cNvPr id="32" name="텍스트 개체 틀 31">
              <a:extLst>
                <a:ext uri="{FF2B5EF4-FFF2-40B4-BE49-F238E27FC236}">
                  <a16:creationId xmlns:a16="http://schemas.microsoft.com/office/drawing/2014/main" id="{EA321F90-EF26-1DB0-3589-A4750D005EDD}"/>
                </a:ext>
              </a:extLst>
            </p:cNvPr>
            <p:cNvSpPr txBox="1">
              <a:spLocks noGrp="1"/>
            </p:cNvSpPr>
            <p:nvPr>
              <p:ph type="body" idx="3"/>
            </p:nvPr>
          </p:nvSpPr>
          <p:spPr>
            <a:xfrm>
              <a:off x="1459210" y="3457778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lvl1pPr marL="0" indent="0">
                <a:buNone/>
              </a:lvl1pPr>
              <a:lvl2pPr marL="0" indent="0">
                <a:buNone/>
              </a:lvl2pPr>
            </a:lstStyle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제안 목적과 배경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3" name="텍스트 개체 틀 32">
              <a:extLst>
                <a:ext uri="{FF2B5EF4-FFF2-40B4-BE49-F238E27FC236}">
                  <a16:creationId xmlns:a16="http://schemas.microsoft.com/office/drawing/2014/main" id="{2B3D1A78-F62D-169E-8B69-B9209556EAB8}"/>
                </a:ext>
              </a:extLst>
            </p:cNvPr>
            <p:cNvSpPr txBox="1">
              <a:spLocks noGrp="1"/>
            </p:cNvSpPr>
            <p:nvPr>
              <p:ph type="body" idx="4"/>
            </p:nvPr>
          </p:nvSpPr>
          <p:spPr>
            <a:xfrm>
              <a:off x="1459210" y="4123709"/>
              <a:ext cx="2747102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lvl1pPr marL="0" indent="0">
                <a:buNone/>
              </a:lvl1pPr>
              <a:lvl2pPr marL="0" indent="0">
                <a:buNone/>
              </a:lvl2pPr>
            </a:lstStyle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추진 방향 및 전략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34A128F-9588-A2F9-D76E-223002CBC69A}"/>
                </a:ext>
              </a:extLst>
            </p:cNvPr>
            <p:cNvGrpSpPr/>
            <p:nvPr/>
          </p:nvGrpSpPr>
          <p:grpSpPr>
            <a:xfrm>
              <a:off x="851451" y="3411056"/>
              <a:ext cx="503999" cy="432000"/>
              <a:chOff x="781765" y="3883420"/>
              <a:chExt cx="503999" cy="432000"/>
            </a:xfrm>
          </p:grpSpPr>
          <p:sp>
            <p:nvSpPr>
              <p:cNvPr id="49" name="모서리가 둥근 직사각형 46">
                <a:extLst>
                  <a:ext uri="{FF2B5EF4-FFF2-40B4-BE49-F238E27FC236}">
                    <a16:creationId xmlns:a16="http://schemas.microsoft.com/office/drawing/2014/main" id="{5AA5BBD6-6128-C12D-23E3-DC5DD6A0A4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F5D401-FAC2-5F38-6F5C-38582790AF37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01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3A6F54D-04CB-3509-3AFF-50DAB1FF49B7}"/>
                </a:ext>
              </a:extLst>
            </p:cNvPr>
            <p:cNvGrpSpPr/>
            <p:nvPr/>
          </p:nvGrpSpPr>
          <p:grpSpPr>
            <a:xfrm>
              <a:off x="851451" y="4076987"/>
              <a:ext cx="503999" cy="432000"/>
              <a:chOff x="781765" y="4594620"/>
              <a:chExt cx="503999" cy="432000"/>
            </a:xfrm>
          </p:grpSpPr>
          <p:sp>
            <p:nvSpPr>
              <p:cNvPr id="47" name="모서리가 둥근 직사각형 44">
                <a:extLst>
                  <a:ext uri="{FF2B5EF4-FFF2-40B4-BE49-F238E27FC236}">
                    <a16:creationId xmlns:a16="http://schemas.microsoft.com/office/drawing/2014/main" id="{B6433F84-DC82-665E-8045-00A3F8E94C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CE87E2-FC4E-889A-D0B1-A090E56C27D7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02</a:t>
                </a:r>
              </a:p>
            </p:txBody>
          </p:sp>
        </p:grpSp>
        <p:cxnSp>
          <p:nvCxnSpPr>
            <p:cNvPr id="36" name="직선 연결선[R] 33">
              <a:extLst>
                <a:ext uri="{FF2B5EF4-FFF2-40B4-BE49-F238E27FC236}">
                  <a16:creationId xmlns:a16="http://schemas.microsoft.com/office/drawing/2014/main" id="{2920F377-A3DA-9756-444D-11DD4B634EAA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96002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4">
              <a:extLst>
                <a:ext uri="{FF2B5EF4-FFF2-40B4-BE49-F238E27FC236}">
                  <a16:creationId xmlns:a16="http://schemas.microsoft.com/office/drawing/2014/main" id="{E9DA991F-3F77-250E-3152-0C73FEAA7875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62595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텍스트 개체 틀 37">
              <a:extLst>
                <a:ext uri="{FF2B5EF4-FFF2-40B4-BE49-F238E27FC236}">
                  <a16:creationId xmlns:a16="http://schemas.microsoft.com/office/drawing/2014/main" id="{4D38E695-3CDC-19A6-03CC-A252822153B0}"/>
                </a:ext>
              </a:extLst>
            </p:cNvPr>
            <p:cNvSpPr txBox="1">
              <a:spLocks noGrp="1"/>
            </p:cNvSpPr>
            <p:nvPr>
              <p:ph type="body" idx="5"/>
            </p:nvPr>
          </p:nvSpPr>
          <p:spPr>
            <a:xfrm>
              <a:off x="1459210" y="4789641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lvl1pPr marL="0" indent="0">
                <a:buNone/>
              </a:lvl1pPr>
              <a:lvl2pPr marL="0" indent="0">
                <a:buNone/>
              </a:lvl2pPr>
            </a:lstStyle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제안의 특징 및 장점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9" name="텍스트 개체 틀 38">
              <a:extLst>
                <a:ext uri="{FF2B5EF4-FFF2-40B4-BE49-F238E27FC236}">
                  <a16:creationId xmlns:a16="http://schemas.microsoft.com/office/drawing/2014/main" id="{57D096EF-B81D-361C-92C5-C8F2302B4692}"/>
                </a:ext>
              </a:extLst>
            </p:cNvPr>
            <p:cNvSpPr txBox="1">
              <a:spLocks noGrp="1"/>
            </p:cNvSpPr>
            <p:nvPr>
              <p:ph type="body" idx="6"/>
            </p:nvPr>
          </p:nvSpPr>
          <p:spPr>
            <a:xfrm>
              <a:off x="1459208" y="5455570"/>
              <a:ext cx="4051739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lvl1pPr marL="0" indent="0">
                <a:buNone/>
              </a:lvl1pPr>
              <a:lvl2pPr marL="0" indent="0">
                <a:buNone/>
              </a:lvl2pPr>
            </a:lstStyle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기대 효과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9F17953E-00B4-4D2D-0FA7-2CAF27BDE76C}"/>
                </a:ext>
              </a:extLst>
            </p:cNvPr>
            <p:cNvGrpSpPr/>
            <p:nvPr/>
          </p:nvGrpSpPr>
          <p:grpSpPr>
            <a:xfrm>
              <a:off x="851451" y="4742918"/>
              <a:ext cx="503999" cy="432000"/>
              <a:chOff x="781765" y="3883420"/>
              <a:chExt cx="503999" cy="432000"/>
            </a:xfrm>
          </p:grpSpPr>
          <p:sp>
            <p:nvSpPr>
              <p:cNvPr id="45" name="모서리가 둥근 직사각형 42">
                <a:extLst>
                  <a:ext uri="{FF2B5EF4-FFF2-40B4-BE49-F238E27FC236}">
                    <a16:creationId xmlns:a16="http://schemas.microsoft.com/office/drawing/2014/main" id="{5FAAA2CC-D211-A545-B012-177F8814EC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3F1718-2668-6EF5-5638-128265E1B426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03</a:t>
                </a: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FEF0031-8E8E-C31D-FB6E-F00AD4ED5447}"/>
                </a:ext>
              </a:extLst>
            </p:cNvPr>
            <p:cNvGrpSpPr/>
            <p:nvPr/>
          </p:nvGrpSpPr>
          <p:grpSpPr>
            <a:xfrm>
              <a:off x="851451" y="5408849"/>
              <a:ext cx="503999" cy="432000"/>
              <a:chOff x="781765" y="4594620"/>
              <a:chExt cx="503999" cy="432000"/>
            </a:xfrm>
          </p:grpSpPr>
          <p:sp>
            <p:nvSpPr>
              <p:cNvPr id="43" name="모서리가 둥근 직사각형 40">
                <a:extLst>
                  <a:ext uri="{FF2B5EF4-FFF2-40B4-BE49-F238E27FC236}">
                    <a16:creationId xmlns:a16="http://schemas.microsoft.com/office/drawing/2014/main" id="{311552BF-9CD6-6E4A-F820-8DF12B8533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4F751A-32AD-8F2B-C7BD-F05046391E6C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04</a:t>
                </a:r>
              </a:p>
            </p:txBody>
          </p:sp>
        </p:grpSp>
        <p:cxnSp>
          <p:nvCxnSpPr>
            <p:cNvPr id="42" name="직선 연결선[R] 39">
              <a:extLst>
                <a:ext uri="{FF2B5EF4-FFF2-40B4-BE49-F238E27FC236}">
                  <a16:creationId xmlns:a16="http://schemas.microsoft.com/office/drawing/2014/main" id="{C9D25B4B-B9CD-3506-FB9D-BE08D50E423D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5291883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094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간지(5항목)">
    <p:spTree>
      <p:nvGrpSpPr>
        <p:cNvPr id="1" name="">
          <a:extLst>
            <a:ext uri="{FF2B5EF4-FFF2-40B4-BE49-F238E27FC236}">
              <a16:creationId xmlns:a16="http://schemas.microsoft.com/office/drawing/2014/main" id="{C24F6D3B-2B23-20C5-E999-8D8E3188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스크린샷, 블루, 밤, 기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D5900AE-B8DE-C6B2-8AA2-10431211F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4" y="642938"/>
            <a:ext cx="4333885" cy="5572125"/>
          </a:xfrm>
          <a:prstGeom prst="rect">
            <a:avLst/>
          </a:prstGeom>
        </p:spPr>
      </p:pic>
      <p:pic>
        <p:nvPicPr>
          <p:cNvPr id="28" name="그림 27" descr="스크린샷, 건물, 빛, 밤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1C811FE-5B6F-A2E3-AB2E-4EF65FE15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6" y="642937"/>
            <a:ext cx="4333885" cy="5572125"/>
          </a:xfrm>
          <a:prstGeom prst="rect">
            <a:avLst/>
          </a:prstGeom>
        </p:spPr>
      </p:pic>
      <p:pic>
        <p:nvPicPr>
          <p:cNvPr id="37" name="그림 36" descr="물, 코발트 블루, 빛,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8C0B335-85FE-A7FE-0202-4789D695E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3174"/>
            <a:ext cx="4333879" cy="5571669"/>
          </a:xfrm>
          <a:prstGeom prst="rect">
            <a:avLst/>
          </a:prstGeom>
        </p:spPr>
      </p:pic>
      <p:pic>
        <p:nvPicPr>
          <p:cNvPr id="44" name="그림 43" descr="일렉트릭 블루, 빛, 마조렐 블루, 코발트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F5B5764-08D4-9D8C-D271-87506F031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2909"/>
            <a:ext cx="4369465" cy="5572125"/>
          </a:xfrm>
          <a:prstGeom prst="rect">
            <a:avLst/>
          </a:prstGeom>
        </p:spPr>
      </p:pic>
      <p:pic>
        <p:nvPicPr>
          <p:cNvPr id="47" name="그림 46" descr="물, 일렉트릭 블루, 빛, 마조렐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1C07135-3851-5295-0EA4-618BAB9477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8" y="652909"/>
            <a:ext cx="4333882" cy="5572125"/>
          </a:xfrm>
          <a:prstGeom prst="rect">
            <a:avLst/>
          </a:prstGeom>
        </p:spPr>
      </p:pic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91FC5A3-9D93-FB16-BAA4-300F70E789FF}"/>
              </a:ext>
            </a:extLst>
          </p:cNvPr>
          <p:cNvSpPr/>
          <p:nvPr/>
        </p:nvSpPr>
        <p:spPr>
          <a:xfrm>
            <a:off x="151140" y="1441148"/>
            <a:ext cx="936000" cy="742950"/>
          </a:xfrm>
          <a:prstGeom prst="roundRect">
            <a:avLst>
              <a:gd name="adj" fmla="val 1409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19" name="양쪽 모서리가 둥근 사각형 18">
            <a:extLst>
              <a:ext uri="{FF2B5EF4-FFF2-40B4-BE49-F238E27FC236}">
                <a16:creationId xmlns:a16="http://schemas.microsoft.com/office/drawing/2014/main" id="{539B3F97-085F-D72B-987C-FAC7D5DE38E1}"/>
              </a:ext>
            </a:extLst>
          </p:cNvPr>
          <p:cNvSpPr/>
          <p:nvPr/>
        </p:nvSpPr>
        <p:spPr>
          <a:xfrm rot="5400000">
            <a:off x="850239" y="1753262"/>
            <a:ext cx="2979524" cy="468000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F7AD00C-D460-2823-90EB-E369BD010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3148" y="1274978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>
                <a:solidFill>
                  <a:srgbClr val="1A1A1A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마스터 제목 스타일 편집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C50F13C-CD8A-8C94-8FD3-81A6044F7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3516" y="1148812"/>
            <a:ext cx="258023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lvl="0" algn="l">
              <a:lnSpc>
                <a:spcPct val="100000"/>
              </a:lnSpc>
            </a:pPr>
            <a:r>
              <a:rPr lang="ko-KR" altLang="en-US" sz="1138" b="0">
                <a:ln w="6350">
                  <a:noFill/>
                </a:ln>
                <a:solidFill>
                  <a:srgbClr val="1A1A1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마스터 텍스트 스타일을 편집하려면 클릭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225983D-B848-6AC7-325C-6390185CC80F}"/>
              </a:ext>
            </a:extLst>
          </p:cNvPr>
          <p:cNvSpPr/>
          <p:nvPr/>
        </p:nvSpPr>
        <p:spPr>
          <a:xfrm rot="18900000">
            <a:off x="996839" y="1737092"/>
            <a:ext cx="151063" cy="151063"/>
          </a:xfrm>
          <a:prstGeom prst="roundRect">
            <a:avLst>
              <a:gd name="adj" fmla="val 1013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6DB42D-5AB1-6D9F-D361-092829B80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5437" y="642937"/>
            <a:ext cx="1960563" cy="19605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BF4A72B-F878-BF2A-D475-E76BEC0A77C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8582" y="5675861"/>
            <a:ext cx="2264355" cy="615011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266F9779-717D-C867-A3AD-BF7C8B36607B}"/>
              </a:ext>
            </a:extLst>
          </p:cNvPr>
          <p:cNvGrpSpPr/>
          <p:nvPr/>
        </p:nvGrpSpPr>
        <p:grpSpPr>
          <a:xfrm>
            <a:off x="691805" y="2835624"/>
            <a:ext cx="4166853" cy="2515277"/>
            <a:chOff x="851451" y="2710103"/>
            <a:chExt cx="5128434" cy="3095725"/>
          </a:xfrm>
        </p:grpSpPr>
        <p:sp>
          <p:nvSpPr>
            <p:cNvPr id="8" name="텍스트 개체 틀 7">
              <a:extLst>
                <a:ext uri="{FF2B5EF4-FFF2-40B4-BE49-F238E27FC236}">
                  <a16:creationId xmlns:a16="http://schemas.microsoft.com/office/drawing/2014/main" id="{12901BD9-B712-B807-59E9-EBC6B264E6E1}"/>
                </a:ext>
              </a:extLst>
            </p:cNvPr>
            <p:cNvSpPr txBox="1">
              <a:spLocks noGrp="1"/>
            </p:cNvSpPr>
            <p:nvPr>
              <p:ph type="body" idx="3"/>
            </p:nvPr>
          </p:nvSpPr>
          <p:spPr>
            <a:xfrm>
              <a:off x="1459210" y="2756825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lvl1pPr marL="0" indent="0">
                <a:buNone/>
              </a:lvl1pPr>
              <a:lvl2pPr marL="0" indent="0">
                <a:buNone/>
              </a:lvl2pPr>
            </a:lstStyle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제안사 일반현황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13" name="텍스트 개체 틀 12">
              <a:extLst>
                <a:ext uri="{FF2B5EF4-FFF2-40B4-BE49-F238E27FC236}">
                  <a16:creationId xmlns:a16="http://schemas.microsoft.com/office/drawing/2014/main" id="{1F3765CC-717C-6D9B-63C4-8DE00246EF4D}"/>
                </a:ext>
              </a:extLst>
            </p:cNvPr>
            <p:cNvSpPr txBox="1">
              <a:spLocks noGrp="1"/>
            </p:cNvSpPr>
            <p:nvPr>
              <p:ph type="body" idx="4"/>
            </p:nvPr>
          </p:nvSpPr>
          <p:spPr>
            <a:xfrm>
              <a:off x="1459210" y="3422756"/>
              <a:ext cx="3333094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lvl1pPr marL="0" indent="0">
                <a:buNone/>
              </a:lvl1pPr>
              <a:lvl2pPr marL="0" indent="0">
                <a:buNone/>
              </a:lvl2pPr>
            </a:lstStyle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제안사 조직 및 인력 구성 현황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82C611B-4E29-619F-83DD-51F4FB631FD6}"/>
                </a:ext>
              </a:extLst>
            </p:cNvPr>
            <p:cNvGrpSpPr/>
            <p:nvPr/>
          </p:nvGrpSpPr>
          <p:grpSpPr>
            <a:xfrm>
              <a:off x="851451" y="2710103"/>
              <a:ext cx="503999" cy="432000"/>
              <a:chOff x="781765" y="3883420"/>
              <a:chExt cx="503999" cy="432000"/>
            </a:xfrm>
          </p:grpSpPr>
          <p:sp>
            <p:nvSpPr>
              <p:cNvPr id="4" name="모서리가 둥근 직사각형 3">
                <a:extLst>
                  <a:ext uri="{FF2B5EF4-FFF2-40B4-BE49-F238E27FC236}">
                    <a16:creationId xmlns:a16="http://schemas.microsoft.com/office/drawing/2014/main" id="{B4828223-5681-D6FF-1A7B-2181227BC6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D636DA-9CDD-06A0-DDA2-99BD3A571994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01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83CAB6B-5816-2720-AD46-CF3C3EE24E2E}"/>
                </a:ext>
              </a:extLst>
            </p:cNvPr>
            <p:cNvGrpSpPr/>
            <p:nvPr/>
          </p:nvGrpSpPr>
          <p:grpSpPr>
            <a:xfrm>
              <a:off x="851451" y="3376034"/>
              <a:ext cx="503999" cy="432000"/>
              <a:chOff x="781765" y="4594620"/>
              <a:chExt cx="503999" cy="432000"/>
            </a:xfrm>
          </p:grpSpPr>
          <p:sp>
            <p:nvSpPr>
              <p:cNvPr id="7" name="모서리가 둥근 직사각형 6">
                <a:extLst>
                  <a:ext uri="{FF2B5EF4-FFF2-40B4-BE49-F238E27FC236}">
                    <a16:creationId xmlns:a16="http://schemas.microsoft.com/office/drawing/2014/main" id="{516FB77D-7D7D-61F4-E24F-8E4695665C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43F558-9993-C7F0-9B50-E48BB8637044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02</a:t>
                </a:r>
              </a:p>
            </p:txBody>
          </p:sp>
        </p:grp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1CE33A0E-227A-691F-993A-E8FF76622280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259068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320FE4D1-4929-152F-5649-BF51DE5845A4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924998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텍스트 개체 틀 24">
              <a:extLst>
                <a:ext uri="{FF2B5EF4-FFF2-40B4-BE49-F238E27FC236}">
                  <a16:creationId xmlns:a16="http://schemas.microsoft.com/office/drawing/2014/main" id="{464A868D-7496-BCE5-8C6E-577227438123}"/>
                </a:ext>
              </a:extLst>
            </p:cNvPr>
            <p:cNvSpPr txBox="1">
              <a:spLocks noGrp="1"/>
            </p:cNvSpPr>
            <p:nvPr>
              <p:ph type="body" idx="5"/>
            </p:nvPr>
          </p:nvSpPr>
          <p:spPr>
            <a:xfrm>
              <a:off x="1459210" y="4088689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lvl1pPr marL="0" indent="0">
                <a:buNone/>
              </a:lvl1pPr>
              <a:lvl2pPr marL="0" indent="0">
                <a:buNone/>
              </a:lvl2pPr>
            </a:lstStyle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제안사 재무현황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CEEF041-70F5-8FD8-5D2B-90A59F14B189}"/>
                </a:ext>
              </a:extLst>
            </p:cNvPr>
            <p:cNvGrpSpPr/>
            <p:nvPr/>
          </p:nvGrpSpPr>
          <p:grpSpPr>
            <a:xfrm>
              <a:off x="851451" y="4041965"/>
              <a:ext cx="503999" cy="432000"/>
              <a:chOff x="781765" y="3883420"/>
              <a:chExt cx="503999" cy="432000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E6943877-1837-6EA0-5632-574DFF0B7A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B5DEFE-54B1-885D-B115-A9E813619C1D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03</a:t>
                </a:r>
              </a:p>
            </p:txBody>
          </p:sp>
        </p:grpSp>
        <p:sp>
          <p:nvSpPr>
            <p:cNvPr id="29" name="텍스트 개체 틀 28">
              <a:extLst>
                <a:ext uri="{FF2B5EF4-FFF2-40B4-BE49-F238E27FC236}">
                  <a16:creationId xmlns:a16="http://schemas.microsoft.com/office/drawing/2014/main" id="{A4C60E8C-D38F-8EC0-5B7D-102F36CF50F7}"/>
                </a:ext>
              </a:extLst>
            </p:cNvPr>
            <p:cNvSpPr txBox="1">
              <a:spLocks noGrp="1"/>
            </p:cNvSpPr>
            <p:nvPr>
              <p:ph type="body" idx="6"/>
            </p:nvPr>
          </p:nvSpPr>
          <p:spPr>
            <a:xfrm>
              <a:off x="1459208" y="4754617"/>
              <a:ext cx="4520677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lvl1pPr marL="0" indent="0">
                <a:buNone/>
              </a:lvl1pPr>
              <a:lvl2pPr marL="0" indent="0">
                <a:buNone/>
              </a:lvl2pPr>
            </a:lstStyle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기업 및 클라우드 관련 국내</a:t>
              </a:r>
              <a:r>
                <a:rPr lang="en-US" altLang="ko-KR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/</a:t>
              </a:r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외 공인 인증 현황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F6EE05FE-8FFF-40A0-0DA5-C01C337AC62D}"/>
                </a:ext>
              </a:extLst>
            </p:cNvPr>
            <p:cNvGrpSpPr/>
            <p:nvPr/>
          </p:nvGrpSpPr>
          <p:grpSpPr>
            <a:xfrm>
              <a:off x="851451" y="4707896"/>
              <a:ext cx="503999" cy="432000"/>
              <a:chOff x="781765" y="4594620"/>
              <a:chExt cx="503999" cy="432000"/>
            </a:xfrm>
          </p:grpSpPr>
          <p:sp>
            <p:nvSpPr>
              <p:cNvPr id="39" name="모서리가 둥근 직사각형 38">
                <a:extLst>
                  <a:ext uri="{FF2B5EF4-FFF2-40B4-BE49-F238E27FC236}">
                    <a16:creationId xmlns:a16="http://schemas.microsoft.com/office/drawing/2014/main" id="{BC68AC87-C1D0-01E8-B66E-78E85E500C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32C8B38-2C7D-72CC-08E3-99748C4CD014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04</a:t>
                </a:r>
              </a:p>
            </p:txBody>
          </p:sp>
        </p:grpSp>
        <p:cxnSp>
          <p:nvCxnSpPr>
            <p:cNvPr id="35" name="직선 연결선[R] 34">
              <a:extLst>
                <a:ext uri="{FF2B5EF4-FFF2-40B4-BE49-F238E27FC236}">
                  <a16:creationId xmlns:a16="http://schemas.microsoft.com/office/drawing/2014/main" id="{A7A8F12D-460D-7CB9-6C51-9A69E02CDF0C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590930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F68E0DFF-2620-0E50-F0D7-4C714F2D30F7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590930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텍스트 개체 틀 29">
              <a:extLst>
                <a:ext uri="{FF2B5EF4-FFF2-40B4-BE49-F238E27FC236}">
                  <a16:creationId xmlns:a16="http://schemas.microsoft.com/office/drawing/2014/main" id="{39D172FD-FCF4-2759-95C0-7C1E21569A82}"/>
                </a:ext>
              </a:extLst>
            </p:cNvPr>
            <p:cNvSpPr txBox="1">
              <a:spLocks noGrp="1"/>
            </p:cNvSpPr>
            <p:nvPr>
              <p:ph type="body" idx="7"/>
            </p:nvPr>
          </p:nvSpPr>
          <p:spPr>
            <a:xfrm>
              <a:off x="1459208" y="5420549"/>
              <a:ext cx="3199877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lvl1pPr marL="0" indent="0">
                <a:buNone/>
              </a:lvl1pPr>
              <a:lvl2pPr marL="0" indent="0">
                <a:buNone/>
              </a:lvl2pPr>
            </a:lstStyle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유사 프로젝트 수행 실적</a:t>
              </a:r>
              <a:r>
                <a:rPr lang="en-US" altLang="ko-KR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(</a:t>
              </a:r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최근 </a:t>
              </a:r>
              <a:r>
                <a:rPr lang="en-US" altLang="ko-KR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3</a:t>
              </a:r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년</a:t>
              </a:r>
              <a:r>
                <a:rPr lang="en-US" altLang="ko-KR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)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463D9E-FBD3-56F4-C36F-5A226730001F}"/>
                </a:ext>
              </a:extLst>
            </p:cNvPr>
            <p:cNvGrpSpPr/>
            <p:nvPr/>
          </p:nvGrpSpPr>
          <p:grpSpPr>
            <a:xfrm>
              <a:off x="851451" y="5373828"/>
              <a:ext cx="503999" cy="432000"/>
              <a:chOff x="781765" y="4594620"/>
              <a:chExt cx="503999" cy="432000"/>
            </a:xfrm>
          </p:grpSpPr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C0BFA030-2F57-99EF-BEE1-D5B6BAD4C6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92C482-32E7-3351-5365-E76B4554725C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05</a:t>
                </a:r>
              </a:p>
            </p:txBody>
          </p:sp>
        </p:grp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3443C784-0787-6B14-8783-16FC83D708A3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5256862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2A2616C7-4237-959F-6CBC-DA59FA007BA2}"/>
              </a:ext>
            </a:extLst>
          </p:cNvPr>
          <p:cNvSpPr txBox="1">
            <a:spLocks noGrp="1"/>
          </p:cNvSpPr>
          <p:nvPr>
            <p:ph type="body" idx="2"/>
          </p:nvPr>
        </p:nvSpPr>
        <p:spPr bwMode="gray">
          <a:xfrm>
            <a:off x="247665" y="1429838"/>
            <a:ext cx="742951" cy="7502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lvl1pPr marL="0" indent="0">
              <a:buNone/>
            </a:lvl1pPr>
            <a:lvl2pPr marL="0" indent="0">
              <a:buNone/>
            </a:lvl2pPr>
          </a:lstStyle>
          <a:p>
            <a:pPr lvl="0" algn="ctr"/>
            <a:r>
              <a:rPr lang="ko-KR" altLang="en-US" sz="4875" b="1">
                <a:solidFill>
                  <a:schemeClr val="bg1"/>
                </a:solidFill>
                <a:latin typeface="Pretendard" panose="02000503000000020004" pitchFamily="50" charset="-127"/>
                <a:cs typeface="Pretendard" panose="02000503000000020004" pitchFamily="50" charset="-127"/>
              </a:rPr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90176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44E98-E3C5-4935-ACD0-4122F127AE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3C8538E-26A5-25BD-5F4D-075F02EA1F66}"/>
              </a:ext>
            </a:extLst>
          </p:cNvPr>
          <p:cNvSpPr/>
          <p:nvPr userDrawn="1"/>
        </p:nvSpPr>
        <p:spPr>
          <a:xfrm>
            <a:off x="93000" y="109539"/>
            <a:ext cx="400723" cy="330993"/>
          </a:xfrm>
          <a:prstGeom prst="rect">
            <a:avLst/>
          </a:prstGeom>
          <a:solidFill>
            <a:srgbClr val="0C3389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D602C-B274-DC96-FFCC-39C277BE346E}"/>
              </a:ext>
            </a:extLst>
          </p:cNvPr>
          <p:cNvSpPr txBox="1"/>
          <p:nvPr userDrawn="1"/>
        </p:nvSpPr>
        <p:spPr>
          <a:xfrm>
            <a:off x="92550" y="111258"/>
            <a:ext cx="40072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 sz="1650"/>
              <a:t>Ⅰ</a:t>
            </a:r>
            <a:endParaRPr lang="ko-KR" altLang="en-US" sz="165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9E8B2F-76B7-C5B6-BC28-E52F94B0A0AC}"/>
              </a:ext>
            </a:extLst>
          </p:cNvPr>
          <p:cNvSpPr/>
          <p:nvPr userDrawn="1"/>
        </p:nvSpPr>
        <p:spPr>
          <a:xfrm>
            <a:off x="92550" y="0"/>
            <a:ext cx="400723" cy="109538"/>
          </a:xfrm>
          <a:prstGeom prst="rect">
            <a:avLst/>
          </a:prstGeom>
          <a:solidFill>
            <a:srgbClr val="00B28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D530E1-7082-AECD-4D0A-7063D5839E01}"/>
              </a:ext>
            </a:extLst>
          </p:cNvPr>
          <p:cNvSpPr txBox="1"/>
          <p:nvPr userDrawn="1"/>
        </p:nvSpPr>
        <p:spPr bwMode="gray">
          <a:xfrm>
            <a:off x="8799941" y="222497"/>
            <a:ext cx="27366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defPPr>
              <a:defRPr lang="en-US"/>
            </a:defPPr>
            <a:lvl1pPr lvl="0" defTabSz="870853">
              <a:spcBef>
                <a:spcPts val="0"/>
              </a:spcBef>
              <a:defRPr sz="650" b="1" i="0" kern="0" spc="-29" baseline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sz="650" b="1" i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제안개요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F1A19C-91B0-DBB0-8DF3-A5CC65EEE6E0}"/>
              </a:ext>
            </a:extLst>
          </p:cNvPr>
          <p:cNvSpPr/>
          <p:nvPr userDrawn="1"/>
        </p:nvSpPr>
        <p:spPr>
          <a:xfrm>
            <a:off x="8739239" y="218507"/>
            <a:ext cx="5850" cy="10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24" name="내용 개체 틀 24">
            <a:extLst>
              <a:ext uri="{FF2B5EF4-FFF2-40B4-BE49-F238E27FC236}">
                <a16:creationId xmlns:a16="http://schemas.microsoft.com/office/drawing/2014/main" id="{7EBC72C6-2432-FBE8-173D-FBF892CE50CC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741662" y="608742"/>
            <a:ext cx="8422680" cy="5794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pPr lvl="1"/>
            <a:r>
              <a:rPr lang="ko-KR" altLang="en-US"/>
              <a:t>거버넌스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0CF55C-B76C-3CAF-3D6C-D0A2CBA7A41E}"/>
              </a:ext>
            </a:extLst>
          </p:cNvPr>
          <p:cNvSpPr/>
          <p:nvPr userDrawn="1"/>
        </p:nvSpPr>
        <p:spPr>
          <a:xfrm>
            <a:off x="-488" y="6570000"/>
            <a:ext cx="9906975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CE1C44DA-6960-EA6D-7C2B-4A7CA4610C0A}"/>
              </a:ext>
            </a:extLst>
          </p:cNvPr>
          <p:cNvSpPr>
            <a:spLocks noGrp="1"/>
          </p:cNvSpPr>
          <p:nvPr userDrawn="1"/>
        </p:nvSpPr>
        <p:spPr>
          <a:xfrm>
            <a:off x="13219" y="6534000"/>
            <a:ext cx="2421036" cy="36000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ko-KR" sz="650" b="0" i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7C7D7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 COMPANY</a:t>
            </a:r>
            <a:endParaRPr lang="ko-KR" altLang="en-US" sz="650" b="0" i="0">
              <a:ln>
                <a:noFill/>
              </a:ln>
              <a:solidFill>
                <a:srgbClr val="7C7D7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EC264599-BB28-8304-F9EF-C128ABCDCA7F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DDFEDFB-5594-5B92-06D9-8F7A46FA5A44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097262E9-FB3F-6B47-4E02-B6F1488ACCB9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48F63A3B-78C7-47BE-AE5E-E10140E04643}" type="slidenum">
              <a:rPr lang="en-US" smtClean="0"/>
              <a:pPr/>
              <a:t>‹#›</a:t>
            </a:fld>
            <a:r>
              <a:rPr lang="en-US" altLang="ko-KR"/>
              <a:t>-</a:t>
            </a:r>
            <a:endParaRPr lang="en-US"/>
          </a:p>
        </p:txBody>
      </p:sp>
      <p:cxnSp>
        <p:nvCxnSpPr>
          <p:cNvPr id="10" name="직선 연결선[R] 6">
            <a:extLst>
              <a:ext uri="{FF2B5EF4-FFF2-40B4-BE49-F238E27FC236}">
                <a16:creationId xmlns:a16="http://schemas.microsoft.com/office/drawing/2014/main" id="{AB44F21C-519E-7BA4-8027-7A4B3A7C4D5A}"/>
              </a:ext>
            </a:extLst>
          </p:cNvPr>
          <p:cNvCxnSpPr>
            <a:cxnSpLocks/>
          </p:cNvCxnSpPr>
          <p:nvPr userDrawn="1"/>
        </p:nvCxnSpPr>
        <p:spPr>
          <a:xfrm>
            <a:off x="0" y="1271315"/>
            <a:ext cx="9904449" cy="0"/>
          </a:xfrm>
          <a:prstGeom prst="line">
            <a:avLst/>
          </a:prstGeom>
          <a:ln w="635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B555AF-F3F0-AE05-4ED4-EDABA7136E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10" y="6654915"/>
            <a:ext cx="380250" cy="12675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8C386453-3FA4-3F8C-71A2-73879A38BD6C}"/>
              </a:ext>
            </a:extLst>
          </p:cNvPr>
          <p:cNvGrpSpPr/>
          <p:nvPr userDrawn="1"/>
        </p:nvGrpSpPr>
        <p:grpSpPr>
          <a:xfrm>
            <a:off x="10169128" y="248027"/>
            <a:ext cx="3378341" cy="6285973"/>
            <a:chOff x="12293599" y="0"/>
            <a:chExt cx="3471013" cy="6739413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8373206B-9F3B-D64E-20DE-6722FD9F09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293599" y="0"/>
              <a:ext cx="3378200" cy="130810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C7D75D26-8B9D-CDFE-E9CF-2801B12804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2373712" y="4357224"/>
              <a:ext cx="3213100" cy="148590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E11A2A0F-72EA-46A9-93EF-0260675F97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73712" y="1568588"/>
              <a:ext cx="3390900" cy="2603500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A65FA069-F6E6-0057-929E-388E09BBBA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rot="16200000">
              <a:off x="13657850" y="5369379"/>
              <a:ext cx="788684" cy="1951383"/>
            </a:xfrm>
            <a:prstGeom prst="rect">
              <a:avLst/>
            </a:prstGeom>
          </p:spPr>
        </p:pic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3A729D0D-5D0F-AD69-E4DF-D8A1C2078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500" y="67555"/>
            <a:ext cx="5791806" cy="2697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indent="0">
              <a:lnSpc>
                <a:spcPct val="100000"/>
              </a:lnSpc>
              <a:defRPr sz="13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/>
              <a:t>부제 입력</a:t>
            </a:r>
            <a:endParaRPr lang="en-US"/>
          </a:p>
        </p:txBody>
      </p:sp>
      <p:sp>
        <p:nvSpPr>
          <p:cNvPr id="11" name="내용 개체 틀 7">
            <a:extLst>
              <a:ext uri="{FF2B5EF4-FFF2-40B4-BE49-F238E27FC236}">
                <a16:creationId xmlns:a16="http://schemas.microsoft.com/office/drawing/2014/main" id="{0225012A-2CB3-1E62-547A-5C33C0B257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4223" y="248713"/>
            <a:ext cx="4974462" cy="26971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371457" indent="0">
              <a:lnSpc>
                <a:spcPct val="100000"/>
              </a:lnSpc>
              <a:buFontTx/>
              <a:buNone/>
              <a:defRPr/>
            </a:lvl2pPr>
            <a:lvl3pPr marL="742913" indent="0">
              <a:lnSpc>
                <a:spcPct val="100000"/>
              </a:lnSpc>
              <a:buFontTx/>
              <a:buNone/>
              <a:defRPr/>
            </a:lvl3pPr>
            <a:lvl4pPr marL="1114370" indent="0">
              <a:lnSpc>
                <a:spcPct val="100000"/>
              </a:lnSpc>
              <a:buFontTx/>
              <a:buNone/>
              <a:defRPr/>
            </a:lvl4pPr>
            <a:lvl5pPr marL="1485826" indent="0">
              <a:lnSpc>
                <a:spcPct val="100000"/>
              </a:lnSpc>
              <a:buFontTx/>
              <a:buNone/>
              <a:defRPr/>
            </a:lvl5pPr>
          </a:lstStyle>
          <a:p>
            <a:pPr lvl="0"/>
            <a:r>
              <a:rPr kumimoji="1" lang="ko-KR" altLang="en-US"/>
              <a:t>페이지 부제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80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B75E28-5025-CCAF-D355-8A1EA9A248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2968EC4-5687-35E5-EEA7-C366C0A33337}"/>
              </a:ext>
            </a:extLst>
          </p:cNvPr>
          <p:cNvSpPr/>
          <p:nvPr userDrawn="1"/>
        </p:nvSpPr>
        <p:spPr>
          <a:xfrm>
            <a:off x="93000" y="109539"/>
            <a:ext cx="400723" cy="330993"/>
          </a:xfrm>
          <a:prstGeom prst="rect">
            <a:avLst/>
          </a:prstGeom>
          <a:solidFill>
            <a:srgbClr val="0C3389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E5B88-0761-065D-A0EF-1747EEAF56A4}"/>
              </a:ext>
            </a:extLst>
          </p:cNvPr>
          <p:cNvSpPr txBox="1"/>
          <p:nvPr userDrawn="1"/>
        </p:nvSpPr>
        <p:spPr>
          <a:xfrm>
            <a:off x="92550" y="111258"/>
            <a:ext cx="40072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 sz="1650"/>
              <a:t>Ⅱ</a:t>
            </a:r>
            <a:endParaRPr lang="ko-KR" altLang="en-US" sz="165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78F9A8-84BF-0703-8093-A1E85123A970}"/>
              </a:ext>
            </a:extLst>
          </p:cNvPr>
          <p:cNvSpPr/>
          <p:nvPr userDrawn="1"/>
        </p:nvSpPr>
        <p:spPr>
          <a:xfrm>
            <a:off x="92550" y="0"/>
            <a:ext cx="400723" cy="109538"/>
          </a:xfrm>
          <a:prstGeom prst="rect">
            <a:avLst/>
          </a:prstGeom>
          <a:solidFill>
            <a:srgbClr val="00B28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3AC315-CDBB-ECEA-C38A-147DAD3D2DE9}"/>
              </a:ext>
            </a:extLst>
          </p:cNvPr>
          <p:cNvSpPr/>
          <p:nvPr userDrawn="1"/>
        </p:nvSpPr>
        <p:spPr>
          <a:xfrm>
            <a:off x="-488" y="6570000"/>
            <a:ext cx="9906975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0" name="날짜 개체 틀 9">
            <a:extLst>
              <a:ext uri="{FF2B5EF4-FFF2-40B4-BE49-F238E27FC236}">
                <a16:creationId xmlns:a16="http://schemas.microsoft.com/office/drawing/2014/main" id="{7C5A0769-4834-1B8B-9622-A88D5E2782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BD52D501-6DC7-632A-94AB-E883D1EE0D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9D62450D-FD82-CFD4-2CD7-9D39012F12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48F63A3B-78C7-47BE-AE5E-E10140E04643}" type="slidenum">
              <a:rPr lang="en-US" smtClean="0"/>
              <a:pPr/>
              <a:t>‹#›</a:t>
            </a:fld>
            <a:r>
              <a:rPr lang="en-US" altLang="ko-KR"/>
              <a:t>-</a:t>
            </a:r>
            <a:endParaRPr lang="en-US"/>
          </a:p>
        </p:txBody>
      </p:sp>
      <p:sp>
        <p:nvSpPr>
          <p:cNvPr id="18" name="내용 개체 틀 24">
            <a:extLst>
              <a:ext uri="{FF2B5EF4-FFF2-40B4-BE49-F238E27FC236}">
                <a16:creationId xmlns:a16="http://schemas.microsoft.com/office/drawing/2014/main" id="{CE756EAB-A35C-07D5-C47F-22DB04FE7A5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1662" y="608742"/>
            <a:ext cx="8422680" cy="5794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pPr lvl="1"/>
            <a:r>
              <a:rPr lang="ko-KR" altLang="en-US"/>
              <a:t>거버넌스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</p:txBody>
      </p:sp>
      <p:cxnSp>
        <p:nvCxnSpPr>
          <p:cNvPr id="19" name="직선 연결선[R] 6">
            <a:extLst>
              <a:ext uri="{FF2B5EF4-FFF2-40B4-BE49-F238E27FC236}">
                <a16:creationId xmlns:a16="http://schemas.microsoft.com/office/drawing/2014/main" id="{7B2B32E8-8557-4787-07B6-165163E37A0A}"/>
              </a:ext>
            </a:extLst>
          </p:cNvPr>
          <p:cNvCxnSpPr>
            <a:cxnSpLocks/>
          </p:cNvCxnSpPr>
          <p:nvPr userDrawn="1"/>
        </p:nvCxnSpPr>
        <p:spPr>
          <a:xfrm>
            <a:off x="0" y="1271315"/>
            <a:ext cx="9904449" cy="0"/>
          </a:xfrm>
          <a:prstGeom prst="line">
            <a:avLst/>
          </a:prstGeom>
          <a:ln w="635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슬라이드 번호 개체 틀 4">
            <a:extLst>
              <a:ext uri="{FF2B5EF4-FFF2-40B4-BE49-F238E27FC236}">
                <a16:creationId xmlns:a16="http://schemas.microsoft.com/office/drawing/2014/main" id="{46238AFC-0C7B-E045-FC6D-EBE0F67DAE42}"/>
              </a:ext>
            </a:extLst>
          </p:cNvPr>
          <p:cNvSpPr>
            <a:spLocks noGrp="1"/>
          </p:cNvSpPr>
          <p:nvPr userDrawn="1"/>
        </p:nvSpPr>
        <p:spPr>
          <a:xfrm>
            <a:off x="13219" y="6534000"/>
            <a:ext cx="2421036" cy="36000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ko-KR" sz="650" b="0" i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7C7D7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 COMPANY</a:t>
            </a:r>
            <a:endParaRPr lang="ko-KR" altLang="en-US" sz="650" b="0" i="0">
              <a:ln>
                <a:noFill/>
              </a:ln>
              <a:solidFill>
                <a:srgbClr val="7C7D7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그림 23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E3535F-9EC1-89FA-49ED-A2D40866B1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10" y="6654915"/>
            <a:ext cx="380250" cy="12675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42BD5B64-B9C4-9CA4-6793-3FB626F63E57}"/>
              </a:ext>
            </a:extLst>
          </p:cNvPr>
          <p:cNvGrpSpPr/>
          <p:nvPr userDrawn="1"/>
        </p:nvGrpSpPr>
        <p:grpSpPr>
          <a:xfrm>
            <a:off x="10039732" y="284779"/>
            <a:ext cx="3378341" cy="6285973"/>
            <a:chOff x="12293599" y="0"/>
            <a:chExt cx="3471013" cy="6739413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B45F0678-4648-742B-5631-20533D987B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293599" y="0"/>
              <a:ext cx="3378200" cy="130810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96E3E489-15EA-6BCC-D223-84B5792E27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2373712" y="4357224"/>
              <a:ext cx="3213100" cy="148590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39936F25-B7E4-A94A-81F6-F21B73CF8C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73712" y="1568588"/>
              <a:ext cx="3390900" cy="2603500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31C12657-2838-D529-F63E-1C7EA68BA0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rot="16200000">
              <a:off x="13657850" y="5369379"/>
              <a:ext cx="788684" cy="1951383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0D1DD4F-4FAE-B5FC-B024-84D7E5CACA52}"/>
              </a:ext>
            </a:extLst>
          </p:cNvPr>
          <p:cNvSpPr txBox="1"/>
          <p:nvPr userDrawn="1"/>
        </p:nvSpPr>
        <p:spPr bwMode="gray">
          <a:xfrm>
            <a:off x="8799941" y="222497"/>
            <a:ext cx="357598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defPPr>
              <a:defRPr lang="en-US"/>
            </a:defPPr>
            <a:lvl1pPr lvl="0" defTabSz="870853">
              <a:spcBef>
                <a:spcPts val="0"/>
              </a:spcBef>
              <a:defRPr sz="650" b="1" i="0" kern="0" spc="-29" baseline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sz="650" b="1" i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제안사 현황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159E7AB-58D5-DA79-60E6-B32E1C7FE140}"/>
              </a:ext>
            </a:extLst>
          </p:cNvPr>
          <p:cNvSpPr/>
          <p:nvPr userDrawn="1"/>
        </p:nvSpPr>
        <p:spPr>
          <a:xfrm>
            <a:off x="8739239" y="218507"/>
            <a:ext cx="5850" cy="10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26DAD-A3DB-D4D1-C43D-B899683E8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500" y="67555"/>
            <a:ext cx="5791806" cy="2697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indent="0">
              <a:lnSpc>
                <a:spcPct val="100000"/>
              </a:lnSpc>
              <a:defRPr sz="13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/>
              <a:t>부제 입력</a:t>
            </a:r>
            <a:endParaRPr lang="en-US"/>
          </a:p>
        </p:txBody>
      </p:sp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D43C3454-B123-4A7C-E989-FC28F871EA6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4223" y="248713"/>
            <a:ext cx="4974462" cy="26971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371457" indent="0">
              <a:lnSpc>
                <a:spcPct val="100000"/>
              </a:lnSpc>
              <a:buFontTx/>
              <a:buNone/>
              <a:defRPr/>
            </a:lvl2pPr>
            <a:lvl3pPr marL="742913" indent="0">
              <a:lnSpc>
                <a:spcPct val="100000"/>
              </a:lnSpc>
              <a:buFontTx/>
              <a:buNone/>
              <a:defRPr/>
            </a:lvl3pPr>
            <a:lvl4pPr marL="1114370" indent="0">
              <a:lnSpc>
                <a:spcPct val="100000"/>
              </a:lnSpc>
              <a:buFontTx/>
              <a:buNone/>
              <a:defRPr/>
            </a:lvl4pPr>
            <a:lvl5pPr marL="1485826" indent="0">
              <a:lnSpc>
                <a:spcPct val="100000"/>
              </a:lnSpc>
              <a:buFontTx/>
              <a:buNone/>
              <a:defRPr/>
            </a:lvl5pPr>
          </a:lstStyle>
          <a:p>
            <a:pPr lvl="0"/>
            <a:r>
              <a:rPr kumimoji="1" lang="ko-KR" altLang="en-US"/>
              <a:t>페이지 부제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24499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7944BB-FA7D-68B3-901B-E0A886297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C0B0D7-1B76-0F39-2E68-73679C7E70F1}"/>
              </a:ext>
            </a:extLst>
          </p:cNvPr>
          <p:cNvSpPr/>
          <p:nvPr userDrawn="1"/>
        </p:nvSpPr>
        <p:spPr>
          <a:xfrm>
            <a:off x="93000" y="109539"/>
            <a:ext cx="400723" cy="330993"/>
          </a:xfrm>
          <a:prstGeom prst="rect">
            <a:avLst/>
          </a:prstGeom>
          <a:solidFill>
            <a:srgbClr val="0C3389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D1848A-5AEC-CBBA-296B-8E27C8EF8F9E}"/>
              </a:ext>
            </a:extLst>
          </p:cNvPr>
          <p:cNvSpPr txBox="1"/>
          <p:nvPr userDrawn="1"/>
        </p:nvSpPr>
        <p:spPr>
          <a:xfrm>
            <a:off x="92550" y="111258"/>
            <a:ext cx="40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 sz="18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Ⅲ</a:t>
            </a:r>
            <a:endParaRPr lang="ko-KR" altLang="en-US" sz="165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69A2E9-E9F0-A124-DC99-DAD5EF5FC5FA}"/>
              </a:ext>
            </a:extLst>
          </p:cNvPr>
          <p:cNvSpPr/>
          <p:nvPr userDrawn="1"/>
        </p:nvSpPr>
        <p:spPr>
          <a:xfrm>
            <a:off x="92550" y="0"/>
            <a:ext cx="400723" cy="109538"/>
          </a:xfrm>
          <a:prstGeom prst="rect">
            <a:avLst/>
          </a:prstGeom>
          <a:solidFill>
            <a:srgbClr val="00B28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66004C-FC2E-9CBD-5911-725640826199}"/>
              </a:ext>
            </a:extLst>
          </p:cNvPr>
          <p:cNvSpPr/>
          <p:nvPr userDrawn="1"/>
        </p:nvSpPr>
        <p:spPr>
          <a:xfrm>
            <a:off x="-488" y="6570000"/>
            <a:ext cx="9906975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5" name="날짜 개체 틀 14">
            <a:extLst>
              <a:ext uri="{FF2B5EF4-FFF2-40B4-BE49-F238E27FC236}">
                <a16:creationId xmlns:a16="http://schemas.microsoft.com/office/drawing/2014/main" id="{B572B3DE-9A67-E88C-7E6A-EFAD0D6CFD6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바닥글 개체 틀 16">
            <a:extLst>
              <a:ext uri="{FF2B5EF4-FFF2-40B4-BE49-F238E27FC236}">
                <a16:creationId xmlns:a16="http://schemas.microsoft.com/office/drawing/2014/main" id="{220A16EE-A39C-66D2-A497-68D98E9347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C3238C06-4A32-3AFB-29B2-BADE561DCB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48F63A3B-78C7-47BE-AE5E-E10140E04643}" type="slidenum">
              <a:rPr lang="en-US" smtClean="0"/>
              <a:pPr/>
              <a:t>‹#›</a:t>
            </a:fld>
            <a:r>
              <a:rPr lang="en-US" altLang="ko-KR"/>
              <a:t>-</a:t>
            </a:r>
            <a:endParaRPr lang="en-US"/>
          </a:p>
        </p:txBody>
      </p:sp>
      <p:sp>
        <p:nvSpPr>
          <p:cNvPr id="2" name="내용 개체 틀 24">
            <a:extLst>
              <a:ext uri="{FF2B5EF4-FFF2-40B4-BE49-F238E27FC236}">
                <a16:creationId xmlns:a16="http://schemas.microsoft.com/office/drawing/2014/main" id="{13F9350B-949A-DD4B-A693-665413A8696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41662" y="608742"/>
            <a:ext cx="8422680" cy="5794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pPr lvl="1"/>
            <a:r>
              <a:rPr lang="ko-KR" altLang="en-US"/>
              <a:t>거버넌스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</p:txBody>
      </p:sp>
      <p:cxnSp>
        <p:nvCxnSpPr>
          <p:cNvPr id="4" name="직선 연결선[R] 6">
            <a:extLst>
              <a:ext uri="{FF2B5EF4-FFF2-40B4-BE49-F238E27FC236}">
                <a16:creationId xmlns:a16="http://schemas.microsoft.com/office/drawing/2014/main" id="{1CDC6D8F-9B64-427D-376E-95DF9A788B06}"/>
              </a:ext>
            </a:extLst>
          </p:cNvPr>
          <p:cNvCxnSpPr>
            <a:cxnSpLocks/>
          </p:cNvCxnSpPr>
          <p:nvPr userDrawn="1"/>
        </p:nvCxnSpPr>
        <p:spPr>
          <a:xfrm>
            <a:off x="0" y="1271315"/>
            <a:ext cx="9904449" cy="0"/>
          </a:xfrm>
          <a:prstGeom prst="line">
            <a:avLst/>
          </a:prstGeom>
          <a:ln w="635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577B119B-D169-B301-4BF1-0E7CDBB5FF48}"/>
              </a:ext>
            </a:extLst>
          </p:cNvPr>
          <p:cNvSpPr>
            <a:spLocks noGrp="1"/>
          </p:cNvSpPr>
          <p:nvPr userDrawn="1"/>
        </p:nvSpPr>
        <p:spPr>
          <a:xfrm>
            <a:off x="13219" y="6534000"/>
            <a:ext cx="2421036" cy="36000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ko-KR" sz="650" b="0" i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7C7D7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 COMPANY</a:t>
            </a:r>
            <a:endParaRPr lang="ko-KR" altLang="en-US" sz="650" b="0" i="0">
              <a:ln>
                <a:noFill/>
              </a:ln>
              <a:solidFill>
                <a:srgbClr val="7C7D7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F579F-3BF4-E45C-8CAB-0380A61E7D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10" y="6654915"/>
            <a:ext cx="380250" cy="12675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7E699F19-1C0F-BD09-4EC5-0CBA92CCE9EA}"/>
              </a:ext>
            </a:extLst>
          </p:cNvPr>
          <p:cNvGrpSpPr/>
          <p:nvPr userDrawn="1"/>
        </p:nvGrpSpPr>
        <p:grpSpPr>
          <a:xfrm>
            <a:off x="10039732" y="284779"/>
            <a:ext cx="3378341" cy="6285973"/>
            <a:chOff x="12293599" y="0"/>
            <a:chExt cx="3471013" cy="673941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CC8F760-0A05-C62E-9D5D-B5666782C0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293599" y="0"/>
              <a:ext cx="3378200" cy="13081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7EF57F2-E471-C28D-DB2C-3A0ED77520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2373712" y="4357224"/>
              <a:ext cx="3213100" cy="14859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BC6EBC5-D38E-6E03-A417-B1D169FC46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73712" y="1568588"/>
              <a:ext cx="3390900" cy="26035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DF54BD6-7034-7088-84E4-AFFD9498EC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rot="16200000">
              <a:off x="13657850" y="5369379"/>
              <a:ext cx="788684" cy="1951383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094A85F-9892-3725-3FD8-E60FAC6DE52D}"/>
              </a:ext>
            </a:extLst>
          </p:cNvPr>
          <p:cNvSpPr txBox="1"/>
          <p:nvPr userDrawn="1"/>
        </p:nvSpPr>
        <p:spPr bwMode="gray">
          <a:xfrm>
            <a:off x="8799941" y="222497"/>
            <a:ext cx="27366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defPPr>
              <a:defRPr lang="en-US"/>
            </a:defPPr>
            <a:lvl1pPr lvl="0" defTabSz="870853">
              <a:spcBef>
                <a:spcPts val="0"/>
              </a:spcBef>
              <a:defRPr sz="650" b="1" i="0" kern="0" spc="-29" baseline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sz="650" b="1" i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기술부문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349ADC6-06A1-A7BE-4D13-BEECFFFD2247}"/>
              </a:ext>
            </a:extLst>
          </p:cNvPr>
          <p:cNvSpPr/>
          <p:nvPr userDrawn="1"/>
        </p:nvSpPr>
        <p:spPr>
          <a:xfrm>
            <a:off x="8739239" y="218507"/>
            <a:ext cx="5850" cy="10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C11442B-45B3-635B-A7FF-A7020A4F1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500" y="67555"/>
            <a:ext cx="5791806" cy="2697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indent="0">
              <a:lnSpc>
                <a:spcPct val="100000"/>
              </a:lnSpc>
              <a:defRPr sz="13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/>
              <a:t>부제 입력</a:t>
            </a:r>
            <a:endParaRPr lang="en-US"/>
          </a:p>
        </p:txBody>
      </p:sp>
      <p:sp>
        <p:nvSpPr>
          <p:cNvPr id="11" name="내용 개체 틀 7">
            <a:extLst>
              <a:ext uri="{FF2B5EF4-FFF2-40B4-BE49-F238E27FC236}">
                <a16:creationId xmlns:a16="http://schemas.microsoft.com/office/drawing/2014/main" id="{14B6E9D8-7A7F-14E7-9CB6-8ADF334769A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4223" y="248713"/>
            <a:ext cx="4974462" cy="26971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371457" indent="0">
              <a:lnSpc>
                <a:spcPct val="100000"/>
              </a:lnSpc>
              <a:buFontTx/>
              <a:buNone/>
              <a:defRPr/>
            </a:lvl2pPr>
            <a:lvl3pPr marL="742913" indent="0">
              <a:lnSpc>
                <a:spcPct val="100000"/>
              </a:lnSpc>
              <a:buFontTx/>
              <a:buNone/>
              <a:defRPr/>
            </a:lvl3pPr>
            <a:lvl4pPr marL="1114370" indent="0">
              <a:lnSpc>
                <a:spcPct val="100000"/>
              </a:lnSpc>
              <a:buFontTx/>
              <a:buNone/>
              <a:defRPr/>
            </a:lvl4pPr>
            <a:lvl5pPr marL="1485826" indent="0">
              <a:lnSpc>
                <a:spcPct val="100000"/>
              </a:lnSpc>
              <a:buFontTx/>
              <a:buNone/>
              <a:defRPr/>
            </a:lvl5pPr>
          </a:lstStyle>
          <a:p>
            <a:pPr lvl="0"/>
            <a:r>
              <a:rPr kumimoji="1" lang="ko-KR" altLang="en-US"/>
              <a:t>페이지 부제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3577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7944BB-FA7D-68B3-901B-E0A886297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C0B0D7-1B76-0F39-2E68-73679C7E70F1}"/>
              </a:ext>
            </a:extLst>
          </p:cNvPr>
          <p:cNvSpPr/>
          <p:nvPr userDrawn="1"/>
        </p:nvSpPr>
        <p:spPr>
          <a:xfrm>
            <a:off x="93000" y="109539"/>
            <a:ext cx="400723" cy="330993"/>
          </a:xfrm>
          <a:prstGeom prst="rect">
            <a:avLst/>
          </a:prstGeom>
          <a:solidFill>
            <a:srgbClr val="0C3389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D1848A-5AEC-CBBA-296B-8E27C8EF8F9E}"/>
              </a:ext>
            </a:extLst>
          </p:cNvPr>
          <p:cNvSpPr txBox="1"/>
          <p:nvPr userDrawn="1"/>
        </p:nvSpPr>
        <p:spPr>
          <a:xfrm>
            <a:off x="92550" y="111258"/>
            <a:ext cx="40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 sz="18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Ⅳ</a:t>
            </a:r>
            <a:endParaRPr lang="ko-KR" altLang="en-US" sz="165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69A2E9-E9F0-A124-DC99-DAD5EF5FC5FA}"/>
              </a:ext>
            </a:extLst>
          </p:cNvPr>
          <p:cNvSpPr/>
          <p:nvPr userDrawn="1"/>
        </p:nvSpPr>
        <p:spPr>
          <a:xfrm>
            <a:off x="92550" y="0"/>
            <a:ext cx="400723" cy="109538"/>
          </a:xfrm>
          <a:prstGeom prst="rect">
            <a:avLst/>
          </a:prstGeom>
          <a:solidFill>
            <a:srgbClr val="00B28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66004C-FC2E-9CBD-5911-725640826199}"/>
              </a:ext>
            </a:extLst>
          </p:cNvPr>
          <p:cNvSpPr/>
          <p:nvPr userDrawn="1"/>
        </p:nvSpPr>
        <p:spPr>
          <a:xfrm>
            <a:off x="-488" y="6570000"/>
            <a:ext cx="9906975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5" name="날짜 개체 틀 14">
            <a:extLst>
              <a:ext uri="{FF2B5EF4-FFF2-40B4-BE49-F238E27FC236}">
                <a16:creationId xmlns:a16="http://schemas.microsoft.com/office/drawing/2014/main" id="{B572B3DE-9A67-E88C-7E6A-EFAD0D6CFD6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바닥글 개체 틀 16">
            <a:extLst>
              <a:ext uri="{FF2B5EF4-FFF2-40B4-BE49-F238E27FC236}">
                <a16:creationId xmlns:a16="http://schemas.microsoft.com/office/drawing/2014/main" id="{220A16EE-A39C-66D2-A497-68D98E9347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C3238C06-4A32-3AFB-29B2-BADE561DCB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48F63A3B-78C7-47BE-AE5E-E10140E04643}" type="slidenum">
              <a:rPr lang="en-US" smtClean="0"/>
              <a:pPr/>
              <a:t>‹#›</a:t>
            </a:fld>
            <a:r>
              <a:rPr lang="en-US" altLang="ko-KR"/>
              <a:t>-</a:t>
            </a:r>
            <a:endParaRPr lang="en-US"/>
          </a:p>
        </p:txBody>
      </p:sp>
      <p:sp>
        <p:nvSpPr>
          <p:cNvPr id="2" name="내용 개체 틀 24">
            <a:extLst>
              <a:ext uri="{FF2B5EF4-FFF2-40B4-BE49-F238E27FC236}">
                <a16:creationId xmlns:a16="http://schemas.microsoft.com/office/drawing/2014/main" id="{13F9350B-949A-DD4B-A693-665413A8696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41662" y="608742"/>
            <a:ext cx="8422680" cy="5794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pPr lvl="1"/>
            <a:r>
              <a:rPr lang="ko-KR" altLang="en-US"/>
              <a:t>거버넌스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</p:txBody>
      </p:sp>
      <p:cxnSp>
        <p:nvCxnSpPr>
          <p:cNvPr id="4" name="직선 연결선[R] 6">
            <a:extLst>
              <a:ext uri="{FF2B5EF4-FFF2-40B4-BE49-F238E27FC236}">
                <a16:creationId xmlns:a16="http://schemas.microsoft.com/office/drawing/2014/main" id="{1CDC6D8F-9B64-427D-376E-95DF9A788B06}"/>
              </a:ext>
            </a:extLst>
          </p:cNvPr>
          <p:cNvCxnSpPr>
            <a:cxnSpLocks/>
          </p:cNvCxnSpPr>
          <p:nvPr userDrawn="1"/>
        </p:nvCxnSpPr>
        <p:spPr>
          <a:xfrm>
            <a:off x="0" y="1271315"/>
            <a:ext cx="9904449" cy="0"/>
          </a:xfrm>
          <a:prstGeom prst="line">
            <a:avLst/>
          </a:prstGeom>
          <a:ln w="635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577B119B-D169-B301-4BF1-0E7CDBB5FF48}"/>
              </a:ext>
            </a:extLst>
          </p:cNvPr>
          <p:cNvSpPr>
            <a:spLocks noGrp="1"/>
          </p:cNvSpPr>
          <p:nvPr userDrawn="1"/>
        </p:nvSpPr>
        <p:spPr>
          <a:xfrm>
            <a:off x="13219" y="6534000"/>
            <a:ext cx="2421036" cy="36000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ko-KR" sz="650" b="0" i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7C7D7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 COMPANY</a:t>
            </a:r>
            <a:endParaRPr lang="ko-KR" altLang="en-US" sz="650" b="0" i="0">
              <a:ln>
                <a:noFill/>
              </a:ln>
              <a:solidFill>
                <a:srgbClr val="7C7D7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F579F-3BF4-E45C-8CAB-0380A61E7D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10" y="6654915"/>
            <a:ext cx="380250" cy="12675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7E699F19-1C0F-BD09-4EC5-0CBA92CCE9EA}"/>
              </a:ext>
            </a:extLst>
          </p:cNvPr>
          <p:cNvGrpSpPr/>
          <p:nvPr userDrawn="1"/>
        </p:nvGrpSpPr>
        <p:grpSpPr>
          <a:xfrm>
            <a:off x="10039732" y="284779"/>
            <a:ext cx="3378341" cy="6285973"/>
            <a:chOff x="12293599" y="0"/>
            <a:chExt cx="3471013" cy="673941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CC8F760-0A05-C62E-9D5D-B5666782C0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293599" y="0"/>
              <a:ext cx="3378200" cy="13081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7EF57F2-E471-C28D-DB2C-3A0ED77520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2373712" y="4357224"/>
              <a:ext cx="3213100" cy="14859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BC6EBC5-D38E-6E03-A417-B1D169FC46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73712" y="1568588"/>
              <a:ext cx="3390900" cy="26035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DF54BD6-7034-7088-84E4-AFFD9498EC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rot="16200000">
              <a:off x="13657850" y="5369379"/>
              <a:ext cx="788684" cy="195138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222CF43-AE89-D4A3-A040-9EF6FE134A4D}"/>
              </a:ext>
            </a:extLst>
          </p:cNvPr>
          <p:cNvSpPr txBox="1"/>
          <p:nvPr userDrawn="1"/>
        </p:nvSpPr>
        <p:spPr bwMode="gray">
          <a:xfrm>
            <a:off x="8799941" y="222497"/>
            <a:ext cx="27366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defPPr>
              <a:defRPr lang="en-US"/>
            </a:defPPr>
            <a:lvl1pPr lvl="0" defTabSz="870853">
              <a:spcBef>
                <a:spcPts val="0"/>
              </a:spcBef>
              <a:defRPr sz="650" b="1" i="0" kern="0" spc="-29" baseline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sz="650" b="1" i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보안부문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AE1D9BC-7883-41AB-1EFF-C1174F9CB7BD}"/>
              </a:ext>
            </a:extLst>
          </p:cNvPr>
          <p:cNvSpPr/>
          <p:nvPr userDrawn="1"/>
        </p:nvSpPr>
        <p:spPr>
          <a:xfrm>
            <a:off x="8739239" y="218507"/>
            <a:ext cx="5850" cy="10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8958EDB-16DD-1528-687B-2DAE68493D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500" y="67555"/>
            <a:ext cx="5791806" cy="2697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indent="0">
              <a:lnSpc>
                <a:spcPct val="100000"/>
              </a:lnSpc>
              <a:defRPr sz="13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/>
              <a:t>부제 입력</a:t>
            </a:r>
            <a:endParaRPr lang="en-US"/>
          </a:p>
        </p:txBody>
      </p:sp>
      <p:sp>
        <p:nvSpPr>
          <p:cNvPr id="12" name="내용 개체 틀 7">
            <a:extLst>
              <a:ext uri="{FF2B5EF4-FFF2-40B4-BE49-F238E27FC236}">
                <a16:creationId xmlns:a16="http://schemas.microsoft.com/office/drawing/2014/main" id="{C7AA941F-9C77-6CC1-24BE-5A695503CC9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4223" y="248713"/>
            <a:ext cx="4974462" cy="26971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371457" indent="0">
              <a:lnSpc>
                <a:spcPct val="100000"/>
              </a:lnSpc>
              <a:buFontTx/>
              <a:buNone/>
              <a:defRPr/>
            </a:lvl2pPr>
            <a:lvl3pPr marL="742913" indent="0">
              <a:lnSpc>
                <a:spcPct val="100000"/>
              </a:lnSpc>
              <a:buFontTx/>
              <a:buNone/>
              <a:defRPr/>
            </a:lvl3pPr>
            <a:lvl4pPr marL="1114370" indent="0">
              <a:lnSpc>
                <a:spcPct val="100000"/>
              </a:lnSpc>
              <a:buFontTx/>
              <a:buNone/>
              <a:defRPr/>
            </a:lvl4pPr>
            <a:lvl5pPr marL="1485826" indent="0">
              <a:lnSpc>
                <a:spcPct val="100000"/>
              </a:lnSpc>
              <a:buFontTx/>
              <a:buNone/>
              <a:defRPr/>
            </a:lvl5pPr>
          </a:lstStyle>
          <a:p>
            <a:pPr lvl="0"/>
            <a:r>
              <a:rPr kumimoji="1" lang="ko-KR" altLang="en-US"/>
              <a:t>페이지 부제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5662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7944BB-FA7D-68B3-901B-E0A886297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C0B0D7-1B76-0F39-2E68-73679C7E70F1}"/>
              </a:ext>
            </a:extLst>
          </p:cNvPr>
          <p:cNvSpPr/>
          <p:nvPr userDrawn="1"/>
        </p:nvSpPr>
        <p:spPr>
          <a:xfrm>
            <a:off x="93000" y="109539"/>
            <a:ext cx="400723" cy="330993"/>
          </a:xfrm>
          <a:prstGeom prst="rect">
            <a:avLst/>
          </a:prstGeom>
          <a:solidFill>
            <a:srgbClr val="0C3389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D1848A-5AEC-CBBA-296B-8E27C8EF8F9E}"/>
              </a:ext>
            </a:extLst>
          </p:cNvPr>
          <p:cNvSpPr txBox="1"/>
          <p:nvPr userDrawn="1"/>
        </p:nvSpPr>
        <p:spPr>
          <a:xfrm>
            <a:off x="92550" y="111258"/>
            <a:ext cx="40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 sz="18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Ⅴ</a:t>
            </a:r>
            <a:endParaRPr lang="ko-KR" altLang="en-US" sz="165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69A2E9-E9F0-A124-DC99-DAD5EF5FC5FA}"/>
              </a:ext>
            </a:extLst>
          </p:cNvPr>
          <p:cNvSpPr/>
          <p:nvPr userDrawn="1"/>
        </p:nvSpPr>
        <p:spPr>
          <a:xfrm>
            <a:off x="92550" y="0"/>
            <a:ext cx="400723" cy="109538"/>
          </a:xfrm>
          <a:prstGeom prst="rect">
            <a:avLst/>
          </a:prstGeom>
          <a:solidFill>
            <a:srgbClr val="00B28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66004C-FC2E-9CBD-5911-725640826199}"/>
              </a:ext>
            </a:extLst>
          </p:cNvPr>
          <p:cNvSpPr/>
          <p:nvPr userDrawn="1"/>
        </p:nvSpPr>
        <p:spPr>
          <a:xfrm>
            <a:off x="-488" y="6570000"/>
            <a:ext cx="9906975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5" name="날짜 개체 틀 14">
            <a:extLst>
              <a:ext uri="{FF2B5EF4-FFF2-40B4-BE49-F238E27FC236}">
                <a16:creationId xmlns:a16="http://schemas.microsoft.com/office/drawing/2014/main" id="{B572B3DE-9A67-E88C-7E6A-EFAD0D6CFD6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바닥글 개체 틀 16">
            <a:extLst>
              <a:ext uri="{FF2B5EF4-FFF2-40B4-BE49-F238E27FC236}">
                <a16:creationId xmlns:a16="http://schemas.microsoft.com/office/drawing/2014/main" id="{220A16EE-A39C-66D2-A497-68D98E9347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C3238C06-4A32-3AFB-29B2-BADE561DCB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48F63A3B-78C7-47BE-AE5E-E10140E04643}" type="slidenum">
              <a:rPr lang="en-US" smtClean="0"/>
              <a:pPr/>
              <a:t>‹#›</a:t>
            </a:fld>
            <a:r>
              <a:rPr lang="en-US" altLang="ko-KR"/>
              <a:t>-</a:t>
            </a:r>
            <a:endParaRPr lang="en-US"/>
          </a:p>
        </p:txBody>
      </p:sp>
      <p:sp>
        <p:nvSpPr>
          <p:cNvPr id="2" name="내용 개체 틀 24">
            <a:extLst>
              <a:ext uri="{FF2B5EF4-FFF2-40B4-BE49-F238E27FC236}">
                <a16:creationId xmlns:a16="http://schemas.microsoft.com/office/drawing/2014/main" id="{13F9350B-949A-DD4B-A693-665413A8696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41662" y="608742"/>
            <a:ext cx="8422680" cy="5794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pPr lvl="1"/>
            <a:r>
              <a:rPr lang="ko-KR" altLang="en-US"/>
              <a:t>거버넌스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</p:txBody>
      </p:sp>
      <p:cxnSp>
        <p:nvCxnSpPr>
          <p:cNvPr id="4" name="직선 연결선[R] 6">
            <a:extLst>
              <a:ext uri="{FF2B5EF4-FFF2-40B4-BE49-F238E27FC236}">
                <a16:creationId xmlns:a16="http://schemas.microsoft.com/office/drawing/2014/main" id="{1CDC6D8F-9B64-427D-376E-95DF9A788B06}"/>
              </a:ext>
            </a:extLst>
          </p:cNvPr>
          <p:cNvCxnSpPr>
            <a:cxnSpLocks/>
          </p:cNvCxnSpPr>
          <p:nvPr userDrawn="1"/>
        </p:nvCxnSpPr>
        <p:spPr>
          <a:xfrm>
            <a:off x="0" y="1271315"/>
            <a:ext cx="9904449" cy="0"/>
          </a:xfrm>
          <a:prstGeom prst="line">
            <a:avLst/>
          </a:prstGeom>
          <a:ln w="635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577B119B-D169-B301-4BF1-0E7CDBB5FF48}"/>
              </a:ext>
            </a:extLst>
          </p:cNvPr>
          <p:cNvSpPr>
            <a:spLocks noGrp="1"/>
          </p:cNvSpPr>
          <p:nvPr userDrawn="1"/>
        </p:nvSpPr>
        <p:spPr>
          <a:xfrm>
            <a:off x="13219" y="6534000"/>
            <a:ext cx="2421036" cy="36000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ko-KR" sz="650" b="0" i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7C7D7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 COMPANY</a:t>
            </a:r>
            <a:endParaRPr lang="ko-KR" altLang="en-US" sz="650" b="0" i="0">
              <a:ln>
                <a:noFill/>
              </a:ln>
              <a:solidFill>
                <a:srgbClr val="7C7D7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F579F-3BF4-E45C-8CAB-0380A61E7D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10" y="6654915"/>
            <a:ext cx="380250" cy="12675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7E699F19-1C0F-BD09-4EC5-0CBA92CCE9EA}"/>
              </a:ext>
            </a:extLst>
          </p:cNvPr>
          <p:cNvGrpSpPr/>
          <p:nvPr userDrawn="1"/>
        </p:nvGrpSpPr>
        <p:grpSpPr>
          <a:xfrm>
            <a:off x="10039732" y="284779"/>
            <a:ext cx="3378341" cy="6285973"/>
            <a:chOff x="12293599" y="0"/>
            <a:chExt cx="3471013" cy="673941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CC8F760-0A05-C62E-9D5D-B5666782C0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293599" y="0"/>
              <a:ext cx="3378200" cy="13081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7EF57F2-E471-C28D-DB2C-3A0ED77520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2373712" y="4357224"/>
              <a:ext cx="3213100" cy="14859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BC6EBC5-D38E-6E03-A417-B1D169FC46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73712" y="1568588"/>
              <a:ext cx="3390900" cy="26035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DF54BD6-7034-7088-84E4-AFFD9498EC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rot="16200000">
              <a:off x="13657850" y="5369379"/>
              <a:ext cx="788684" cy="195138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C2FB4AB-6B47-383D-0EAD-E2750DFA1BEC}"/>
              </a:ext>
            </a:extLst>
          </p:cNvPr>
          <p:cNvSpPr txBox="1"/>
          <p:nvPr userDrawn="1"/>
        </p:nvSpPr>
        <p:spPr bwMode="gray">
          <a:xfrm>
            <a:off x="8799941" y="222497"/>
            <a:ext cx="441531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defPPr>
              <a:defRPr lang="en-US"/>
            </a:defPPr>
            <a:lvl1pPr lvl="0" defTabSz="870853">
              <a:spcBef>
                <a:spcPts val="0"/>
              </a:spcBef>
              <a:defRPr sz="650" b="1" i="0" kern="0" spc="-29" baseline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sz="650" b="1" i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운영 관리 부문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14DD11C-FD0F-807A-7763-817DB4D68078}"/>
              </a:ext>
            </a:extLst>
          </p:cNvPr>
          <p:cNvSpPr/>
          <p:nvPr userDrawn="1"/>
        </p:nvSpPr>
        <p:spPr>
          <a:xfrm>
            <a:off x="8739239" y="218507"/>
            <a:ext cx="5850" cy="10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6A778B6-78E8-EC4F-71CA-19CDCD757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500" y="67555"/>
            <a:ext cx="5791806" cy="2697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indent="0">
              <a:lnSpc>
                <a:spcPct val="100000"/>
              </a:lnSpc>
              <a:defRPr sz="13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/>
              <a:t>부제 입력</a:t>
            </a:r>
            <a:endParaRPr lang="en-US"/>
          </a:p>
        </p:txBody>
      </p:sp>
      <p:sp>
        <p:nvSpPr>
          <p:cNvPr id="12" name="내용 개체 틀 7">
            <a:extLst>
              <a:ext uri="{FF2B5EF4-FFF2-40B4-BE49-F238E27FC236}">
                <a16:creationId xmlns:a16="http://schemas.microsoft.com/office/drawing/2014/main" id="{A5DA3820-1DF9-A5B0-2E86-8DA8A1A524C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4223" y="248713"/>
            <a:ext cx="4974462" cy="26971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371457" indent="0">
              <a:lnSpc>
                <a:spcPct val="100000"/>
              </a:lnSpc>
              <a:buFontTx/>
              <a:buNone/>
              <a:defRPr/>
            </a:lvl2pPr>
            <a:lvl3pPr marL="742913" indent="0">
              <a:lnSpc>
                <a:spcPct val="100000"/>
              </a:lnSpc>
              <a:buFontTx/>
              <a:buNone/>
              <a:defRPr/>
            </a:lvl3pPr>
            <a:lvl4pPr marL="1114370" indent="0">
              <a:lnSpc>
                <a:spcPct val="100000"/>
              </a:lnSpc>
              <a:buFontTx/>
              <a:buNone/>
              <a:defRPr/>
            </a:lvl4pPr>
            <a:lvl5pPr marL="1485826" indent="0">
              <a:lnSpc>
                <a:spcPct val="100000"/>
              </a:lnSpc>
              <a:buFontTx/>
              <a:buNone/>
              <a:defRPr/>
            </a:lvl5pPr>
          </a:lstStyle>
          <a:p>
            <a:pPr lvl="0"/>
            <a:r>
              <a:rPr kumimoji="1" lang="ko-KR" altLang="en-US"/>
              <a:t>페이지 부제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5925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7944BB-FA7D-68B3-901B-E0A886297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C0B0D7-1B76-0F39-2E68-73679C7E70F1}"/>
              </a:ext>
            </a:extLst>
          </p:cNvPr>
          <p:cNvSpPr/>
          <p:nvPr userDrawn="1"/>
        </p:nvSpPr>
        <p:spPr>
          <a:xfrm>
            <a:off x="93000" y="109539"/>
            <a:ext cx="400723" cy="330993"/>
          </a:xfrm>
          <a:prstGeom prst="rect">
            <a:avLst/>
          </a:prstGeom>
          <a:solidFill>
            <a:srgbClr val="0C3389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D1848A-5AEC-CBBA-296B-8E27C8EF8F9E}"/>
              </a:ext>
            </a:extLst>
          </p:cNvPr>
          <p:cNvSpPr txBox="1"/>
          <p:nvPr userDrawn="1"/>
        </p:nvSpPr>
        <p:spPr>
          <a:xfrm>
            <a:off x="92550" y="112254"/>
            <a:ext cx="40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 sz="18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Ⅵ</a:t>
            </a:r>
            <a:endParaRPr lang="ko-KR" altLang="en-US" sz="165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69A2E9-E9F0-A124-DC99-DAD5EF5FC5FA}"/>
              </a:ext>
            </a:extLst>
          </p:cNvPr>
          <p:cNvSpPr/>
          <p:nvPr userDrawn="1"/>
        </p:nvSpPr>
        <p:spPr>
          <a:xfrm>
            <a:off x="92550" y="0"/>
            <a:ext cx="400723" cy="109538"/>
          </a:xfrm>
          <a:prstGeom prst="rect">
            <a:avLst/>
          </a:prstGeom>
          <a:solidFill>
            <a:srgbClr val="00B28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66004C-FC2E-9CBD-5911-725640826199}"/>
              </a:ext>
            </a:extLst>
          </p:cNvPr>
          <p:cNvSpPr/>
          <p:nvPr userDrawn="1"/>
        </p:nvSpPr>
        <p:spPr>
          <a:xfrm>
            <a:off x="-488" y="6570000"/>
            <a:ext cx="9906975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5" name="날짜 개체 틀 14">
            <a:extLst>
              <a:ext uri="{FF2B5EF4-FFF2-40B4-BE49-F238E27FC236}">
                <a16:creationId xmlns:a16="http://schemas.microsoft.com/office/drawing/2014/main" id="{B572B3DE-9A67-E88C-7E6A-EFAD0D6CFD6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바닥글 개체 틀 16">
            <a:extLst>
              <a:ext uri="{FF2B5EF4-FFF2-40B4-BE49-F238E27FC236}">
                <a16:creationId xmlns:a16="http://schemas.microsoft.com/office/drawing/2014/main" id="{220A16EE-A39C-66D2-A497-68D98E9347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C3238C06-4A32-3AFB-29B2-BADE561DCB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48F63A3B-78C7-47BE-AE5E-E10140E04643}" type="slidenum">
              <a:rPr lang="en-US" smtClean="0"/>
              <a:pPr/>
              <a:t>‹#›</a:t>
            </a:fld>
            <a:r>
              <a:rPr lang="en-US" altLang="ko-KR"/>
              <a:t>-</a:t>
            </a:r>
            <a:endParaRPr lang="en-US"/>
          </a:p>
        </p:txBody>
      </p:sp>
      <p:sp>
        <p:nvSpPr>
          <p:cNvPr id="2" name="내용 개체 틀 24">
            <a:extLst>
              <a:ext uri="{FF2B5EF4-FFF2-40B4-BE49-F238E27FC236}">
                <a16:creationId xmlns:a16="http://schemas.microsoft.com/office/drawing/2014/main" id="{13F9350B-949A-DD4B-A693-665413A8696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41662" y="608742"/>
            <a:ext cx="8422680" cy="5794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pPr lvl="1"/>
            <a:r>
              <a:rPr lang="ko-KR" altLang="en-US"/>
              <a:t>거버넌스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</p:txBody>
      </p:sp>
      <p:cxnSp>
        <p:nvCxnSpPr>
          <p:cNvPr id="4" name="직선 연결선[R] 6">
            <a:extLst>
              <a:ext uri="{FF2B5EF4-FFF2-40B4-BE49-F238E27FC236}">
                <a16:creationId xmlns:a16="http://schemas.microsoft.com/office/drawing/2014/main" id="{1CDC6D8F-9B64-427D-376E-95DF9A788B06}"/>
              </a:ext>
            </a:extLst>
          </p:cNvPr>
          <p:cNvCxnSpPr>
            <a:cxnSpLocks/>
          </p:cNvCxnSpPr>
          <p:nvPr userDrawn="1"/>
        </p:nvCxnSpPr>
        <p:spPr>
          <a:xfrm>
            <a:off x="0" y="1271315"/>
            <a:ext cx="9904449" cy="0"/>
          </a:xfrm>
          <a:prstGeom prst="line">
            <a:avLst/>
          </a:prstGeom>
          <a:ln w="635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577B119B-D169-B301-4BF1-0E7CDBB5FF48}"/>
              </a:ext>
            </a:extLst>
          </p:cNvPr>
          <p:cNvSpPr>
            <a:spLocks noGrp="1"/>
          </p:cNvSpPr>
          <p:nvPr userDrawn="1"/>
        </p:nvSpPr>
        <p:spPr>
          <a:xfrm>
            <a:off x="13219" y="6534000"/>
            <a:ext cx="2421036" cy="36000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ko-KR" sz="650" b="0" i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7C7D7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 COMPANY</a:t>
            </a:r>
            <a:endParaRPr lang="ko-KR" altLang="en-US" sz="650" b="0" i="0">
              <a:ln>
                <a:noFill/>
              </a:ln>
              <a:solidFill>
                <a:srgbClr val="7C7D7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F579F-3BF4-E45C-8CAB-0380A61E7D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10" y="6654915"/>
            <a:ext cx="380250" cy="12675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7E699F19-1C0F-BD09-4EC5-0CBA92CCE9EA}"/>
              </a:ext>
            </a:extLst>
          </p:cNvPr>
          <p:cNvGrpSpPr/>
          <p:nvPr userDrawn="1"/>
        </p:nvGrpSpPr>
        <p:grpSpPr>
          <a:xfrm>
            <a:off x="10039732" y="284779"/>
            <a:ext cx="3378341" cy="6285973"/>
            <a:chOff x="12293599" y="0"/>
            <a:chExt cx="3471013" cy="673941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CC8F760-0A05-C62E-9D5D-B5666782C0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293599" y="0"/>
              <a:ext cx="3378200" cy="13081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7EF57F2-E471-C28D-DB2C-3A0ED77520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2373712" y="4357224"/>
              <a:ext cx="3213100" cy="14859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BC6EBC5-D38E-6E03-A417-B1D169FC46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73712" y="1568588"/>
              <a:ext cx="3390900" cy="26035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DF54BD6-7034-7088-84E4-AFFD9498EC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rot="16200000">
              <a:off x="13657850" y="5369379"/>
              <a:ext cx="788684" cy="195138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2FB4F95-F15E-3021-95F5-412174AAC6AE}"/>
              </a:ext>
            </a:extLst>
          </p:cNvPr>
          <p:cNvSpPr txBox="1"/>
          <p:nvPr userDrawn="1"/>
        </p:nvSpPr>
        <p:spPr bwMode="gray">
          <a:xfrm>
            <a:off x="8799941" y="222497"/>
            <a:ext cx="136832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defPPr>
              <a:defRPr lang="en-US"/>
            </a:defPPr>
            <a:lvl1pPr lvl="0" defTabSz="870853">
              <a:spcBef>
                <a:spcPts val="0"/>
              </a:spcBef>
              <a:defRPr sz="650" b="1" i="0" kern="0" spc="-29" baseline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sz="650" b="1" i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기타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E36A625-B47C-05B2-7D33-38DC5BCD33E3}"/>
              </a:ext>
            </a:extLst>
          </p:cNvPr>
          <p:cNvSpPr/>
          <p:nvPr userDrawn="1"/>
        </p:nvSpPr>
        <p:spPr>
          <a:xfrm>
            <a:off x="8739239" y="218507"/>
            <a:ext cx="5850" cy="10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E500846E-909F-92D0-54D4-14E9914CC8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500" y="67555"/>
            <a:ext cx="5791806" cy="2697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indent="0">
              <a:lnSpc>
                <a:spcPct val="100000"/>
              </a:lnSpc>
              <a:defRPr sz="13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/>
              <a:t>부제 입력</a:t>
            </a:r>
            <a:endParaRPr lang="en-US"/>
          </a:p>
        </p:txBody>
      </p:sp>
      <p:sp>
        <p:nvSpPr>
          <p:cNvPr id="12" name="내용 개체 틀 7">
            <a:extLst>
              <a:ext uri="{FF2B5EF4-FFF2-40B4-BE49-F238E27FC236}">
                <a16:creationId xmlns:a16="http://schemas.microsoft.com/office/drawing/2014/main" id="{7550ACA5-5DFD-F627-3DBD-20C413FA0E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4223" y="248713"/>
            <a:ext cx="4974462" cy="26971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371457" indent="0">
              <a:lnSpc>
                <a:spcPct val="100000"/>
              </a:lnSpc>
              <a:buFontTx/>
              <a:buNone/>
              <a:defRPr/>
            </a:lvl2pPr>
            <a:lvl3pPr marL="742913" indent="0">
              <a:lnSpc>
                <a:spcPct val="100000"/>
              </a:lnSpc>
              <a:buFontTx/>
              <a:buNone/>
              <a:defRPr/>
            </a:lvl3pPr>
            <a:lvl4pPr marL="1114370" indent="0">
              <a:lnSpc>
                <a:spcPct val="100000"/>
              </a:lnSpc>
              <a:buFontTx/>
              <a:buNone/>
              <a:defRPr/>
            </a:lvl4pPr>
            <a:lvl5pPr marL="1485826" indent="0">
              <a:lnSpc>
                <a:spcPct val="100000"/>
              </a:lnSpc>
              <a:buFontTx/>
              <a:buNone/>
              <a:defRPr/>
            </a:lvl5pPr>
          </a:lstStyle>
          <a:p>
            <a:pPr lvl="0"/>
            <a:r>
              <a:rPr kumimoji="1" lang="ko-KR" altLang="en-US"/>
              <a:t>페이지 부제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63864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7944BB-FA7D-68B3-901B-E0A886297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C0B0D7-1B76-0F39-2E68-73679C7E70F1}"/>
              </a:ext>
            </a:extLst>
          </p:cNvPr>
          <p:cNvSpPr/>
          <p:nvPr userDrawn="1"/>
        </p:nvSpPr>
        <p:spPr>
          <a:xfrm>
            <a:off x="93000" y="109539"/>
            <a:ext cx="400723" cy="330993"/>
          </a:xfrm>
          <a:prstGeom prst="rect">
            <a:avLst/>
          </a:prstGeom>
          <a:solidFill>
            <a:srgbClr val="0C3389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D1848A-5AEC-CBBA-296B-8E27C8EF8F9E}"/>
              </a:ext>
            </a:extLst>
          </p:cNvPr>
          <p:cNvSpPr txBox="1"/>
          <p:nvPr userDrawn="1"/>
        </p:nvSpPr>
        <p:spPr>
          <a:xfrm>
            <a:off x="92550" y="111258"/>
            <a:ext cx="40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algn="ctr"/>
            <a:r>
              <a:rPr lang="en-US" altLang="ko-KR" sz="18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69A2E9-E9F0-A124-DC99-DAD5EF5FC5FA}"/>
              </a:ext>
            </a:extLst>
          </p:cNvPr>
          <p:cNvSpPr/>
          <p:nvPr userDrawn="1"/>
        </p:nvSpPr>
        <p:spPr>
          <a:xfrm>
            <a:off x="92550" y="0"/>
            <a:ext cx="400723" cy="109538"/>
          </a:xfrm>
          <a:prstGeom prst="rect">
            <a:avLst/>
          </a:prstGeom>
          <a:solidFill>
            <a:srgbClr val="00B28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66004C-FC2E-9CBD-5911-725640826199}"/>
              </a:ext>
            </a:extLst>
          </p:cNvPr>
          <p:cNvSpPr/>
          <p:nvPr userDrawn="1"/>
        </p:nvSpPr>
        <p:spPr>
          <a:xfrm>
            <a:off x="-488" y="6570000"/>
            <a:ext cx="9906975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5" name="날짜 개체 틀 14">
            <a:extLst>
              <a:ext uri="{FF2B5EF4-FFF2-40B4-BE49-F238E27FC236}">
                <a16:creationId xmlns:a16="http://schemas.microsoft.com/office/drawing/2014/main" id="{B572B3DE-9A67-E88C-7E6A-EFAD0D6CFD6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바닥글 개체 틀 16">
            <a:extLst>
              <a:ext uri="{FF2B5EF4-FFF2-40B4-BE49-F238E27FC236}">
                <a16:creationId xmlns:a16="http://schemas.microsoft.com/office/drawing/2014/main" id="{220A16EE-A39C-66D2-A497-68D98E9347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C3238C06-4A32-3AFB-29B2-BADE561DCB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48F63A3B-78C7-47BE-AE5E-E10140E04643}" type="slidenum">
              <a:rPr lang="en-US" smtClean="0"/>
              <a:pPr/>
              <a:t>‹#›</a:t>
            </a:fld>
            <a:r>
              <a:rPr lang="en-US" altLang="ko-KR"/>
              <a:t>-</a:t>
            </a:r>
            <a:endParaRPr lang="en-US"/>
          </a:p>
        </p:txBody>
      </p:sp>
      <p:sp>
        <p:nvSpPr>
          <p:cNvPr id="2" name="내용 개체 틀 24">
            <a:extLst>
              <a:ext uri="{FF2B5EF4-FFF2-40B4-BE49-F238E27FC236}">
                <a16:creationId xmlns:a16="http://schemas.microsoft.com/office/drawing/2014/main" id="{13F9350B-949A-DD4B-A693-665413A8696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41662" y="608742"/>
            <a:ext cx="8422680" cy="5794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pPr lvl="1"/>
            <a:r>
              <a:rPr lang="ko-KR" altLang="en-US"/>
              <a:t>거버넌스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  <a:p>
            <a:pPr lvl="1"/>
            <a:r>
              <a:rPr lang="ko-KR" altLang="en-US" err="1"/>
              <a:t>ㅇㅇ</a:t>
            </a:r>
            <a:endParaRPr lang="en-US" altLang="ko-KR"/>
          </a:p>
        </p:txBody>
      </p:sp>
      <p:cxnSp>
        <p:nvCxnSpPr>
          <p:cNvPr id="4" name="직선 연결선[R] 6">
            <a:extLst>
              <a:ext uri="{FF2B5EF4-FFF2-40B4-BE49-F238E27FC236}">
                <a16:creationId xmlns:a16="http://schemas.microsoft.com/office/drawing/2014/main" id="{1CDC6D8F-9B64-427D-376E-95DF9A788B06}"/>
              </a:ext>
            </a:extLst>
          </p:cNvPr>
          <p:cNvCxnSpPr>
            <a:cxnSpLocks/>
          </p:cNvCxnSpPr>
          <p:nvPr userDrawn="1"/>
        </p:nvCxnSpPr>
        <p:spPr>
          <a:xfrm>
            <a:off x="0" y="1271315"/>
            <a:ext cx="9904449" cy="0"/>
          </a:xfrm>
          <a:prstGeom prst="line">
            <a:avLst/>
          </a:prstGeom>
          <a:ln w="635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577B119B-D169-B301-4BF1-0E7CDBB5FF48}"/>
              </a:ext>
            </a:extLst>
          </p:cNvPr>
          <p:cNvSpPr>
            <a:spLocks noGrp="1"/>
          </p:cNvSpPr>
          <p:nvPr userDrawn="1"/>
        </p:nvSpPr>
        <p:spPr>
          <a:xfrm>
            <a:off x="13219" y="6534000"/>
            <a:ext cx="2421036" cy="36000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ko-KR" sz="650" b="0" i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7C7D7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 COMPANY</a:t>
            </a:r>
            <a:endParaRPr lang="ko-KR" altLang="en-US" sz="650" b="0" i="0">
              <a:ln>
                <a:noFill/>
              </a:ln>
              <a:solidFill>
                <a:srgbClr val="7C7D7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F579F-3BF4-E45C-8CAB-0380A61E7D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10" y="6654915"/>
            <a:ext cx="380250" cy="12675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7E699F19-1C0F-BD09-4EC5-0CBA92CCE9EA}"/>
              </a:ext>
            </a:extLst>
          </p:cNvPr>
          <p:cNvGrpSpPr/>
          <p:nvPr userDrawn="1"/>
        </p:nvGrpSpPr>
        <p:grpSpPr>
          <a:xfrm>
            <a:off x="10039732" y="284779"/>
            <a:ext cx="3378341" cy="6285973"/>
            <a:chOff x="12293599" y="0"/>
            <a:chExt cx="3471013" cy="673941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CC8F760-0A05-C62E-9D5D-B5666782C0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293599" y="0"/>
              <a:ext cx="3378200" cy="13081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7EF57F2-E471-C28D-DB2C-3A0ED77520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2373712" y="4357224"/>
              <a:ext cx="3213100" cy="14859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BC6EBC5-D38E-6E03-A417-B1D169FC46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2373712" y="1568588"/>
              <a:ext cx="3390900" cy="26035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DF54BD6-7034-7088-84E4-AFFD9498EC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rot="16200000">
              <a:off x="13657850" y="5369379"/>
              <a:ext cx="788684" cy="195138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54FD382-5979-1262-6FFF-2FBB2EAA5538}"/>
              </a:ext>
            </a:extLst>
          </p:cNvPr>
          <p:cNvSpPr txBox="1"/>
          <p:nvPr userDrawn="1"/>
        </p:nvSpPr>
        <p:spPr bwMode="gray">
          <a:xfrm>
            <a:off x="8799941" y="222497"/>
            <a:ext cx="136832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defPPr>
              <a:defRPr lang="en-US"/>
            </a:defPPr>
            <a:lvl1pPr lvl="0" defTabSz="870853">
              <a:spcBef>
                <a:spcPts val="0"/>
              </a:spcBef>
              <a:defRPr sz="650" b="1" i="0" kern="0" spc="-29" baseline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sz="650" b="1" i="0">
                <a:ln>
                  <a:noFill/>
                </a:ln>
                <a:solidFill>
                  <a:schemeClr val="bg1"/>
                </a:solidFill>
                <a:effectLst>
                  <a:outerShdw blurRad="101600" algn="ctr" rotWithShape="0">
                    <a:prstClr val="black">
                      <a:alpha val="60000"/>
                    </a:prstClr>
                  </a:outerShdw>
                </a:effectLst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별첨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8E1D4D6-3230-1938-DEDB-5FC86C8302F5}"/>
              </a:ext>
            </a:extLst>
          </p:cNvPr>
          <p:cNvSpPr/>
          <p:nvPr userDrawn="1"/>
        </p:nvSpPr>
        <p:spPr>
          <a:xfrm>
            <a:off x="8739239" y="218507"/>
            <a:ext cx="5850" cy="10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DCA518E-EEB2-5FD8-EC6F-2D22008D93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500" y="67555"/>
            <a:ext cx="5791806" cy="2697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indent="0">
              <a:lnSpc>
                <a:spcPct val="100000"/>
              </a:lnSpc>
              <a:defRPr sz="13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/>
              <a:t>부제 입력</a:t>
            </a:r>
            <a:endParaRPr lang="en-US"/>
          </a:p>
        </p:txBody>
      </p:sp>
      <p:sp>
        <p:nvSpPr>
          <p:cNvPr id="12" name="내용 개체 틀 7">
            <a:extLst>
              <a:ext uri="{FF2B5EF4-FFF2-40B4-BE49-F238E27FC236}">
                <a16:creationId xmlns:a16="http://schemas.microsoft.com/office/drawing/2014/main" id="{82893E22-4EB1-C23B-2E5E-8957E7D1C45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4223" y="248713"/>
            <a:ext cx="4974462" cy="26971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 marL="371457" indent="0">
              <a:lnSpc>
                <a:spcPct val="100000"/>
              </a:lnSpc>
              <a:buFontTx/>
              <a:buNone/>
              <a:defRPr/>
            </a:lvl2pPr>
            <a:lvl3pPr marL="742913" indent="0">
              <a:lnSpc>
                <a:spcPct val="100000"/>
              </a:lnSpc>
              <a:buFontTx/>
              <a:buNone/>
              <a:defRPr/>
            </a:lvl3pPr>
            <a:lvl4pPr marL="1114370" indent="0">
              <a:lnSpc>
                <a:spcPct val="100000"/>
              </a:lnSpc>
              <a:buFontTx/>
              <a:buNone/>
              <a:defRPr/>
            </a:lvl4pPr>
            <a:lvl5pPr marL="1485826" indent="0">
              <a:lnSpc>
                <a:spcPct val="100000"/>
              </a:lnSpc>
              <a:buFontTx/>
              <a:buNone/>
              <a:defRPr/>
            </a:lvl5pPr>
          </a:lstStyle>
          <a:p>
            <a:pPr lvl="0"/>
            <a:r>
              <a:rPr kumimoji="1" lang="ko-KR" altLang="en-US"/>
              <a:t>페이지 부제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8829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46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제목만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6"/>
          <p:cNvSpPr txBox="1">
            <a:spLocks noGrp="1"/>
          </p:cNvSpPr>
          <p:nvPr>
            <p:ph type="title"/>
          </p:nvPr>
        </p:nvSpPr>
        <p:spPr>
          <a:xfrm>
            <a:off x="783738" y="681367"/>
            <a:ext cx="8338525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retendard"/>
              <a:buNone/>
              <a:defRPr>
                <a:solidFill>
                  <a:schemeClr val="lt1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Pretendard"/>
              <a:buNone/>
              <a:defRPr>
                <a:latin typeface="Pretendard"/>
                <a:ea typeface="Pretendard"/>
                <a:cs typeface="Pretendard"/>
                <a:sym typeface="Pretendar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Pretendard"/>
              <a:buNone/>
              <a:defRPr>
                <a:latin typeface="Pretendard"/>
                <a:ea typeface="Pretendard"/>
                <a:cs typeface="Pretendard"/>
                <a:sym typeface="Pretendar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Pretendard"/>
              <a:buNone/>
              <a:defRPr>
                <a:latin typeface="Pretendard"/>
                <a:ea typeface="Pretendard"/>
                <a:cs typeface="Pretendard"/>
                <a:sym typeface="Pretendar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Pretendard"/>
              <a:buNone/>
              <a:defRPr>
                <a:latin typeface="Pretendard"/>
                <a:ea typeface="Pretendard"/>
                <a:cs typeface="Pretendard"/>
                <a:sym typeface="Pretendar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Pretendard"/>
              <a:buNone/>
              <a:defRPr>
                <a:latin typeface="Pretendard"/>
                <a:ea typeface="Pretendard"/>
                <a:cs typeface="Pretendard"/>
                <a:sym typeface="Pretendar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Pretendard"/>
              <a:buNone/>
              <a:defRPr>
                <a:latin typeface="Pretendard"/>
                <a:ea typeface="Pretendard"/>
                <a:cs typeface="Pretendard"/>
                <a:sym typeface="Pretendar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Pretendard"/>
              <a:buNone/>
              <a:defRPr>
                <a:latin typeface="Pretendard"/>
                <a:ea typeface="Pretendard"/>
                <a:cs typeface="Pretendard"/>
                <a:sym typeface="Pretendar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Pretendard"/>
              <a:buNone/>
              <a:defRPr>
                <a:latin typeface="Pretendard"/>
                <a:ea typeface="Pretendard"/>
                <a:cs typeface="Pretendard"/>
                <a:sym typeface="Pretendard"/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127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4AF333-DD6D-7E53-4797-CAFFC9B0E949}"/>
              </a:ext>
            </a:extLst>
          </p:cNvPr>
          <p:cNvSpPr/>
          <p:nvPr userDrawn="1"/>
        </p:nvSpPr>
        <p:spPr>
          <a:xfrm>
            <a:off x="-488" y="6570000"/>
            <a:ext cx="9906975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 b="0" i="0">
              <a:latin typeface="Pretendard Medium" panose="02000503000000020004" pitchFamily="2" charset="-127"/>
            </a:endParaRP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B6FE9B77-1CC9-BF69-3B55-A746DC3B2F51}"/>
              </a:ext>
            </a:extLst>
          </p:cNvPr>
          <p:cNvSpPr>
            <a:spLocks noGrp="1"/>
          </p:cNvSpPr>
          <p:nvPr userDrawn="1"/>
        </p:nvSpPr>
        <p:spPr>
          <a:xfrm>
            <a:off x="13219" y="6534000"/>
            <a:ext cx="2421036" cy="36000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auto" latinLnBrk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Pretendard" pitchFamily="50" charset="-127"/>
                <a:ea typeface="Pretendard" pitchFamily="50" charset="-127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ko-KR" sz="650" b="0" i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7C7D7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 COMPANY</a:t>
            </a:r>
            <a:endParaRPr lang="ko-KR" altLang="en-US" sz="650" b="0" i="0">
              <a:ln>
                <a:noFill/>
              </a:ln>
              <a:solidFill>
                <a:srgbClr val="7C7D7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48929C-A8C6-2C67-0AD3-29C5753ED30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10" y="6654915"/>
            <a:ext cx="380250" cy="12675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8574" y="6538914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en-US" altLang="ko-KR"/>
              <a:t>-</a:t>
            </a:r>
            <a:fld id="{48F63A3B-78C7-47BE-AE5E-E10140E04643}" type="slidenum">
              <a:rPr lang="en-US" smtClean="0"/>
              <a:pPr/>
              <a:t>‹#›</a:t>
            </a:fld>
            <a:r>
              <a:rPr lang="en-US" altLang="ko-KR"/>
              <a:t>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3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29" r:id="rId5"/>
    <p:sldLayoutId id="2147483730" r:id="rId6"/>
    <p:sldLayoutId id="2147483731" r:id="rId7"/>
    <p:sldLayoutId id="2147483733" r:id="rId8"/>
    <p:sldLayoutId id="2147483734" r:id="rId9"/>
    <p:sldLayoutId id="2147483735" r:id="rId10"/>
    <p:sldLayoutId id="2147483736" r:id="rId11"/>
    <p:sldLayoutId id="2147483724" r:id="rId12"/>
    <p:sldLayoutId id="2147483737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Pretendard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Pretendard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Pretendard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Pretendard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Pretendard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Pretendard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Pretendard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Pretendard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Pretendard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0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0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0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9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0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9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0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9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6BC2FF-847C-1A3D-973A-DB6525D73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42938"/>
            <a:ext cx="5728253" cy="4748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9AC2B5-4B86-4172-1008-8341F2DAE5F2}"/>
              </a:ext>
            </a:extLst>
          </p:cNvPr>
          <p:cNvSpPr txBox="1"/>
          <p:nvPr/>
        </p:nvSpPr>
        <p:spPr>
          <a:xfrm>
            <a:off x="5753001" y="3510280"/>
            <a:ext cx="3931920" cy="8775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8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노바시온테크그룹</a:t>
            </a:r>
            <a:r>
              <a:rPr lang="ko-KR" alt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Azure MSP </a:t>
            </a:r>
            <a:r>
              <a:rPr lang="ko-KR" alt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 및 기술지원 서비스</a:t>
            </a:r>
            <a:endParaRPr lang="en-US" altLang="ko-KR" sz="2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F9D1B-5D8A-B6BF-61F7-8E010233A161}"/>
              </a:ext>
            </a:extLst>
          </p:cNvPr>
          <p:cNvSpPr txBox="1"/>
          <p:nvPr/>
        </p:nvSpPr>
        <p:spPr>
          <a:xfrm>
            <a:off x="5838403" y="5173743"/>
            <a:ext cx="2925000" cy="70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ko-KR" altLang="en-US" sz="20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아르케온클라우드</a:t>
            </a:r>
            <a:endParaRPr lang="en-US" altLang="ko-KR" sz="20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410DEC-E314-E27B-7BDD-E81D5CC29DC1}"/>
              </a:ext>
            </a:extLst>
          </p:cNvPr>
          <p:cNvSpPr/>
          <p:nvPr/>
        </p:nvSpPr>
        <p:spPr>
          <a:xfrm>
            <a:off x="5838403" y="4708311"/>
            <a:ext cx="3861000" cy="292500"/>
          </a:xfrm>
          <a:prstGeom prst="rect">
            <a:avLst/>
          </a:prstGeom>
          <a:solidFill>
            <a:srgbClr val="1A47C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5500" rIns="73125" rtlCol="0" anchor="ctr"/>
          <a:lstStyle/>
          <a:p>
            <a:r>
              <a:rPr lang="en" altLang="ko-Kore-KR" sz="1138">
                <a:ln w="6350">
                  <a:noFill/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LEADING CLOUD PARTNER FOR AI INNOVATION</a:t>
            </a:r>
          </a:p>
        </p:txBody>
      </p:sp>
      <p:sp>
        <p:nvSpPr>
          <p:cNvPr id="12" name="삼각형 11">
            <a:extLst>
              <a:ext uri="{FF2B5EF4-FFF2-40B4-BE49-F238E27FC236}">
                <a16:creationId xmlns:a16="http://schemas.microsoft.com/office/drawing/2014/main" id="{F4955769-7E47-049A-9AFD-47EA2D1FBAD0}"/>
              </a:ext>
            </a:extLst>
          </p:cNvPr>
          <p:cNvSpPr>
            <a:spLocks noChangeAspect="1"/>
          </p:cNvSpPr>
          <p:nvPr/>
        </p:nvSpPr>
        <p:spPr>
          <a:xfrm rot="5400000">
            <a:off x="9514733" y="4811696"/>
            <a:ext cx="99450" cy="85733"/>
          </a:xfrm>
          <a:prstGeom prst="triangle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975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2D637-7713-8770-7A1A-F150044DB740}"/>
              </a:ext>
            </a:extLst>
          </p:cNvPr>
          <p:cNvSpPr txBox="1"/>
          <p:nvPr/>
        </p:nvSpPr>
        <p:spPr>
          <a:xfrm>
            <a:off x="7593488" y="5378493"/>
            <a:ext cx="1755000" cy="2925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endParaRPr lang="en-US" altLang="ko-KR" sz="1138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pic>
        <p:nvPicPr>
          <p:cNvPr id="17" name="그림 16" descr="원, 스크린샷, 우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37C978-6865-03A3-70FB-31AD31B062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144" t="25803"/>
          <a:stretch>
            <a:fillRect/>
          </a:stretch>
        </p:blipFill>
        <p:spPr>
          <a:xfrm>
            <a:off x="0" y="642939"/>
            <a:ext cx="5728253" cy="5008737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F796D07F-72B3-09D5-CC3A-06ED6E4BCA11}"/>
              </a:ext>
            </a:extLst>
          </p:cNvPr>
          <p:cNvSpPr>
            <a:spLocks noChangeAspect="1"/>
          </p:cNvSpPr>
          <p:nvPr/>
        </p:nvSpPr>
        <p:spPr>
          <a:xfrm>
            <a:off x="989753" y="5047033"/>
            <a:ext cx="877500" cy="877234"/>
          </a:xfrm>
          <a:prstGeom prst="ellipse">
            <a:avLst/>
          </a:prstGeom>
          <a:solidFill>
            <a:srgbClr val="1A47C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975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4DD37B9-A8BB-BD3E-16DF-48252886DAEB}"/>
              </a:ext>
            </a:extLst>
          </p:cNvPr>
          <p:cNvSpPr/>
          <p:nvPr/>
        </p:nvSpPr>
        <p:spPr>
          <a:xfrm>
            <a:off x="891928" y="3781411"/>
            <a:ext cx="1073150" cy="1073150"/>
          </a:xfrm>
          <a:prstGeom prst="ellipse">
            <a:avLst/>
          </a:prstGeom>
          <a:solidFill>
            <a:srgbClr val="0C3389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975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32C253A-47A1-1DE0-D4CC-4D1A405CC67B}"/>
              </a:ext>
            </a:extLst>
          </p:cNvPr>
          <p:cNvSpPr>
            <a:spLocks noChangeAspect="1"/>
          </p:cNvSpPr>
          <p:nvPr/>
        </p:nvSpPr>
        <p:spPr>
          <a:xfrm>
            <a:off x="206598" y="4754532"/>
            <a:ext cx="585000" cy="585000"/>
          </a:xfrm>
          <a:prstGeom prst="ellipse">
            <a:avLst/>
          </a:prstGeom>
          <a:solidFill>
            <a:srgbClr val="058B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975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1" name="Google Shape;7697;p61">
            <a:extLst>
              <a:ext uri="{FF2B5EF4-FFF2-40B4-BE49-F238E27FC236}">
                <a16:creationId xmlns:a16="http://schemas.microsoft.com/office/drawing/2014/main" id="{E1AA6626-CBC6-02EB-1502-267F24191B58}"/>
              </a:ext>
            </a:extLst>
          </p:cNvPr>
          <p:cNvGrpSpPr/>
          <p:nvPr/>
        </p:nvGrpSpPr>
        <p:grpSpPr>
          <a:xfrm>
            <a:off x="1081617" y="3963561"/>
            <a:ext cx="693773" cy="708851"/>
            <a:chOff x="-24353875" y="3147725"/>
            <a:chExt cx="289875" cy="296175"/>
          </a:xfrm>
          <a:solidFill>
            <a:schemeClr val="bg1"/>
          </a:solidFill>
        </p:grpSpPr>
        <p:sp>
          <p:nvSpPr>
            <p:cNvPr id="22" name="Google Shape;7698;p61">
              <a:extLst>
                <a:ext uri="{FF2B5EF4-FFF2-40B4-BE49-F238E27FC236}">
                  <a16:creationId xmlns:a16="http://schemas.microsoft.com/office/drawing/2014/main" id="{F9106391-5476-01FD-425B-68E9F4B59ED7}"/>
                </a:ext>
              </a:extLst>
            </p:cNvPr>
            <p:cNvSpPr/>
            <p:nvPr/>
          </p:nvSpPr>
          <p:spPr>
            <a:xfrm>
              <a:off x="-24238100" y="3271375"/>
              <a:ext cx="52025" cy="51225"/>
            </a:xfrm>
            <a:custGeom>
              <a:avLst/>
              <a:gdLst/>
              <a:ahLst/>
              <a:cxnLst/>
              <a:rect l="l" t="t" r="r" b="b"/>
              <a:pathLst>
                <a:path w="2081" h="2049" extrusionOk="0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grpFill/>
            <a:ln w="19050">
              <a:solidFill>
                <a:srgbClr val="0C3389"/>
              </a:solidFill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  <p:sp>
          <p:nvSpPr>
            <p:cNvPr id="23" name="Google Shape;7699;p61">
              <a:extLst>
                <a:ext uri="{FF2B5EF4-FFF2-40B4-BE49-F238E27FC236}">
                  <a16:creationId xmlns:a16="http://schemas.microsoft.com/office/drawing/2014/main" id="{2667E175-1E61-D40D-8263-056FBF6663E1}"/>
                </a:ext>
              </a:extLst>
            </p:cNvPr>
            <p:cNvSpPr/>
            <p:nvPr/>
          </p:nvSpPr>
          <p:spPr>
            <a:xfrm>
              <a:off x="-24353875" y="3147725"/>
              <a:ext cx="289875" cy="296175"/>
            </a:xfrm>
            <a:custGeom>
              <a:avLst/>
              <a:gdLst/>
              <a:ahLst/>
              <a:cxnLst/>
              <a:rect l="l" t="t" r="r" b="b"/>
              <a:pathLst>
                <a:path w="11595" h="11847" extrusionOk="0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grpFill/>
            <a:ln w="19050">
              <a:solidFill>
                <a:srgbClr val="0C3389"/>
              </a:solidFill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</p:grpSp>
      <p:sp>
        <p:nvSpPr>
          <p:cNvPr id="27" name="자유형 26">
            <a:extLst>
              <a:ext uri="{FF2B5EF4-FFF2-40B4-BE49-F238E27FC236}">
                <a16:creationId xmlns:a16="http://schemas.microsoft.com/office/drawing/2014/main" id="{F2C82E66-26A0-1B36-17EE-6EE1C8D2B17F}"/>
              </a:ext>
            </a:extLst>
          </p:cNvPr>
          <p:cNvSpPr/>
          <p:nvPr/>
        </p:nvSpPr>
        <p:spPr>
          <a:xfrm>
            <a:off x="1171439" y="5312588"/>
            <a:ext cx="499050" cy="339086"/>
          </a:xfrm>
          <a:custGeom>
            <a:avLst/>
            <a:gdLst>
              <a:gd name="connsiteX0" fmla="*/ 181975 w 407803"/>
              <a:gd name="connsiteY0" fmla="*/ 0 h 277088"/>
              <a:gd name="connsiteX1" fmla="*/ 289177 w 407803"/>
              <a:gd name="connsiteY1" fmla="*/ 71058 h 277088"/>
              <a:gd name="connsiteX2" fmla="*/ 291795 w 407803"/>
              <a:gd name="connsiteY2" fmla="*/ 84025 h 277088"/>
              <a:gd name="connsiteX3" fmla="*/ 313089 w 407803"/>
              <a:gd name="connsiteY3" fmla="*/ 78985 h 277088"/>
              <a:gd name="connsiteX4" fmla="*/ 355114 w 407803"/>
              <a:gd name="connsiteY4" fmla="*/ 89247 h 277088"/>
              <a:gd name="connsiteX5" fmla="*/ 393202 w 407803"/>
              <a:gd name="connsiteY5" fmla="*/ 125262 h 277088"/>
              <a:gd name="connsiteX6" fmla="*/ 407803 w 407803"/>
              <a:gd name="connsiteY6" fmla="*/ 178015 h 277088"/>
              <a:gd name="connsiteX7" fmla="*/ 313110 w 407803"/>
              <a:gd name="connsiteY7" fmla="*/ 277088 h 277088"/>
              <a:gd name="connsiteX8" fmla="*/ 82314 w 407803"/>
              <a:gd name="connsiteY8" fmla="*/ 277088 h 277088"/>
              <a:gd name="connsiteX9" fmla="*/ 0 w 407803"/>
              <a:gd name="connsiteY9" fmla="*/ 191008 h 277088"/>
              <a:gd name="connsiteX10" fmla="*/ 50313 w 407803"/>
              <a:gd name="connsiteY10" fmla="*/ 111703 h 277088"/>
              <a:gd name="connsiteX11" fmla="*/ 67293 w 407803"/>
              <a:gd name="connsiteY11" fmla="*/ 108108 h 277088"/>
              <a:gd name="connsiteX12" fmla="*/ 74773 w 407803"/>
              <a:gd name="connsiteY12" fmla="*/ 71058 h 277088"/>
              <a:gd name="connsiteX13" fmla="*/ 181975 w 407803"/>
              <a:gd name="connsiteY13" fmla="*/ 0 h 27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7803" h="277088">
                <a:moveTo>
                  <a:pt x="181975" y="0"/>
                </a:moveTo>
                <a:cubicBezTo>
                  <a:pt x="230167" y="0"/>
                  <a:pt x="271515" y="29300"/>
                  <a:pt x="289177" y="71058"/>
                </a:cubicBezTo>
                <a:lnTo>
                  <a:pt x="291795" y="84025"/>
                </a:lnTo>
                <a:lnTo>
                  <a:pt x="313089" y="78985"/>
                </a:lnTo>
                <a:cubicBezTo>
                  <a:pt x="327521" y="78985"/>
                  <a:pt x="341952" y="82392"/>
                  <a:pt x="355114" y="89247"/>
                </a:cubicBezTo>
                <a:cubicBezTo>
                  <a:pt x="370899" y="97479"/>
                  <a:pt x="384103" y="109963"/>
                  <a:pt x="393202" y="125262"/>
                </a:cubicBezTo>
                <a:cubicBezTo>
                  <a:pt x="402767" y="141175"/>
                  <a:pt x="407803" y="159415"/>
                  <a:pt x="407803" y="178015"/>
                </a:cubicBezTo>
                <a:cubicBezTo>
                  <a:pt x="407803" y="232693"/>
                  <a:pt x="365292" y="277088"/>
                  <a:pt x="313110" y="277088"/>
                </a:cubicBezTo>
                <a:lnTo>
                  <a:pt x="82314" y="277088"/>
                </a:lnTo>
                <a:cubicBezTo>
                  <a:pt x="36883" y="277088"/>
                  <a:pt x="0" y="238491"/>
                  <a:pt x="0" y="191008"/>
                </a:cubicBezTo>
                <a:cubicBezTo>
                  <a:pt x="0" y="155411"/>
                  <a:pt x="20782" y="124789"/>
                  <a:pt x="50313" y="111703"/>
                </a:cubicBezTo>
                <a:lnTo>
                  <a:pt x="67293" y="108108"/>
                </a:lnTo>
                <a:lnTo>
                  <a:pt x="74773" y="71058"/>
                </a:lnTo>
                <a:cubicBezTo>
                  <a:pt x="92435" y="29300"/>
                  <a:pt x="133783" y="0"/>
                  <a:pt x="1819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endParaRPr sz="1950">
              <a:solidFill>
                <a:srgbClr val="435D74"/>
              </a:solidFill>
            </a:endParaRPr>
          </a:p>
        </p:txBody>
      </p:sp>
      <p:grpSp>
        <p:nvGrpSpPr>
          <p:cNvPr id="28" name="Google Shape;9043;p64">
            <a:extLst>
              <a:ext uri="{FF2B5EF4-FFF2-40B4-BE49-F238E27FC236}">
                <a16:creationId xmlns:a16="http://schemas.microsoft.com/office/drawing/2014/main" id="{548FE4A8-0FA0-4141-2D11-C80B99CBDA20}"/>
              </a:ext>
            </a:extLst>
          </p:cNvPr>
          <p:cNvGrpSpPr>
            <a:grpSpLocks noChangeAspect="1"/>
          </p:cNvGrpSpPr>
          <p:nvPr/>
        </p:nvGrpSpPr>
        <p:grpSpPr>
          <a:xfrm>
            <a:off x="362761" y="4873991"/>
            <a:ext cx="270797" cy="321750"/>
            <a:chOff x="-48233050" y="3569725"/>
            <a:chExt cx="252050" cy="299475"/>
          </a:xfrm>
          <a:solidFill>
            <a:schemeClr val="bg1"/>
          </a:solidFill>
        </p:grpSpPr>
        <p:sp>
          <p:nvSpPr>
            <p:cNvPr id="29" name="Google Shape;9044;p64">
              <a:extLst>
                <a:ext uri="{FF2B5EF4-FFF2-40B4-BE49-F238E27FC236}">
                  <a16:creationId xmlns:a16="http://schemas.microsoft.com/office/drawing/2014/main" id="{B026C6E5-396F-1241-D5AB-DE4C4CAEF5D0}"/>
                </a:ext>
              </a:extLst>
            </p:cNvPr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  <p:sp>
          <p:nvSpPr>
            <p:cNvPr id="30" name="Google Shape;9045;p64">
              <a:extLst>
                <a:ext uri="{FF2B5EF4-FFF2-40B4-BE49-F238E27FC236}">
                  <a16:creationId xmlns:a16="http://schemas.microsoft.com/office/drawing/2014/main" id="{15229D55-59F3-F114-90BE-BD889AE04635}"/>
                </a:ext>
              </a:extLst>
            </p:cNvPr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  <p:sp>
          <p:nvSpPr>
            <p:cNvPr id="31" name="Google Shape;9046;p64">
              <a:extLst>
                <a:ext uri="{FF2B5EF4-FFF2-40B4-BE49-F238E27FC236}">
                  <a16:creationId xmlns:a16="http://schemas.microsoft.com/office/drawing/2014/main" id="{A7F99F33-65D0-655D-4F6F-029AC5B36B5A}"/>
                </a:ext>
              </a:extLst>
            </p:cNvPr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endParaRPr sz="195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키보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AED3E4-037B-A242-9B57-54270B115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42938"/>
            <a:ext cx="4953000" cy="5572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D782BE-8676-D5E0-639A-4ABCBCC0ECA5}"/>
              </a:ext>
            </a:extLst>
          </p:cNvPr>
          <p:cNvSpPr txBox="1"/>
          <p:nvPr/>
        </p:nvSpPr>
        <p:spPr>
          <a:xfrm>
            <a:off x="5230914" y="1801761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>
                <a:ln w="6350">
                  <a:noFill/>
                </a:ln>
                <a:solidFill>
                  <a:srgbClr val="0C3389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목차</a:t>
            </a:r>
            <a:endParaRPr lang="en-US" altLang="ko-KR" sz="6500">
              <a:ln w="6350">
                <a:noFill/>
              </a:ln>
              <a:solidFill>
                <a:srgbClr val="0C3389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A830E-1D06-67FB-1BAF-A9C0C18915CD}"/>
              </a:ext>
            </a:extLst>
          </p:cNvPr>
          <p:cNvSpPr txBox="1"/>
          <p:nvPr/>
        </p:nvSpPr>
        <p:spPr>
          <a:xfrm>
            <a:off x="6947763" y="2549518"/>
            <a:ext cx="2580230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ko-KR" sz="975" b="0" spc="244">
                <a:ln w="6350">
                  <a:noFill/>
                </a:ln>
                <a:solidFill>
                  <a:srgbClr val="1A1A1A">
                    <a:alpha val="60000"/>
                  </a:srgb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CONTENTS</a:t>
            </a:r>
            <a:endParaRPr lang="ko-KR" altLang="ko-KR" sz="975" b="0" spc="244">
              <a:ln w="6350">
                <a:noFill/>
              </a:ln>
              <a:solidFill>
                <a:srgbClr val="1A1A1A">
                  <a:alpha val="6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C2BD7E-93C1-E963-893F-B56ACA362A06}"/>
              </a:ext>
            </a:extLst>
          </p:cNvPr>
          <p:cNvSpPr txBox="1"/>
          <p:nvPr/>
        </p:nvSpPr>
        <p:spPr>
          <a:xfrm>
            <a:off x="5724717" y="3259300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제안개요</a:t>
            </a:r>
            <a:endParaRPr lang="en-US" altLang="ko-KR" sz="1300" b="1">
              <a:ln w="6350">
                <a:noFill/>
              </a:ln>
              <a:latin typeface="Pretendard SemiBold" panose="02000503000000020004" pitchFamily="2" charset="-127"/>
              <a:ea typeface="Pretendard SemiBold" panose="02000503000000020004" pitchFamily="2" charset="-127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E1AD8764-6C9D-87F6-1400-63307F3292F9}"/>
              </a:ext>
            </a:extLst>
          </p:cNvPr>
          <p:cNvSpPr>
            <a:spLocks noChangeAspect="1"/>
          </p:cNvSpPr>
          <p:nvPr/>
        </p:nvSpPr>
        <p:spPr>
          <a:xfrm>
            <a:off x="5304038" y="3265211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9D6020-D6AE-C133-08A3-9D62E1BA5F1B}"/>
              </a:ext>
            </a:extLst>
          </p:cNvPr>
          <p:cNvSpPr txBox="1"/>
          <p:nvPr/>
        </p:nvSpPr>
        <p:spPr>
          <a:xfrm>
            <a:off x="5230915" y="3284306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01</a:t>
            </a:r>
          </a:p>
        </p:txBody>
      </p: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id="{DAA11C16-0E44-6F03-EE20-B4A6859EDC2B}"/>
              </a:ext>
            </a:extLst>
          </p:cNvPr>
          <p:cNvCxnSpPr>
            <a:cxnSpLocks/>
          </p:cNvCxnSpPr>
          <p:nvPr/>
        </p:nvCxnSpPr>
        <p:spPr>
          <a:xfrm>
            <a:off x="6949682" y="3396836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319463-7C6F-6396-ECDF-8ADB97C7645B}"/>
              </a:ext>
            </a:extLst>
          </p:cNvPr>
          <p:cNvSpPr txBox="1"/>
          <p:nvPr/>
        </p:nvSpPr>
        <p:spPr>
          <a:xfrm>
            <a:off x="8491162" y="3263113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E322A2-9E16-1EDE-A13E-DCB04CAA2DEB}"/>
              </a:ext>
            </a:extLst>
          </p:cNvPr>
          <p:cNvSpPr txBox="1"/>
          <p:nvPr/>
        </p:nvSpPr>
        <p:spPr>
          <a:xfrm>
            <a:off x="5724717" y="3660733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제안사 현황</a:t>
            </a:r>
            <a:endParaRPr lang="en-US" altLang="ko-KR" sz="1300" b="1">
              <a:ln w="6350">
                <a:noFill/>
              </a:ln>
              <a:latin typeface="Pretendard SemiBold" panose="02000503000000020004" pitchFamily="2" charset="-127"/>
              <a:ea typeface="Pretendard SemiBold" panose="02000503000000020004" pitchFamily="2" charset="-127"/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3C5EEC4B-F5BC-6A5E-DC6D-9FC03692B574}"/>
              </a:ext>
            </a:extLst>
          </p:cNvPr>
          <p:cNvSpPr>
            <a:spLocks noChangeAspect="1"/>
          </p:cNvSpPr>
          <p:nvPr/>
        </p:nvSpPr>
        <p:spPr>
          <a:xfrm>
            <a:off x="5304038" y="3666644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9C8964-96FD-B595-D838-923148E13968}"/>
              </a:ext>
            </a:extLst>
          </p:cNvPr>
          <p:cNvSpPr txBox="1"/>
          <p:nvPr/>
        </p:nvSpPr>
        <p:spPr>
          <a:xfrm>
            <a:off x="5230915" y="3685739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02</a:t>
            </a:r>
          </a:p>
        </p:txBody>
      </p: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9944FB45-3C79-A375-F8C2-8CCDA920DD9A}"/>
              </a:ext>
            </a:extLst>
          </p:cNvPr>
          <p:cNvCxnSpPr>
            <a:cxnSpLocks/>
          </p:cNvCxnSpPr>
          <p:nvPr/>
        </p:nvCxnSpPr>
        <p:spPr>
          <a:xfrm>
            <a:off x="6949682" y="3798269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EB83EB-5474-FE1F-EE83-CA814F13C7EB}"/>
              </a:ext>
            </a:extLst>
          </p:cNvPr>
          <p:cNvSpPr txBox="1"/>
          <p:nvPr/>
        </p:nvSpPr>
        <p:spPr>
          <a:xfrm>
            <a:off x="8491162" y="3664547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80FDBF-B0CA-864B-1B53-0B501C15C975}"/>
              </a:ext>
            </a:extLst>
          </p:cNvPr>
          <p:cNvSpPr txBox="1"/>
          <p:nvPr/>
        </p:nvSpPr>
        <p:spPr>
          <a:xfrm>
            <a:off x="5724717" y="4062167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기술 부문</a:t>
            </a:r>
            <a:endParaRPr lang="en-US" altLang="ko-KR" sz="1300" b="1">
              <a:ln w="6350">
                <a:noFill/>
              </a:ln>
              <a:latin typeface="Pretendard SemiBold" panose="02000503000000020004" pitchFamily="2" charset="-127"/>
              <a:ea typeface="Pretendard SemiBold" panose="02000503000000020004" pitchFamily="2" charset="-127"/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2CCD3165-F976-1193-217D-81D85F0F0AC6}"/>
              </a:ext>
            </a:extLst>
          </p:cNvPr>
          <p:cNvSpPr>
            <a:spLocks noChangeAspect="1"/>
          </p:cNvSpPr>
          <p:nvPr/>
        </p:nvSpPr>
        <p:spPr>
          <a:xfrm>
            <a:off x="5304038" y="4068078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26D2ED-35CB-6DEA-F685-3FA50694BF8C}"/>
              </a:ext>
            </a:extLst>
          </p:cNvPr>
          <p:cNvSpPr txBox="1"/>
          <p:nvPr/>
        </p:nvSpPr>
        <p:spPr>
          <a:xfrm>
            <a:off x="5230915" y="4087173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03</a:t>
            </a:r>
          </a:p>
        </p:txBody>
      </p: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2CE6DA96-4916-B5EE-A8C0-354149FD3EBE}"/>
              </a:ext>
            </a:extLst>
          </p:cNvPr>
          <p:cNvCxnSpPr>
            <a:cxnSpLocks/>
          </p:cNvCxnSpPr>
          <p:nvPr/>
        </p:nvCxnSpPr>
        <p:spPr>
          <a:xfrm>
            <a:off x="6949682" y="4199703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7D318C-E164-E781-2FD3-C2E8A57EB3FE}"/>
              </a:ext>
            </a:extLst>
          </p:cNvPr>
          <p:cNvSpPr txBox="1"/>
          <p:nvPr/>
        </p:nvSpPr>
        <p:spPr>
          <a:xfrm>
            <a:off x="8491162" y="4065980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695D00-B02D-4229-CB4E-A4FDC18E2B5D}"/>
              </a:ext>
            </a:extLst>
          </p:cNvPr>
          <p:cNvSpPr txBox="1"/>
          <p:nvPr/>
        </p:nvSpPr>
        <p:spPr>
          <a:xfrm>
            <a:off x="5724717" y="4463600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보안 부문</a:t>
            </a:r>
            <a:endParaRPr lang="en-US" altLang="ko-KR" sz="1300" b="1">
              <a:ln w="6350">
                <a:noFill/>
              </a:ln>
              <a:latin typeface="Pretendard SemiBold" panose="02000503000000020004" pitchFamily="2" charset="-127"/>
              <a:ea typeface="Pretendard SemiBold" panose="02000503000000020004" pitchFamily="2" charset="-127"/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8EE3E060-2505-1D44-4295-2C039A54A303}"/>
              </a:ext>
            </a:extLst>
          </p:cNvPr>
          <p:cNvSpPr>
            <a:spLocks noChangeAspect="1"/>
          </p:cNvSpPr>
          <p:nvPr/>
        </p:nvSpPr>
        <p:spPr>
          <a:xfrm>
            <a:off x="5304038" y="4469513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CC3879-3ECD-22AD-F35C-5D70CEE1F133}"/>
              </a:ext>
            </a:extLst>
          </p:cNvPr>
          <p:cNvSpPr txBox="1"/>
          <p:nvPr/>
        </p:nvSpPr>
        <p:spPr>
          <a:xfrm>
            <a:off x="5230915" y="4488607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04</a:t>
            </a: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F1702200-C3D7-EA5C-5981-E959D7BC732C}"/>
              </a:ext>
            </a:extLst>
          </p:cNvPr>
          <p:cNvCxnSpPr>
            <a:cxnSpLocks/>
          </p:cNvCxnSpPr>
          <p:nvPr/>
        </p:nvCxnSpPr>
        <p:spPr>
          <a:xfrm>
            <a:off x="6949682" y="4601138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5EA1F5-AA4E-A2C2-52E4-FC0884615706}"/>
              </a:ext>
            </a:extLst>
          </p:cNvPr>
          <p:cNvSpPr txBox="1"/>
          <p:nvPr/>
        </p:nvSpPr>
        <p:spPr>
          <a:xfrm>
            <a:off x="8491162" y="4467414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E3D6C-2297-4BC9-05CE-748BA1A7DF40}"/>
              </a:ext>
            </a:extLst>
          </p:cNvPr>
          <p:cNvSpPr txBox="1"/>
          <p:nvPr/>
        </p:nvSpPr>
        <p:spPr>
          <a:xfrm>
            <a:off x="5724717" y="4870300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운영 </a:t>
            </a:r>
            <a:r>
              <a:rPr lang="en-US" altLang="ko-KR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/ </a:t>
            </a:r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관리 부문</a:t>
            </a:r>
            <a:endParaRPr lang="en-US" altLang="ko-KR" sz="1300" b="1">
              <a:ln w="6350">
                <a:noFill/>
              </a:ln>
              <a:latin typeface="Pretendard SemiBold" panose="02000503000000020004" pitchFamily="2" charset="-127"/>
              <a:ea typeface="Pretendard SemiBold" panose="02000503000000020004" pitchFamily="2" charset="-127"/>
            </a:endParaRPr>
          </a:p>
        </p:txBody>
      </p:sp>
      <p:sp>
        <p:nvSpPr>
          <p:cNvPr id="5" name="모서리가 둥근 직사각형 37">
            <a:extLst>
              <a:ext uri="{FF2B5EF4-FFF2-40B4-BE49-F238E27FC236}">
                <a16:creationId xmlns:a16="http://schemas.microsoft.com/office/drawing/2014/main" id="{B5A7E6BD-49A5-D152-F887-AFCCF91F9391}"/>
              </a:ext>
            </a:extLst>
          </p:cNvPr>
          <p:cNvSpPr>
            <a:spLocks noChangeAspect="1"/>
          </p:cNvSpPr>
          <p:nvPr/>
        </p:nvSpPr>
        <p:spPr>
          <a:xfrm>
            <a:off x="5304038" y="4876212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909B3D-97C1-CB34-68D3-C04FE93FF04E}"/>
              </a:ext>
            </a:extLst>
          </p:cNvPr>
          <p:cNvSpPr txBox="1"/>
          <p:nvPr/>
        </p:nvSpPr>
        <p:spPr>
          <a:xfrm>
            <a:off x="5230915" y="4895307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05</a:t>
            </a:r>
          </a:p>
        </p:txBody>
      </p:sp>
      <p:cxnSp>
        <p:nvCxnSpPr>
          <p:cNvPr id="9" name="직선 연결선[R] 1">
            <a:extLst>
              <a:ext uri="{FF2B5EF4-FFF2-40B4-BE49-F238E27FC236}">
                <a16:creationId xmlns:a16="http://schemas.microsoft.com/office/drawing/2014/main" id="{9739835D-3A61-8F93-581B-0F7A8C4D8E67}"/>
              </a:ext>
            </a:extLst>
          </p:cNvPr>
          <p:cNvCxnSpPr>
            <a:cxnSpLocks/>
          </p:cNvCxnSpPr>
          <p:nvPr/>
        </p:nvCxnSpPr>
        <p:spPr>
          <a:xfrm>
            <a:off x="6949682" y="5007837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1DD685-FC7B-10D3-E5F2-298949FE943C}"/>
              </a:ext>
            </a:extLst>
          </p:cNvPr>
          <p:cNvSpPr txBox="1"/>
          <p:nvPr/>
        </p:nvSpPr>
        <p:spPr>
          <a:xfrm>
            <a:off x="8491162" y="4874115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052C23-EB6D-A649-7D5F-D9E9C1B9F301}"/>
              </a:ext>
            </a:extLst>
          </p:cNvPr>
          <p:cNvSpPr txBox="1"/>
          <p:nvPr/>
        </p:nvSpPr>
        <p:spPr>
          <a:xfrm>
            <a:off x="5724717" y="5283592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기타</a:t>
            </a:r>
            <a:endParaRPr lang="en-US" altLang="ko-KR" sz="1300" b="1">
              <a:ln w="6350">
                <a:noFill/>
              </a:ln>
              <a:latin typeface="Pretendard SemiBold" panose="02000503000000020004" pitchFamily="2" charset="-127"/>
              <a:ea typeface="Pretendard SemiBold" panose="02000503000000020004" pitchFamily="2" charset="-127"/>
            </a:endParaRPr>
          </a:p>
        </p:txBody>
      </p:sp>
      <p:sp>
        <p:nvSpPr>
          <p:cNvPr id="16" name="모서리가 둥근 직사각형 37">
            <a:extLst>
              <a:ext uri="{FF2B5EF4-FFF2-40B4-BE49-F238E27FC236}">
                <a16:creationId xmlns:a16="http://schemas.microsoft.com/office/drawing/2014/main" id="{0AB21A25-BC89-35F9-4692-C1723F01BDCD}"/>
              </a:ext>
            </a:extLst>
          </p:cNvPr>
          <p:cNvSpPr>
            <a:spLocks noChangeAspect="1"/>
          </p:cNvSpPr>
          <p:nvPr/>
        </p:nvSpPr>
        <p:spPr>
          <a:xfrm>
            <a:off x="5304038" y="5289502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D23B9D-8F7A-5482-FC75-8A4BDAEA7556}"/>
              </a:ext>
            </a:extLst>
          </p:cNvPr>
          <p:cNvSpPr txBox="1"/>
          <p:nvPr/>
        </p:nvSpPr>
        <p:spPr>
          <a:xfrm>
            <a:off x="5230915" y="5308598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06</a:t>
            </a:r>
          </a:p>
        </p:txBody>
      </p:sp>
      <p:cxnSp>
        <p:nvCxnSpPr>
          <p:cNvPr id="18" name="직선 연결선[R] 1">
            <a:extLst>
              <a:ext uri="{FF2B5EF4-FFF2-40B4-BE49-F238E27FC236}">
                <a16:creationId xmlns:a16="http://schemas.microsoft.com/office/drawing/2014/main" id="{67991669-7A7E-423D-9E8F-14BBF74B0DE0}"/>
              </a:ext>
            </a:extLst>
          </p:cNvPr>
          <p:cNvCxnSpPr>
            <a:cxnSpLocks/>
          </p:cNvCxnSpPr>
          <p:nvPr/>
        </p:nvCxnSpPr>
        <p:spPr>
          <a:xfrm>
            <a:off x="6949682" y="5421127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93D4247-1FB8-FB5C-E74F-68C76BFC061E}"/>
              </a:ext>
            </a:extLst>
          </p:cNvPr>
          <p:cNvSpPr txBox="1"/>
          <p:nvPr/>
        </p:nvSpPr>
        <p:spPr>
          <a:xfrm>
            <a:off x="8491162" y="5287405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2EDD43-E9A2-E151-B55D-220E5032CE90}"/>
              </a:ext>
            </a:extLst>
          </p:cNvPr>
          <p:cNvSpPr txBox="1"/>
          <p:nvPr/>
        </p:nvSpPr>
        <p:spPr>
          <a:xfrm>
            <a:off x="5724717" y="5696881"/>
            <a:ext cx="2047500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300" b="1">
                <a:ln w="6350">
                  <a:noFill/>
                </a:ln>
                <a:latin typeface="Pretendard SemiBold" panose="02000503000000020004" pitchFamily="2" charset="-127"/>
                <a:ea typeface="Pretendard SemiBold" panose="02000503000000020004" pitchFamily="2" charset="-127"/>
              </a:rPr>
              <a:t>별첨</a:t>
            </a:r>
            <a:endParaRPr lang="en-US" altLang="ko-KR" sz="1300" b="1">
              <a:ln w="6350">
                <a:noFill/>
              </a:ln>
              <a:latin typeface="Pretendard SemiBold" panose="02000503000000020004" pitchFamily="2" charset="-127"/>
              <a:ea typeface="Pretendard SemiBold" panose="02000503000000020004" pitchFamily="2" charset="-127"/>
            </a:endParaRPr>
          </a:p>
        </p:txBody>
      </p:sp>
      <p:sp>
        <p:nvSpPr>
          <p:cNvPr id="21" name="모서리가 둥근 직사각형 37">
            <a:extLst>
              <a:ext uri="{FF2B5EF4-FFF2-40B4-BE49-F238E27FC236}">
                <a16:creationId xmlns:a16="http://schemas.microsoft.com/office/drawing/2014/main" id="{B16F9428-6F71-1115-25C1-296CA1F15015}"/>
              </a:ext>
            </a:extLst>
          </p:cNvPr>
          <p:cNvSpPr>
            <a:spLocks noChangeAspect="1"/>
          </p:cNvSpPr>
          <p:nvPr/>
        </p:nvSpPr>
        <p:spPr>
          <a:xfrm>
            <a:off x="5304038" y="5702793"/>
            <a:ext cx="263250" cy="2632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00">
              <a:solidFill>
                <a:srgbClr val="1A47C6">
                  <a:alpha val="90000"/>
                </a:srgb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CD4BC3-8334-96D0-9DCC-328914AF7107}"/>
              </a:ext>
            </a:extLst>
          </p:cNvPr>
          <p:cNvSpPr txBox="1"/>
          <p:nvPr/>
        </p:nvSpPr>
        <p:spPr>
          <a:xfrm>
            <a:off x="5230915" y="5721887"/>
            <a:ext cx="409499" cy="2423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75" b="1">
                <a:ln w="6350">
                  <a:noFill/>
                </a:ln>
                <a:solidFill>
                  <a:srgbClr val="0C338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rPr>
              <a:t>07</a:t>
            </a:r>
          </a:p>
        </p:txBody>
      </p:sp>
      <p:cxnSp>
        <p:nvCxnSpPr>
          <p:cNvPr id="23" name="직선 연결선[R] 1">
            <a:extLst>
              <a:ext uri="{FF2B5EF4-FFF2-40B4-BE49-F238E27FC236}">
                <a16:creationId xmlns:a16="http://schemas.microsoft.com/office/drawing/2014/main" id="{5AFC66A5-2792-E716-2891-78825632701B}"/>
              </a:ext>
            </a:extLst>
          </p:cNvPr>
          <p:cNvCxnSpPr>
            <a:cxnSpLocks/>
          </p:cNvCxnSpPr>
          <p:nvPr/>
        </p:nvCxnSpPr>
        <p:spPr>
          <a:xfrm>
            <a:off x="6949682" y="5834418"/>
            <a:ext cx="14625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DD20F8A-8860-B606-53F4-515D58168C0A}"/>
              </a:ext>
            </a:extLst>
          </p:cNvPr>
          <p:cNvSpPr txBox="1"/>
          <p:nvPr/>
        </p:nvSpPr>
        <p:spPr>
          <a:xfrm>
            <a:off x="8491162" y="5700695"/>
            <a:ext cx="146250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ko-KR" sz="1138">
                <a:ln w="6350">
                  <a:noFill/>
                </a:ln>
                <a:solidFill>
                  <a:srgbClr val="0C33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20A8F78F-BF48-18C7-C5D6-C869F482F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2125" y="642938"/>
            <a:ext cx="4333875" cy="5572125"/>
          </a:xfrm>
          <a:prstGeom prst="rect">
            <a:avLst/>
          </a:prstGeom>
        </p:spPr>
      </p:pic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8C7F482-0306-B981-2FF4-1D070492B489}"/>
              </a:ext>
            </a:extLst>
          </p:cNvPr>
          <p:cNvSpPr/>
          <p:nvPr/>
        </p:nvSpPr>
        <p:spPr>
          <a:xfrm>
            <a:off x="151140" y="1738237"/>
            <a:ext cx="742950" cy="742950"/>
          </a:xfrm>
          <a:prstGeom prst="roundRect">
            <a:avLst/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8B32F-DD91-6A58-8331-94300C460723}"/>
              </a:ext>
            </a:extLst>
          </p:cNvPr>
          <p:cNvSpPr txBox="1"/>
          <p:nvPr/>
        </p:nvSpPr>
        <p:spPr>
          <a:xfrm>
            <a:off x="1078620" y="1572068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>
                <a:solidFill>
                  <a:srgbClr val="1A1A1A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제안개요</a:t>
            </a:r>
            <a:endParaRPr lang="en-US" altLang="ko-KR" sz="6500">
              <a:solidFill>
                <a:srgbClr val="1A1A1A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553572-B5C2-6FB6-DF98-515964AC5BDE}"/>
              </a:ext>
            </a:extLst>
          </p:cNvPr>
          <p:cNvSpPr txBox="1"/>
          <p:nvPr/>
        </p:nvSpPr>
        <p:spPr>
          <a:xfrm>
            <a:off x="1128989" y="1445901"/>
            <a:ext cx="258023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ko-KR" sz="1138" b="0">
                <a:ln w="6350">
                  <a:noFill/>
                </a:ln>
                <a:solidFill>
                  <a:srgbClr val="1A1A1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LEADING INNOVATOR IN CLOUD</a:t>
            </a:r>
            <a:endParaRPr lang="ko-KR" altLang="ko-KR" sz="1138" b="0">
              <a:ln w="6350">
                <a:noFill/>
              </a:ln>
              <a:solidFill>
                <a:srgbClr val="1A1A1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9D6D44C-19AD-9447-1513-9195A065B8BF}"/>
              </a:ext>
            </a:extLst>
          </p:cNvPr>
          <p:cNvSpPr/>
          <p:nvPr/>
        </p:nvSpPr>
        <p:spPr>
          <a:xfrm rot="18900000">
            <a:off x="804006" y="2034181"/>
            <a:ext cx="151063" cy="151063"/>
          </a:xfrm>
          <a:prstGeom prst="roundRect">
            <a:avLst>
              <a:gd name="adj" fmla="val 1013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ED21DCB-CBAF-137F-20F6-8EA9A615D8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8582" y="5675861"/>
            <a:ext cx="2264355" cy="6150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B19AD1-5574-89BC-EE53-53E412D78D7D}"/>
              </a:ext>
            </a:extLst>
          </p:cNvPr>
          <p:cNvSpPr txBox="1"/>
          <p:nvPr/>
        </p:nvSpPr>
        <p:spPr bwMode="gray">
          <a:xfrm>
            <a:off x="151140" y="1734610"/>
            <a:ext cx="742951" cy="7502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/>
            <a:r>
              <a:rPr lang="en-US" altLang="ko-KR" sz="4875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Ⅰ</a:t>
            </a:r>
            <a:endParaRPr lang="ko-KR" altLang="en-US" sz="4875" b="1" dirty="0">
              <a:solidFill>
                <a:schemeClr val="bg1"/>
              </a:solidFill>
            </a:endParaRPr>
          </a:p>
        </p:txBody>
      </p:sp>
      <p:sp>
        <p:nvSpPr>
          <p:cNvPr id="30" name="양쪽 모서리가 둥근 사각형 19">
            <a:extLst>
              <a:ext uri="{FF2B5EF4-FFF2-40B4-BE49-F238E27FC236}">
                <a16:creationId xmlns:a16="http://schemas.microsoft.com/office/drawing/2014/main" id="{2B950893-DDDC-A9C4-D8DB-389276C3C9B3}"/>
              </a:ext>
            </a:extLst>
          </p:cNvPr>
          <p:cNvSpPr/>
          <p:nvPr/>
        </p:nvSpPr>
        <p:spPr>
          <a:xfrm rot="5400000">
            <a:off x="1111500" y="1789089"/>
            <a:ext cx="2457000" cy="468000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5D7AD7-A462-382F-B431-FFEA5E5643A6}"/>
              </a:ext>
            </a:extLst>
          </p:cNvPr>
          <p:cNvGrpSpPr/>
          <p:nvPr/>
        </p:nvGrpSpPr>
        <p:grpSpPr>
          <a:xfrm>
            <a:off x="691804" y="3141987"/>
            <a:ext cx="3785841" cy="1974208"/>
            <a:chOff x="851451" y="3411056"/>
            <a:chExt cx="4659496" cy="242979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321F90-EF26-1DB0-3589-A4750D005EDD}"/>
                </a:ext>
              </a:extLst>
            </p:cNvPr>
            <p:cNvSpPr txBox="1"/>
            <p:nvPr/>
          </p:nvSpPr>
          <p:spPr>
            <a:xfrm>
              <a:off x="1459210" y="3457778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사업 이해 및 제안 배경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3D1A78-F62D-169E-8B69-B9209556EAB8}"/>
                </a:ext>
              </a:extLst>
            </p:cNvPr>
            <p:cNvSpPr txBox="1"/>
            <p:nvPr/>
          </p:nvSpPr>
          <p:spPr>
            <a:xfrm>
              <a:off x="1459210" y="4123709"/>
              <a:ext cx="2747102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제안 범위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34A128F-9588-A2F9-D76E-223002CBC69A}"/>
                </a:ext>
              </a:extLst>
            </p:cNvPr>
            <p:cNvGrpSpPr/>
            <p:nvPr/>
          </p:nvGrpSpPr>
          <p:grpSpPr>
            <a:xfrm>
              <a:off x="851451" y="3411056"/>
              <a:ext cx="503999" cy="432000"/>
              <a:chOff x="781765" y="3883420"/>
              <a:chExt cx="503999" cy="432000"/>
            </a:xfrm>
          </p:grpSpPr>
          <p:sp>
            <p:nvSpPr>
              <p:cNvPr id="49" name="모서리가 둥근 직사각형 46">
                <a:extLst>
                  <a:ext uri="{FF2B5EF4-FFF2-40B4-BE49-F238E27FC236}">
                    <a16:creationId xmlns:a16="http://schemas.microsoft.com/office/drawing/2014/main" id="{5AA5BBD6-6128-C12D-23E3-DC5DD6A0A4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F5D401-FAC2-5F38-6F5C-38582790AF37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01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3A6F54D-04CB-3509-3AFF-50DAB1FF49B7}"/>
                </a:ext>
              </a:extLst>
            </p:cNvPr>
            <p:cNvGrpSpPr/>
            <p:nvPr/>
          </p:nvGrpSpPr>
          <p:grpSpPr>
            <a:xfrm>
              <a:off x="851451" y="4076987"/>
              <a:ext cx="503999" cy="432000"/>
              <a:chOff x="781765" y="4594620"/>
              <a:chExt cx="503999" cy="432000"/>
            </a:xfrm>
          </p:grpSpPr>
          <p:sp>
            <p:nvSpPr>
              <p:cNvPr id="47" name="모서리가 둥근 직사각형 44">
                <a:extLst>
                  <a:ext uri="{FF2B5EF4-FFF2-40B4-BE49-F238E27FC236}">
                    <a16:creationId xmlns:a16="http://schemas.microsoft.com/office/drawing/2014/main" id="{B6433F84-DC82-665E-8045-00A3F8E94C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CE87E2-FC4E-889A-D0B1-A090E56C27D7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02</a:t>
                </a:r>
              </a:p>
            </p:txBody>
          </p:sp>
        </p:grpSp>
        <p:cxnSp>
          <p:nvCxnSpPr>
            <p:cNvPr id="36" name="직선 연결선[R] 33">
              <a:extLst>
                <a:ext uri="{FF2B5EF4-FFF2-40B4-BE49-F238E27FC236}">
                  <a16:creationId xmlns:a16="http://schemas.microsoft.com/office/drawing/2014/main" id="{2920F377-A3DA-9756-444D-11DD4B634EAA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96002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4">
              <a:extLst>
                <a:ext uri="{FF2B5EF4-FFF2-40B4-BE49-F238E27FC236}">
                  <a16:creationId xmlns:a16="http://schemas.microsoft.com/office/drawing/2014/main" id="{E9DA991F-3F77-250E-3152-0C73FEAA7875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62595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D38E695-3CDC-19A6-03CC-A252822153B0}"/>
                </a:ext>
              </a:extLst>
            </p:cNvPr>
            <p:cNvSpPr txBox="1"/>
            <p:nvPr/>
          </p:nvSpPr>
          <p:spPr>
            <a:xfrm>
              <a:off x="1459210" y="4789641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추진 방향 및 전략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D096EF-B81D-361C-92C5-C8F2302B4692}"/>
                </a:ext>
              </a:extLst>
            </p:cNvPr>
            <p:cNvSpPr txBox="1"/>
            <p:nvPr/>
          </p:nvSpPr>
          <p:spPr>
            <a:xfrm>
              <a:off x="1459208" y="5455570"/>
              <a:ext cx="4051739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제안의 특징 및 기대 효과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9F17953E-00B4-4D2D-0FA7-2CAF27BDE76C}"/>
                </a:ext>
              </a:extLst>
            </p:cNvPr>
            <p:cNvGrpSpPr/>
            <p:nvPr/>
          </p:nvGrpSpPr>
          <p:grpSpPr>
            <a:xfrm>
              <a:off x="851451" y="4742918"/>
              <a:ext cx="503999" cy="432000"/>
              <a:chOff x="781765" y="3883420"/>
              <a:chExt cx="503999" cy="432000"/>
            </a:xfrm>
          </p:grpSpPr>
          <p:sp>
            <p:nvSpPr>
              <p:cNvPr id="45" name="모서리가 둥근 직사각형 42">
                <a:extLst>
                  <a:ext uri="{FF2B5EF4-FFF2-40B4-BE49-F238E27FC236}">
                    <a16:creationId xmlns:a16="http://schemas.microsoft.com/office/drawing/2014/main" id="{5FAAA2CC-D211-A545-B012-177F8814EC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3F1718-2668-6EF5-5638-128265E1B426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03</a:t>
                </a: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FEF0031-8E8E-C31D-FB6E-F00AD4ED5447}"/>
                </a:ext>
              </a:extLst>
            </p:cNvPr>
            <p:cNvGrpSpPr/>
            <p:nvPr/>
          </p:nvGrpSpPr>
          <p:grpSpPr>
            <a:xfrm>
              <a:off x="851451" y="5408849"/>
              <a:ext cx="503999" cy="432000"/>
              <a:chOff x="781765" y="4594620"/>
              <a:chExt cx="503999" cy="432000"/>
            </a:xfrm>
          </p:grpSpPr>
          <p:sp>
            <p:nvSpPr>
              <p:cNvPr id="43" name="모서리가 둥근 직사각형 40">
                <a:extLst>
                  <a:ext uri="{FF2B5EF4-FFF2-40B4-BE49-F238E27FC236}">
                    <a16:creationId xmlns:a16="http://schemas.microsoft.com/office/drawing/2014/main" id="{311552BF-9CD6-6E4A-F820-8DF12B8533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4F751A-32AD-8F2B-C7BD-F05046391E6C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04</a:t>
                </a:r>
              </a:p>
            </p:txBody>
          </p:sp>
        </p:grpSp>
        <p:cxnSp>
          <p:nvCxnSpPr>
            <p:cNvPr id="42" name="직선 연결선[R] 39">
              <a:extLst>
                <a:ext uri="{FF2B5EF4-FFF2-40B4-BE49-F238E27FC236}">
                  <a16:creationId xmlns:a16="http://schemas.microsoft.com/office/drawing/2014/main" id="{C9D25B4B-B9CD-3506-FB9D-BE08D50E423D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5291883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4506748B-58BE-B102-4F71-B7BFB5C948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8" y="5828261"/>
            <a:ext cx="2264355" cy="6150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/>
              <a:t>노바시온테크그룹의 핵심 </a:t>
            </a:r>
            <a:r>
              <a:rPr lang="en-US" altLang="ko-KR"/>
              <a:t>Azure </a:t>
            </a:r>
            <a:r>
              <a:rPr lang="ko-KR" altLang="en-US"/>
              <a:t>업무시스템을 안정적으로 운영하고</a:t>
            </a:r>
            <a:r>
              <a:rPr lang="en-US" altLang="ko-KR"/>
              <a:t>, </a:t>
            </a:r>
            <a:r>
              <a:rPr lang="ko-KR" altLang="en-US"/>
              <a:t>기술지원</a:t>
            </a:r>
            <a:r>
              <a:rPr lang="en-US" altLang="ko-KR"/>
              <a:t>·</a:t>
            </a:r>
            <a:r>
              <a:rPr lang="ko-KR" altLang="en-US"/>
              <a:t>보안</a:t>
            </a:r>
            <a:r>
              <a:rPr lang="en-US" altLang="ko-KR"/>
              <a:t>·</a:t>
            </a:r>
            <a:r>
              <a:rPr lang="ko-KR" altLang="en-US"/>
              <a:t>비용 관리 체계를 표준화합니다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사업 이해 및 제안 배경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사업 개요 및 제안 배경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사업 개요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892250"/>
              </p:ext>
            </p:extLst>
          </p:nvPr>
        </p:nvGraphicFramePr>
        <p:xfrm>
          <a:off x="484632" y="1645920"/>
          <a:ext cx="8933688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1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발주기관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노바시온테크그룹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문서번호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NST-AZMSP-2026-11 (Ver. 1.0)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사업명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노바시온테크그룹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MSP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및 기술지원 서비스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적용일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2026-10-27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계약기간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예상 사업규모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800,000,000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원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예산 기준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계약방식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제한경쟁입찰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협상에 의한 계약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제안 유효기간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제출 마감일로부터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60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평가방식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70 :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가격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30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개시일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2027-01-01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3163824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145535"/>
            <a:ext cx="8823960" cy="304800"/>
          </a:xfrm>
          <a:prstGeom prst="rect">
            <a:avLst/>
          </a:prstGeom>
          <a:noFill/>
        </p:spPr>
        <p:txBody>
          <a:bodyPr wrap="none" lIns="27432" tIns="0" rIns="27432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노바시온테크그룹은 산업용 소재</a:t>
            </a: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·</a:t>
            </a: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부품 제조 그룹이며</a:t>
            </a: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, 4</a:t>
            </a: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개 계열사의 </a:t>
            </a: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Azure </a:t>
            </a: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운영 표준화를 추진합니다</a:t>
            </a: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.</a:t>
            </a:r>
            <a:endParaRPr sz="105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84632" y="3419856"/>
            <a:ext cx="2151126" cy="11887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운영 연속성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• 기존 운영 체계에서 신규 MSP로의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  무중단 인수·전환이 최우선 과제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• 계정·권한 이관이 전체 일정의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  최우선 경로(Critical Path)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5486" y="3419856"/>
            <a:ext cx="2151126" cy="11887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기술지원 품질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• 서비스운영·기술지원이 기술평가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  100점 중 30점으로 최대 배점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• SR/장애 대응의 응답·해결 품질이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  사업 성패를 좌우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6340" y="3419856"/>
            <a:ext cx="2151126" cy="11887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보안·운영통제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• 보안·운영통제 18점, 그룹 보안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  정책 준수 요구(SEC 10건)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• 계정 권한 최소화 및 감사 추적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  체계 확보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7194" y="3419856"/>
            <a:ext cx="2151126" cy="11887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가시성·비용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• SLA·정기보고 15점 배점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• 운영 현황과 비용 사용을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  정량 지표로 가시화하는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  체계 요구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4718304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대상 환경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: 4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개 계열사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, 5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개 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Azure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구독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,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약 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120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개 주요 리소스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핵심 업무시스템의 운영 안정화와 표준 보안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비용 관리가 주요 과제입니다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</a:t>
            </a:r>
            <a:endParaRPr sz="800" b="1">
              <a:solidFill>
                <a:srgbClr val="C0502A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/>
              <a:t>요구사항 대응 범위와 제외 범위를 구분하고</a:t>
            </a:r>
            <a:r>
              <a:rPr lang="en-US" altLang="ko-KR"/>
              <a:t>, </a:t>
            </a:r>
            <a:r>
              <a:rPr lang="ko-KR" altLang="en-US"/>
              <a:t>책임 경계를 사전에 정의합니다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제안 범위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구축(제공) 범위 및 제외 범위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제공 범위 (In Scope)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79038"/>
              </p:ext>
            </p:extLst>
          </p:nvPr>
        </p:nvGraphicFramePr>
        <p:xfrm>
          <a:off x="484632" y="1645920"/>
          <a:ext cx="8933688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영역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주요 제공 서비스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관련 요구사항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운영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SVC)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 운영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SR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처리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 문의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카탈로그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SVC-001~010 (10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OPS)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알람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백업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복구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패치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점검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OPS-001~012 (12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SEC)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접근통제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로그 수집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감사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정책 준수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취약점 대응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SEC-001~010 (10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거버넌스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GOV)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보고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협의체 운영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산출물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GOV-001~007 (7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FIN)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모니터링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사용량 분석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최적화 권고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요구사항 코드 비식별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(3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TRN)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인수인계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문서화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기술이전 교육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계약 종료 시 이관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TRN-001~003 (3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공통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MST/GEN)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관리 체계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수행 조직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일반 요구사항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MST 3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GEN 5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422452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20624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제외 범위 (Out of Scope)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4480560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라이선스 판매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Azure 구독료 및 소프트웨어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라이선스 구매 대행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5486" y="4480560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응용 애플리케이션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업무 애플리케이션 소스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개발·수정 및 기능 개선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6340" y="4480560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신규 시스템 구축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신규 인프라 설계·구축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(별도 사업으로 분리)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7194" y="4480560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온프레미스 설비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데이터센터 물리 설비 및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네트워크 회선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5248656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502A"/>
                </a:solidFill>
                <a:latin typeface="Pretendard"/>
              </a:rPr>
              <a:t>[확인 필요] 상주·현장지원(가격 구성 3번) 필수 여부·인원·등급·근무지, 네트워크 운영 범위가 RFP에 명시되지 않아 제안 범위 확정을 위한 고객 확인이 필요합니다.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t>'안전한 인수 → 표준 운영체계 확립 → 정량 관리 → 지속 개선'의 4단계 전략으로 계약 1년 내 서비스 수준을 단계적으로 고도화합니다.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추진 방향 및 전략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4대 추진 전략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389888"/>
            <a:ext cx="2082545" cy="64008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① 무중단 인수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Transition-In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85466" y="1636776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68346" y="1389888"/>
            <a:ext cx="2082545" cy="6400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03378"/>
                </a:solidFill>
                <a:latin typeface="Pretendard"/>
              </a:rPr>
              <a:t>② 표준 운영체계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003378"/>
                </a:solidFill>
                <a:latin typeface="Pretendard"/>
              </a:rPr>
              <a:t>확립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9179" y="1636776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52060" y="1389888"/>
            <a:ext cx="2082545" cy="6400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03378"/>
                </a:solidFill>
                <a:latin typeface="Pretendard"/>
              </a:rPr>
              <a:t>③ SLA 기반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003378"/>
                </a:solidFill>
                <a:latin typeface="Pretendard"/>
              </a:rPr>
              <a:t>정량 관리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52894" y="1636776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35773" y="1389888"/>
            <a:ext cx="2082545" cy="6400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03378"/>
                </a:solidFill>
                <a:latin typeface="Pretendard"/>
              </a:rPr>
              <a:t>④ 지속 개선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003378"/>
                </a:solidFill>
                <a:latin typeface="Pretendard"/>
              </a:rPr>
              <a:t>·최적화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206718"/>
              </p:ext>
            </p:extLst>
          </p:nvPr>
        </p:nvGraphicFramePr>
        <p:xfrm>
          <a:off x="484632" y="2139696"/>
          <a:ext cx="8933688" cy="2103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전략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추진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실행 방안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연계 단계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① 무중단 인수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 자산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문서의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누락 없는 인수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환경 실사 → 인수 체크리스트 → 병행 운영 → 인수 완료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P2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② 표준 운영체계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프로세스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도구의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표준화 및 자동화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변경관리 프로세스 정의 및 도구 구성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P3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③ 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정량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합의된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지표 기반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수준 측정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지표 정의 → 대시보드 구성 → 월간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P4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④ 지속 개선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데이터 기반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개선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원인 분석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최적화 권고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점검 개선 과제 도출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P5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84632" y="4334256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315968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전략 수행 원칙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4590288"/>
            <a:ext cx="2151126" cy="60350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검증 후 전환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인수 체크리스트 100%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확인 전 전환 미승인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5486" y="4590288"/>
            <a:ext cx="2151126" cy="60350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문서화 우선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모든 운영 활동은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문서·티켓으로 추적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06340" y="4590288"/>
            <a:ext cx="2151126" cy="60350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최소 권한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역할 기반 최소 권한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부여 및 정기 재검토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7194" y="4590288"/>
            <a:ext cx="2151126" cy="60350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데이터 기반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추정이 아닌 측정값으로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개선 과제 도출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t>기술 요소를 기능 나열이 아닌 '기술 → 특장점 → 고객 가치'의 관계로 제안하여 고객이 체감하는 운영 품질 향상을 제시합니다.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제안의 특징 및 기대 효과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제안 특징과 고객 가치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제안 특징 — 기술 / 특장점 / 고객 가치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026961"/>
              </p:ext>
            </p:extLst>
          </p:nvPr>
        </p:nvGraphicFramePr>
        <p:xfrm>
          <a:off x="484632" y="1645920"/>
          <a:ext cx="8933688" cy="28163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적용 기술 </a:t>
                      </a:r>
                      <a:r>
                        <a:rPr lang="en-US" altLang="ko-KR" sz="819" b="1">
                          <a:solidFill>
                            <a:srgbClr val="FFFFFF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방식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특장점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고객 가치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Microsoft Entra ID + RBAC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기반 권한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역할 기반 최소 권한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요청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승인 이력 자동 기록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오남용 위험 감소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감사 대응 시간 단축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Monitor / Log Analytics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통합 모니터링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인프라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플랫폼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로그를 단일 작업영역에서 상관 분석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원인 파악 구간 단축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중복 도구 운영 비용 절감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티켓 기반 서비스데스크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(SR·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단일 창구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접수부터 종결까지 이력 일원화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자동 측정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 누락 방지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수준의 객관적 검증 가능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표준 변경관리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(RFC·CAB)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프로세스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영향도 사전 평가 및 롤백 계획 의무화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변경으로 인한 장애 발생 억제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안정성 확보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Cost Management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기반 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FinOps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리소스 단위 사용량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가시화 및 유휴 자원 식별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근거 기반 비용 절감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예산 초과 사전 경보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문서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·Runbook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상시 최신화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담당자 변경에도 동일 품질 유지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계약 종료 시 즉시 이관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특정 인력 의존도 해소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종속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(Lock-in)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위험 제거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4553712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535424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기대 효과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4809744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운영 안정성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표준 프로세스와 온콜 체계로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장애 대응의 예측 가능성 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5486" y="4809744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보안 통제력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최소 권한·감사 로그로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그룹 보안 정책 준수 입증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6340" y="4809744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운영 가시성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SLA·비용·보안 지표를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정기 보고로 상시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7194" y="4809744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기술 내재화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기술이전 교육과 문서로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고객 자체 운영 역량 축적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5577840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502A"/>
                </a:solidFill>
                <a:latin typeface="Pretendard"/>
              </a:rPr>
              <a:t>본 제안서의 기대 효과는 정성적 개선 방향이며, 정량 목표치는 SLA 합의 후 확정합니다. 근거 없는 수치는 제시하지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8C7F482-0306-B981-2FF4-1D070492B489}"/>
              </a:ext>
            </a:extLst>
          </p:cNvPr>
          <p:cNvSpPr/>
          <p:nvPr/>
        </p:nvSpPr>
        <p:spPr>
          <a:xfrm>
            <a:off x="151140" y="1738237"/>
            <a:ext cx="742950" cy="742950"/>
          </a:xfrm>
          <a:prstGeom prst="roundRect">
            <a:avLst/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8B32F-DD91-6A58-8331-94300C460723}"/>
              </a:ext>
            </a:extLst>
          </p:cNvPr>
          <p:cNvSpPr txBox="1"/>
          <p:nvPr/>
        </p:nvSpPr>
        <p:spPr>
          <a:xfrm>
            <a:off x="1078620" y="1572068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>
                <a:solidFill>
                  <a:srgbClr val="1A1A1A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제안사 현황</a:t>
            </a:r>
            <a:endParaRPr lang="en-US" altLang="ko-KR" sz="6500">
              <a:solidFill>
                <a:srgbClr val="1A1A1A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553572-B5C2-6FB6-DF98-515964AC5BDE}"/>
              </a:ext>
            </a:extLst>
          </p:cNvPr>
          <p:cNvSpPr txBox="1"/>
          <p:nvPr/>
        </p:nvSpPr>
        <p:spPr>
          <a:xfrm>
            <a:off x="1128989" y="1445901"/>
            <a:ext cx="258023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ko-KR" sz="1138" b="0">
                <a:ln w="6350">
                  <a:noFill/>
                </a:ln>
                <a:solidFill>
                  <a:srgbClr val="1A1A1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Your Trusted Partner in Azure MSP</a:t>
            </a:r>
            <a:endParaRPr lang="ko-KR" altLang="ko-KR" sz="1138" b="0">
              <a:ln w="6350">
                <a:noFill/>
              </a:ln>
              <a:solidFill>
                <a:srgbClr val="1A1A1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9D6D44C-19AD-9447-1513-9195A065B8BF}"/>
              </a:ext>
            </a:extLst>
          </p:cNvPr>
          <p:cNvSpPr/>
          <p:nvPr/>
        </p:nvSpPr>
        <p:spPr>
          <a:xfrm rot="18900000">
            <a:off x="804006" y="2034181"/>
            <a:ext cx="151063" cy="151063"/>
          </a:xfrm>
          <a:prstGeom prst="roundRect">
            <a:avLst>
              <a:gd name="adj" fmla="val 1013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B19AD1-5574-89BC-EE53-53E412D78D7D}"/>
              </a:ext>
            </a:extLst>
          </p:cNvPr>
          <p:cNvSpPr txBox="1"/>
          <p:nvPr/>
        </p:nvSpPr>
        <p:spPr bwMode="gray">
          <a:xfrm>
            <a:off x="151140" y="1734610"/>
            <a:ext cx="742951" cy="7502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/>
            <a:r>
              <a:rPr lang="en-US" altLang="ko-KR" sz="4875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Ⅱ</a:t>
            </a:r>
            <a:endParaRPr lang="ko-KR" altLang="en-US" sz="4875" b="1" dirty="0">
              <a:solidFill>
                <a:schemeClr val="bg1"/>
              </a:solidFill>
            </a:endParaRPr>
          </a:p>
        </p:txBody>
      </p:sp>
      <p:sp>
        <p:nvSpPr>
          <p:cNvPr id="30" name="양쪽 모서리가 둥근 사각형 19">
            <a:extLst>
              <a:ext uri="{FF2B5EF4-FFF2-40B4-BE49-F238E27FC236}">
                <a16:creationId xmlns:a16="http://schemas.microsoft.com/office/drawing/2014/main" id="{2B950893-DDDC-A9C4-D8DB-389276C3C9B3}"/>
              </a:ext>
            </a:extLst>
          </p:cNvPr>
          <p:cNvSpPr/>
          <p:nvPr/>
        </p:nvSpPr>
        <p:spPr>
          <a:xfrm rot="5400000">
            <a:off x="1111500" y="1789089"/>
            <a:ext cx="2457000" cy="468000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5D7AD7-A462-382F-B431-FFEA5E5643A6}"/>
              </a:ext>
            </a:extLst>
          </p:cNvPr>
          <p:cNvGrpSpPr/>
          <p:nvPr/>
        </p:nvGrpSpPr>
        <p:grpSpPr>
          <a:xfrm>
            <a:off x="691804" y="3141987"/>
            <a:ext cx="3785841" cy="1974208"/>
            <a:chOff x="851451" y="3411056"/>
            <a:chExt cx="4659496" cy="242979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321F90-EF26-1DB0-3589-A4750D005EDD}"/>
                </a:ext>
              </a:extLst>
            </p:cNvPr>
            <p:cNvSpPr txBox="1"/>
            <p:nvPr/>
          </p:nvSpPr>
          <p:spPr>
            <a:xfrm>
              <a:off x="1459210" y="3457778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제안사 일반현황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3D1A78-F62D-169E-8B69-B9209556EAB8}"/>
                </a:ext>
              </a:extLst>
            </p:cNvPr>
            <p:cNvSpPr txBox="1"/>
            <p:nvPr/>
          </p:nvSpPr>
          <p:spPr>
            <a:xfrm>
              <a:off x="1459210" y="4123709"/>
              <a:ext cx="2747102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조직 및 인력 구성 현황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34A128F-9588-A2F9-D76E-223002CBC69A}"/>
                </a:ext>
              </a:extLst>
            </p:cNvPr>
            <p:cNvGrpSpPr/>
            <p:nvPr/>
          </p:nvGrpSpPr>
          <p:grpSpPr>
            <a:xfrm>
              <a:off x="851451" y="3411056"/>
              <a:ext cx="503999" cy="432000"/>
              <a:chOff x="781765" y="3883420"/>
              <a:chExt cx="503999" cy="432000"/>
            </a:xfrm>
          </p:grpSpPr>
          <p:sp>
            <p:nvSpPr>
              <p:cNvPr id="49" name="모서리가 둥근 직사각형 46">
                <a:extLst>
                  <a:ext uri="{FF2B5EF4-FFF2-40B4-BE49-F238E27FC236}">
                    <a16:creationId xmlns:a16="http://schemas.microsoft.com/office/drawing/2014/main" id="{5AA5BBD6-6128-C12D-23E3-DC5DD6A0A4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F5D401-FAC2-5F38-6F5C-38582790AF37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01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3A6F54D-04CB-3509-3AFF-50DAB1FF49B7}"/>
                </a:ext>
              </a:extLst>
            </p:cNvPr>
            <p:cNvGrpSpPr/>
            <p:nvPr/>
          </p:nvGrpSpPr>
          <p:grpSpPr>
            <a:xfrm>
              <a:off x="851451" y="4076987"/>
              <a:ext cx="503999" cy="432000"/>
              <a:chOff x="781765" y="4594620"/>
              <a:chExt cx="503999" cy="432000"/>
            </a:xfrm>
          </p:grpSpPr>
          <p:sp>
            <p:nvSpPr>
              <p:cNvPr id="47" name="모서리가 둥근 직사각형 44">
                <a:extLst>
                  <a:ext uri="{FF2B5EF4-FFF2-40B4-BE49-F238E27FC236}">
                    <a16:creationId xmlns:a16="http://schemas.microsoft.com/office/drawing/2014/main" id="{B6433F84-DC82-665E-8045-00A3F8E94C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CE87E2-FC4E-889A-D0B1-A090E56C27D7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02</a:t>
                </a:r>
              </a:p>
            </p:txBody>
          </p:sp>
        </p:grpSp>
        <p:cxnSp>
          <p:nvCxnSpPr>
            <p:cNvPr id="36" name="직선 연결선[R] 33">
              <a:extLst>
                <a:ext uri="{FF2B5EF4-FFF2-40B4-BE49-F238E27FC236}">
                  <a16:creationId xmlns:a16="http://schemas.microsoft.com/office/drawing/2014/main" id="{2920F377-A3DA-9756-444D-11DD4B634EAA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96002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4">
              <a:extLst>
                <a:ext uri="{FF2B5EF4-FFF2-40B4-BE49-F238E27FC236}">
                  <a16:creationId xmlns:a16="http://schemas.microsoft.com/office/drawing/2014/main" id="{E9DA991F-3F77-250E-3152-0C73FEAA7875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62595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D38E695-3CDC-19A6-03CC-A252822153B0}"/>
                </a:ext>
              </a:extLst>
            </p:cNvPr>
            <p:cNvSpPr txBox="1"/>
            <p:nvPr/>
          </p:nvSpPr>
          <p:spPr>
            <a:xfrm>
              <a:off x="1459210" y="4789641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Azure MSP 수행 역량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D096EF-B81D-361C-92C5-C8F2302B4692}"/>
                </a:ext>
              </a:extLst>
            </p:cNvPr>
            <p:cNvSpPr txBox="1"/>
            <p:nvPr/>
          </p:nvSpPr>
          <p:spPr>
            <a:xfrm>
              <a:off x="1459208" y="5455570"/>
              <a:ext cx="4051739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유사 프로젝트 수행 실적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9F17953E-00B4-4D2D-0FA7-2CAF27BDE76C}"/>
                </a:ext>
              </a:extLst>
            </p:cNvPr>
            <p:cNvGrpSpPr/>
            <p:nvPr/>
          </p:nvGrpSpPr>
          <p:grpSpPr>
            <a:xfrm>
              <a:off x="851451" y="4742918"/>
              <a:ext cx="503999" cy="432000"/>
              <a:chOff x="781765" y="3883420"/>
              <a:chExt cx="503999" cy="432000"/>
            </a:xfrm>
          </p:grpSpPr>
          <p:sp>
            <p:nvSpPr>
              <p:cNvPr id="45" name="모서리가 둥근 직사각형 42">
                <a:extLst>
                  <a:ext uri="{FF2B5EF4-FFF2-40B4-BE49-F238E27FC236}">
                    <a16:creationId xmlns:a16="http://schemas.microsoft.com/office/drawing/2014/main" id="{5FAAA2CC-D211-A545-B012-177F8814EC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3F1718-2668-6EF5-5638-128265E1B426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03</a:t>
                </a: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FEF0031-8E8E-C31D-FB6E-F00AD4ED5447}"/>
                </a:ext>
              </a:extLst>
            </p:cNvPr>
            <p:cNvGrpSpPr/>
            <p:nvPr/>
          </p:nvGrpSpPr>
          <p:grpSpPr>
            <a:xfrm>
              <a:off x="851451" y="5408849"/>
              <a:ext cx="503999" cy="432000"/>
              <a:chOff x="781765" y="4594620"/>
              <a:chExt cx="503999" cy="432000"/>
            </a:xfrm>
          </p:grpSpPr>
          <p:sp>
            <p:nvSpPr>
              <p:cNvPr id="43" name="모서리가 둥근 직사각형 40">
                <a:extLst>
                  <a:ext uri="{FF2B5EF4-FFF2-40B4-BE49-F238E27FC236}">
                    <a16:creationId xmlns:a16="http://schemas.microsoft.com/office/drawing/2014/main" id="{311552BF-9CD6-6E4A-F820-8DF12B8533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4F751A-32AD-8F2B-C7BD-F05046391E6C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04</a:t>
                </a:r>
              </a:p>
            </p:txBody>
          </p:sp>
        </p:grpSp>
        <p:cxnSp>
          <p:nvCxnSpPr>
            <p:cNvPr id="42" name="직선 연결선[R] 39">
              <a:extLst>
                <a:ext uri="{FF2B5EF4-FFF2-40B4-BE49-F238E27FC236}">
                  <a16:creationId xmlns:a16="http://schemas.microsoft.com/office/drawing/2014/main" id="{C9D25B4B-B9CD-3506-FB9D-BE08D50E423D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5291883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그림 6" descr="물, 일렉트릭 블루, 빛, 마조렐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682ADD-D867-8178-7A59-BCF19D34D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8" y="652909"/>
            <a:ext cx="4333882" cy="55721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D825459-7ED0-06AC-A4C0-9DC41917E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437" y="642937"/>
            <a:ext cx="1960563" cy="196056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DE881E7-E15E-55DE-47DF-1CDC208E60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8582" y="5675861"/>
            <a:ext cx="2264355" cy="6150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/>
              <a:t>아르케온클라우드는 </a:t>
            </a:r>
            <a:r>
              <a:rPr lang="en-US" altLang="ko-KR"/>
              <a:t>Azure </a:t>
            </a:r>
            <a:r>
              <a:rPr lang="ko-KR" altLang="en-US"/>
              <a:t>기반 클라우드 구축 및 매니지드 서비스를 전문으로 수행하는 클라우드 서비스 전문 기업입니다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제안사 일반현황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회사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회사 개요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08942"/>
              </p:ext>
            </p:extLst>
          </p:nvPr>
        </p:nvGraphicFramePr>
        <p:xfrm>
          <a:off x="484632" y="1645920"/>
          <a:ext cx="8933688" cy="1975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0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회사명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아르케온클라우드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주식회사 아르케온클라우드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주요 사업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Microsoft Azure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클라우드 구축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매니지드 서비스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(MSP) 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클라우드 기술지원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DR·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이중화 구축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핵심 역량 조직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Cloud Infrastructure(CI)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팀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—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클라우드 구축 및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MSP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전담 조직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총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30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명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포지셔닝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LEADING CLOUD PARTNER FOR AI INNOVATION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기타 일반현황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설립일</a:t>
                      </a:r>
                      <a:r>
                        <a:rPr lang="en-US" altLang="ko-KR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자본금</a:t>
                      </a:r>
                      <a:r>
                        <a:rPr lang="en-US" altLang="ko-KR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매출 등 재무 현황은 제출 서류</a:t>
                      </a:r>
                      <a:r>
                        <a:rPr lang="en-US" altLang="ko-KR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사업자등록증</a:t>
                      </a:r>
                      <a:r>
                        <a:rPr lang="en-US" altLang="ko-KR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재무제표</a:t>
                      </a:r>
                      <a:r>
                        <a:rPr lang="en-US" altLang="ko-KR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r>
                        <a:rPr lang="ko-KR" altLang="en-US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로 별도 제출 </a:t>
                      </a:r>
                      <a:r>
                        <a:rPr lang="en-US" altLang="ko-KR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[</a:t>
                      </a:r>
                      <a:r>
                        <a:rPr lang="ko-KR" altLang="en-US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확인 필요</a:t>
                      </a:r>
                      <a:r>
                        <a:rPr lang="en-US" altLang="ko-KR" sz="819" b="0" dirty="0">
                          <a:solidFill>
                            <a:srgbClr val="595959"/>
                          </a:solidFill>
                          <a:latin typeface="Pretendard"/>
                        </a:rPr>
                        <a:t>]</a:t>
                      </a:r>
                      <a:endParaRPr sz="819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3712463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694176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본 사업 수행 관점의 제안사 강점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3968496"/>
            <a:ext cx="2151126" cy="10972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Azure 전문 집중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Azure 단일 플랫폼에 집중한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구축·운영 전문 조직 보유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→ 멀티 플랫폼 분산 없는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   기술 깊이 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5486" y="3968496"/>
            <a:ext cx="2151126" cy="10972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구축·운영 통합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구축 경험을 보유한 인력이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운영을 수행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→ 장애 시 구조적 원인까지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   추적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6340" y="3968496"/>
            <a:ext cx="2151126" cy="10972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복잡한 운영 환경 경험</a:t>
            </a:r>
          </a:p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다양한 서비스 환경</a:t>
            </a:r>
          </a:p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고가용성</a:t>
            </a:r>
            <a:r>
              <a:rPr lang="en-US" altLang="ko-KR" sz="950" b="1">
                <a:solidFill>
                  <a:srgbClr val="003378"/>
                </a:solidFill>
                <a:latin typeface="Pretendard"/>
              </a:rPr>
              <a:t>·</a:t>
            </a:r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고보안 환경</a:t>
            </a:r>
          </a:p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운영 수행 경험 보유</a:t>
            </a:r>
            <a:endParaRPr sz="800" b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67194" y="3968496"/>
            <a:ext cx="2151126" cy="10972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등급별 인력 체계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SW기술자 노임단가 기준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특급~초급 인력 체계 운영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→ 요구 난이도에 맞는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   투입 등급 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/>
              <a:t>CI</a:t>
            </a:r>
            <a:r>
              <a:rPr lang="ko-KR" altLang="en-US"/>
              <a:t>팀 </a:t>
            </a:r>
            <a:r>
              <a:rPr lang="en-US" altLang="ko-KR"/>
              <a:t>20</a:t>
            </a:r>
            <a:r>
              <a:rPr lang="ko-KR" altLang="en-US"/>
              <a:t>명을 구축</a:t>
            </a:r>
            <a:r>
              <a:rPr lang="en-US" altLang="ko-KR"/>
              <a:t>·</a:t>
            </a:r>
            <a:r>
              <a:rPr lang="ko-KR" altLang="en-US"/>
              <a:t>운영 영역으로 나누어 등급별 현황을 제시합니다</a:t>
            </a:r>
            <a:r>
              <a:rPr lang="en-US" altLang="ko-KR"/>
              <a:t>. </a:t>
            </a:r>
            <a:r>
              <a:rPr lang="ko-KR" altLang="en-US"/>
              <a:t>타 사업 배정 인원은 별도 확인 항목으로 관리합니다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조직 및 인력 구성 현황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ko-KR"/>
              <a:t>1) CI</a:t>
            </a:r>
            <a:r>
              <a:rPr lang="ko-KR" altLang="en-US"/>
              <a:t>팀 인력 현황 및 구축</a:t>
            </a:r>
            <a:r>
              <a:rPr lang="en-US" altLang="ko-KR"/>
              <a:t>·</a:t>
            </a:r>
            <a:r>
              <a:rPr lang="ko-KR" altLang="en-US"/>
              <a:t>운영 영역별 등급 분포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CI</a:t>
            </a: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팀 인력 구성 현황</a:t>
            </a:r>
            <a:endParaRPr sz="1050" b="1">
              <a:solidFill>
                <a:srgbClr val="003378"/>
              </a:solidFill>
              <a:latin typeface="Pretendard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437323"/>
              </p:ext>
            </p:extLst>
          </p:nvPr>
        </p:nvGraphicFramePr>
        <p:xfrm>
          <a:off x="484632" y="1645920"/>
          <a:ext cx="8933688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216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특급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고급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중급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초급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합계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비고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구축 영역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5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2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11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아키텍처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플랫폼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영역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0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0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9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·FinOps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타 사업 수행 중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확인 필요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확인 필요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확인 필요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확인 필요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미집계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현재 배정상태 자료 없음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CI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팀 전체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8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8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20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인력관리 기준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;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타 사업 배정 미반영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3200400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등급 체계 및 운영 원칙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3456432"/>
            <a:ext cx="2151126" cy="8229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등급 기준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SW기술자 노임단가 기준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특급 / 고급 / 중급 / 초급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4단계 등급 체계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5486" y="3456432"/>
            <a:ext cx="2151126" cy="8229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전담 배정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본 사업 투입 인력은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타 사업과 중복 배정하지 않는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전담 인력으로 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6340" y="3456432"/>
            <a:ext cx="2151126" cy="8229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백업 체계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핵심 역할(PM·아키텍트·DM)은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동등 등급 대체 인력을 지정하여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공백 없는 운영 보장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7194" y="3456432"/>
            <a:ext cx="2151126" cy="8229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역량 유지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정기 기술 교육 및 운영 사례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공유를 통해 팀 전체의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기술 수준 상향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4389120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구축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운영 분류는 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CI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팀 직무명을 기준으로 집계했습니다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현재 타 사업 배정 정보는 인력관리 자료에 없어 별도 확인 후 실제 투입 가능 인원을 확정합니다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</a:t>
            </a:r>
            <a:endParaRPr sz="800" b="1">
              <a:solidFill>
                <a:srgbClr val="C0502A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t>구축(Build)과 운영(Run)을 아우르는 통합 역량을 보유하여, 운영 중 발생하는 구조적 문제까지 근본 해결이 가능합니다.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Azure MSP 수행 역량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서비스 영역별 수행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Azure 서비스 영역별 수행 역량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226431"/>
              </p:ext>
            </p:extLst>
          </p:nvPr>
        </p:nvGraphicFramePr>
        <p:xfrm>
          <a:off x="484632" y="1645920"/>
          <a:ext cx="8933688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7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영역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보유 역량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본 사업 적용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Compute / Platform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Virtual Machines, App Service, AKS(Kubernetes)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구축 및 운영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대상 워크로드 유형별 표준 운영 절차 적용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Network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VNet, Load Balancer, Application Gateway, ExpressRoute/VPN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연계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네트워크 구성 점검 및 연계 구간 장애 대응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Identity / Security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Microsoft Entra ID, RBAC, Key Vault, Defender for Cloud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관리 및 보안 통제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(SEC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10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대응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Monitoring / Ops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Monitor, Log Analytics, Alert Rule, Automation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통합 모니터링 및 알람 체계 구성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(OPS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12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대응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Backup / DR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Backup, Site Recovery,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이중화 및 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DR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운영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백업 정상성 점검 및 복구 절차 검증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Cost / Governance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Cost Management, Policy, Management Group, Tag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체계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가시화 및 거버넌스 정책 준수 점검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4425696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407408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수행 역량의 차별점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4681728"/>
            <a:ext cx="2904743" cy="77724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Build + Run 통합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구축 이력을 보유한 아키텍트가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운영 에스컬레이션에 직접 참여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→ 증상 대응이 아닌 원인 해결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9103" y="4681728"/>
            <a:ext cx="2904743" cy="77724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고가용성 환경 경험</a:t>
            </a:r>
          </a:p>
          <a:p>
            <a:pPr algn="ctr"/>
            <a:r>
              <a:rPr lang="en-US" altLang="ko-KR" sz="950" b="1">
                <a:solidFill>
                  <a:srgbClr val="003378"/>
                </a:solidFill>
                <a:latin typeface="Pretendard"/>
              </a:rPr>
              <a:t>K8s DR, </a:t>
            </a:r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이중화</a:t>
            </a:r>
            <a:r>
              <a:rPr lang="en-US" altLang="ko-KR" sz="950" b="1">
                <a:solidFill>
                  <a:srgbClr val="003378"/>
                </a:solidFill>
                <a:latin typeface="Pretendard"/>
              </a:rPr>
              <a:t>, </a:t>
            </a:r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복잡한 서비스</a:t>
            </a:r>
          </a:p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무중단 요건 환경의 운영</a:t>
            </a:r>
          </a:p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경험을 본 사업에 적용</a:t>
            </a:r>
            <a:endParaRPr sz="850" b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13576" y="4681728"/>
            <a:ext cx="2904743" cy="77724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표준화된 운영 자산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점검 체크리스트, Runbook,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보고 양식 등 검증된 운영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자산을 초기부터 적용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금융</a:t>
            </a:r>
            <a:r>
              <a:rPr lang="en-US" altLang="ko-KR" dirty="0"/>
              <a:t>·</a:t>
            </a:r>
            <a:r>
              <a:rPr lang="ko-KR" altLang="en-US" dirty="0"/>
              <a:t>제조 등 높은 가용성과 보안 수준이 요구되는 환경에서 클라우드 구축 및 운영을 수행하고 있습니다</a:t>
            </a:r>
            <a:r>
              <a:rPr lang="en-US" altLang="ko-KR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유사 프로젝트 수행 실적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유사 프로젝트 수행 사례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유사 프로젝트 수행 실적</a:t>
            </a:r>
            <a:endParaRPr sz="1050" b="1">
              <a:solidFill>
                <a:srgbClr val="003378"/>
              </a:solidFill>
              <a:latin typeface="Pretendard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580670"/>
              </p:ext>
            </p:extLst>
          </p:nvPr>
        </p:nvGraphicFramePr>
        <p:xfrm>
          <a:off x="484632" y="1645920"/>
          <a:ext cx="8933687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수행 내용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 dirty="0">
                          <a:solidFill>
                            <a:srgbClr val="FFFFFF"/>
                          </a:solidFill>
                          <a:latin typeface="Pretendard"/>
                        </a:rPr>
                        <a:t>투입 인원</a:t>
                      </a:r>
                      <a:endParaRPr sz="819" b="1" dirty="0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본 사업 연관성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rgbClr val="595959"/>
                          </a:solidFill>
                          <a:latin typeface="Pretendard"/>
                        </a:rPr>
                        <a:t>에버필드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 제조그룹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Azure MSP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통합운영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: 5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개 구독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·120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개 리소스의 모니터링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장애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변경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백업 운영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명 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다중 구독 운영통제와 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기반 서비스 운영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rgbClr val="595959"/>
                          </a:solidFill>
                          <a:latin typeface="Pretendard"/>
                        </a:rPr>
                        <a:t>루미노아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 유통 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Landing Zone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구축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: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관리그룹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구독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정책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네트워크 표준과 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35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개 워크로드 전환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6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명 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플랫폼 표준화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IaC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및 단계적 전환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rgbClr val="595959"/>
                          </a:solidFill>
                          <a:latin typeface="Pretendard"/>
                        </a:rPr>
                        <a:t>세라노바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 소재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하이브리드 네트워크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보안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: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주소계획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DNS,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라우팅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방화벽 기준 정비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4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명 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R6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네트워크 운영과 보안 경계 관리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rgbClr val="595959"/>
                          </a:solidFill>
                          <a:latin typeface="Pretendard"/>
                        </a:rPr>
                        <a:t>브릭웨이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 정밀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Azure DevOps·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배포 자동화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: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파이프라인과 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IaC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모듈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검증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롤백 절차 구축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5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명 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표준 배포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변경관리 및 구성 일관성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rgbClr val="595959"/>
                          </a:solidFill>
                          <a:latin typeface="Pretendard"/>
                        </a:rPr>
                        <a:t>오르빗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 물류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모니터링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백업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복구 개선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: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경보 기준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복구 절차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복구훈련 체계화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5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명 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서비스 연속성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로그 기반 장애 분석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rgbClr val="595959"/>
                          </a:solidFill>
                          <a:latin typeface="Pretendard"/>
                        </a:rPr>
                        <a:t>모자이크테크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 그룹 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FinOps·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거버넌스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: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태그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예산 기준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사용량 분석</a:t>
                      </a:r>
                      <a:r>
                        <a:rPr lang="en-US" altLang="ko-KR" sz="800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595959"/>
                          </a:solidFill>
                          <a:latin typeface="Pretendard"/>
                        </a:rPr>
                        <a:t>최적화 검토 체계 구축</a:t>
                      </a:r>
                      <a:endParaRPr sz="80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명 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비용 가시화</a:t>
                      </a:r>
                      <a:r>
                        <a:rPr lang="en-US" altLang="ko-KR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595959"/>
                          </a:solidFill>
                          <a:latin typeface="Pretendard"/>
                        </a:rPr>
                        <a:t>정책 준수와 최적화 운영</a:t>
                      </a:r>
                      <a:endParaRPr sz="800" b="0" dirty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84632" y="4370832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4352544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실적을 통한 본 사업 적용 포인트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4626864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검증된 운영 프로세스</a:t>
            </a:r>
          </a:p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표준 변경관리</a:t>
            </a:r>
            <a:r>
              <a:rPr lang="en-US" altLang="ko-KR" sz="950" b="1">
                <a:solidFill>
                  <a:srgbClr val="003378"/>
                </a:solidFill>
                <a:latin typeface="Pretendard"/>
              </a:rPr>
              <a:t>·</a:t>
            </a:r>
          </a:p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승인 절차를 운영 환경에 적용</a:t>
            </a:r>
            <a:endParaRPr sz="800" b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45486" y="4626864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장애 대응 숙련도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무중단 요구 환경에서의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장애 등급 체계 및 온콜 운영 경험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6340" y="4626864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보안 통제 경험</a:t>
            </a:r>
          </a:p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보안 통제 기준에 따라</a:t>
            </a:r>
          </a:p>
          <a:p>
            <a:pPr algn="ctr"/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축적한 계정</a:t>
            </a:r>
            <a:r>
              <a:rPr lang="en-US" altLang="ko-KR" sz="950" b="1">
                <a:solidFill>
                  <a:srgbClr val="003378"/>
                </a:solidFill>
                <a:latin typeface="Pretendard"/>
              </a:rPr>
              <a:t>·</a:t>
            </a:r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로그 통제 노하우</a:t>
            </a:r>
            <a:endParaRPr sz="800" b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267194" y="4626864"/>
            <a:ext cx="2151126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이관 경험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운영 인수·이관 경험을 통한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무중단 Transition-In 수행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91FC5A3-9D93-FB16-BAA4-300F70E789FF}"/>
              </a:ext>
            </a:extLst>
          </p:cNvPr>
          <p:cNvSpPr/>
          <p:nvPr/>
        </p:nvSpPr>
        <p:spPr>
          <a:xfrm>
            <a:off x="151140" y="1441148"/>
            <a:ext cx="936000" cy="742950"/>
          </a:xfrm>
          <a:prstGeom prst="roundRect">
            <a:avLst>
              <a:gd name="adj" fmla="val 1409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19" name="양쪽 모서리가 둥근 사각형 18">
            <a:extLst>
              <a:ext uri="{FF2B5EF4-FFF2-40B4-BE49-F238E27FC236}">
                <a16:creationId xmlns:a16="http://schemas.microsoft.com/office/drawing/2014/main" id="{539B3F97-085F-D72B-987C-FAC7D5DE38E1}"/>
              </a:ext>
            </a:extLst>
          </p:cNvPr>
          <p:cNvSpPr/>
          <p:nvPr/>
        </p:nvSpPr>
        <p:spPr>
          <a:xfrm rot="5400000">
            <a:off x="850239" y="1753262"/>
            <a:ext cx="2979524" cy="468000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AD00C-D460-2823-90EB-E369BD010162}"/>
              </a:ext>
            </a:extLst>
          </p:cNvPr>
          <p:cNvSpPr txBox="1"/>
          <p:nvPr/>
        </p:nvSpPr>
        <p:spPr>
          <a:xfrm>
            <a:off x="1263148" y="1274978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 dirty="0">
                <a:solidFill>
                  <a:srgbClr val="1A1A1A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기술 부문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0F13C-CD8A-8C94-8FD3-81A6044F7DFB}"/>
              </a:ext>
            </a:extLst>
          </p:cNvPr>
          <p:cNvSpPr txBox="1"/>
          <p:nvPr/>
        </p:nvSpPr>
        <p:spPr>
          <a:xfrm>
            <a:off x="1313516" y="1148812"/>
            <a:ext cx="258023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ko-KR" sz="1138" b="0" dirty="0">
                <a:ln w="6350">
                  <a:noFill/>
                </a:ln>
                <a:solidFill>
                  <a:srgbClr val="1A1A1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TECHNICAL EXCELLENCE</a:t>
            </a:r>
            <a:endParaRPr lang="ko-KR" altLang="ko-KR" sz="1138" b="0" dirty="0">
              <a:ln w="6350">
                <a:noFill/>
              </a:ln>
              <a:solidFill>
                <a:srgbClr val="1A1A1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225983D-B848-6AC7-325C-6390185CC80F}"/>
              </a:ext>
            </a:extLst>
          </p:cNvPr>
          <p:cNvSpPr/>
          <p:nvPr/>
        </p:nvSpPr>
        <p:spPr>
          <a:xfrm rot="18900000">
            <a:off x="996839" y="1737092"/>
            <a:ext cx="151063" cy="151063"/>
          </a:xfrm>
          <a:prstGeom prst="roundRect">
            <a:avLst>
              <a:gd name="adj" fmla="val 1013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66F9779-717D-C867-A3AD-BF7C8B36607B}"/>
              </a:ext>
            </a:extLst>
          </p:cNvPr>
          <p:cNvGrpSpPr/>
          <p:nvPr/>
        </p:nvGrpSpPr>
        <p:grpSpPr>
          <a:xfrm>
            <a:off x="691805" y="2835624"/>
            <a:ext cx="4166853" cy="2515277"/>
            <a:chOff x="851451" y="2710103"/>
            <a:chExt cx="5128434" cy="30957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901BD9-B712-B807-59E9-EBC6B264E6E1}"/>
                </a:ext>
              </a:extLst>
            </p:cNvPr>
            <p:cNvSpPr txBox="1"/>
            <p:nvPr/>
          </p:nvSpPr>
          <p:spPr>
            <a:xfrm>
              <a:off x="1459210" y="2756825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Azure MSP 서비스 체계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3765CC-717C-6D9B-63C4-8DE00246EF4D}"/>
                </a:ext>
              </a:extLst>
            </p:cNvPr>
            <p:cNvSpPr txBox="1"/>
            <p:nvPr/>
          </p:nvSpPr>
          <p:spPr>
            <a:xfrm>
              <a:off x="1459210" y="3422756"/>
              <a:ext cx="3333094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서비스데스크 및 SR 처리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82C611B-4E29-619F-83DD-51F4FB631FD6}"/>
                </a:ext>
              </a:extLst>
            </p:cNvPr>
            <p:cNvGrpSpPr/>
            <p:nvPr/>
          </p:nvGrpSpPr>
          <p:grpSpPr>
            <a:xfrm>
              <a:off x="851451" y="2710103"/>
              <a:ext cx="503999" cy="432000"/>
              <a:chOff x="781765" y="3883420"/>
              <a:chExt cx="503999" cy="432000"/>
            </a:xfrm>
          </p:grpSpPr>
          <p:sp>
            <p:nvSpPr>
              <p:cNvPr id="4" name="모서리가 둥근 직사각형 3">
                <a:extLst>
                  <a:ext uri="{FF2B5EF4-FFF2-40B4-BE49-F238E27FC236}">
                    <a16:creationId xmlns:a16="http://schemas.microsoft.com/office/drawing/2014/main" id="{B4828223-5681-D6FF-1A7B-2181227BC6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D636DA-9CDD-06A0-DDA2-99BD3A571994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01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83CAB6B-5816-2720-AD46-CF3C3EE24E2E}"/>
                </a:ext>
              </a:extLst>
            </p:cNvPr>
            <p:cNvGrpSpPr/>
            <p:nvPr/>
          </p:nvGrpSpPr>
          <p:grpSpPr>
            <a:xfrm>
              <a:off x="851451" y="3376034"/>
              <a:ext cx="503999" cy="432000"/>
              <a:chOff x="781765" y="4594620"/>
              <a:chExt cx="503999" cy="432000"/>
            </a:xfrm>
          </p:grpSpPr>
          <p:sp>
            <p:nvSpPr>
              <p:cNvPr id="7" name="모서리가 둥근 직사각형 6">
                <a:extLst>
                  <a:ext uri="{FF2B5EF4-FFF2-40B4-BE49-F238E27FC236}">
                    <a16:creationId xmlns:a16="http://schemas.microsoft.com/office/drawing/2014/main" id="{516FB77D-7D7D-61F4-E24F-8E4695665C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43F558-9993-C7F0-9B50-E48BB8637044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02</a:t>
                </a:r>
              </a:p>
            </p:txBody>
          </p:sp>
        </p:grp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1CE33A0E-227A-691F-993A-E8FF76622280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259068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320FE4D1-4929-152F-5649-BF51DE5845A4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924998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64A868D-7496-BCE5-8C6E-577227438123}"/>
                </a:ext>
              </a:extLst>
            </p:cNvPr>
            <p:cNvSpPr txBox="1"/>
            <p:nvPr/>
          </p:nvSpPr>
          <p:spPr>
            <a:xfrm>
              <a:off x="1459210" y="4088689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통합 모니터링 체계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CEEF041-70F5-8FD8-5D2B-90A59F14B189}"/>
                </a:ext>
              </a:extLst>
            </p:cNvPr>
            <p:cNvGrpSpPr/>
            <p:nvPr/>
          </p:nvGrpSpPr>
          <p:grpSpPr>
            <a:xfrm>
              <a:off x="851451" y="4041965"/>
              <a:ext cx="503999" cy="432000"/>
              <a:chOff x="781765" y="3883420"/>
              <a:chExt cx="503999" cy="432000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E6943877-1837-6EA0-5632-574DFF0B7A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B5DEFE-54B1-885D-B115-A9E813619C1D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03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4C60E8C-D38F-8EC0-5B7D-102F36CF50F7}"/>
                </a:ext>
              </a:extLst>
            </p:cNvPr>
            <p:cNvSpPr txBox="1"/>
            <p:nvPr/>
          </p:nvSpPr>
          <p:spPr>
            <a:xfrm>
              <a:off x="1459208" y="4754617"/>
              <a:ext cx="4520677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장애 대응 및 변경 관리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F6EE05FE-8FFF-40A0-0DA5-C01C337AC62D}"/>
                </a:ext>
              </a:extLst>
            </p:cNvPr>
            <p:cNvGrpSpPr/>
            <p:nvPr/>
          </p:nvGrpSpPr>
          <p:grpSpPr>
            <a:xfrm>
              <a:off x="851451" y="4707896"/>
              <a:ext cx="503999" cy="432000"/>
              <a:chOff x="781765" y="4594620"/>
              <a:chExt cx="503999" cy="432000"/>
            </a:xfrm>
          </p:grpSpPr>
          <p:sp>
            <p:nvSpPr>
              <p:cNvPr id="39" name="모서리가 둥근 직사각형 38">
                <a:extLst>
                  <a:ext uri="{FF2B5EF4-FFF2-40B4-BE49-F238E27FC236}">
                    <a16:creationId xmlns:a16="http://schemas.microsoft.com/office/drawing/2014/main" id="{BC68AC87-C1D0-01E8-B66E-78E85E500C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32C8B38-2C7D-72CC-08E3-99748C4CD014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04</a:t>
                </a:r>
              </a:p>
            </p:txBody>
          </p:sp>
        </p:grpSp>
        <p:cxnSp>
          <p:nvCxnSpPr>
            <p:cNvPr id="35" name="직선 연결선[R] 34">
              <a:extLst>
                <a:ext uri="{FF2B5EF4-FFF2-40B4-BE49-F238E27FC236}">
                  <a16:creationId xmlns:a16="http://schemas.microsoft.com/office/drawing/2014/main" id="{A7A8F12D-460D-7CB9-6C51-9A69E02CDF0C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590930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F68E0DFF-2620-0E50-F0D7-4C714F2D30F7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590930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D172FD-FCF4-2759-95C0-7C1E21569A82}"/>
                </a:ext>
              </a:extLst>
            </p:cNvPr>
            <p:cNvSpPr txBox="1"/>
            <p:nvPr/>
          </p:nvSpPr>
          <p:spPr>
            <a:xfrm>
              <a:off x="1459208" y="5420549"/>
              <a:ext cx="3199877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기술지원 아키텍처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463D9E-FBD3-56F4-C36F-5A226730001F}"/>
                </a:ext>
              </a:extLst>
            </p:cNvPr>
            <p:cNvGrpSpPr/>
            <p:nvPr/>
          </p:nvGrpSpPr>
          <p:grpSpPr>
            <a:xfrm>
              <a:off x="851451" y="5373828"/>
              <a:ext cx="503999" cy="432000"/>
              <a:chOff x="781765" y="4594620"/>
              <a:chExt cx="503999" cy="432000"/>
            </a:xfrm>
          </p:grpSpPr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C0BFA030-2F57-99EF-BEE1-D5B6BAD4C6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92C482-32E7-3351-5365-E76B4554725C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05</a:t>
                </a:r>
              </a:p>
            </p:txBody>
          </p:sp>
        </p:grp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3443C784-0787-6B14-8783-16FC83D708A3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5256862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A2616C7-4237-959F-6CBC-DA59FA007BA2}"/>
              </a:ext>
            </a:extLst>
          </p:cNvPr>
          <p:cNvSpPr txBox="1"/>
          <p:nvPr/>
        </p:nvSpPr>
        <p:spPr bwMode="gray">
          <a:xfrm>
            <a:off x="247665" y="1429838"/>
            <a:ext cx="742951" cy="7502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/>
            <a:r>
              <a:rPr lang="en-US" altLang="ko-KR" sz="4875" b="1" dirty="0">
                <a:solidFill>
                  <a:schemeClr val="bg1"/>
                </a:solidFill>
                <a:latin typeface="Pretendard" panose="02000503000000020004" pitchFamily="50" charset="-127"/>
                <a:cs typeface="Pretendard" panose="02000503000000020004" pitchFamily="50" charset="-127"/>
              </a:rPr>
              <a:t>Ⅲ</a:t>
            </a:r>
          </a:p>
        </p:txBody>
      </p:sp>
      <p:pic>
        <p:nvPicPr>
          <p:cNvPr id="14" name="그림 13" descr="스크린샷, 블루, 밤, 기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228763-2D7A-98F9-4D10-945EB68EA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4" y="642938"/>
            <a:ext cx="4333885" cy="5572125"/>
          </a:xfrm>
          <a:prstGeom prst="rect">
            <a:avLst/>
          </a:prstGeom>
        </p:spPr>
      </p:pic>
      <p:pic>
        <p:nvPicPr>
          <p:cNvPr id="26" name="그림 25" descr="스크린샷, 건물, 빛, 밤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72C355-C680-320A-4BFB-D42789429C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6" y="642937"/>
            <a:ext cx="4333885" cy="5572125"/>
          </a:xfrm>
          <a:prstGeom prst="rect">
            <a:avLst/>
          </a:prstGeom>
        </p:spPr>
      </p:pic>
      <p:pic>
        <p:nvPicPr>
          <p:cNvPr id="43" name="그림 42" descr="물, 코발트 블루, 빛,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CA97D0-BE8E-AA62-46B0-66DFA0BA7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3174"/>
            <a:ext cx="4333879" cy="5571669"/>
          </a:xfrm>
          <a:prstGeom prst="rect">
            <a:avLst/>
          </a:prstGeom>
        </p:spPr>
      </p:pic>
      <p:pic>
        <p:nvPicPr>
          <p:cNvPr id="46" name="그림 45" descr="일렉트릭 블루, 빛, 마조렐 블루, 코발트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9E8B22D-5B10-B66F-BA1E-CED07ADE30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2909"/>
            <a:ext cx="4369465" cy="5572125"/>
          </a:xfrm>
          <a:prstGeom prst="rect">
            <a:avLst/>
          </a:prstGeom>
        </p:spPr>
      </p:pic>
      <p:pic>
        <p:nvPicPr>
          <p:cNvPr id="50" name="그림 49" descr="물, 일렉트릭 블루, 빛, 마조렐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15F340-BBB9-4266-4FEF-ED6FEE2376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8" y="652909"/>
            <a:ext cx="4333882" cy="5572125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D2D2F90B-AF7A-93B5-9191-49D6619CF6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5437" y="642937"/>
            <a:ext cx="1960563" cy="1960563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227E584B-E809-FC20-89A3-188DC41F4AC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8582" y="5675861"/>
            <a:ext cx="2264355" cy="6150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서비스데스크를 단일 창구로 하여 운영·기술지원·보안·비용 관리를 통합 수행하는 4계층 MSP 서비스 체계를 제안합니다.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Azure MSP 서비스 체계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서비스 총괄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MSP 서비스 체계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고객 접점 계층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1645920"/>
            <a:ext cx="6922007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서비스데스크(단일 창구) / 전화·메일·티켓 접수 / 운영 협의체 / 정기 보고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267712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서비스 수행 계층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2267712"/>
            <a:ext cx="6922007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SR 처리 · 기술 문의 대응 · 장애 대응 · 변경 관리 · 정기 점검 · 백업 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2889504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03378"/>
                </a:solidFill>
                <a:latin typeface="Pretendard"/>
              </a:rPr>
              <a:t>기술 기반 계층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889504"/>
            <a:ext cx="6922007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Azure Monitor · Log Analytics · Entra ID/RBAC · Defender · Cost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" y="3511296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95959"/>
                </a:solidFill>
                <a:latin typeface="Pretendard"/>
              </a:rPr>
              <a:t>관리 대상 계층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2" y="3511296"/>
            <a:ext cx="6922007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Pretendard"/>
              </a:rPr>
              <a:t>Compute / Network / Storage / Database / Platform(PaaS) /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4169663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151376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서비스 구성 요소 및 역할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337454"/>
              </p:ext>
            </p:extLst>
          </p:nvPr>
        </p:nvGraphicFramePr>
        <p:xfrm>
          <a:off x="484632" y="4425696"/>
          <a:ext cx="8933688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서비스 구성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주요 활동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수행 주기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담당 역할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접수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1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차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진행 상황 통보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종결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R9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백업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패치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R4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엔지니어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 지원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 문의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변경 검토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성능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구조 개선 자문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 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R3 Azure Architect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측정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개선 과제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협의체 운영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R2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딜리버리 매니저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모든 요청을 티켓 기반 단일 창구로 접수하여 접수-분류-처리-검증-종결의 표준 흐름으로 처리하고, 전 과정을 이력으로 추적합니다.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서비스데스크 및 SR 처리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요청(SR) 접수 및 처리 프로세스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SR 처리 표준 프로세스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1321308" cy="530352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Pretendard"/>
              </a:rPr>
              <a:t>① 접수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24228" y="1837943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07108" y="1645920"/>
            <a:ext cx="132130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003378"/>
                </a:solidFill>
                <a:latin typeface="Pretendard"/>
              </a:rPr>
              <a:t>② 분류·우선순위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46704" y="1837943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29584" y="1645920"/>
            <a:ext cx="132130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003378"/>
                </a:solidFill>
                <a:latin typeface="Pretendard"/>
              </a:rPr>
              <a:t>③ 처리 수행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69180" y="1837943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52060" y="1645920"/>
            <a:ext cx="132130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003378"/>
                </a:solidFill>
                <a:latin typeface="Pretendard"/>
              </a:rPr>
              <a:t>④ 결과 검증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391656" y="1837943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74536" y="1645920"/>
            <a:ext cx="132130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003378"/>
                </a:solidFill>
                <a:latin typeface="Pretendard"/>
              </a:rPr>
              <a:t>⑤ 고객 확인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4131" y="1837943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97011" y="1645920"/>
            <a:ext cx="132130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003378"/>
                </a:solidFill>
                <a:latin typeface="Pretendard"/>
              </a:rPr>
              <a:t>⑥ 종결·이력화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2286000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267712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단계별 수행 내용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418371"/>
              </p:ext>
            </p:extLst>
          </p:nvPr>
        </p:nvGraphicFramePr>
        <p:xfrm>
          <a:off x="484632" y="2542032"/>
          <a:ext cx="8933688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수행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산출</a:t>
                      </a:r>
                      <a:r>
                        <a:rPr lang="en-US" altLang="ko-KR" sz="819" b="1">
                          <a:solidFill>
                            <a:srgbClr val="FFFFFF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기록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책임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① 접수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메일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티켓 시스템으로 접수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요청자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내용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접수 티켓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요청번호 부여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② 분류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우선순위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 유형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단순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표준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비표준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및 긴급도 판정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담당자 배정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분류 결과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목표 시각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③ 처리 수행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표준 요청은 즉시 처리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비표준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영향도 높은 요청은 변경관리 절차 연계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작업 내역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요청서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엔지니어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④ 결과 검증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처리 결과 정상 동작 확인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영향 범위 재점검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검증 결과 기록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엔지니어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⑤ 고객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요청자에게 결과 통보 및 수용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확인 회신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⑥ 종결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이력화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티켓 종결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처리 시간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반복 요청은 개선 과제로 등록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측정값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개선 과제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딜리버리 매니저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84632" y="4937760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919472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요청 유형 구분 및 처리 원칙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" y="5193792"/>
            <a:ext cx="2151126" cy="60350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단순 요청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조회·확인·정보 제공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→ 서비스데스크 1차 종결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5486" y="5193792"/>
            <a:ext cx="2151126" cy="60350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표준 요청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사전 승인된 반복 작업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→ 표준 절차로 즉시 수행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6340" y="5193792"/>
            <a:ext cx="2151126" cy="60350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비표준 요청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구성 변경 수반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→ 변경관리 절차 필수 연계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7194" y="5193792"/>
            <a:ext cx="2151126" cy="60350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기술 자문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구조·성능·보안 검토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→ Architect 에스컬레이션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Azure Monitor와 Log Analytics를 단일 작업영역으로 통합하여 인프라·플랫폼·보안 로그를 상관 분석하고, 임계치 기반 알람으로 사전 감지합니다.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통합 모니터링 체계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모니터링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통합 모니터링 아키텍처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21031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700784"/>
            <a:ext cx="2011680" cy="22860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수집 대상 (Data Source)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75104"/>
            <a:ext cx="1883664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Virtual Machines / AKS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67712"/>
            <a:ext cx="1883664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App Service /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60320"/>
            <a:ext cx="1883664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Network (VNet·GW·LB)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852927"/>
            <a:ext cx="1883664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Storage / Backup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45535"/>
            <a:ext cx="1883664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Microsoft Entra 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438143"/>
            <a:ext cx="1883664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Azure Activity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1645920"/>
            <a:ext cx="2331720" cy="214884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62072" y="1700784"/>
            <a:ext cx="2240280" cy="22860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수집 · 분석 (Platform)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993392"/>
            <a:ext cx="2112264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003378"/>
                </a:solidFill>
                <a:latin typeface="Pretendard"/>
              </a:rPr>
              <a:t>Azure Monitor</a:t>
            </a:r>
          </a:p>
          <a:p>
            <a:pPr algn="ctr">
              <a:spcAft>
                <a:spcPts val="0"/>
              </a:spcAft>
            </a:pPr>
            <a:r>
              <a:rPr sz="780" b="0">
                <a:solidFill>
                  <a:srgbClr val="003378"/>
                </a:solidFill>
                <a:latin typeface="Pretendard"/>
              </a:rPr>
              <a:t>(Metric 수집)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578608"/>
            <a:ext cx="2112264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003378"/>
                </a:solidFill>
                <a:latin typeface="Pretendard"/>
              </a:rPr>
              <a:t>Log Analytics Workspace</a:t>
            </a:r>
          </a:p>
          <a:p>
            <a:pPr algn="ctr">
              <a:spcAft>
                <a:spcPts val="0"/>
              </a:spcAft>
            </a:pPr>
            <a:r>
              <a:rPr sz="780" b="0">
                <a:solidFill>
                  <a:srgbClr val="003378"/>
                </a:solidFill>
                <a:latin typeface="Pretendard"/>
              </a:rPr>
              <a:t>(Log 통합 · KQL 분석)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3163824"/>
            <a:ext cx="2112264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003378"/>
                </a:solidFill>
                <a:latin typeface="Pretendard"/>
              </a:rPr>
              <a:t>Defender for Cloud</a:t>
            </a:r>
          </a:p>
          <a:p>
            <a:pPr algn="ctr">
              <a:spcAft>
                <a:spcPts val="0"/>
              </a:spcAft>
            </a:pPr>
            <a:r>
              <a:rPr sz="780" b="0">
                <a:solidFill>
                  <a:srgbClr val="003378"/>
                </a:solidFill>
                <a:latin typeface="Pretendard"/>
              </a:rPr>
              <a:t>(보안 상태 평가)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6672" y="1645920"/>
            <a:ext cx="1874519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22392" y="1700784"/>
            <a:ext cx="1783080" cy="22860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탐지 · 알람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1956816"/>
            <a:ext cx="1719072" cy="658368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• 임계치 기반 Alert Rule</a:t>
            </a:r>
          </a:p>
          <a:p>
            <a:pPr algn="l">
              <a:spcAft>
                <a:spcPts val="10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• 장애 등급 자동 분류</a:t>
            </a:r>
          </a:p>
          <a:p>
            <a:pPr algn="l">
              <a:spcAft>
                <a:spcPts val="10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• 메일·SMS·티켓 연동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76672" y="2770632"/>
            <a:ext cx="1874519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22392" y="2825496"/>
            <a:ext cx="1783080" cy="22860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대응 · 조치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3081528"/>
            <a:ext cx="1719072" cy="658368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• 온콜 담당 자동 통지</a:t>
            </a:r>
          </a:p>
          <a:p>
            <a:pPr algn="l">
              <a:spcAft>
                <a:spcPts val="10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• Runbook 기반 조치</a:t>
            </a:r>
          </a:p>
          <a:p>
            <a:pPr algn="l">
              <a:spcAft>
                <a:spcPts val="10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• 조치 결과 티켓 기록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45920"/>
            <a:ext cx="1965960" cy="214884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79" y="1737360"/>
            <a:ext cx="1874519" cy="22860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</a:rPr>
              <a:t>가시화 · 보고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2048256"/>
            <a:ext cx="178308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003378"/>
                </a:solidFill>
                <a:latin typeface="Pretendard"/>
              </a:rPr>
              <a:t>운영 대시보드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003378"/>
                </a:solidFill>
                <a:latin typeface="Pretendard"/>
              </a:rPr>
              <a:t>(실시간 상태)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2478024"/>
            <a:ext cx="178308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003378"/>
                </a:solidFill>
                <a:latin typeface="Pretendard"/>
              </a:rPr>
              <a:t>SLA 측정 리포트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003378"/>
                </a:solidFill>
                <a:latin typeface="Pretendard"/>
              </a:rPr>
              <a:t>(월간)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2907791"/>
            <a:ext cx="178308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003378"/>
                </a:solidFill>
                <a:latin typeface="Pretendard"/>
              </a:rPr>
              <a:t>비용 사용 현황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003378"/>
                </a:solidFill>
                <a:latin typeface="Pretendard"/>
              </a:rPr>
              <a:t>(월간)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337559"/>
            <a:ext cx="178308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003378"/>
                </a:solidFill>
                <a:latin typeface="Pretendard"/>
              </a:rPr>
              <a:t>보안 점검 결과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003378"/>
                </a:solidFill>
                <a:latin typeface="Pretendard"/>
              </a:rPr>
              <a:t>(분기)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615184" y="2651760"/>
            <a:ext cx="164592" cy="128016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5175504" y="2651760"/>
            <a:ext cx="164592" cy="128016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7269480" y="2651760"/>
            <a:ext cx="164592" cy="128016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4632" y="3913632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3895344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모니터링 적용 원칙 — 기술 → 특장점 → 고객 가치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611249"/>
              </p:ext>
            </p:extLst>
          </p:nvPr>
        </p:nvGraphicFramePr>
        <p:xfrm>
          <a:off x="484632" y="4169664"/>
          <a:ext cx="8933688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적용 기술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특장점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고객 가치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Log Analytics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단일 작업영역 통합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인프라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플랫폼 로그의 교차 상관 분석 가능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원인 식별 구간 단축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도구 분산 비용 절감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임계치 기반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Alert Rule +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등급 자동 분류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증상 발생 전 경고 및 등급별 대응 자동 착수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확대 이전 선제 조치로 서비스 영향 최소화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장애는 영향도 기반 등급 체계로 대응 수준을 차등화하고, 변경은 영향도 평가와 롤백 계획을 의무화하여 변경 유발 장애를 억제합니다.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장애 대응 및 변경 관리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장애 등급 체계 및 변경 관리 절차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장애 등급 체계 및 대응 기준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675511"/>
              </p:ext>
            </p:extLst>
          </p:nvPr>
        </p:nvGraphicFramePr>
        <p:xfrm>
          <a:off x="484632" y="1645920"/>
          <a:ext cx="8933688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등급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정의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대응 방식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에스컬레이션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보고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P1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긴급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전사 또는 핵심 업무 서비스 중단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즉시 전담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복구 전까지 상시 진행 상황 공유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PM·Architect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즉시 소집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즉시 통보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+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사후 원인 보고서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P2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높음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일부 업무 영향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성능 심각 저하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우선 처리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우회 조치 후 근본 조치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딜리버리 매니저 통보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당일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P3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보통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제한적 영향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우회 수단 존재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표준 절차에 따라 순차 처리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담당 엔지니어 처리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주간 보고 포함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P4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낮음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영향 없음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경미 오류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정규 근무시간 내 처리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-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 보고 포함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4632" y="3474720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502A"/>
                </a:solidFill>
                <a:latin typeface="Pretendard"/>
              </a:rPr>
              <a:t>[고객 협의 필요] 등급별 응답시간·복구목표시간(SLA 수치)은 RFP에 구체 기준이 명시되지 않아 계약 후 SLA 합의 시 확정합니다. 야간·휴일 지원 범위도 동일하게 협의 대상입니다.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3803904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785616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장애 대응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4059936"/>
            <a:ext cx="1321308" cy="384048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retendard"/>
              </a:rPr>
              <a:t>탐지·접수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24228" y="417880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07108" y="4059936"/>
            <a:ext cx="1321308" cy="3840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등급 판정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46704" y="417880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29584" y="4059936"/>
            <a:ext cx="1321308" cy="3840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초동 조치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69180" y="417880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52060" y="4059936"/>
            <a:ext cx="1321308" cy="3840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원인 분석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391656" y="417880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74536" y="4059936"/>
            <a:ext cx="1321308" cy="3840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복구 확인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14131" y="417880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97011" y="4059936"/>
            <a:ext cx="1321308" cy="3840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재발 방지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4553712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535424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변경 관리 절차 (RFC)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573389"/>
              </p:ext>
            </p:extLst>
          </p:nvPr>
        </p:nvGraphicFramePr>
        <p:xfrm>
          <a:off x="484632" y="4809744"/>
          <a:ext cx="8933688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산출물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요청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목적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수행 시점 명시하여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RFC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등록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변경요청서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RFC)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영향도 평가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대상 시스템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연계 영향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중단 여부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영향 평가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영향도 평가서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승인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영향도에 따라 내부 검토 또는 고객 승인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(CAB)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수행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승인 이력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수행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검증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작업 수행 및 정상성 검증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실패 시 롤백 계획 즉시 적용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작업 결과서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롤백 계획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종결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정보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(CMDB)·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 최신화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결과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변경 이력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1차·2차·3차 기술지원 계층 구조와 Microsoft 공식 지원 연계를 통해 난이도와 무관하게 해결 가능한 지원 체계를 구성합니다.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기술지원 아키텍처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기술지원 및 에스컬레이션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기술지원 계층(Tier)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2109978" cy="3840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3378"/>
                </a:solidFill>
                <a:latin typeface="Pretendard"/>
              </a:rPr>
              <a:t>Tier 1  |  서비스데스크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2066544"/>
            <a:ext cx="210997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접수·분류·1차 대응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표준 요청 즉시 처리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진행 상황 통보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2944368"/>
            <a:ext cx="2109978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3378"/>
                </a:solidFill>
                <a:latin typeface="Pretendard"/>
              </a:rPr>
              <a:t>R9 서비스데스크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3754" y="2359152"/>
            <a:ext cx="146304" cy="128016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59202" y="1645920"/>
            <a:ext cx="2109978" cy="384048"/>
          </a:xfrm>
          <a:prstGeom prst="roundRect">
            <a:avLst>
              <a:gd name="adj" fmla="val 6000"/>
            </a:avLst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Tier 2  |  운영 엔지니어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9202" y="2066544"/>
            <a:ext cx="210997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장애 조치·구성 변경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정기 점검·패치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모니터링 대응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9202" y="2944368"/>
            <a:ext cx="2109978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3378"/>
                </a:solidFill>
                <a:latin typeface="Pretendard"/>
              </a:rPr>
              <a:t>R4 운영 엔지니어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8324" y="2359152"/>
            <a:ext cx="146304" cy="128016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33772" y="1645920"/>
            <a:ext cx="2109978" cy="384048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Tier 3  |  Azure Architect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3772" y="2066544"/>
            <a:ext cx="210997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구조·성능 분석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근본 원인 해결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아키텍처 개선 자문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3772" y="2944368"/>
            <a:ext cx="2109978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3378"/>
                </a:solidFill>
                <a:latin typeface="Pretendard"/>
              </a:rPr>
              <a:t>R3 Azure Architect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52894" y="2359152"/>
            <a:ext cx="146304" cy="128016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08342" y="1645920"/>
            <a:ext cx="2109978" cy="38404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95959"/>
                </a:solidFill>
                <a:latin typeface="Pretendard"/>
              </a:rPr>
              <a:t>Vendor  |  Microsoft 공식 지원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8342" y="2066544"/>
            <a:ext cx="210997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플랫폼 결함·제품 이슈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공식 지원 티켓 연계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[확인 필요] 지원 계약 주체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8342" y="2944368"/>
            <a:ext cx="2109978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3378"/>
                </a:solidFill>
                <a:latin typeface="Pretendard"/>
              </a:rPr>
              <a:t>고객 구독 기준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331012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29184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에스컬레이션 운영 규칙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468226"/>
              </p:ext>
            </p:extLst>
          </p:nvPr>
        </p:nvGraphicFramePr>
        <p:xfrm>
          <a:off x="484632" y="3566160"/>
          <a:ext cx="8933688" cy="1865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3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규칙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시간 기준 에스컬레이션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각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Tier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의 처리 목표 시간 초과 시 자동으로 상위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Tier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에 이관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목표 시간은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합의 시 확정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등급 기준 에스컬레이션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P1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장애는 접수 즉시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Tier 3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및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PM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동시 소집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등급 판정 대기 없이 대응 착수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Vendor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연계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플랫폼 자체 결함으로 판단되는 경우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Microsoft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공식 지원 티켓 등록 및 진행 상황 고객 공유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온콜 체계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야간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휴일 온콜 담당자를 사전 편성하여 연락 체계 상시 유지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[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협의 필요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—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지원 범위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]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이력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모든 에스컬레이션은 티켓에 사유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시각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담당자를 기록하여 추적성 확보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8C7F482-0306-B981-2FF4-1D070492B489}"/>
              </a:ext>
            </a:extLst>
          </p:cNvPr>
          <p:cNvSpPr/>
          <p:nvPr/>
        </p:nvSpPr>
        <p:spPr>
          <a:xfrm>
            <a:off x="151140" y="1738237"/>
            <a:ext cx="742950" cy="742950"/>
          </a:xfrm>
          <a:prstGeom prst="roundRect">
            <a:avLst/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8B32F-DD91-6A58-8331-94300C460723}"/>
              </a:ext>
            </a:extLst>
          </p:cNvPr>
          <p:cNvSpPr txBox="1"/>
          <p:nvPr/>
        </p:nvSpPr>
        <p:spPr>
          <a:xfrm>
            <a:off x="1078620" y="1572068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>
                <a:solidFill>
                  <a:srgbClr val="1A1A1A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보안 부문</a:t>
            </a:r>
            <a:endParaRPr lang="en-US" altLang="ko-KR" sz="6500">
              <a:solidFill>
                <a:srgbClr val="1A1A1A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553572-B5C2-6FB6-DF98-515964AC5BDE}"/>
              </a:ext>
            </a:extLst>
          </p:cNvPr>
          <p:cNvSpPr txBox="1"/>
          <p:nvPr/>
        </p:nvSpPr>
        <p:spPr>
          <a:xfrm>
            <a:off x="1128989" y="1445901"/>
            <a:ext cx="258023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ko-KR" sz="1138" b="0">
                <a:ln w="6350">
                  <a:noFill/>
                </a:ln>
                <a:solidFill>
                  <a:srgbClr val="1A1A1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SECURITY BY DESIGN</a:t>
            </a:r>
            <a:endParaRPr lang="ko-KR" altLang="ko-KR" sz="1138" b="0">
              <a:ln w="6350">
                <a:noFill/>
              </a:ln>
              <a:solidFill>
                <a:srgbClr val="1A1A1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9D6D44C-19AD-9447-1513-9195A065B8BF}"/>
              </a:ext>
            </a:extLst>
          </p:cNvPr>
          <p:cNvSpPr/>
          <p:nvPr/>
        </p:nvSpPr>
        <p:spPr>
          <a:xfrm rot="18900000">
            <a:off x="804006" y="2034181"/>
            <a:ext cx="151063" cy="151063"/>
          </a:xfrm>
          <a:prstGeom prst="roundRect">
            <a:avLst>
              <a:gd name="adj" fmla="val 1013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B19AD1-5574-89BC-EE53-53E412D78D7D}"/>
              </a:ext>
            </a:extLst>
          </p:cNvPr>
          <p:cNvSpPr txBox="1"/>
          <p:nvPr/>
        </p:nvSpPr>
        <p:spPr bwMode="gray">
          <a:xfrm>
            <a:off x="151140" y="1734610"/>
            <a:ext cx="742951" cy="7502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/>
            <a:r>
              <a:rPr lang="en-US" altLang="ko-KR" sz="4875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Ⅳ</a:t>
            </a:r>
            <a:endParaRPr lang="ko-KR" altLang="en-US" sz="4875" b="1" dirty="0">
              <a:solidFill>
                <a:schemeClr val="bg1"/>
              </a:solidFill>
            </a:endParaRPr>
          </a:p>
        </p:txBody>
      </p:sp>
      <p:sp>
        <p:nvSpPr>
          <p:cNvPr id="30" name="양쪽 모서리가 둥근 사각형 19">
            <a:extLst>
              <a:ext uri="{FF2B5EF4-FFF2-40B4-BE49-F238E27FC236}">
                <a16:creationId xmlns:a16="http://schemas.microsoft.com/office/drawing/2014/main" id="{2B950893-DDDC-A9C4-D8DB-389276C3C9B3}"/>
              </a:ext>
            </a:extLst>
          </p:cNvPr>
          <p:cNvSpPr/>
          <p:nvPr/>
        </p:nvSpPr>
        <p:spPr>
          <a:xfrm rot="5400000">
            <a:off x="1111500" y="1789089"/>
            <a:ext cx="2457000" cy="468000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5D7AD7-A462-382F-B431-FFEA5E5643A6}"/>
              </a:ext>
            </a:extLst>
          </p:cNvPr>
          <p:cNvGrpSpPr/>
          <p:nvPr/>
        </p:nvGrpSpPr>
        <p:grpSpPr>
          <a:xfrm>
            <a:off x="691804" y="3141987"/>
            <a:ext cx="3785841" cy="1974208"/>
            <a:chOff x="851451" y="3411056"/>
            <a:chExt cx="4659496" cy="242979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321F90-EF26-1DB0-3589-A4750D005EDD}"/>
                </a:ext>
              </a:extLst>
            </p:cNvPr>
            <p:cNvSpPr txBox="1"/>
            <p:nvPr/>
          </p:nvSpPr>
          <p:spPr>
            <a:xfrm>
              <a:off x="1459210" y="3457778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보안 요구사항 대응 체계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3D1A78-F62D-169E-8B69-B9209556EAB8}"/>
                </a:ext>
              </a:extLst>
            </p:cNvPr>
            <p:cNvSpPr txBox="1"/>
            <p:nvPr/>
          </p:nvSpPr>
          <p:spPr>
            <a:xfrm>
              <a:off x="1459210" y="4123709"/>
              <a:ext cx="2747102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접근통제 및 권한 관리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34A128F-9588-A2F9-D76E-223002CBC69A}"/>
                </a:ext>
              </a:extLst>
            </p:cNvPr>
            <p:cNvGrpSpPr/>
            <p:nvPr/>
          </p:nvGrpSpPr>
          <p:grpSpPr>
            <a:xfrm>
              <a:off x="851451" y="3411056"/>
              <a:ext cx="503999" cy="432000"/>
              <a:chOff x="781765" y="3883420"/>
              <a:chExt cx="503999" cy="432000"/>
            </a:xfrm>
          </p:grpSpPr>
          <p:sp>
            <p:nvSpPr>
              <p:cNvPr id="49" name="모서리가 둥근 직사각형 46">
                <a:extLst>
                  <a:ext uri="{FF2B5EF4-FFF2-40B4-BE49-F238E27FC236}">
                    <a16:creationId xmlns:a16="http://schemas.microsoft.com/office/drawing/2014/main" id="{5AA5BBD6-6128-C12D-23E3-DC5DD6A0A4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F5D401-FAC2-5F38-6F5C-38582790AF37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01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3A6F54D-04CB-3509-3AFF-50DAB1FF49B7}"/>
                </a:ext>
              </a:extLst>
            </p:cNvPr>
            <p:cNvGrpSpPr/>
            <p:nvPr/>
          </p:nvGrpSpPr>
          <p:grpSpPr>
            <a:xfrm>
              <a:off x="851451" y="4076987"/>
              <a:ext cx="503999" cy="432000"/>
              <a:chOff x="781765" y="4594620"/>
              <a:chExt cx="503999" cy="432000"/>
            </a:xfrm>
          </p:grpSpPr>
          <p:sp>
            <p:nvSpPr>
              <p:cNvPr id="47" name="모서리가 둥근 직사각형 44">
                <a:extLst>
                  <a:ext uri="{FF2B5EF4-FFF2-40B4-BE49-F238E27FC236}">
                    <a16:creationId xmlns:a16="http://schemas.microsoft.com/office/drawing/2014/main" id="{B6433F84-DC82-665E-8045-00A3F8E94C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CE87E2-FC4E-889A-D0B1-A090E56C27D7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02</a:t>
                </a:r>
              </a:p>
            </p:txBody>
          </p:sp>
        </p:grpSp>
        <p:cxnSp>
          <p:nvCxnSpPr>
            <p:cNvPr id="36" name="직선 연결선[R] 33">
              <a:extLst>
                <a:ext uri="{FF2B5EF4-FFF2-40B4-BE49-F238E27FC236}">
                  <a16:creationId xmlns:a16="http://schemas.microsoft.com/office/drawing/2014/main" id="{2920F377-A3DA-9756-444D-11DD4B634EAA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96002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4">
              <a:extLst>
                <a:ext uri="{FF2B5EF4-FFF2-40B4-BE49-F238E27FC236}">
                  <a16:creationId xmlns:a16="http://schemas.microsoft.com/office/drawing/2014/main" id="{E9DA991F-3F77-250E-3152-0C73FEAA7875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62595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D38E695-3CDC-19A6-03CC-A252822153B0}"/>
                </a:ext>
              </a:extLst>
            </p:cNvPr>
            <p:cNvSpPr txBox="1"/>
            <p:nvPr/>
          </p:nvSpPr>
          <p:spPr>
            <a:xfrm>
              <a:off x="1459210" y="4789641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보안 로그 및 감사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D096EF-B81D-361C-92C5-C8F2302B4692}"/>
                </a:ext>
              </a:extLst>
            </p:cNvPr>
            <p:cNvSpPr txBox="1"/>
            <p:nvPr/>
          </p:nvSpPr>
          <p:spPr>
            <a:xfrm>
              <a:off x="1459208" y="5455570"/>
              <a:ext cx="4051739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컴플라이언스 및 보안 준수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9F17953E-00B4-4D2D-0FA7-2CAF27BDE76C}"/>
                </a:ext>
              </a:extLst>
            </p:cNvPr>
            <p:cNvGrpSpPr/>
            <p:nvPr/>
          </p:nvGrpSpPr>
          <p:grpSpPr>
            <a:xfrm>
              <a:off x="851451" y="4742918"/>
              <a:ext cx="503999" cy="432000"/>
              <a:chOff x="781765" y="3883420"/>
              <a:chExt cx="503999" cy="432000"/>
            </a:xfrm>
          </p:grpSpPr>
          <p:sp>
            <p:nvSpPr>
              <p:cNvPr id="45" name="모서리가 둥근 직사각형 42">
                <a:extLst>
                  <a:ext uri="{FF2B5EF4-FFF2-40B4-BE49-F238E27FC236}">
                    <a16:creationId xmlns:a16="http://schemas.microsoft.com/office/drawing/2014/main" id="{5FAAA2CC-D211-A545-B012-177F8814EC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3F1718-2668-6EF5-5638-128265E1B426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03</a:t>
                </a: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FEF0031-8E8E-C31D-FB6E-F00AD4ED5447}"/>
                </a:ext>
              </a:extLst>
            </p:cNvPr>
            <p:cNvGrpSpPr/>
            <p:nvPr/>
          </p:nvGrpSpPr>
          <p:grpSpPr>
            <a:xfrm>
              <a:off x="851451" y="5408849"/>
              <a:ext cx="503999" cy="432000"/>
              <a:chOff x="781765" y="4594620"/>
              <a:chExt cx="503999" cy="432000"/>
            </a:xfrm>
          </p:grpSpPr>
          <p:sp>
            <p:nvSpPr>
              <p:cNvPr id="43" name="모서리가 둥근 직사각형 40">
                <a:extLst>
                  <a:ext uri="{FF2B5EF4-FFF2-40B4-BE49-F238E27FC236}">
                    <a16:creationId xmlns:a16="http://schemas.microsoft.com/office/drawing/2014/main" id="{311552BF-9CD6-6E4A-F820-8DF12B8533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4F751A-32AD-8F2B-C7BD-F05046391E6C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04</a:t>
                </a:r>
              </a:p>
            </p:txBody>
          </p:sp>
        </p:grpSp>
        <p:cxnSp>
          <p:nvCxnSpPr>
            <p:cNvPr id="42" name="직선 연결선[R] 39">
              <a:extLst>
                <a:ext uri="{FF2B5EF4-FFF2-40B4-BE49-F238E27FC236}">
                  <a16:creationId xmlns:a16="http://schemas.microsoft.com/office/drawing/2014/main" id="{C9D25B4B-B9CD-3506-FB9D-BE08D50E423D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5291883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그림 6" descr="스크린샷, 블루, 밤, 기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7BF8686-7EB8-2F01-762C-46EE5A2A6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4" y="642938"/>
            <a:ext cx="4333885" cy="5572125"/>
          </a:xfrm>
          <a:prstGeom prst="rect">
            <a:avLst/>
          </a:prstGeom>
        </p:spPr>
      </p:pic>
      <p:pic>
        <p:nvPicPr>
          <p:cNvPr id="9" name="그림 8" descr="스크린샷, 건물, 빛, 밤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AC2006C-26A2-712A-097E-86B54C6DB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6" y="642937"/>
            <a:ext cx="4333885" cy="5572125"/>
          </a:xfrm>
          <a:prstGeom prst="rect">
            <a:avLst/>
          </a:prstGeom>
        </p:spPr>
      </p:pic>
      <p:pic>
        <p:nvPicPr>
          <p:cNvPr id="14" name="그림 13" descr="물, 코발트 블루, 빛,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84DC401-5605-45FC-51AD-7827BCA87D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3174"/>
            <a:ext cx="4333879" cy="5571669"/>
          </a:xfrm>
          <a:prstGeom prst="rect">
            <a:avLst/>
          </a:prstGeom>
        </p:spPr>
      </p:pic>
      <p:pic>
        <p:nvPicPr>
          <p:cNvPr id="16" name="그림 15" descr="일렉트릭 블루, 빛, 마조렐 블루, 코발트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1D9337E-CD20-AD07-FEA6-3227145EB4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2909"/>
            <a:ext cx="4369465" cy="5572125"/>
          </a:xfrm>
          <a:prstGeom prst="rect">
            <a:avLst/>
          </a:prstGeom>
        </p:spPr>
      </p:pic>
      <p:pic>
        <p:nvPicPr>
          <p:cNvPr id="18" name="그림 17" descr="물, 일렉트릭 블루, 빛, 마조렐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5EDC6F-0D29-6780-C6A0-C722A6E339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8" y="652909"/>
            <a:ext cx="4333882" cy="557212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E46EF39-8CF9-1EEA-FEC1-A8C7D0FBEA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5437" y="642937"/>
            <a:ext cx="1960563" cy="196056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82EF20F-8348-C6D7-457C-42F2C875FAB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8582" y="5675861"/>
            <a:ext cx="2264355" cy="6150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ko-KR" altLang="en-US"/>
              <a:t>계정</a:t>
            </a:r>
            <a:r>
              <a:rPr lang="en-US" altLang="ko-KR"/>
              <a:t>·</a:t>
            </a:r>
            <a:r>
              <a:rPr lang="ko-KR" altLang="en-US"/>
              <a:t>접근</a:t>
            </a:r>
            <a:r>
              <a:rPr lang="en-US" altLang="ko-KR"/>
              <a:t>·</a:t>
            </a:r>
            <a:r>
              <a:rPr lang="ko-KR" altLang="en-US"/>
              <a:t>로그</a:t>
            </a:r>
            <a:r>
              <a:rPr lang="en-US" altLang="ko-KR"/>
              <a:t>·</a:t>
            </a:r>
            <a:r>
              <a:rPr lang="ko-KR" altLang="en-US"/>
              <a:t>정책</a:t>
            </a:r>
            <a:r>
              <a:rPr lang="en-US" altLang="ko-KR"/>
              <a:t>·</a:t>
            </a:r>
            <a:r>
              <a:rPr lang="ko-KR" altLang="en-US"/>
              <a:t>취약점의 주요 통제 축으로 보안 요구사항에 대응하며</a:t>
            </a:r>
            <a:r>
              <a:rPr lang="en-US" altLang="ko-KR"/>
              <a:t>, </a:t>
            </a:r>
            <a:r>
              <a:rPr lang="ko-KR" altLang="en-US"/>
              <a:t>합의된 고객 보안 기준을 적용합니다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보안 요구사항 대응 체계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보안 요구사항(SEC) 대응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보안 대응 5대 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1698955" cy="9144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00" b="1">
                <a:solidFill>
                  <a:srgbClr val="003378"/>
                </a:solidFill>
                <a:latin typeface="Pretendard"/>
              </a:rPr>
              <a:t>계정 관리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계정 생애주기 관리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(생성·변경·회수)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퇴사·전배 시 즉시 회수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93315" y="1645920"/>
            <a:ext cx="1698955" cy="9144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00" b="1">
                <a:solidFill>
                  <a:srgbClr val="003378"/>
                </a:solidFill>
                <a:latin typeface="Pretendard"/>
              </a:rPr>
              <a:t>접근 통제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RBAC 최소 권한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특권 계정 분리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접근 경로 제한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01998" y="1645920"/>
            <a:ext cx="1698955" cy="9144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00" b="1">
                <a:solidFill>
                  <a:srgbClr val="003378"/>
                </a:solidFill>
                <a:latin typeface="Pretendard"/>
              </a:rPr>
              <a:t>로그·감사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활동 로그 수집·보관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변경 이력 추적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감사 요청 대응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10681" y="1645920"/>
            <a:ext cx="1698955" cy="9144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00" b="1">
                <a:solidFill>
                  <a:srgbClr val="003378"/>
                </a:solidFill>
                <a:latin typeface="Pretendard"/>
              </a:rPr>
              <a:t>정책 준수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그룹 보안 정책 준수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Azure Policy 기반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구성 준수 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9364" y="1645920"/>
            <a:ext cx="1698955" cy="9144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00" b="1">
                <a:solidFill>
                  <a:srgbClr val="003378"/>
                </a:solidFill>
                <a:latin typeface="Pretendard"/>
              </a:rPr>
              <a:t>취약점 대응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보안 권고 모니터링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패치 적용 관리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취약점 조치 이력화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67004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보안 요구사항 대응 매트릭스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671610"/>
              </p:ext>
            </p:extLst>
          </p:nvPr>
        </p:nvGraphicFramePr>
        <p:xfrm>
          <a:off x="484632" y="2926080"/>
          <a:ext cx="8933688" cy="2414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요구 영역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대응 방안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적용 기술 </a:t>
                      </a:r>
                      <a:r>
                        <a:rPr lang="en-US" altLang="ko-KR" sz="819" b="1">
                          <a:solidFill>
                            <a:srgbClr val="FFFFFF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절차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산출물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역할 기반 권한 부여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신청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승인 절차 의무화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권한 재검토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Microsoft Entra ID, Azure RBAC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부여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회수 이력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접근 통제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관리 접근 경로 제한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특권 작업 시 승인 및 사후 검토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조건부 접근 정책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Just-In-Time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접근 통제 기준서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로그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Activity Log·Sign-in Log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수집 및 보관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이상 징후 탐지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Log Analytics, Defender for Cloud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로그 점검 보고서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정책 준수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그룹 보안 정책과 클라우드 구성의 정합성 정기 점검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Policy,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구성 점검표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정책 준수 점검 결과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취약점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권고 확인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영향도 평가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패치 계획 수립 및 적용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Defender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변경관리 연계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취약점 조치 이력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84632" y="5431536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합의된 보안 정책과 비밀유지 조건을 준수하며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,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요청 시 계약 조건에 따라 자료를 반환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파기합니다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고객 명칭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상표는 승인 없이 홍보에 사용하지 않습니다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</a:t>
            </a:r>
            <a:endParaRPr sz="800" b="1">
              <a:solidFill>
                <a:srgbClr val="C0502A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'최소 권한 · 신청 승인 · 정기 재검토'의 3원칙으로 권한을 관리하여 권한 오남용과 감사 지적 위험을 구조적으로 차단합니다.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접근통제 및 권한 관리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최소 권한 기반 접근통제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접근통제 아키텍처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2027681" cy="34747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95959"/>
                </a:solidFill>
                <a:latin typeface="Pretendard"/>
              </a:rPr>
              <a:t>사용자 · 운영자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2048256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고객 담당자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395728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MSP 운영 엔지니어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2743200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MSP 아키텍트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3090672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감사 담당자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58033" y="2468880"/>
            <a:ext cx="182880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86633" y="1645920"/>
            <a:ext cx="2027681" cy="34747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3378"/>
                </a:solidFill>
                <a:latin typeface="Pretendard"/>
              </a:rPr>
              <a:t>인증 (Authentication)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6633" y="2048256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Microsoft Entra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6633" y="2395728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다중 인증(MFA)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6633" y="2743200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조건부 접근 정책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6633" y="3090672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Sign-in Log 기록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0035" y="2468880"/>
            <a:ext cx="182880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88636" y="1645920"/>
            <a:ext cx="2027681" cy="347472"/>
          </a:xfrm>
          <a:prstGeom prst="roundRect">
            <a:avLst>
              <a:gd name="adj" fmla="val 6000"/>
            </a:avLst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인가 (Authorization)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8636" y="2048256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Azure RBAC 역할 배정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8636" y="2395728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관리 그룹·구독 범위 한정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8636" y="2743200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특권 작업 승인 절차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8636" y="3090672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Just-In-Time 권한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62037" y="2468880"/>
            <a:ext cx="182880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90637" y="1645920"/>
            <a:ext cx="2027681" cy="347472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대상 리소스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90637" y="2048256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구독 / 리소스 그룹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90637" y="2395728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VM · AKS · Database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90637" y="2743200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Key Vault (비밀 관리)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90637" y="3090672"/>
            <a:ext cx="2027681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Storage / Backup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" y="3520439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502151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권한 관리 프로세스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" y="3776472"/>
            <a:ext cx="1321308" cy="45720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Pretendard"/>
              </a:rPr>
              <a:t>권한 신청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824228" y="3931920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007108" y="3776472"/>
            <a:ext cx="1321308" cy="4572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필요성 검토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346704" y="3931920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529584" y="3776472"/>
            <a:ext cx="1321308" cy="4572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고객 승인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869180" y="3931920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052060" y="3776472"/>
            <a:ext cx="1321308" cy="4572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권한 부여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391656" y="3931920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574536" y="3776472"/>
            <a:ext cx="1321308" cy="4572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사용 이력 기록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914131" y="3931920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097011" y="3776472"/>
            <a:ext cx="1321308" cy="4572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정기 재검토·회수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" y="4343400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4325112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권한 관리 원칙 — 기술 → 특장점 → 고객 가치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9345"/>
              </p:ext>
            </p:extLst>
          </p:nvPr>
        </p:nvGraphicFramePr>
        <p:xfrm>
          <a:off x="484632" y="4599432"/>
          <a:ext cx="8933688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적용 기술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특장점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고객 가치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RBAC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역할 기반 권한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+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범위 한정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계정별 개별 권한 부여 제거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역할 단위 일괄 통제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현황 파악 용이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과다 권한 사전 차단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Key Vault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기반 비밀 관리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Managed Identity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자격증명 하드코딩 제거 및 중앙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인증정보 유출 위험 감소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교체 작업 부담 경감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 단위 권한 재검토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(Access Review)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불필요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휴면 권한의 주기적 자동 식별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감사 대응 자료 상시 확보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지적 사항 예방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운영·보안·인증 로그를 단일 저장소로 통합 수집하여 추적성을 확보하고, 감사 요청 시 즉시 근거 자료를 제출할 수 있는 체계를 운영합니다.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보안 로그 및 감사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로그 수집·보관 및 감사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로그 수집 및 활용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retendard"/>
              </a:rPr>
              <a:t>로그 발생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28723" y="1856231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1603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수집·통합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(Log Analytics)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5694" y="1856231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38574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보관·보존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(보존기간 정책)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82665" y="1856231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65545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분석·탐지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(KQL·규칙)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09636" y="1856231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92516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3378"/>
                </a:solidFill>
                <a:latin typeface="Pretendard"/>
              </a:rPr>
              <a:t>보고·감사 대응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322576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304288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로그 유형별 수집 및 활용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661842"/>
              </p:ext>
            </p:extLst>
          </p:nvPr>
        </p:nvGraphicFramePr>
        <p:xfrm>
          <a:off x="484632" y="2578608"/>
          <a:ext cx="893368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로그 유형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수집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활용 목적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보고 주기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Activity Log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구독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리소스 생성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삭제 등 제어 평면 활동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변경 추적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무단 변경 탐지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Entra ID Sign-in Log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로그인 성공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실패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접근 위치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디바이스 정보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이상 접근 탐지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 오남용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Entra ID Audit Log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부여 및 회수 이력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감사 근거 확보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Diagnostic Log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VM·PaaS·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네트워크 리소스의 진단 로그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원인 분석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성능 추이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시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Defender for Cloud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권고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취약 구성 탐지 결과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취약점 조치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84632" y="4864608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로그 보존 기간과 대상 범위는 고객 보안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감사 기준 확인 후 합의하여 구성에 반영합니다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</a:t>
            </a:r>
            <a:endParaRPr sz="800" b="1">
              <a:solidFill>
                <a:srgbClr val="C0502A"/>
              </a:solidFill>
              <a:latin typeface="Pretendard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4632" y="5193792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175504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감사 대응 체계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5449824"/>
            <a:ext cx="2904743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상시 추적성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모든 운영 행위는 티켓·로그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양쪽에 기록되어 사후 추적 가능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9103" y="5449824"/>
            <a:ext cx="2904743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증빙 즉시 제출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감사 요청 시 기간·대상 기준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로그 추출 및 요약 자료 제공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3576" y="5449824"/>
            <a:ext cx="2904743" cy="65836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무단 변경 탐지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승인되지 않은 구성 변경 발견 시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즉시 보고 및 원복 절차 착수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NDA 및 그룹 보안 정책 준수를 계약 수행의 전제 조건으로 관리하며, 준수 여부를 정기 점검하여 결과를 보고합니다.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컴플라이언스 및 보안 준수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계약·보안 준수 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준수 사항 및 이행 방안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35911"/>
              </p:ext>
            </p:extLst>
          </p:nvPr>
        </p:nvGraphicFramePr>
        <p:xfrm>
          <a:off x="484632" y="1645920"/>
          <a:ext cx="8933687" cy="28163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준수 항목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요구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당사 이행 방안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비밀유지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NDA)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제공 자료의 비밀 유지 및 목적 외 사용 금지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참여 인력 전원 개별 보안서약서 징구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자료 반출 통제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자료 반환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파기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 후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7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 이내 자료 반환 또는 파기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파기 확인서 제출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파기 이력 기록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실적 홍보 제한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명칭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상표는 승인 없이 홍보에 사용하지 않음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대외 홍보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제안서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웹사이트 등 일체 미사용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그룹 보안 정책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합의된 정보보호 정책 준수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정책 수령 후 운영 절차에 반영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 준수 점검 수행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인력 보안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투입 인력의 보안 통제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인력 변경 시 사전 통보 및 승인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퇴사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전배 시 권한 즉시 회수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산출물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문서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산출물의 관리 및 인계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지정 저장소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계약 종료 시 전량 인계 후 파기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4553712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535424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컴플라이언스 관리 주기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313645"/>
              </p:ext>
            </p:extLst>
          </p:nvPr>
        </p:nvGraphicFramePr>
        <p:xfrm>
          <a:off x="484632" y="4809744"/>
          <a:ext cx="8933688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점검 항목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주기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수행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보고 형태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적정성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미사용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과다 권한 식별 및 회수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점검 보고서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구성 준수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Policy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기반 구성 준수 여부 평가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정책 준수 결과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서약 이행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반기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인력 변경 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투입 인력 보안 서약 및 교육 이행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이행 확인서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자료 관리 상태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제공 자료 보관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접근 현황 점검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자료 관리 점검표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양쪽 모서리가 둥근 사각형 18">
            <a:extLst>
              <a:ext uri="{FF2B5EF4-FFF2-40B4-BE49-F238E27FC236}">
                <a16:creationId xmlns:a16="http://schemas.microsoft.com/office/drawing/2014/main" id="{539B3F97-085F-D72B-987C-FAC7D5DE38E1}"/>
              </a:ext>
            </a:extLst>
          </p:cNvPr>
          <p:cNvSpPr/>
          <p:nvPr/>
        </p:nvSpPr>
        <p:spPr>
          <a:xfrm rot="5400000">
            <a:off x="850239" y="2252021"/>
            <a:ext cx="2979524" cy="468000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66F9779-717D-C867-A3AD-BF7C8B36607B}"/>
              </a:ext>
            </a:extLst>
          </p:cNvPr>
          <p:cNvGrpSpPr/>
          <p:nvPr/>
        </p:nvGrpSpPr>
        <p:grpSpPr>
          <a:xfrm>
            <a:off x="691805" y="3334383"/>
            <a:ext cx="4166853" cy="2515277"/>
            <a:chOff x="851451" y="2710103"/>
            <a:chExt cx="5128434" cy="30957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901BD9-B712-B807-59E9-EBC6B264E6E1}"/>
                </a:ext>
              </a:extLst>
            </p:cNvPr>
            <p:cNvSpPr txBox="1"/>
            <p:nvPr/>
          </p:nvSpPr>
          <p:spPr>
            <a:xfrm>
              <a:off x="1459210" y="2756825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SLA 관리 체계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3765CC-717C-6D9B-63C4-8DE00246EF4D}"/>
                </a:ext>
              </a:extLst>
            </p:cNvPr>
            <p:cNvSpPr txBox="1"/>
            <p:nvPr/>
          </p:nvSpPr>
          <p:spPr>
            <a:xfrm>
              <a:off x="1459210" y="3422756"/>
              <a:ext cx="3333094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정기 보고 체계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82C611B-4E29-619F-83DD-51F4FB631FD6}"/>
                </a:ext>
              </a:extLst>
            </p:cNvPr>
            <p:cNvGrpSpPr/>
            <p:nvPr/>
          </p:nvGrpSpPr>
          <p:grpSpPr>
            <a:xfrm>
              <a:off x="851451" y="2710103"/>
              <a:ext cx="503999" cy="432000"/>
              <a:chOff x="781765" y="3883420"/>
              <a:chExt cx="503999" cy="432000"/>
            </a:xfrm>
          </p:grpSpPr>
          <p:sp>
            <p:nvSpPr>
              <p:cNvPr id="4" name="모서리가 둥근 직사각형 3">
                <a:extLst>
                  <a:ext uri="{FF2B5EF4-FFF2-40B4-BE49-F238E27FC236}">
                    <a16:creationId xmlns:a16="http://schemas.microsoft.com/office/drawing/2014/main" id="{B4828223-5681-D6FF-1A7B-2181227BC6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D636DA-9CDD-06A0-DDA2-99BD3A571994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01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83CAB6B-5816-2720-AD46-CF3C3EE24E2E}"/>
                </a:ext>
              </a:extLst>
            </p:cNvPr>
            <p:cNvGrpSpPr/>
            <p:nvPr/>
          </p:nvGrpSpPr>
          <p:grpSpPr>
            <a:xfrm>
              <a:off x="851451" y="3376034"/>
              <a:ext cx="503999" cy="432000"/>
              <a:chOff x="781765" y="4594620"/>
              <a:chExt cx="503999" cy="432000"/>
            </a:xfrm>
          </p:grpSpPr>
          <p:sp>
            <p:nvSpPr>
              <p:cNvPr id="7" name="모서리가 둥근 직사각형 6">
                <a:extLst>
                  <a:ext uri="{FF2B5EF4-FFF2-40B4-BE49-F238E27FC236}">
                    <a16:creationId xmlns:a16="http://schemas.microsoft.com/office/drawing/2014/main" id="{516FB77D-7D7D-61F4-E24F-8E4695665C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43F558-9993-C7F0-9B50-E48BB8637044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02</a:t>
                </a:r>
              </a:p>
            </p:txBody>
          </p:sp>
        </p:grp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1CE33A0E-227A-691F-993A-E8FF76622280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259068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320FE4D1-4929-152F-5649-BF51DE5845A4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924998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64A868D-7496-BCE5-8C6E-577227438123}"/>
                </a:ext>
              </a:extLst>
            </p:cNvPr>
            <p:cNvSpPr txBox="1"/>
            <p:nvPr/>
          </p:nvSpPr>
          <p:spPr>
            <a:xfrm>
              <a:off x="1459210" y="4088689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비용 최적화(FinOps)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CEEF041-70F5-8FD8-5D2B-90A59F14B189}"/>
                </a:ext>
              </a:extLst>
            </p:cNvPr>
            <p:cNvGrpSpPr/>
            <p:nvPr/>
          </p:nvGrpSpPr>
          <p:grpSpPr>
            <a:xfrm>
              <a:off x="851451" y="4041965"/>
              <a:ext cx="503999" cy="432000"/>
              <a:chOff x="781765" y="3883420"/>
              <a:chExt cx="503999" cy="432000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E6943877-1837-6EA0-5632-574DFF0B7A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B5DEFE-54B1-885D-B115-A9E813619C1D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03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4C60E8C-D38F-8EC0-5B7D-102F36CF50F7}"/>
                </a:ext>
              </a:extLst>
            </p:cNvPr>
            <p:cNvSpPr txBox="1"/>
            <p:nvPr/>
          </p:nvSpPr>
          <p:spPr>
            <a:xfrm>
              <a:off x="1459208" y="4754617"/>
              <a:ext cx="4520677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인수전환 및 기술이전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F6EE05FE-8FFF-40A0-0DA5-C01C337AC62D}"/>
                </a:ext>
              </a:extLst>
            </p:cNvPr>
            <p:cNvGrpSpPr/>
            <p:nvPr/>
          </p:nvGrpSpPr>
          <p:grpSpPr>
            <a:xfrm>
              <a:off x="851451" y="4707896"/>
              <a:ext cx="503999" cy="432000"/>
              <a:chOff x="781765" y="4594620"/>
              <a:chExt cx="503999" cy="432000"/>
            </a:xfrm>
          </p:grpSpPr>
          <p:sp>
            <p:nvSpPr>
              <p:cNvPr id="39" name="모서리가 둥근 직사각형 38">
                <a:extLst>
                  <a:ext uri="{FF2B5EF4-FFF2-40B4-BE49-F238E27FC236}">
                    <a16:creationId xmlns:a16="http://schemas.microsoft.com/office/drawing/2014/main" id="{BC68AC87-C1D0-01E8-B66E-78E85E500C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32C8B38-2C7D-72CC-08E3-99748C4CD014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04</a:t>
                </a:r>
              </a:p>
            </p:txBody>
          </p:sp>
        </p:grpSp>
        <p:cxnSp>
          <p:nvCxnSpPr>
            <p:cNvPr id="35" name="직선 연결선[R] 34">
              <a:extLst>
                <a:ext uri="{FF2B5EF4-FFF2-40B4-BE49-F238E27FC236}">
                  <a16:creationId xmlns:a16="http://schemas.microsoft.com/office/drawing/2014/main" id="{A7A8F12D-460D-7CB9-6C51-9A69E02CDF0C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590930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F68E0DFF-2620-0E50-F0D7-4C714F2D30F7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590930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D172FD-FCF4-2759-95C0-7C1E21569A82}"/>
                </a:ext>
              </a:extLst>
            </p:cNvPr>
            <p:cNvSpPr txBox="1"/>
            <p:nvPr/>
          </p:nvSpPr>
          <p:spPr>
            <a:xfrm>
              <a:off x="1459208" y="5420549"/>
              <a:ext cx="3199877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지속 개선 체계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463D9E-FBD3-56F4-C36F-5A226730001F}"/>
                </a:ext>
              </a:extLst>
            </p:cNvPr>
            <p:cNvGrpSpPr/>
            <p:nvPr/>
          </p:nvGrpSpPr>
          <p:grpSpPr>
            <a:xfrm>
              <a:off x="851451" y="5373828"/>
              <a:ext cx="503999" cy="432000"/>
              <a:chOff x="781765" y="4594620"/>
              <a:chExt cx="503999" cy="432000"/>
            </a:xfrm>
          </p:grpSpPr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C0BFA030-2F57-99EF-BEE1-D5B6BAD4C6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92C482-32E7-3351-5365-E76B4554725C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05</a:t>
                </a:r>
              </a:p>
            </p:txBody>
          </p:sp>
        </p:grp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3443C784-0787-6B14-8783-16FC83D708A3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5256862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그림 13" descr="스크린샷, 블루, 밤, 기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0113D2F-25CD-1C6A-7544-0232C1DF3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4" y="642938"/>
            <a:ext cx="4333885" cy="5572125"/>
          </a:xfrm>
          <a:prstGeom prst="rect">
            <a:avLst/>
          </a:prstGeom>
        </p:spPr>
      </p:pic>
      <p:pic>
        <p:nvPicPr>
          <p:cNvPr id="26" name="그림 25" descr="스크린샷, 건물, 빛, 밤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1F3E94D-E13B-4CE0-4715-9D6E492D8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6" y="642937"/>
            <a:ext cx="4333885" cy="5572125"/>
          </a:xfrm>
          <a:prstGeom prst="rect">
            <a:avLst/>
          </a:prstGeom>
        </p:spPr>
      </p:pic>
      <p:pic>
        <p:nvPicPr>
          <p:cNvPr id="43" name="그림 42" descr="물, 코발트 블루, 빛,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055CF1-754E-B445-F5F5-ADB81EE4A9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3174"/>
            <a:ext cx="4333879" cy="5571669"/>
          </a:xfrm>
          <a:prstGeom prst="rect">
            <a:avLst/>
          </a:prstGeom>
        </p:spPr>
      </p:pic>
      <p:pic>
        <p:nvPicPr>
          <p:cNvPr id="46" name="그림 45" descr="일렉트릭 블루, 빛, 마조렐 블루, 코발트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DEBE004-F0E8-AAD6-DCC6-E3EFCD5080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2909"/>
            <a:ext cx="4369465" cy="5572125"/>
          </a:xfrm>
          <a:prstGeom prst="rect">
            <a:avLst/>
          </a:prstGeom>
        </p:spPr>
      </p:pic>
      <p:pic>
        <p:nvPicPr>
          <p:cNvPr id="50" name="그림 49" descr="물, 일렉트릭 블루, 빛, 마조렐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3EB8395-9674-2035-70BF-B1ABAD619A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8" y="652909"/>
            <a:ext cx="4333882" cy="5572125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C862516-8FE5-0F71-2430-6F97B8940C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5437" y="642937"/>
            <a:ext cx="1960563" cy="1960563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109F934A-B74F-3B8D-4C1E-61E9552C558E}"/>
              </a:ext>
            </a:extLst>
          </p:cNvPr>
          <p:cNvGrpSpPr/>
          <p:nvPr/>
        </p:nvGrpSpPr>
        <p:grpSpPr>
          <a:xfrm>
            <a:off x="151141" y="1445901"/>
            <a:ext cx="7063898" cy="1757381"/>
            <a:chOff x="258018" y="988262"/>
            <a:chExt cx="7456415" cy="2162932"/>
          </a:xfrm>
        </p:grpSpPr>
        <p:sp>
          <p:nvSpPr>
            <p:cNvPr id="56" name="모서리가 둥근 직사각형 1">
              <a:extLst>
                <a:ext uri="{FF2B5EF4-FFF2-40B4-BE49-F238E27FC236}">
                  <a16:creationId xmlns:a16="http://schemas.microsoft.com/office/drawing/2014/main" id="{F312E49B-5A33-A350-B1B8-3B26AFA0F217}"/>
                </a:ext>
              </a:extLst>
            </p:cNvPr>
            <p:cNvSpPr/>
            <p:nvPr/>
          </p:nvSpPr>
          <p:spPr>
            <a:xfrm>
              <a:off x="258018" y="1348061"/>
              <a:ext cx="1080000" cy="914400"/>
            </a:xfrm>
            <a:prstGeom prst="roundRect">
              <a:avLst/>
            </a:prstGeom>
            <a:solidFill>
              <a:srgbClr val="1A47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95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A2C3E90-2FCD-2AF7-3E6D-8438FEB9895C}"/>
                </a:ext>
              </a:extLst>
            </p:cNvPr>
            <p:cNvSpPr txBox="1"/>
            <p:nvPr/>
          </p:nvSpPr>
          <p:spPr>
            <a:xfrm>
              <a:off x="1554643" y="1143542"/>
              <a:ext cx="6159790" cy="20076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50000"/>
                </a:lnSpc>
                <a:defRPr sz="1200" b="1">
                  <a:ln w="6350">
                    <a:solidFill>
                      <a:prstClr val="white">
                        <a:alpha val="15000"/>
                      </a:prstClr>
                    </a:solidFill>
                  </a:ln>
                  <a:latin typeface="페이퍼로지 8 ExtraBold" pitchFamily="2" charset="-127"/>
                  <a:ea typeface="페이퍼로지 8 ExtraBold" pitchFamily="2" charset="-127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ko-KR" altLang="en-US" sz="5000" dirty="0">
                  <a:solidFill>
                    <a:srgbClr val="1A1A1A"/>
                  </a:solidFill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운영 </a:t>
              </a:r>
              <a:r>
                <a:rPr lang="en-US" altLang="ko-KR" sz="5000" dirty="0">
                  <a:solidFill>
                    <a:srgbClr val="1A1A1A"/>
                  </a:solidFill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/ </a:t>
              </a:r>
              <a:r>
                <a:rPr lang="ko-KR" altLang="en-US" sz="5000" dirty="0">
                  <a:solidFill>
                    <a:srgbClr val="1A1A1A"/>
                  </a:solidFill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관리</a:t>
              </a:r>
              <a:endParaRPr lang="en-US" altLang="ko-KR" sz="5000" dirty="0">
                <a:solidFill>
                  <a:srgbClr val="1A1A1A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endParaRPr>
            </a:p>
            <a:p>
              <a:pPr algn="l">
                <a:lnSpc>
                  <a:spcPct val="100000"/>
                </a:lnSpc>
              </a:pPr>
              <a:r>
                <a:rPr lang="ko-KR" altLang="en-US" sz="5000" dirty="0">
                  <a:solidFill>
                    <a:srgbClr val="1A1A1A"/>
                  </a:solidFill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부문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B311021-E6B8-50FD-C514-DDD1C687163F}"/>
                </a:ext>
              </a:extLst>
            </p:cNvPr>
            <p:cNvSpPr txBox="1"/>
            <p:nvPr/>
          </p:nvSpPr>
          <p:spPr>
            <a:xfrm>
              <a:off x="1554643" y="988262"/>
              <a:ext cx="3175668" cy="3291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50000"/>
                </a:lnSpc>
                <a:defRPr sz="1200" b="1">
                  <a:ln w="6350">
                    <a:solidFill>
                      <a:prstClr val="white">
                        <a:alpha val="15000"/>
                      </a:prstClr>
                    </a:solidFill>
                  </a:ln>
                  <a:latin typeface="페이퍼로지 8 ExtraBold" pitchFamily="2" charset="-127"/>
                  <a:ea typeface="페이퍼로지 8 ExtraBold" pitchFamily="2" charset="-127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ko-KR" sz="1138" b="0" dirty="0">
                  <a:ln w="6350">
                    <a:noFill/>
                  </a:ln>
                  <a:solidFill>
                    <a:srgbClr val="1A1A1A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Your Trusted Partner in AI MSP</a:t>
              </a:r>
              <a:endParaRPr lang="ko-KR" altLang="ko-KR" sz="1138" b="0" dirty="0">
                <a:ln w="6350">
                  <a:noFill/>
                </a:ln>
                <a:solidFill>
                  <a:srgbClr val="1A1A1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59" name="모서리가 둥근 직사각형 10">
              <a:extLst>
                <a:ext uri="{FF2B5EF4-FFF2-40B4-BE49-F238E27FC236}">
                  <a16:creationId xmlns:a16="http://schemas.microsoft.com/office/drawing/2014/main" id="{CE3CDB64-F5CF-57AA-0E78-ABEBCDA194A1}"/>
                </a:ext>
              </a:extLst>
            </p:cNvPr>
            <p:cNvSpPr/>
            <p:nvPr/>
          </p:nvSpPr>
          <p:spPr>
            <a:xfrm rot="18900000">
              <a:off x="1226878" y="1712299"/>
              <a:ext cx="185924" cy="185924"/>
            </a:xfrm>
            <a:prstGeom prst="roundRect">
              <a:avLst>
                <a:gd name="adj" fmla="val 10130"/>
              </a:avLst>
            </a:prstGeom>
            <a:solidFill>
              <a:srgbClr val="1A47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950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A256F776-BBF5-5B40-5F52-12E41A095965}"/>
              </a:ext>
            </a:extLst>
          </p:cNvPr>
          <p:cNvSpPr txBox="1"/>
          <p:nvPr/>
        </p:nvSpPr>
        <p:spPr bwMode="gray">
          <a:xfrm>
            <a:off x="291238" y="1738238"/>
            <a:ext cx="742951" cy="7502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/>
            <a:r>
              <a:rPr lang="en-US" altLang="ko-KR" sz="4875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Ⅴ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5BB5EF0B-9576-7168-3ED0-59AB42A9F32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8582" y="5675861"/>
            <a:ext cx="2264355" cy="6150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SLA는 합의 → 측정 → 보고 → 개선의 순환 구조로 관리하며, 측정값은 서비스데스크 티켓과 모니터링 데이터에서 자동 산출합니다.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SLA 관리 체계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SLA 지표 정의 및 관리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SLA 관리 순환 체계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Pretendard"/>
              </a:rPr>
              <a:t>① 지표 합의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24228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07108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② 측정 체계 구성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46704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29584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③ 실적 측정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69180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52060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④ 정기 보고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391656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74536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⑤ 미달 원인 분석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4131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97011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⑥ 개선 이행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225856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24028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제안 SLA 지표 (안)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73048"/>
              </p:ext>
            </p:extLst>
          </p:nvPr>
        </p:nvGraphicFramePr>
        <p:xfrm>
          <a:off x="484632" y="2514600"/>
          <a:ext cx="8933688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지표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측정 방법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목표 수준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가용성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가용률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 기반 중단 시간 집계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[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협의 필요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]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응답성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등급별 최초 응답 시간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티켓 접수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~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최초 응답 시각 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[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협의 필요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]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복구성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등급별 복구 소요 시간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티켓 접수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~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정상화 시각 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[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협의 필요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]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처리성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기한 내 처리율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목표 내 종결 티켓 비율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[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협의 필요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]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운영성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점검 이행률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계획 대비 실제 수행 건수 비율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100%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보고성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보고 적시 제출률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약정 기한 내 제출 여부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100%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84632" y="4910327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502A"/>
                </a:solidFill>
                <a:latin typeface="Pretendard"/>
              </a:rPr>
              <a:t>[고객 협의 필요] RFP에 SLA 등급 기준 및 목표 수치가 명시되지 않아 목표 수준을 임의로 산정하지 않았습니다. 계약 후 SLA 합의 시 확정하며, 합의 전까지는 당사 표준 대응 기준을 적용합니다.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5239512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221224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SLA 미달 시 조치 절차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5495544"/>
            <a:ext cx="2151126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원인 분석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미달 항목별 근본 원인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분석 및 재발 요인 식별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5486" y="5495544"/>
            <a:ext cx="2151126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개선 계획 제출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조치 방안·완료 시점을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포함한 개선 계획 제출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6340" y="5495544"/>
            <a:ext cx="2151126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이행 및 검증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개선 과제 수행 후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다음 측정 주기에 효과 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7194" y="5495544"/>
            <a:ext cx="2151126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협의체 보고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운영 협의체에 이행 현황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보고 및 고객 확인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일간·주간·월간·분기 4단계 보고 체계로 운영 현황의 상시 가시성을 제공하며, 모든 보고는 측정 데이터에 근거합니다.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정기 보고 체계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보고 주기 및 보고 내용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보고 체계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414357"/>
              </p:ext>
            </p:extLst>
          </p:nvPr>
        </p:nvGraphicFramePr>
        <p:xfrm>
          <a:off x="484632" y="1645920"/>
          <a:ext cx="8933688" cy="2414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주기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보고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대상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형식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현황 공유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전일 장애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주요 요청 처리 현황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당일 예정 작업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운영 담당자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메일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대시보드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주간 운영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처리 현황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이행 내역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이슈 및 조치 계획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운영 담당자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보고서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 서비스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측정 결과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분석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사용 현황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개선 과제 진행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관리 책임자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보고서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+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대면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 서비스 리뷰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수준 종합 평가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점검 결과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중장기 개선 제안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임원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협의체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리뷰 세션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수시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발생 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P1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발생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복구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이슈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긴급 변경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지정 연락 체계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즉시 통보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+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사후 보고서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4151376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133088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운영 협의체 운영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243421"/>
              </p:ext>
            </p:extLst>
          </p:nvPr>
        </p:nvGraphicFramePr>
        <p:xfrm>
          <a:off x="484632" y="4407408"/>
          <a:ext cx="8933688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협의체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주기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참여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주요 안건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실무 협의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운영 담당자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R2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딜리버리 매니저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R4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엔지니어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이슈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예정 작업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승인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관리 협의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관리 책임자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R1 PM / R2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딜리버리 매니저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실적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개선 과제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리스크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경영 리뷰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임원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R1 PM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수준 종합 평가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중장기 개선 방향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84632" y="6035040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502A"/>
                </a:solidFill>
                <a:latin typeface="Pretendard"/>
              </a:rPr>
              <a:t>[확인 필요] 보고 서식·제출 채널 및 협의체 구성은 고객 표준 양식이 있는 경우 해당 양식을 우선 적용합니다.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비용을 '가시화 → 분석 → 권고 → 실행 → 검증'의 순환으로 관리하여 근거 기반의 비용 절감 과제를 도출합니다.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비용 최적화(FinOps)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Azure 비용 가시화 및 최적화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FinOps 운영 순환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Pretendard"/>
              </a:rPr>
              <a:t>① 가시화</a:t>
            </a:r>
          </a:p>
          <a:p>
            <a:pPr algn="ctr"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Pretendard"/>
              </a:rPr>
              <a:t>(태그·구분)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28723" y="1856231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1603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② 분석</a:t>
            </a:r>
          </a:p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(사용 추이)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5694" y="1856231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38574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③ 권고</a:t>
            </a:r>
          </a:p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(절감 과제)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82665" y="1856231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65545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④ 실행</a:t>
            </a:r>
          </a:p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(변경관리)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09636" y="1856231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92516" y="1645920"/>
            <a:ext cx="1625803" cy="56692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⑤ 검증</a:t>
            </a:r>
          </a:p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(효과 측정)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322576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304288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비용 최적화 활동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096778"/>
              </p:ext>
            </p:extLst>
          </p:nvPr>
        </p:nvGraphicFramePr>
        <p:xfrm>
          <a:off x="484632" y="2578608"/>
          <a:ext cx="8933688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활동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수행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적용 도구 </a:t>
                      </a:r>
                      <a:r>
                        <a:rPr lang="en-US" altLang="ko-KR" sz="819" b="1">
                          <a:solidFill>
                            <a:srgbClr val="FFFFFF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방식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보고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가시화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관계사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환경 단위 비용 구분 및 대시보드 제공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Cost Management,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태그 체계 표준화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사용량 분석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리소스별 사용률 추이 분석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저사용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유휴 자원 식별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Monitor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메트릭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Advisor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구조 최적화 권고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인스턴스 크기 조정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스토리지 계층 조정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불필요 자원 정리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Right-sizing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약정 할인 검토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안정적 상시 가동 워크로드 대상 예약 인스턴스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절감 계획 검토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사용 패턴 기반 시뮬레이션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예산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예산 임계치 설정 및 초과 예상 시 사전 경보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Cost Alert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84632" y="4974336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502A"/>
                </a:solidFill>
                <a:latin typeface="Pretendard"/>
              </a:rPr>
              <a:t>비용 절감 효과는 실제 사용 데이터 분석 후 산출하며, 근거 없는 절감률을 제시하지 않습니다. 모든 최적화 실행은 고객 승인 및 변경관리 절차를 거칩니다.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5303520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285232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고객 가치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5559552"/>
            <a:ext cx="2904743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비용 투명성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누가·무엇에 얼마를 사용하는지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관계사 단위까지 확인 가능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9103" y="5559552"/>
            <a:ext cx="2904743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예산 예측성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사용 추이 기반 예상 비용 제시로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예산 초과 사전 대응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3576" y="5559552"/>
            <a:ext cx="2904743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근거 기반 절감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추정이 아닌 측정 데이터 기반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절감 과제 도출 및 효과 검증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계약 시작의 인수(Transition-In)와 종료의 이관(Transition-Out)을 동일 수준으로 설계하여 운영 연속성과 고객의 자산 회수를 보장합니다.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인수전환 및 기술이전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Transition-In / Transition-Out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인수</a:t>
            </a: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(Transition-In) </a:t>
            </a: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절차 </a:t>
            </a: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— P2 (</a:t>
            </a: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기간 협의 후 확정</a:t>
            </a: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)</a:t>
            </a:r>
            <a:endParaRPr sz="1050" b="1">
              <a:solidFill>
                <a:srgbClr val="003378"/>
              </a:solidFill>
              <a:latin typeface="Pretendard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970085"/>
              </p:ext>
            </p:extLst>
          </p:nvPr>
        </p:nvGraphicFramePr>
        <p:xfrm>
          <a:off x="484632" y="1645920"/>
          <a:ext cx="8933688" cy="1975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수행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고객 협조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완료 기준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환경 실사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구독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리소스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네트워크 구성 현황 조사 및 목록화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정보 및 접근 권한 제공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환경 현황 목록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 인수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 문서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절차서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이력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정보 인수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운영사 협조 주선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 문서 목록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이관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계정 생성 및 권한 부여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권한 회수 계획 수립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승인 및 보안 절차 안내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접근 가능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병행 운영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 체계와 병행하며 실제 운영 상황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운영사 인수인계 참여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주요 운영 시나리오 검증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 완료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 체크리스트 전 항목 확인 및 고객 승인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 완료 승인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M2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정식 개시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3712463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694176"/>
            <a:ext cx="8823960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기술이전 및 이관</a:t>
            </a: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(Transition-Out) — P6 (</a:t>
            </a: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기간 협의 후 확정</a:t>
            </a:r>
            <a:r>
              <a:rPr lang="en-US" altLang="ko-KR" sz="1050" b="1">
                <a:solidFill>
                  <a:srgbClr val="003378"/>
                </a:solidFill>
                <a:latin typeface="Pretendard"/>
              </a:rPr>
              <a:t>)</a:t>
            </a:r>
            <a:endParaRPr sz="1050" b="1">
              <a:solidFill>
                <a:srgbClr val="003378"/>
              </a:solidFill>
              <a:latin typeface="Pretendard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782156"/>
              </p:ext>
            </p:extLst>
          </p:nvPr>
        </p:nvGraphicFramePr>
        <p:xfrm>
          <a:off x="484632" y="3968496"/>
          <a:ext cx="8933688" cy="1755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기술이전 교육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절차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 구성에 대한 교육 세션 제공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교육 자료 및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Runbook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일체 제공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 인계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문서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정보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이력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이력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개선 과제 현황 전량 인계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 회수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당사 운영 계정 및 권한 전량 회수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회수 결과 확인서 제출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자료 파기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인계 완료 후 보유 자료 파기 및 파기 확인서 제출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(NDA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기준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7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 이내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안정화 지원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이관 후 협의된 기간 동안 문의 대응 지원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[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협의 필요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—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지원 기간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]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84632" y="5815583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502A"/>
                </a:solidFill>
                <a:latin typeface="Pretendard"/>
              </a:rPr>
              <a:t>[확인 필요] 기존 운영사 및 인수인계 가능 범위가 RFP에 명시되지 않아, 기존 운영사 협조 지연은 주요 일정 리스크로 관리합니다.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운영에서 축적된 데이터를 개선 과제로 전환하여 계약 기간 동안 서비스 수준을 단계적으로 향상시킵니다.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지속 개선 체계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운영 데이터 기반 개선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개선 과제 도출 및 이행 순환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Pretendard"/>
              </a:rPr>
              <a:t>운영 데이터 수집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24228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07108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패턴·원인 분석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46704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29584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개선 과제 도출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69180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52060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고객 협의·승인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391656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74536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이행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4131" y="1824228"/>
            <a:ext cx="164592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97011" y="1645920"/>
            <a:ext cx="1321308" cy="5029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효과 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225856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24028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개선 영역별 활동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958282"/>
              </p:ext>
            </p:extLst>
          </p:nvPr>
        </p:nvGraphicFramePr>
        <p:xfrm>
          <a:off x="484632" y="2514600"/>
          <a:ext cx="8933687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개선 영역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분석 데이터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개선 활동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주기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재발 방지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이력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원인 분석 결과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반복 장애의 근본 원인 제거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 임계치 조정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효율화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반복 요청 유형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처리 소요 시간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반복 작업 표준화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자동화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카탈로그 확충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아키텍처 개선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성능 지표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리소스 사용률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구조적 병목 개선 및 확장성 확보 방안 제안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강화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점검 결과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권고 사항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취약 구성 개선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체계 재정비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최적화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사용량 추이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유휴 자원 정리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크기 조정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약정 할인 검토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월간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84632" y="4910327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89204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개선 관리 원칙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" y="5166359"/>
            <a:ext cx="2904743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과제 등록·추적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도출된 모든 개선 과제는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등록·담당·기한을 부여하여 추적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9103" y="5166359"/>
            <a:ext cx="2904743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고객 승인 기반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운영 환경에 영향을 주는 개선은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반드시 고객 승인 후 이행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3576" y="5166359"/>
            <a:ext cx="2904743" cy="62179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효과 검증 의무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이행 후 동일 지표로 재측정하여</a:t>
            </a:r>
          </a:p>
          <a:p>
            <a:pPr algn="l">
              <a:spcAft>
                <a:spcPts val="0"/>
              </a:spcAft>
            </a:pPr>
            <a:r>
              <a:rPr sz="830" b="0">
                <a:solidFill>
                  <a:srgbClr val="595959"/>
                </a:solidFill>
                <a:latin typeface="Pretendard"/>
              </a:rPr>
              <a:t>효과를 정량 확인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91FC5A3-9D93-FB16-BAA4-300F70E789FF}"/>
              </a:ext>
            </a:extLst>
          </p:cNvPr>
          <p:cNvSpPr/>
          <p:nvPr/>
        </p:nvSpPr>
        <p:spPr>
          <a:xfrm>
            <a:off x="151140" y="1441148"/>
            <a:ext cx="936000" cy="742950"/>
          </a:xfrm>
          <a:prstGeom prst="roundRect">
            <a:avLst>
              <a:gd name="adj" fmla="val 1409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19" name="양쪽 모서리가 둥근 사각형 18">
            <a:extLst>
              <a:ext uri="{FF2B5EF4-FFF2-40B4-BE49-F238E27FC236}">
                <a16:creationId xmlns:a16="http://schemas.microsoft.com/office/drawing/2014/main" id="{539B3F97-085F-D72B-987C-FAC7D5DE38E1}"/>
              </a:ext>
            </a:extLst>
          </p:cNvPr>
          <p:cNvSpPr/>
          <p:nvPr/>
        </p:nvSpPr>
        <p:spPr>
          <a:xfrm rot="5400000">
            <a:off x="850239" y="1753262"/>
            <a:ext cx="2979524" cy="468000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AD00C-D460-2823-90EB-E369BD010162}"/>
              </a:ext>
            </a:extLst>
          </p:cNvPr>
          <p:cNvSpPr txBox="1"/>
          <p:nvPr/>
        </p:nvSpPr>
        <p:spPr>
          <a:xfrm>
            <a:off x="1263148" y="1274978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 dirty="0">
                <a:solidFill>
                  <a:srgbClr val="1A1A1A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기타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0F13C-CD8A-8C94-8FD3-81A6044F7DFB}"/>
              </a:ext>
            </a:extLst>
          </p:cNvPr>
          <p:cNvSpPr txBox="1"/>
          <p:nvPr/>
        </p:nvSpPr>
        <p:spPr>
          <a:xfrm>
            <a:off x="1313516" y="1148812"/>
            <a:ext cx="258023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ko-KR" sz="1138" b="0" dirty="0">
                <a:ln w="6350">
                  <a:noFill/>
                </a:ln>
                <a:solidFill>
                  <a:srgbClr val="1A1A1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PROJECT EXECUTION PLAN</a:t>
            </a:r>
            <a:endParaRPr lang="ko-KR" altLang="ko-KR" sz="1138" b="0" dirty="0">
              <a:ln w="6350">
                <a:noFill/>
              </a:ln>
              <a:solidFill>
                <a:srgbClr val="1A1A1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225983D-B848-6AC7-325C-6390185CC80F}"/>
              </a:ext>
            </a:extLst>
          </p:cNvPr>
          <p:cNvSpPr/>
          <p:nvPr/>
        </p:nvSpPr>
        <p:spPr>
          <a:xfrm rot="18900000">
            <a:off x="996839" y="1737092"/>
            <a:ext cx="151063" cy="151063"/>
          </a:xfrm>
          <a:prstGeom prst="roundRect">
            <a:avLst>
              <a:gd name="adj" fmla="val 1013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66F9779-717D-C867-A3AD-BF7C8B36607B}"/>
              </a:ext>
            </a:extLst>
          </p:cNvPr>
          <p:cNvGrpSpPr/>
          <p:nvPr/>
        </p:nvGrpSpPr>
        <p:grpSpPr>
          <a:xfrm>
            <a:off x="691805" y="2835624"/>
            <a:ext cx="4166853" cy="2515277"/>
            <a:chOff x="851451" y="2710103"/>
            <a:chExt cx="5128434" cy="30957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901BD9-B712-B807-59E9-EBC6B264E6E1}"/>
                </a:ext>
              </a:extLst>
            </p:cNvPr>
            <p:cNvSpPr txBox="1"/>
            <p:nvPr/>
          </p:nvSpPr>
          <p:spPr>
            <a:xfrm>
              <a:off x="1459210" y="2756825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프로젝트 수행 단계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3765CC-717C-6D9B-63C4-8DE00246EF4D}"/>
                </a:ext>
              </a:extLst>
            </p:cNvPr>
            <p:cNvSpPr txBox="1"/>
            <p:nvPr/>
          </p:nvSpPr>
          <p:spPr>
            <a:xfrm>
              <a:off x="1459210" y="3422756"/>
              <a:ext cx="3333094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수행 일정 및 Milestone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82C611B-4E29-619F-83DD-51F4FB631FD6}"/>
                </a:ext>
              </a:extLst>
            </p:cNvPr>
            <p:cNvGrpSpPr/>
            <p:nvPr/>
          </p:nvGrpSpPr>
          <p:grpSpPr>
            <a:xfrm>
              <a:off x="851451" y="2710103"/>
              <a:ext cx="503999" cy="432000"/>
              <a:chOff x="781765" y="3883420"/>
              <a:chExt cx="503999" cy="432000"/>
            </a:xfrm>
          </p:grpSpPr>
          <p:sp>
            <p:nvSpPr>
              <p:cNvPr id="4" name="모서리가 둥근 직사각형 3">
                <a:extLst>
                  <a:ext uri="{FF2B5EF4-FFF2-40B4-BE49-F238E27FC236}">
                    <a16:creationId xmlns:a16="http://schemas.microsoft.com/office/drawing/2014/main" id="{B4828223-5681-D6FF-1A7B-2181227BC6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D636DA-9CDD-06A0-DDA2-99BD3A571994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01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83CAB6B-5816-2720-AD46-CF3C3EE24E2E}"/>
                </a:ext>
              </a:extLst>
            </p:cNvPr>
            <p:cNvGrpSpPr/>
            <p:nvPr/>
          </p:nvGrpSpPr>
          <p:grpSpPr>
            <a:xfrm>
              <a:off x="851451" y="3376034"/>
              <a:ext cx="503999" cy="432000"/>
              <a:chOff x="781765" y="4594620"/>
              <a:chExt cx="503999" cy="432000"/>
            </a:xfrm>
          </p:grpSpPr>
          <p:sp>
            <p:nvSpPr>
              <p:cNvPr id="7" name="모서리가 둥근 직사각형 6">
                <a:extLst>
                  <a:ext uri="{FF2B5EF4-FFF2-40B4-BE49-F238E27FC236}">
                    <a16:creationId xmlns:a16="http://schemas.microsoft.com/office/drawing/2014/main" id="{516FB77D-7D7D-61F4-E24F-8E4695665C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43F558-9993-C7F0-9B50-E48BB8637044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02</a:t>
                </a:r>
              </a:p>
            </p:txBody>
          </p:sp>
        </p:grp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1CE33A0E-227A-691F-993A-E8FF76622280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259068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320FE4D1-4929-152F-5649-BF51DE5845A4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924998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64A868D-7496-BCE5-8C6E-577227438123}"/>
                </a:ext>
              </a:extLst>
            </p:cNvPr>
            <p:cNvSpPr txBox="1"/>
            <p:nvPr/>
          </p:nvSpPr>
          <p:spPr>
            <a:xfrm>
              <a:off x="1459210" y="4088689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수행 조직 및 역할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CEEF041-70F5-8FD8-5D2B-90A59F14B189}"/>
                </a:ext>
              </a:extLst>
            </p:cNvPr>
            <p:cNvGrpSpPr/>
            <p:nvPr/>
          </p:nvGrpSpPr>
          <p:grpSpPr>
            <a:xfrm>
              <a:off x="851451" y="4041965"/>
              <a:ext cx="503999" cy="432000"/>
              <a:chOff x="781765" y="3883420"/>
              <a:chExt cx="503999" cy="432000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E6943877-1837-6EA0-5632-574DFF0B7A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B5DEFE-54B1-885D-B115-A9E813619C1D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03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4C60E8C-D38F-8EC0-5B7D-102F36CF50F7}"/>
                </a:ext>
              </a:extLst>
            </p:cNvPr>
            <p:cNvSpPr txBox="1"/>
            <p:nvPr/>
          </p:nvSpPr>
          <p:spPr>
            <a:xfrm>
              <a:off x="1459208" y="4754617"/>
              <a:ext cx="4520677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투입 인력 계획</a:t>
              </a:r>
              <a:endParaRPr lang="en-US" altLang="ko-KR" sz="1300" b="1" dirty="0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F6EE05FE-8FFF-40A0-0DA5-C01C337AC62D}"/>
                </a:ext>
              </a:extLst>
            </p:cNvPr>
            <p:cNvGrpSpPr/>
            <p:nvPr/>
          </p:nvGrpSpPr>
          <p:grpSpPr>
            <a:xfrm>
              <a:off x="851451" y="4707896"/>
              <a:ext cx="503999" cy="432000"/>
              <a:chOff x="781765" y="4594620"/>
              <a:chExt cx="503999" cy="432000"/>
            </a:xfrm>
          </p:grpSpPr>
          <p:sp>
            <p:nvSpPr>
              <p:cNvPr id="39" name="모서리가 둥근 직사각형 38">
                <a:extLst>
                  <a:ext uri="{FF2B5EF4-FFF2-40B4-BE49-F238E27FC236}">
                    <a16:creationId xmlns:a16="http://schemas.microsoft.com/office/drawing/2014/main" id="{BC68AC87-C1D0-01E8-B66E-78E85E500C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32C8B38-2C7D-72CC-08E3-99748C4CD014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04</a:t>
                </a:r>
              </a:p>
            </p:txBody>
          </p:sp>
        </p:grpSp>
        <p:cxnSp>
          <p:nvCxnSpPr>
            <p:cNvPr id="35" name="직선 연결선[R] 34">
              <a:extLst>
                <a:ext uri="{FF2B5EF4-FFF2-40B4-BE49-F238E27FC236}">
                  <a16:creationId xmlns:a16="http://schemas.microsoft.com/office/drawing/2014/main" id="{A7A8F12D-460D-7CB9-6C51-9A69E02CDF0C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590930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F68E0DFF-2620-0E50-F0D7-4C714F2D30F7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590930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D172FD-FCF4-2759-95C0-7C1E21569A82}"/>
                </a:ext>
              </a:extLst>
            </p:cNvPr>
            <p:cNvSpPr txBox="1"/>
            <p:nvPr/>
          </p:nvSpPr>
          <p:spPr>
            <a:xfrm>
              <a:off x="1459208" y="5420549"/>
              <a:ext cx="3199877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고객 협조사항 및 리스크 관리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463D9E-FBD3-56F4-C36F-5A226730001F}"/>
                </a:ext>
              </a:extLst>
            </p:cNvPr>
            <p:cNvGrpSpPr/>
            <p:nvPr/>
          </p:nvGrpSpPr>
          <p:grpSpPr>
            <a:xfrm>
              <a:off x="851451" y="5373828"/>
              <a:ext cx="503999" cy="432000"/>
              <a:chOff x="781765" y="4594620"/>
              <a:chExt cx="503999" cy="432000"/>
            </a:xfrm>
          </p:grpSpPr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C0BFA030-2F57-99EF-BEE1-D5B6BAD4C6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92C482-32E7-3351-5365-E76B4554725C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 dirty="0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05</a:t>
                </a:r>
              </a:p>
            </p:txBody>
          </p:sp>
        </p:grp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3443C784-0787-6B14-8783-16FC83D708A3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5256862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A2616C7-4237-959F-6CBC-DA59FA007BA2}"/>
              </a:ext>
            </a:extLst>
          </p:cNvPr>
          <p:cNvSpPr txBox="1"/>
          <p:nvPr/>
        </p:nvSpPr>
        <p:spPr bwMode="gray">
          <a:xfrm>
            <a:off x="247665" y="1429838"/>
            <a:ext cx="742951" cy="7502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/>
            <a:r>
              <a:rPr lang="en-US" altLang="ko-KR" sz="4875" b="1" dirty="0">
                <a:solidFill>
                  <a:schemeClr val="bg1"/>
                </a:solidFill>
                <a:latin typeface="Pretendard" panose="02000503000000020004" pitchFamily="50" charset="-127"/>
                <a:cs typeface="Pretendard" panose="02000503000000020004" pitchFamily="50" charset="-127"/>
              </a:rPr>
              <a:t>Ⅵ</a:t>
            </a:r>
          </a:p>
        </p:txBody>
      </p:sp>
      <p:pic>
        <p:nvPicPr>
          <p:cNvPr id="14" name="그림 13" descr="스크린샷, 블루, 밤, 기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4A8457-152A-7220-D294-91D86CD91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4" y="642938"/>
            <a:ext cx="4333885" cy="5572125"/>
          </a:xfrm>
          <a:prstGeom prst="rect">
            <a:avLst/>
          </a:prstGeom>
        </p:spPr>
      </p:pic>
      <p:pic>
        <p:nvPicPr>
          <p:cNvPr id="26" name="그림 25" descr="스크린샷, 건물, 빛, 밤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66160C1-2D98-FD5D-63FE-410623EE8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6" y="642937"/>
            <a:ext cx="4333885" cy="5572125"/>
          </a:xfrm>
          <a:prstGeom prst="rect">
            <a:avLst/>
          </a:prstGeom>
        </p:spPr>
      </p:pic>
      <p:pic>
        <p:nvPicPr>
          <p:cNvPr id="43" name="그림 42" descr="물, 코발트 블루, 빛,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9918A0-17A6-3148-31E9-6D6CD6E461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3174"/>
            <a:ext cx="4333879" cy="5571669"/>
          </a:xfrm>
          <a:prstGeom prst="rect">
            <a:avLst/>
          </a:prstGeom>
        </p:spPr>
      </p:pic>
      <p:pic>
        <p:nvPicPr>
          <p:cNvPr id="46" name="그림 45" descr="일렉트릭 블루, 빛, 마조렐 블루, 코발트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9963228-E6C0-E0BE-9785-0A14A9BB6B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2909"/>
            <a:ext cx="4369465" cy="5572125"/>
          </a:xfrm>
          <a:prstGeom prst="rect">
            <a:avLst/>
          </a:prstGeom>
        </p:spPr>
      </p:pic>
      <p:pic>
        <p:nvPicPr>
          <p:cNvPr id="50" name="그림 49" descr="물, 일렉트릭 블루, 빛, 마조렐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D43D73-1B9D-9675-8FBA-1DA5F3C6A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8" y="652909"/>
            <a:ext cx="4333882" cy="5572125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D8ABA7F8-5C32-CBE9-3DF3-20016E0823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5437" y="642937"/>
            <a:ext cx="1960563" cy="1960563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53CD2E6C-E035-FBBA-2C60-43DA32B9DE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8582" y="5675861"/>
            <a:ext cx="2264355" cy="61501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계약 기간 1년(52주)을 6개 단계로 구성하며, 인수·구축 단계와 정상 운영 단계를 병행 구조로 설계하여 서비스 공백을 방지합니다.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수행 단계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전체 수행 단계 및 주요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수행 단계 구성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960213"/>
              </p:ext>
            </p:extLst>
          </p:nvPr>
        </p:nvGraphicFramePr>
        <p:xfrm>
          <a:off x="484632" y="1645920"/>
          <a:ext cx="8933688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단계명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기간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주요 활동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주요 산출물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P1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착수 및 계획 수립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착수 준비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수행 계획 확정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조직 구성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의사소통 체계 수립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수행계획서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착수보고서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P2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전환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Transition-In)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환경 실사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 인수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이관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병행 운영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 완료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환경 현황서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인수인계 확인서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운영체계 구축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프로세스 정의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알람 구성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 개설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운영절차서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합의서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P4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정상 운영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Steady State)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처리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백업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보고서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점검 결과서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P5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개선 및 최적화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개선 과제 도출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이행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최적화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아키텍처 개선 제안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개선 과제 관리대장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종료 및 이관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Transition-Out)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기술이전 교육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자산 인계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 회수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자료 파기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종료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기술이전 자료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종료보고서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4632" y="5065776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계약 시작일이 미확정된 점을 고려해 본 제안 일정은 상대 기간으로 표기했으며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,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기준 일정은 계약 후 확정합니다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</a:t>
            </a:r>
            <a:endParaRPr sz="800" b="1">
              <a:solidFill>
                <a:srgbClr val="C0502A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인수 완료 시점(W4)을 서비스 정식 개시 기준으로 설정하고, 6개 Milestone으로 진척을 관리합니다.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수행 일정 및 Milestone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전체 일정 및 주요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전체 수행 일정 (서비스 개시 기준 상대 주차)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33472" y="1645920"/>
            <a:ext cx="969264" cy="219456"/>
          </a:xfrm>
          <a:prstGeom prst="rect">
            <a:avLst/>
          </a:prstGeom>
          <a:solidFill>
            <a:srgbClr val="E8EE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60" b="1">
                <a:solidFill>
                  <a:srgbClr val="003378"/>
                </a:solidFill>
                <a:latin typeface="Pretendard"/>
              </a:rPr>
              <a:t>기간 협의 후 확정</a:t>
            </a:r>
            <a:endParaRPr sz="76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02736" y="1645920"/>
            <a:ext cx="969264" cy="219456"/>
          </a:xfrm>
          <a:prstGeom prst="rect">
            <a:avLst/>
          </a:prstGeom>
          <a:solidFill>
            <a:srgbClr val="E8EE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60" b="1">
                <a:solidFill>
                  <a:srgbClr val="003378"/>
                </a:solidFill>
                <a:latin typeface="Pretendard"/>
              </a:rPr>
              <a:t>기간 협의 후 확정</a:t>
            </a:r>
            <a:endParaRPr sz="76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969264" cy="219456"/>
          </a:xfrm>
          <a:prstGeom prst="rect">
            <a:avLst/>
          </a:prstGeom>
          <a:solidFill>
            <a:srgbClr val="E8EE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60" b="1">
                <a:solidFill>
                  <a:srgbClr val="003378"/>
                </a:solidFill>
                <a:latin typeface="Pretendard"/>
              </a:rPr>
              <a:t>기간 협의 후 확정</a:t>
            </a:r>
            <a:endParaRPr sz="76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41264" y="1645920"/>
            <a:ext cx="969264" cy="219456"/>
          </a:xfrm>
          <a:prstGeom prst="rect">
            <a:avLst/>
          </a:prstGeom>
          <a:solidFill>
            <a:srgbClr val="E8EE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60" b="1">
                <a:solidFill>
                  <a:srgbClr val="003378"/>
                </a:solidFill>
                <a:latin typeface="Pretendard"/>
              </a:rPr>
              <a:t>기간 협의 후 확정</a:t>
            </a:r>
            <a:endParaRPr sz="76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10528" y="1645920"/>
            <a:ext cx="969264" cy="219456"/>
          </a:xfrm>
          <a:prstGeom prst="rect">
            <a:avLst/>
          </a:prstGeom>
          <a:solidFill>
            <a:srgbClr val="E8EE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60" b="1">
                <a:solidFill>
                  <a:srgbClr val="003378"/>
                </a:solidFill>
                <a:latin typeface="Pretendard"/>
              </a:rPr>
              <a:t>기간 협의 후 확정</a:t>
            </a:r>
            <a:endParaRPr sz="76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79792" y="1645920"/>
            <a:ext cx="969264" cy="219456"/>
          </a:xfrm>
          <a:prstGeom prst="rect">
            <a:avLst/>
          </a:prstGeom>
          <a:solidFill>
            <a:srgbClr val="E8EE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60" b="1">
                <a:solidFill>
                  <a:srgbClr val="003378"/>
                </a:solidFill>
                <a:latin typeface="Pretendard"/>
              </a:rPr>
              <a:t>기간 협의 후 확정</a:t>
            </a:r>
            <a:endParaRPr sz="76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49056" y="1645920"/>
            <a:ext cx="969264" cy="219456"/>
          </a:xfrm>
          <a:prstGeom prst="rect">
            <a:avLst/>
          </a:prstGeom>
          <a:solidFill>
            <a:srgbClr val="E8EE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60" b="1">
                <a:solidFill>
                  <a:srgbClr val="003378"/>
                </a:solidFill>
                <a:latin typeface="Pretendard"/>
              </a:rPr>
              <a:t>기간 협의 후 확정</a:t>
            </a:r>
            <a:endParaRPr sz="76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4632" y="1865376"/>
            <a:ext cx="214884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790" b="0">
                <a:solidFill>
                  <a:srgbClr val="595959"/>
                </a:solidFill>
                <a:latin typeface="Pretendard"/>
              </a:rPr>
              <a:t>P1 착수 및 계획 수립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3472" y="1865376"/>
            <a:ext cx="6784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33472" y="1915668"/>
            <a:ext cx="260955" cy="173736"/>
          </a:xfrm>
          <a:prstGeom prst="roundRect">
            <a:avLst>
              <a:gd name="adj" fmla="val 30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00" b="1">
                <a:solidFill>
                  <a:srgbClr val="FFFFFF"/>
                </a:solidFill>
                <a:latin typeface="Pretendard"/>
              </a:rPr>
              <a:t>기간 협의 후 확정</a:t>
            </a:r>
            <a:endParaRPr sz="7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4632" y="2139696"/>
            <a:ext cx="214884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790" b="0">
                <a:solidFill>
                  <a:srgbClr val="595959"/>
                </a:solidFill>
                <a:latin typeface="Pretendard"/>
              </a:rPr>
              <a:t>P2 인수·전환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2139696"/>
            <a:ext cx="6784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33472" y="2189988"/>
            <a:ext cx="521911" cy="173736"/>
          </a:xfrm>
          <a:prstGeom prst="roundRect">
            <a:avLst>
              <a:gd name="adj" fmla="val 30000"/>
            </a:avLst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00" b="1">
                <a:solidFill>
                  <a:srgbClr val="FFFFFF"/>
                </a:solidFill>
                <a:latin typeface="Pretendard"/>
              </a:rPr>
              <a:t>기간 협의 후 확정</a:t>
            </a:r>
            <a:endParaRPr sz="7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4632" y="2414015"/>
            <a:ext cx="214884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790" b="0">
                <a:solidFill>
                  <a:srgbClr val="595959"/>
                </a:solidFill>
                <a:latin typeface="Pretendard"/>
              </a:rPr>
              <a:t>P3 운영체계 구축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3472" y="2414015"/>
            <a:ext cx="6784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63949" y="2464308"/>
            <a:ext cx="652389" cy="173736"/>
          </a:xfrm>
          <a:prstGeom prst="roundRect">
            <a:avLst>
              <a:gd name="adj" fmla="val 30000"/>
            </a:avLst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00" b="1">
                <a:solidFill>
                  <a:srgbClr val="FFFFFF"/>
                </a:solidFill>
                <a:latin typeface="Pretendard"/>
              </a:rPr>
              <a:t>기간 협의 후 확정</a:t>
            </a:r>
            <a:endParaRPr sz="7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84632" y="2688335"/>
            <a:ext cx="214884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790" b="0">
                <a:solidFill>
                  <a:srgbClr val="595959"/>
                </a:solidFill>
                <a:latin typeface="Pretendard"/>
              </a:rPr>
              <a:t>P4 정상 운영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472" y="2688335"/>
            <a:ext cx="6784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155383" y="2738627"/>
            <a:ext cx="6262936" cy="173736"/>
          </a:xfrm>
          <a:prstGeom prst="roundRect">
            <a:avLst>
              <a:gd name="adj" fmla="val 3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00" b="1">
                <a:solidFill>
                  <a:srgbClr val="FFFFFF"/>
                </a:solidFill>
                <a:latin typeface="Pretendard"/>
              </a:rPr>
              <a:t>기간 협의 후 확정</a:t>
            </a:r>
            <a:endParaRPr sz="7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84632" y="2962655"/>
            <a:ext cx="214884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790" b="0">
                <a:solidFill>
                  <a:srgbClr val="595959"/>
                </a:solidFill>
                <a:latin typeface="Pretendard"/>
              </a:rPr>
              <a:t>P5 개선 및 최적화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33472" y="2962655"/>
            <a:ext cx="6784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677294" y="3012947"/>
            <a:ext cx="5741025" cy="173736"/>
          </a:xfrm>
          <a:prstGeom prst="roundRect">
            <a:avLst>
              <a:gd name="adj" fmla="val 30000"/>
            </a:avLst>
          </a:prstGeom>
          <a:solidFill>
            <a:srgbClr val="7A9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00" b="1">
                <a:solidFill>
                  <a:srgbClr val="FFFFFF"/>
                </a:solidFill>
                <a:latin typeface="Pretendard"/>
              </a:rPr>
              <a:t>기간 협의 후 확정</a:t>
            </a:r>
            <a:endParaRPr sz="7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4632" y="3236975"/>
            <a:ext cx="214884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790" b="0">
                <a:solidFill>
                  <a:srgbClr val="595959"/>
                </a:solidFill>
                <a:latin typeface="Pretendard"/>
              </a:rPr>
              <a:t>P6 종료 및 이관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33472" y="3236975"/>
            <a:ext cx="6784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896408" y="3287267"/>
            <a:ext cx="521911" cy="173736"/>
          </a:xfrm>
          <a:prstGeom prst="roundRect">
            <a:avLst>
              <a:gd name="adj" fmla="val 30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700" b="1">
                <a:solidFill>
                  <a:srgbClr val="FFFFFF"/>
                </a:solidFill>
                <a:latin typeface="Pretendard"/>
              </a:rPr>
              <a:t>기간 협의 후 확정</a:t>
            </a:r>
            <a:endParaRPr sz="7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4632" y="3602735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584447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주요 Milestone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445097"/>
              </p:ext>
            </p:extLst>
          </p:nvPr>
        </p:nvGraphicFramePr>
        <p:xfrm>
          <a:off x="484632" y="3858767"/>
          <a:ext cx="8933688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Milestone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시점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완료 기준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고객 확인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M1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착수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W1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수행계획서 및 수행 조직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착수보고 승인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M2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 완료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정식 개시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W4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 체크리스트 전 항목 확인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접근 권한 확보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인수인계 확인서 승인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운영체계 구축 완료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W6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알람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 정상 가동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합의 완료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운영절차서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승인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M4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초기 안정화 검토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W12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초기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개월 운영 실적 평가 및 보완 과제 도출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안정화 검토 보고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M5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반기 서비스 리뷰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W26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반기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실적 종합 평가 및 개선 방향 합의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리뷰 결과 확인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계약 종료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이관 완료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W52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기술이전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 인계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 회수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자료 파기 완료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종료보고 승인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서비스 총괄 PM 아래 딜리버리·기술·운영·보안 기능을 배치한 전담 조직을 구성하며, 고객 협의체와의 보고 라인을 명확히 정의합니다.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수행 조직 및 역할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수행 조직도 및 역할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수행 조직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645920"/>
            <a:ext cx="2331720" cy="402336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950" b="1">
                <a:solidFill>
                  <a:srgbClr val="003378"/>
                </a:solidFill>
                <a:latin typeface="Pretendard"/>
              </a:rPr>
              <a:t>고객 운영 협의체</a:t>
            </a:r>
            <a:endParaRPr sz="95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6072" y="2121408"/>
            <a:ext cx="233172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19" b="0">
                <a:solidFill>
                  <a:srgbClr val="595959"/>
                </a:solidFill>
                <a:latin typeface="Pretendard"/>
              </a:rPr>
              <a:t>고객 관리 책임자 / 운영 담당자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1645920"/>
            <a:ext cx="2606040" cy="402336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R1 서비스 총괄 PM (특급)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0752" y="2121408"/>
            <a:ext cx="2606040" cy="365760"/>
          </a:xfrm>
          <a:prstGeom prst="roundRect">
            <a:avLst>
              <a:gd name="adj" fmla="val 6000"/>
            </a:avLst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Pretendard"/>
              </a:rPr>
              <a:t>R2 서비스 딜리버리 매니저 (고급 이상)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2999232" y="1773936"/>
            <a:ext cx="640080" cy="146304"/>
          </a:xfrm>
          <a:prstGeom prst="left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1463040"/>
            <a:ext cx="914400" cy="18288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1">
                <a:solidFill>
                  <a:srgbClr val="003378"/>
                </a:solidFill>
                <a:latin typeface="Pretendard"/>
              </a:rPr>
              <a:t>보고 · 협의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" y="2743200"/>
            <a:ext cx="1684324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R3 Azure Architect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3145536"/>
            <a:ext cx="1684324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특급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3419856"/>
            <a:ext cx="16843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아키텍처·기술 자문</a:t>
            </a:r>
          </a:p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3차 기술지원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96972" y="2743200"/>
            <a:ext cx="1684324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R4 운영 엔지니어 (4명)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96972" y="3145536"/>
            <a:ext cx="1684324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중급 2 / 초급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6972" y="3419856"/>
            <a:ext cx="16843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모니터링·장애 대응</a:t>
            </a:r>
          </a:p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변경·점검 수행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09313" y="2743200"/>
            <a:ext cx="1684324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R5 보안·운영통제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09313" y="3145536"/>
            <a:ext cx="1684324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고급 이상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9313" y="3419856"/>
            <a:ext cx="16843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계정·권한 관리</a:t>
            </a:r>
          </a:p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보안 로그·점검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1654" y="2743200"/>
            <a:ext cx="1684324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R7 FinOps 담당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21654" y="3145536"/>
            <a:ext cx="1684324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중급 이상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21654" y="3419856"/>
            <a:ext cx="16843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비용 분석·최적화</a:t>
            </a:r>
          </a:p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예산 관리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33995" y="2743200"/>
            <a:ext cx="1684324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03378"/>
                </a:solidFill>
                <a:latin typeface="Pretendard"/>
              </a:rPr>
              <a:t>R8 인수·기술이전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33995" y="3145536"/>
            <a:ext cx="1684324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Pretendard"/>
              </a:rPr>
              <a:t>고급 이상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33995" y="3419856"/>
            <a:ext cx="16843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인수인계·기술이전</a:t>
            </a:r>
          </a:p>
          <a:p>
            <a:pPr algn="ctr"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Pretendard"/>
              </a:rPr>
              <a:t>문서·산출물 관리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4919472" y="2514600"/>
            <a:ext cx="146304" cy="237744"/>
          </a:xfrm>
          <a:prstGeom prst="down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84632" y="3895344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3877056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역할 및 책임 (R&amp;R)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93002"/>
              </p:ext>
            </p:extLst>
          </p:nvPr>
        </p:nvGraphicFramePr>
        <p:xfrm>
          <a:off x="484632" y="4151376"/>
          <a:ext cx="8933688" cy="2423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역할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주요 책임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투입 단계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R1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총괄 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PM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계약 이행 총괄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리스크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경영 리뷰 보고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최종 의사결정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P1~P6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 기간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R2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딜리버리 매니저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일상 서비스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측정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협의체 운영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개선 과제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P1~P6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 기간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R3 Azure Architect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아키텍처 검토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3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차 기술지원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구조 개선 제안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중대 장애 원인 분석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P2~P5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R4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엔지니어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SR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처리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조치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수행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P2~P6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R5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운영통제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관리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로그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정책 준수 점검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감사 대응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P2~P6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R6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네트워크 운영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Azure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네트워크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하이브리드 연결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·DNS·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방화벽 구성 및 변경 검증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P2~P6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11226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R7 FinOps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담당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가시화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사용량 분석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최적화 권고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예산 경보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P3~P5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R8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기술이전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인수인계 수행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문서화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기술이전 교육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이관 수행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P2, P6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R9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접수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1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차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진행 상황 통보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(R4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겸임 운영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P3~P6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altLang="ko-KR"/>
              <a:t>MSP </a:t>
            </a:r>
            <a:r>
              <a:rPr lang="ko-KR" altLang="en-US"/>
              <a:t>운영 전문 인력을 역할에 따라 편성하며</a:t>
            </a:r>
            <a:r>
              <a:rPr lang="en-US" altLang="ko-KR"/>
              <a:t>, </a:t>
            </a:r>
            <a:r>
              <a:rPr lang="ko-KR" altLang="en-US"/>
              <a:t>핵심 역할에는 동등 등급의 대체 인력을 지정합니다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투입 인력 계획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역할별 투입 인력 및 등급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역할별 투입 인력 계획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142773"/>
              </p:ext>
            </p:extLst>
          </p:nvPr>
        </p:nvGraphicFramePr>
        <p:xfrm>
          <a:off x="484632" y="1645920"/>
          <a:ext cx="8933686" cy="3124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Pretendard"/>
                        </a:rPr>
                        <a:t>필요 등급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Pretendard"/>
                        </a:rPr>
                        <a:t>인원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Pretendard"/>
                        </a:rPr>
                        <a:t>투입 인력 (안)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Pretendard"/>
                        </a:rPr>
                        <a:t>대체 인력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Pretendard"/>
                        </a:rPr>
                        <a:t>투입 구간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R1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서비스 총괄 </a:t>
                      </a:r>
                      <a:r>
                        <a:rPr 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PM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특급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CI-01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문태윤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(Azure Solutions Architect Expert)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AX-01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김가온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P1~P6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R2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서비스 딜리버리 매니저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고급 이상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CI-02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배수아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(Azure Administrator Associate)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CI-07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서유찬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P1~P6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R3 Azure Architect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고급 이상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CI-06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김도윤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(Azure Solutions Architect Expert)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CI-02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배수아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P2~P5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R4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운영 엔지니어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중급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2 /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초급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2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4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CI-03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조현우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, CI-08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정민호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, CI-05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장우진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, CI-14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한유림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CI-12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박시온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, CI-18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백승현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, CI-16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권민서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, CI-20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홍서준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P2~P6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R5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보안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운영통제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중급 이상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CI-09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오지훈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(Azure Security Engineer Associate)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CI-04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신예린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P2~P6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R6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네트워크 운영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중급 이상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CI-07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서유찬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Azure Network Engineer Associate)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CI-04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신예린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P2~P6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685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R7 FinOps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담당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중급 이상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CI-11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윤재혁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(Azure Administrator Associate)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CI-12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박시온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P3~P5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R8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인수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기술이전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중급 이상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CI-13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이도윤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(Azure Solutions Architect Expert)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CI-10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임하진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P1, P6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R9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초급 이상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CI-15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서진우 </a:t>
                      </a: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(Azure Administrator Associate)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CI-20 </a:t>
                      </a:r>
                      <a:r>
                        <a:rPr lang="ko-KR" altLang="en-US" sz="760" b="0">
                          <a:solidFill>
                            <a:srgbClr val="595959"/>
                          </a:solidFill>
                          <a:latin typeface="Pretendard"/>
                        </a:rPr>
                        <a:t>홍서준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60" b="0">
                          <a:solidFill>
                            <a:srgbClr val="595959"/>
                          </a:solidFill>
                          <a:latin typeface="Pretendard"/>
                        </a:rPr>
                        <a:t>P1~P6</a:t>
                      </a:r>
                      <a:endParaRPr sz="760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4632" y="4864607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CI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팀 기준 계획 투입 인원은 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12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명이며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,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타 사업 배정 여부와 투입 가능 시점을 확인한 뒤 최종 확정합니다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최종 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M/M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은 대상 규모와 운영 시간 확정 후 산정합니다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</a:t>
            </a:r>
            <a:endParaRPr sz="800" b="1">
              <a:solidFill>
                <a:srgbClr val="C0502A"/>
              </a:solidFill>
              <a:latin typeface="Pretendar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4632" y="5193792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175504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인력 운영 원칙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5449824"/>
            <a:ext cx="2151126" cy="585216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전담 배정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본 사업 투입 인력은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타 사업과 중복 배정하지 않음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5486" y="5449824"/>
            <a:ext cx="2151126" cy="585216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대체 인력 지정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핵심 역할은 동등 등급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대체 인력 사전 지정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6340" y="5449824"/>
            <a:ext cx="2151126" cy="585216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변경 사전 통보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인력 변경 시 사전 통보 및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고객 승인 후 교체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7194" y="5449824"/>
            <a:ext cx="2151126" cy="585216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ctr"/>
            <a:r>
              <a:rPr sz="950" b="1">
                <a:solidFill>
                  <a:srgbClr val="003378"/>
                </a:solidFill>
                <a:latin typeface="Pretendard"/>
              </a:rPr>
              <a:t>인수인계 의무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인력 교체 시 최소 인수인계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Pretendard"/>
              </a:rPr>
              <a:t>기간 확보 후 전환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6144768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네트워크 운영은 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R6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역할로 편성합니다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본 계획은 원격 운영 기준이며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, 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상주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현장 지원이 요구되는 경우 협의 후 별도 인력과 비용에 반영합니다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</a:t>
            </a:r>
            <a:endParaRPr sz="800" b="1">
              <a:solidFill>
                <a:srgbClr val="C0502A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성공적인 서비스 개시를 위해 고객 협조가 필요한 항목과 일정상 Dependency를 사전에 정의하여 리스크를 관리합니다.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고객 협조사항 및 리스크 관리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선행 조건, Dependency 및 리스크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고객 협조 요청 사항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743427"/>
              </p:ext>
            </p:extLst>
          </p:nvPr>
        </p:nvGraphicFramePr>
        <p:xfrm>
          <a:off x="484632" y="1645920"/>
          <a:ext cx="8933688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협조 요청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필요 시점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환경 정보 제공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구독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리소스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네트워크 구성 현황 및 운영 대상 범위 확정 자료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W1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착수 즉시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접근 권한 부여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수행에 필요한 계정 생성 및 권한 부여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절차 안내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운영사 협조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 체계의 문서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이력 인수를 위한 협조 주선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정책 제공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 보안 기준과 준수 요구사항 제공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W2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지표 및 목표 수준 협의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담당자 지정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일상 협의 및 승인 권한을 가진 고객 담당자 지정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W1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승인 체계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승인 절차 및 승인 권한자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기간 협의 후 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84632" y="3749039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730752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주요 Dependency 및 리스크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57699"/>
              </p:ext>
            </p:extLst>
          </p:nvPr>
        </p:nvGraphicFramePr>
        <p:xfrm>
          <a:off x="484632" y="4005072"/>
          <a:ext cx="8933688" cy="22082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영향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대응 방안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D2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최우선 경로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 이관 지연 시 운영 전 영역 착수 불가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높음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착수 즉시 권한 신청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주간 단위 진행 점검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D3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운영사 인수인계 협조 미확보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높음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 인수 불가 시 자체 실사로 대체 수행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R-1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범위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대상 규모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리소스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미확정으로 인한 투입 산정 오차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높음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확정 자료 수령 후 투입 계획 재산정 협의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R-2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개시일 미확정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중간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상대 주차 기준 계획 수립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확정 후 즉시 절대일자 전환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R-3 (SLA)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기준 미합의 상태의 서비스 개시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중간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합의 전까지 당사 표준 대응 기준 적용 및 명문화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R-4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현장지원 요건 미확정에 따른 비용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인력 변동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중간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요건 확정 후 인력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반영 협의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8C7F482-0306-B981-2FF4-1D070492B489}"/>
              </a:ext>
            </a:extLst>
          </p:cNvPr>
          <p:cNvSpPr/>
          <p:nvPr/>
        </p:nvSpPr>
        <p:spPr>
          <a:xfrm>
            <a:off x="151140" y="1738237"/>
            <a:ext cx="742950" cy="742950"/>
          </a:xfrm>
          <a:prstGeom prst="roundRect">
            <a:avLst/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8B32F-DD91-6A58-8331-94300C460723}"/>
              </a:ext>
            </a:extLst>
          </p:cNvPr>
          <p:cNvSpPr txBox="1"/>
          <p:nvPr/>
        </p:nvSpPr>
        <p:spPr>
          <a:xfrm>
            <a:off x="1078620" y="1572068"/>
            <a:ext cx="430897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6500">
                <a:solidFill>
                  <a:srgbClr val="1A1A1A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별첨</a:t>
            </a:r>
            <a:endParaRPr lang="en-US" altLang="ko-KR" sz="6500">
              <a:solidFill>
                <a:srgbClr val="1A1A1A"/>
              </a:solidFill>
              <a:latin typeface="Pretendard ExtraBold" panose="02000503000000020004" pitchFamily="2" charset="-127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553572-B5C2-6FB6-DF98-515964AC5BDE}"/>
              </a:ext>
            </a:extLst>
          </p:cNvPr>
          <p:cNvSpPr txBox="1"/>
          <p:nvPr/>
        </p:nvSpPr>
        <p:spPr>
          <a:xfrm>
            <a:off x="1128989" y="1445901"/>
            <a:ext cx="2580230" cy="267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200" b="1">
                <a:ln w="6350">
                  <a:solidFill>
                    <a:prstClr val="white">
                      <a:alpha val="15000"/>
                    </a:prstClr>
                  </a:solidFill>
                </a:ln>
                <a:latin typeface="Pretendard ExtraBold" pitchFamily="2" charset="-127"/>
                <a:ea typeface="Pretendard ExtraBold" pitchFamily="2" charset="-127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ko-KR" sz="1138" b="0">
                <a:ln w="6350">
                  <a:noFill/>
                </a:ln>
                <a:solidFill>
                  <a:srgbClr val="1A1A1A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APPENDIX</a:t>
            </a:r>
            <a:endParaRPr lang="ko-KR" altLang="ko-KR" sz="1138" b="0">
              <a:ln w="6350">
                <a:noFill/>
              </a:ln>
              <a:solidFill>
                <a:srgbClr val="1A1A1A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9D6D44C-19AD-9447-1513-9195A065B8BF}"/>
              </a:ext>
            </a:extLst>
          </p:cNvPr>
          <p:cNvSpPr/>
          <p:nvPr/>
        </p:nvSpPr>
        <p:spPr>
          <a:xfrm rot="18900000">
            <a:off x="804006" y="2034181"/>
            <a:ext cx="151063" cy="151063"/>
          </a:xfrm>
          <a:prstGeom prst="roundRect">
            <a:avLst>
              <a:gd name="adj" fmla="val 10130"/>
            </a:avLst>
          </a:prstGeom>
          <a:solidFill>
            <a:srgbClr val="1A4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B19AD1-5574-89BC-EE53-53E412D78D7D}"/>
              </a:ext>
            </a:extLst>
          </p:cNvPr>
          <p:cNvSpPr txBox="1"/>
          <p:nvPr/>
        </p:nvSpPr>
        <p:spPr bwMode="gray">
          <a:xfrm>
            <a:off x="151140" y="1734610"/>
            <a:ext cx="742951" cy="7502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/>
            <a:r>
              <a:rPr lang="en-US" altLang="ko-KR" sz="4875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Ⅶ</a:t>
            </a:r>
            <a:endParaRPr lang="ko-KR" altLang="en-US" sz="4875" b="1" dirty="0">
              <a:solidFill>
                <a:schemeClr val="bg1"/>
              </a:solidFill>
            </a:endParaRPr>
          </a:p>
        </p:txBody>
      </p:sp>
      <p:sp>
        <p:nvSpPr>
          <p:cNvPr id="30" name="양쪽 모서리가 둥근 사각형 19">
            <a:extLst>
              <a:ext uri="{FF2B5EF4-FFF2-40B4-BE49-F238E27FC236}">
                <a16:creationId xmlns:a16="http://schemas.microsoft.com/office/drawing/2014/main" id="{2B950893-DDDC-A9C4-D8DB-389276C3C9B3}"/>
              </a:ext>
            </a:extLst>
          </p:cNvPr>
          <p:cNvSpPr/>
          <p:nvPr/>
        </p:nvSpPr>
        <p:spPr>
          <a:xfrm rot="5400000">
            <a:off x="1111500" y="1789089"/>
            <a:ext cx="2457000" cy="4680000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95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5D7AD7-A462-382F-B431-FFEA5E5643A6}"/>
              </a:ext>
            </a:extLst>
          </p:cNvPr>
          <p:cNvGrpSpPr/>
          <p:nvPr/>
        </p:nvGrpSpPr>
        <p:grpSpPr>
          <a:xfrm>
            <a:off x="691804" y="3141987"/>
            <a:ext cx="3785841" cy="1974208"/>
            <a:chOff x="851451" y="3411056"/>
            <a:chExt cx="4659496" cy="242979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321F90-EF26-1DB0-3589-A4750D005EDD}"/>
                </a:ext>
              </a:extLst>
            </p:cNvPr>
            <p:cNvSpPr txBox="1"/>
            <p:nvPr/>
          </p:nvSpPr>
          <p:spPr>
            <a:xfrm>
              <a:off x="1459210" y="3457778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요구사항 대응 요약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3D1A78-F62D-169E-8B69-B9209556EAB8}"/>
                </a:ext>
              </a:extLst>
            </p:cNvPr>
            <p:cNvSpPr txBox="1"/>
            <p:nvPr/>
          </p:nvSpPr>
          <p:spPr>
            <a:xfrm>
              <a:off x="1459210" y="4123709"/>
              <a:ext cx="2747102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고객 확인 필요 사항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34A128F-9588-A2F9-D76E-223002CBC69A}"/>
                </a:ext>
              </a:extLst>
            </p:cNvPr>
            <p:cNvGrpSpPr/>
            <p:nvPr/>
          </p:nvGrpSpPr>
          <p:grpSpPr>
            <a:xfrm>
              <a:off x="851451" y="3411056"/>
              <a:ext cx="503999" cy="432000"/>
              <a:chOff x="781765" y="3883420"/>
              <a:chExt cx="503999" cy="432000"/>
            </a:xfrm>
          </p:grpSpPr>
          <p:sp>
            <p:nvSpPr>
              <p:cNvPr id="49" name="모서리가 둥근 직사각형 46">
                <a:extLst>
                  <a:ext uri="{FF2B5EF4-FFF2-40B4-BE49-F238E27FC236}">
                    <a16:creationId xmlns:a16="http://schemas.microsoft.com/office/drawing/2014/main" id="{5AA5BBD6-6128-C12D-23E3-DC5DD6A0A4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F5D401-FAC2-5F38-6F5C-38582790AF37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01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3A6F54D-04CB-3509-3AFF-50DAB1FF49B7}"/>
                </a:ext>
              </a:extLst>
            </p:cNvPr>
            <p:cNvGrpSpPr/>
            <p:nvPr/>
          </p:nvGrpSpPr>
          <p:grpSpPr>
            <a:xfrm>
              <a:off x="851451" y="4076987"/>
              <a:ext cx="503999" cy="432000"/>
              <a:chOff x="781765" y="4594620"/>
              <a:chExt cx="503999" cy="432000"/>
            </a:xfrm>
          </p:grpSpPr>
          <p:sp>
            <p:nvSpPr>
              <p:cNvPr id="47" name="모서리가 둥근 직사각형 44">
                <a:extLst>
                  <a:ext uri="{FF2B5EF4-FFF2-40B4-BE49-F238E27FC236}">
                    <a16:creationId xmlns:a16="http://schemas.microsoft.com/office/drawing/2014/main" id="{B6433F84-DC82-665E-8045-00A3F8E94C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CE87E2-FC4E-889A-D0B1-A090E56C27D7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02</a:t>
                </a:r>
              </a:p>
            </p:txBody>
          </p:sp>
        </p:grpSp>
        <p:cxnSp>
          <p:nvCxnSpPr>
            <p:cNvPr id="36" name="직선 연결선[R] 33">
              <a:extLst>
                <a:ext uri="{FF2B5EF4-FFF2-40B4-BE49-F238E27FC236}">
                  <a16:creationId xmlns:a16="http://schemas.microsoft.com/office/drawing/2014/main" id="{2920F377-A3DA-9756-444D-11DD4B634EAA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396002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4">
              <a:extLst>
                <a:ext uri="{FF2B5EF4-FFF2-40B4-BE49-F238E27FC236}">
                  <a16:creationId xmlns:a16="http://schemas.microsoft.com/office/drawing/2014/main" id="{E9DA991F-3F77-250E-3152-0C73FEAA7875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4625951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D38E695-3CDC-19A6-03CC-A252822153B0}"/>
                </a:ext>
              </a:extLst>
            </p:cNvPr>
            <p:cNvSpPr txBox="1"/>
            <p:nvPr/>
          </p:nvSpPr>
          <p:spPr>
            <a:xfrm>
              <a:off x="1459210" y="4789641"/>
              <a:ext cx="2520000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용어 약어표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D096EF-B81D-361C-92C5-C8F2302B4692}"/>
                </a:ext>
              </a:extLst>
            </p:cNvPr>
            <p:cNvSpPr txBox="1"/>
            <p:nvPr/>
          </p:nvSpPr>
          <p:spPr>
            <a:xfrm>
              <a:off x="1459208" y="5455570"/>
              <a:ext cx="4051739" cy="359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b="1">
                  <a:ln w="6350">
                    <a:noFill/>
                  </a:ln>
                  <a:solidFill>
                    <a:srgbClr val="1A1A1A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</a:rPr>
                <a:t>제출 서류 체크리스트</a:t>
              </a:r>
              <a:endParaRPr lang="en-US" altLang="ko-KR" sz="1300" b="1">
                <a:ln w="6350">
                  <a:noFill/>
                </a:ln>
                <a:solidFill>
                  <a:srgbClr val="1A1A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9F17953E-00B4-4D2D-0FA7-2CAF27BDE76C}"/>
                </a:ext>
              </a:extLst>
            </p:cNvPr>
            <p:cNvGrpSpPr/>
            <p:nvPr/>
          </p:nvGrpSpPr>
          <p:grpSpPr>
            <a:xfrm>
              <a:off x="851451" y="4742918"/>
              <a:ext cx="503999" cy="432000"/>
              <a:chOff x="781765" y="3883420"/>
              <a:chExt cx="503999" cy="432000"/>
            </a:xfrm>
          </p:grpSpPr>
          <p:sp>
            <p:nvSpPr>
              <p:cNvPr id="45" name="모서리가 둥근 직사각형 42">
                <a:extLst>
                  <a:ext uri="{FF2B5EF4-FFF2-40B4-BE49-F238E27FC236}">
                    <a16:creationId xmlns:a16="http://schemas.microsoft.com/office/drawing/2014/main" id="{5FAAA2CC-D211-A545-B012-177F8814EC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38834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3F1718-2668-6EF5-5638-128265E1B426}"/>
                  </a:ext>
                </a:extLst>
              </p:cNvPr>
              <p:cNvSpPr txBox="1"/>
              <p:nvPr/>
            </p:nvSpPr>
            <p:spPr>
              <a:xfrm>
                <a:off x="781765" y="39301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03</a:t>
                </a: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FEF0031-8E8E-C31D-FB6E-F00AD4ED5447}"/>
                </a:ext>
              </a:extLst>
            </p:cNvPr>
            <p:cNvGrpSpPr/>
            <p:nvPr/>
          </p:nvGrpSpPr>
          <p:grpSpPr>
            <a:xfrm>
              <a:off x="851451" y="5408849"/>
              <a:ext cx="503999" cy="432000"/>
              <a:chOff x="781765" y="4594620"/>
              <a:chExt cx="503999" cy="432000"/>
            </a:xfrm>
          </p:grpSpPr>
          <p:sp>
            <p:nvSpPr>
              <p:cNvPr id="43" name="모서리가 둥근 직사각형 40">
                <a:extLst>
                  <a:ext uri="{FF2B5EF4-FFF2-40B4-BE49-F238E27FC236}">
                    <a16:creationId xmlns:a16="http://schemas.microsoft.com/office/drawing/2014/main" id="{311552BF-9CD6-6E4A-F820-8DF12B8533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7764" y="4594620"/>
                <a:ext cx="432000" cy="432000"/>
              </a:xfrm>
              <a:prstGeom prst="roundRect">
                <a:avLst/>
              </a:prstGeom>
              <a:solidFill>
                <a:srgbClr val="1A47C6">
                  <a:alpha val="20000"/>
                </a:srgbClr>
              </a:solidFill>
              <a:ln>
                <a:solidFill>
                  <a:srgbClr val="1A47C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300">
                  <a:solidFill>
                    <a:srgbClr val="1A47C6">
                      <a:alpha val="90000"/>
                    </a:srgb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4F751A-32AD-8F2B-C7BD-F05046391E6C}"/>
                  </a:ext>
                </a:extLst>
              </p:cNvPr>
              <p:cNvSpPr txBox="1"/>
              <p:nvPr/>
            </p:nvSpPr>
            <p:spPr>
              <a:xfrm>
                <a:off x="781765" y="4641342"/>
                <a:ext cx="503999" cy="35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300" b="1">
                    <a:ln w="6350">
                      <a:noFill/>
                    </a:ln>
                    <a:solidFill>
                      <a:srgbClr val="1A47C6">
                        <a:alpha val="9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</a:rPr>
                  <a:t>04</a:t>
                </a:r>
              </a:p>
            </p:txBody>
          </p:sp>
        </p:grpSp>
        <p:cxnSp>
          <p:nvCxnSpPr>
            <p:cNvPr id="42" name="직선 연결선[R] 39">
              <a:extLst>
                <a:ext uri="{FF2B5EF4-FFF2-40B4-BE49-F238E27FC236}">
                  <a16:creationId xmlns:a16="http://schemas.microsoft.com/office/drawing/2014/main" id="{C9D25B4B-B9CD-3506-FB9D-BE08D50E423D}"/>
                </a:ext>
              </a:extLst>
            </p:cNvPr>
            <p:cNvCxnSpPr>
              <a:cxnSpLocks/>
            </p:cNvCxnSpPr>
            <p:nvPr/>
          </p:nvCxnSpPr>
          <p:spPr>
            <a:xfrm>
              <a:off x="1459209" y="5291883"/>
              <a:ext cx="252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 descr="스크린샷, 블루, 밤, 기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72E21CA-D356-CAD3-A44A-68196BEA0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4" y="642938"/>
            <a:ext cx="4333885" cy="5572125"/>
          </a:xfrm>
          <a:prstGeom prst="rect">
            <a:avLst/>
          </a:prstGeom>
        </p:spPr>
      </p:pic>
      <p:pic>
        <p:nvPicPr>
          <p:cNvPr id="13" name="그림 12" descr="스크린샷, 건물, 빛, 밤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3393CB1-BA04-D601-BAE6-466D51F66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6" y="642937"/>
            <a:ext cx="4333885" cy="5572125"/>
          </a:xfrm>
          <a:prstGeom prst="rect">
            <a:avLst/>
          </a:prstGeom>
        </p:spPr>
      </p:pic>
      <p:pic>
        <p:nvPicPr>
          <p:cNvPr id="15" name="그림 14" descr="물, 코발트 블루, 빛,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294237-CB2C-16D6-13EF-EA664EADC3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3174"/>
            <a:ext cx="4333879" cy="5571669"/>
          </a:xfrm>
          <a:prstGeom prst="rect">
            <a:avLst/>
          </a:prstGeom>
        </p:spPr>
      </p:pic>
      <p:pic>
        <p:nvPicPr>
          <p:cNvPr id="17" name="그림 16" descr="일렉트릭 블루, 빛, 마조렐 블루, 코발트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A27B644-19E4-0712-DE0E-2B93828776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9" y="652909"/>
            <a:ext cx="4369465" cy="5572125"/>
          </a:xfrm>
          <a:prstGeom prst="rect">
            <a:avLst/>
          </a:prstGeom>
        </p:spPr>
      </p:pic>
      <p:pic>
        <p:nvPicPr>
          <p:cNvPr id="19" name="그림 18" descr="물, 일렉트릭 블루, 빛, 마조렐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110C897-D506-AF31-E48A-76A7356E0F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18" y="652909"/>
            <a:ext cx="4333882" cy="55721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428F120-E79F-B0C0-BACE-01ACCE8E18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5437" y="642937"/>
            <a:ext cx="1960563" cy="196056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F74E03E-2139-0600-BF41-522EC995B28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8582" y="5675861"/>
            <a:ext cx="2264355" cy="61501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ko-KR" altLang="en-US"/>
              <a:t>요구사항 문서 간 항목 차이는 확인 후 합의된 기준으로 정리합니다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요구사항 대응 요약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RFP 요구사항 대응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요구사항 분류별 대응 현황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905342"/>
              </p:ext>
            </p:extLst>
          </p:nvPr>
        </p:nvGraphicFramePr>
        <p:xfrm>
          <a:off x="484632" y="1645920"/>
          <a:ext cx="8933688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분류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코드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건수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주요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제안서 반영 위치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관리 체계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MST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전반적 운영 관리 체계 및 수행 방침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Ⅲ-1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체계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Ⅵ-1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수행 단계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GEN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5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제안 일반 요구사항 및 수행 조건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Ⅰ-2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제안 범위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Ⅵ-3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수행 조직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운영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SVC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10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서비스데스크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SR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처리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 문의 대응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Ⅲ-2 SR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처리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Ⅲ-5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기술지원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OPS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12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대응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백업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패치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Ⅲ-3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모니터링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Ⅲ-4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SEC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10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권한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접근통제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로그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감사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정책 준수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Ⅳ-1 ~ Ⅳ-4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 부문 전체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거버넌스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GOV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7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정기 보고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협의체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문서 관리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Ⅴ-1 SLA, Ⅴ-2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보고 체계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FIN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요구사항 문서 간 항목 차이는 확인 후 합의된 기준으로 정리합니다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.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Ⅴ-3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최적화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이관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TRN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인수인계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기술이전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계약 종료 이관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Ⅴ-4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인수전환 및 기술이전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-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53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본문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52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+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준수표 전용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건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합집합 기준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-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4632" y="4846320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요구사항 문서 간 항목 차이는 확인 후 합의된 기준으로 정리합니다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</a:t>
            </a:r>
            <a:endParaRPr sz="800" b="1">
              <a:solidFill>
                <a:srgbClr val="C0502A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정확한 서비스 범위와 비용 산정을 위해 아래 항목에 대한 발주처 확인을 요청드립니다.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고객 확인 필요 사항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제안 확정을 위한 확인 요청 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필수 확인 사항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045979"/>
              </p:ext>
            </p:extLst>
          </p:nvPr>
        </p:nvGraphicFramePr>
        <p:xfrm>
          <a:off x="484632" y="1645920"/>
          <a:ext cx="8933688" cy="368465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No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확인 요청 내용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미확정 시 영향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운영 규모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대상 범위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산정 기준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요구사항 간 차이는 관련 담당자 확인 후 확정합니다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.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투입 인력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산정 불가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2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개시일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 개시 기준일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(Ⅰ-3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일정과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Ⅰ-5 '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협의 후 결정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'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전체 일정 확정 불가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등급별 응답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복구 목표 시간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가용률 목표 수준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SLA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준수 책임 범위 불명확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4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야간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휴일 지원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지원 시간대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(24×7 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평일 주간 등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및 온콜 대응 범위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인력 편성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비용 산정 변동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5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상주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현장지원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상주 필수 여부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인원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등급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근무지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가격 구성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번 항목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가격 제안서 작성 불가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6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 주체 및 인수인계 협조 가능 범위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인수 일정 지연 리스크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7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네트워크 범위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네트워크 구성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회선 운영의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MSP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책임 범위 포함 여부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역할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(R6)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편성 및 인력 확보 필요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8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과금 방식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대상 범위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산정 기준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요구사항 간 차이는 관련 담당자 확인 후 확정합니다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.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가격 제안 산정 기준 불명확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9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준수표 기준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대상 범위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산정 기준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요구사항 간 차이는 관련 담당자 확인 후 확정합니다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.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준수표 제출 기준 불명확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10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대상 범위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산정 기준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요구사항 간 차이는 관련 담당자 확인 후 확정합니다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.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대상 범위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산정 기준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요구사항 간 차이는 관련 담당자 확인 후 확정합니다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.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요구사항 해석 차이 발생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4632" y="5358383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대상 범위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산정 기준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C0502A"/>
                </a:solidFill>
                <a:latin typeface="Pretendard"/>
              </a:rPr>
              <a:t>요구사항 간 차이는 관련 담당자 확인 후 확정합니다</a:t>
            </a:r>
            <a:r>
              <a:rPr lang="en-US" altLang="ko-KR" sz="800" b="1">
                <a:solidFill>
                  <a:srgbClr val="C0502A"/>
                </a:solidFill>
                <a:latin typeface="Pretendard"/>
              </a:rPr>
              <a:t>.</a:t>
            </a:r>
            <a:endParaRPr sz="800" b="1">
              <a:solidFill>
                <a:srgbClr val="C0502A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본 제안서에서 사용된 주요 용어와 약어의 정의입니다.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용어 약어표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t>1) 본 제안서 사용 용어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용어 정의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839780"/>
              </p:ext>
            </p:extLst>
          </p:nvPr>
        </p:nvGraphicFramePr>
        <p:xfrm>
          <a:off x="484632" y="1645920"/>
          <a:ext cx="8933688" cy="3218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1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용어 </a:t>
                      </a:r>
                      <a:r>
                        <a:rPr lang="en-US" altLang="ko-KR" sz="819" b="1">
                          <a:solidFill>
                            <a:srgbClr val="FFFFFF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약어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정의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용어 </a:t>
                      </a:r>
                      <a:r>
                        <a:rPr lang="en-US" altLang="ko-KR" sz="819" b="1">
                          <a:solidFill>
                            <a:srgbClr val="FFFFFF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약어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1">
                          <a:solidFill>
                            <a:srgbClr val="FFFFFF"/>
                          </a:solidFill>
                          <a:latin typeface="Pretendard"/>
                        </a:rPr>
                        <a:t>정의</a:t>
                      </a:r>
                      <a:endParaRPr sz="819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MSP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Managed Service Provider —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클라우드 환경의 운영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기술지원을 대행하는 서비스 제공자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SLA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Service Level Agreement —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합의된 서비스 수준 기준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SR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Service Request —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고객의 서비스 요청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조회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작업 요청 등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RFC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Request for Change —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구성 변경 요청 및 승인 절차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RBAC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Role Based Access Control —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역할 기반 접근 통제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CAB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Change Advisory Board —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변경 검토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승인 협의체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Entra ID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Microsoft Entra ID — Azure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통합 </a:t>
                      </a: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ID·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접근 관리 서비스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KQL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Kusto Query Language — Log Analytics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로그 질의 언어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FinOps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클라우드 비용의 가시화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분석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최적화 운영 체계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Runbook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표준화된 운영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조치 절차 문서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Transition-In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기존 운영 체계로부터의 서비스 인수 과정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Transition-Out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계약 종료 시 운영 자산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기술의 이관 과정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P1 ~ P4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장애 영향도 기반 등급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(P1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긴급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~ P4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낮음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P1 ~ P6 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단계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본 제안서의 프로젝트 수행 단계 구분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4632" y="4956048"/>
            <a:ext cx="8933688" cy="274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45720" bIns="18288" rtlCol="0" anchor="ctr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502A"/>
                </a:solidFill>
                <a:latin typeface="Pretendard"/>
              </a:rPr>
              <a:t>장애 등급(P1~P4)과 프로젝트 수행 단계(P1~P6)는 표기가 유사하므로, 본 제안서에서는 문맥에 따라 '장애 등급' 또는 '단계'를 명시하여 구분합니다.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ko-KR" altLang="en-US"/>
              <a:t>노바시온테크그룹 </a:t>
            </a:r>
            <a:r>
              <a:rPr lang="en-US" altLang="ko-KR"/>
              <a:t>Azure MSP </a:t>
            </a:r>
            <a:r>
              <a:rPr lang="ko-KR" altLang="en-US"/>
              <a:t>사업의 제안 일정과 제출 문서를 안내합니다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제출 서류 체크리스트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ko-KR"/>
              <a:t>4) </a:t>
            </a:r>
            <a:r>
              <a:rPr lang="ko-KR" altLang="en-US"/>
              <a:t>제안 제출 일정 및 체크리스트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4632" y="1389888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8823960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ko-KR" altLang="en-US" sz="1050" b="1">
                <a:solidFill>
                  <a:srgbClr val="003378"/>
                </a:solidFill>
                <a:latin typeface="Pretendard"/>
              </a:rPr>
              <a:t>제안 제출 일정</a:t>
            </a:r>
            <a:endParaRPr sz="105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4632" y="1645920"/>
            <a:ext cx="1351788" cy="530352"/>
          </a:xfrm>
          <a:prstGeom prst="roundRect">
            <a:avLst>
              <a:gd name="adj" fmla="val 6000"/>
            </a:avLst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en-US" altLang="ko-KR" sz="800" b="1">
                <a:solidFill>
                  <a:srgbClr val="FFFFFF"/>
                </a:solidFill>
                <a:latin typeface="Pretendard"/>
              </a:rPr>
              <a:t>RFP </a:t>
            </a:r>
            <a:r>
              <a:rPr lang="ko-KR" altLang="en-US" sz="800" b="1">
                <a:solidFill>
                  <a:srgbClr val="FFFFFF"/>
                </a:solidFill>
                <a:latin typeface="Pretendard"/>
              </a:rPr>
              <a:t>공고</a:t>
            </a:r>
          </a:p>
          <a:p>
            <a:pPr algn="ctr">
              <a:spcAft>
                <a:spcPts val="0"/>
              </a:spcAft>
            </a:pPr>
            <a:r>
              <a:rPr lang="en-US" altLang="ko-KR" sz="800" b="1">
                <a:solidFill>
                  <a:srgbClr val="FFFFFF"/>
                </a:solidFill>
                <a:latin typeface="Pretendard"/>
              </a:rPr>
              <a:t>2026.11.02</a:t>
            </a:r>
            <a:endParaRPr sz="8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854708" y="1837943"/>
            <a:ext cx="128015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01012" y="1645920"/>
            <a:ext cx="135178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800" b="1">
                <a:solidFill>
                  <a:srgbClr val="003378"/>
                </a:solidFill>
                <a:latin typeface="Pretendard"/>
              </a:rPr>
              <a:t>질의 접수 마감</a:t>
            </a:r>
          </a:p>
          <a:p>
            <a:pPr algn="ctr">
              <a:spcAft>
                <a:spcPts val="0"/>
              </a:spcAft>
            </a:pPr>
            <a:r>
              <a:rPr lang="en-US" altLang="ko-KR" sz="800" b="1">
                <a:solidFill>
                  <a:srgbClr val="003378"/>
                </a:solidFill>
                <a:latin typeface="Pretendard"/>
              </a:rPr>
              <a:t>2026.11.09</a:t>
            </a:r>
            <a:endParaRPr sz="80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371088" y="1837943"/>
            <a:ext cx="128015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17392" y="1645920"/>
            <a:ext cx="135178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800" b="1">
                <a:solidFill>
                  <a:srgbClr val="003378"/>
                </a:solidFill>
                <a:latin typeface="Pretendard"/>
              </a:rPr>
              <a:t>제안서 제출 마감</a:t>
            </a:r>
          </a:p>
          <a:p>
            <a:pPr algn="ctr">
              <a:spcAft>
                <a:spcPts val="0"/>
              </a:spcAft>
            </a:pPr>
            <a:r>
              <a:rPr lang="en-US" altLang="ko-KR" sz="800" b="1">
                <a:solidFill>
                  <a:srgbClr val="003378"/>
                </a:solidFill>
                <a:latin typeface="Pretendard"/>
              </a:rPr>
              <a:t>2026.11.16</a:t>
            </a:r>
            <a:endParaRPr sz="80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887468" y="1837943"/>
            <a:ext cx="128015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33772" y="1645920"/>
            <a:ext cx="135178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800" b="1">
                <a:solidFill>
                  <a:srgbClr val="003378"/>
                </a:solidFill>
                <a:latin typeface="Pretendard"/>
              </a:rPr>
              <a:t>제안 발표</a:t>
            </a:r>
            <a:r>
              <a:rPr lang="en-US" altLang="ko-KR" sz="800" b="1">
                <a:solidFill>
                  <a:srgbClr val="003378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003378"/>
                </a:solidFill>
                <a:latin typeface="Pretendard"/>
              </a:rPr>
              <a:t>평가</a:t>
            </a:r>
          </a:p>
          <a:p>
            <a:pPr algn="ctr">
              <a:spcAft>
                <a:spcPts val="0"/>
              </a:spcAft>
            </a:pPr>
            <a:r>
              <a:rPr lang="en-US" altLang="ko-KR" sz="800" b="1">
                <a:solidFill>
                  <a:srgbClr val="003378"/>
                </a:solidFill>
                <a:latin typeface="Pretendard"/>
              </a:rPr>
              <a:t>2026.11.20</a:t>
            </a:r>
            <a:endParaRPr sz="80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6403848" y="1837943"/>
            <a:ext cx="128015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50152" y="1645920"/>
            <a:ext cx="135178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800" b="1">
                <a:solidFill>
                  <a:srgbClr val="003378"/>
                </a:solidFill>
                <a:latin typeface="Pretendard"/>
              </a:rPr>
              <a:t>우선협상</a:t>
            </a:r>
            <a:r>
              <a:rPr lang="en-US" altLang="ko-KR" sz="800" b="1">
                <a:solidFill>
                  <a:srgbClr val="003378"/>
                </a:solidFill>
                <a:latin typeface="Pretendard"/>
              </a:rPr>
              <a:t>·</a:t>
            </a:r>
            <a:r>
              <a:rPr lang="ko-KR" altLang="en-US" sz="800" b="1">
                <a:solidFill>
                  <a:srgbClr val="003378"/>
                </a:solidFill>
                <a:latin typeface="Pretendard"/>
              </a:rPr>
              <a:t>계약</a:t>
            </a:r>
          </a:p>
          <a:p>
            <a:pPr algn="ctr">
              <a:spcAft>
                <a:spcPts val="0"/>
              </a:spcAft>
            </a:pPr>
            <a:r>
              <a:rPr lang="en-US" altLang="ko-KR" sz="800" b="1">
                <a:solidFill>
                  <a:srgbClr val="003378"/>
                </a:solidFill>
                <a:latin typeface="Pretendard"/>
              </a:rPr>
              <a:t>2026.11.27</a:t>
            </a:r>
            <a:endParaRPr sz="80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920227" y="1837943"/>
            <a:ext cx="128015" cy="146304"/>
          </a:xfrm>
          <a:prstGeom prst="rightArrow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66531" y="1645920"/>
            <a:ext cx="1351788" cy="53035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3D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ko-KR" altLang="en-US" sz="800" b="1">
                <a:solidFill>
                  <a:srgbClr val="003378"/>
                </a:solidFill>
                <a:latin typeface="Pretendard"/>
              </a:rPr>
              <a:t>서비스 개시</a:t>
            </a:r>
          </a:p>
          <a:p>
            <a:pPr algn="ctr">
              <a:spcAft>
                <a:spcPts val="0"/>
              </a:spcAft>
            </a:pPr>
            <a:r>
              <a:rPr lang="en-US" altLang="ko-KR" sz="800" b="1">
                <a:solidFill>
                  <a:srgbClr val="003378"/>
                </a:solidFill>
                <a:latin typeface="Pretendard"/>
              </a:rPr>
              <a:t>2027.01.01</a:t>
            </a:r>
            <a:endParaRPr sz="800" b="1">
              <a:solidFill>
                <a:srgbClr val="003378"/>
              </a:solidFill>
              <a:latin typeface="Pretendar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4632" y="2286000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267712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제출 서류 체크리스트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557624"/>
              </p:ext>
            </p:extLst>
          </p:nvPr>
        </p:nvGraphicFramePr>
        <p:xfrm>
          <a:off x="484632" y="2542032"/>
          <a:ext cx="8933688" cy="25648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제출 서류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형태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상태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제안서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PDF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필수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가격제안서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별도 파일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필수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입찰참가신청서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전자서식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필수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사업자등록증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PDF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필수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법인인감증명서 및 사용인감계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PDF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필수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국세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지방세 납세증명서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PDF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필수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보안서약서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서명본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PDF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필수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신용평가등급확인서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PDF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필수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유사사업 실적증명서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PDF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해당 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투입인력 이력 및 자격 확인서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PDF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필수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84632" y="5198364"/>
            <a:ext cx="54864" cy="173736"/>
          </a:xfrm>
          <a:prstGeom prst="rect">
            <a:avLst/>
          </a:prstGeom>
          <a:solidFill>
            <a:srgbClr val="003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180076"/>
            <a:ext cx="8823960" cy="219456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003378"/>
                </a:solidFill>
                <a:latin typeface="Pretendard"/>
              </a:rPr>
              <a:t>제출처 및 문의 창구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724649"/>
              </p:ext>
            </p:extLst>
          </p:nvPr>
        </p:nvGraphicFramePr>
        <p:xfrm>
          <a:off x="484632" y="5454396"/>
          <a:ext cx="8933688" cy="914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0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Pretendard"/>
                        </a:rPr>
                        <a:t>내용</a:t>
                      </a:r>
                    </a:p>
                  </a:txBody>
                  <a:tcPr marL="36576" marR="36576" marT="9144" marB="9144" anchor="ctr">
                    <a:solidFill>
                      <a:srgbClr val="0033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제출처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노바시온테크그룹 디지털혁신실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전자 제출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)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사업 문의</a:t>
                      </a: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IT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서비스기획팀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사업담당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595959"/>
                          </a:solidFill>
                          <a:latin typeface="Pretendard"/>
                        </a:rPr>
                        <a:t>기술 문의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클라우드플랫폼팀 </a:t>
                      </a:r>
                      <a:r>
                        <a:rPr lang="en-US" altLang="ko-KR" sz="819" b="0">
                          <a:solidFill>
                            <a:srgbClr val="595959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819" b="0">
                          <a:solidFill>
                            <a:srgbClr val="595959"/>
                          </a:solidFill>
                          <a:latin typeface="Pretendard"/>
                        </a:rPr>
                        <a:t>기술담당</a:t>
                      </a:r>
                      <a:endParaRPr sz="819" b="0">
                        <a:solidFill>
                          <a:srgbClr val="595959"/>
                        </a:solidFill>
                        <a:latin typeface="Pretendard"/>
                      </a:endParaRP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Pretendard" panose="020F030202020403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 panose="020F050202020403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표준제안서 템플릿_V1_브랜드키트.potx" id="{6FA67BB6-7E85-44A6-A8EA-59C96FEE6676}" vid="{2BCAB0F1-D7DF-49A5-BDCC-6C17E5B3E03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 panose="020F050202020403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F0E318C-A5EA-4598-9DD0-6EAC3A0D5F02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1E10FAC-20E4-4C5A-A1FC-FCDFCBD4D0B3}">
  <we:reference id="WA200005669" version="2.0.0.0" store="Omex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E27F743D3EAFD41AFB548FE852C7C33" ma:contentTypeVersion="10" ma:contentTypeDescription="새 문서를 만듭니다." ma:contentTypeScope="" ma:versionID="83f620055764ca63febe832f5488a59e">
  <xsd:schema xmlns:xsd="http://www.w3.org/2001/XMLSchema" xmlns:xs="http://www.w3.org/2001/XMLSchema" xmlns:p="http://schemas.microsoft.com/office/2006/metadata/properties" xmlns:ns2="52c3670c-f3f0-41a0-a704-ac55a3995e6d" xmlns:ns3="40b12f69-f76e-454b-9ccb-15c80c1b12a7" targetNamespace="http://schemas.microsoft.com/office/2006/metadata/properties" ma:root="true" ma:fieldsID="25404c37872c48d66048b890b4017f46" ns2:_="" ns3:_="">
    <xsd:import namespace="52c3670c-f3f0-41a0-a704-ac55a3995e6d"/>
    <xsd:import namespace="40b12f69-f76e-454b-9ccb-15c80c1b12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c3670c-f3f0-41a0-a704-ac55a3995e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f7524157-e22f-4f12-9d7c-40ce4f3887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b12f69-f76e-454b-9ccb-15c80c1b12a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78a925b-81ad-45f4-88e8-c0b5a0895b6d}" ma:internalName="TaxCatchAll" ma:showField="CatchAllData" ma:web="40b12f69-f76e-454b-9ccb-15c80c1b12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c3670c-f3f0-41a0-a704-ac55a3995e6d">
      <Terms xmlns="http://schemas.microsoft.com/office/infopath/2007/PartnerControls"/>
    </lcf76f155ced4ddcb4097134ff3c332f>
    <TaxCatchAll xmlns="40b12f69-f76e-454b-9ccb-15c80c1b12a7" xsi:nil="true"/>
  </documentManagement>
</p:properties>
</file>

<file path=customXml/itemProps1.xml><?xml version="1.0" encoding="utf-8"?>
<ds:datastoreItem xmlns:ds="http://schemas.openxmlformats.org/officeDocument/2006/customXml" ds:itemID="{C4D4CE23-550C-4378-8AEB-8644E95984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c3670c-f3f0-41a0-a704-ac55a3995e6d"/>
    <ds:schemaRef ds:uri="40b12f69-f76e-454b-9ccb-15c80c1b12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95C7E5-EC68-467A-BD08-D907E4CFC4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BB5E82-6A3C-476C-AB69-4899F7463B2A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95146d4b-4c35-4fdb-a082-92a1f1489112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4cfc844-f2e0-44d1-89cc-fe073b6b9216"/>
    <ds:schemaRef ds:uri="52c3670c-f3f0-41a0-a704-ac55a3995e6d"/>
    <ds:schemaRef ds:uri="40b12f69-f76e-454b-9ccb-15c80c1b12a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표준제안서 템플릿_V1_브랜드키트</Template>
  <TotalTime>19</TotalTime>
  <Words>7889</Words>
  <Application>Microsoft Office PowerPoint</Application>
  <PresentationFormat>A4 용지(210x297mm)</PresentationFormat>
  <Paragraphs>1667</Paragraphs>
  <Slides>40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5" baseType="lpstr">
      <vt:lpstr>Pretendard ExtraBold</vt:lpstr>
      <vt:lpstr>Pretendard SemiBold</vt:lpstr>
      <vt:lpstr>Pretendard Medium</vt:lpstr>
      <vt:lpstr>Pretendard</vt:lpstr>
      <vt:lpstr>Office 2013 - 2022 테마</vt:lpstr>
      <vt:lpstr>PowerPoint 프레젠테이션</vt:lpstr>
      <vt:lpstr>PowerPoint 프레젠테이션</vt:lpstr>
      <vt:lpstr>PowerPoint 프레젠테이션</vt:lpstr>
      <vt:lpstr>1. 사업 이해 및 제안 배경</vt:lpstr>
      <vt:lpstr>2. 제안 범위</vt:lpstr>
      <vt:lpstr>3. 추진 방향 및 전략</vt:lpstr>
      <vt:lpstr>4. 제안의 특징 및 기대 효과</vt:lpstr>
      <vt:lpstr>PowerPoint 프레젠테이션</vt:lpstr>
      <vt:lpstr>1. 제안사 일반현황</vt:lpstr>
      <vt:lpstr>2. 조직 및 인력 구성 현황</vt:lpstr>
      <vt:lpstr>3. Azure MSP 수행 역량</vt:lpstr>
      <vt:lpstr>4. 유사 프로젝트 수행 실적</vt:lpstr>
      <vt:lpstr>PowerPoint 프레젠테이션</vt:lpstr>
      <vt:lpstr>1. Azure MSP 서비스 체계</vt:lpstr>
      <vt:lpstr>2. 서비스데스크 및 SR 처리</vt:lpstr>
      <vt:lpstr>3. 통합 모니터링 체계</vt:lpstr>
      <vt:lpstr>4. 장애 대응 및 변경 관리</vt:lpstr>
      <vt:lpstr>5. 기술지원 아키텍처</vt:lpstr>
      <vt:lpstr>PowerPoint 프레젠테이션</vt:lpstr>
      <vt:lpstr>1. 보안 요구사항 대응 체계</vt:lpstr>
      <vt:lpstr>2. 접근통제 및 권한 관리</vt:lpstr>
      <vt:lpstr>3. 보안 로그 및 감사</vt:lpstr>
      <vt:lpstr>4. 컴플라이언스 및 보안 준수</vt:lpstr>
      <vt:lpstr>PowerPoint 프레젠테이션</vt:lpstr>
      <vt:lpstr>1. SLA 관리 체계</vt:lpstr>
      <vt:lpstr>2. 정기 보고 체계</vt:lpstr>
      <vt:lpstr>3. 비용 최적화(FinOps)</vt:lpstr>
      <vt:lpstr>4. 인수전환 및 기술이전</vt:lpstr>
      <vt:lpstr>5. 지속 개선 체계</vt:lpstr>
      <vt:lpstr>PowerPoint 프레젠테이션</vt:lpstr>
      <vt:lpstr>1. 프로젝트 수행 단계</vt:lpstr>
      <vt:lpstr>2. 수행 일정 및 Milestone</vt:lpstr>
      <vt:lpstr>3. 수행 조직 및 역할</vt:lpstr>
      <vt:lpstr>4. 투입 인력 계획</vt:lpstr>
      <vt:lpstr>5. 고객 협조사항 및 리스크 관리</vt:lpstr>
      <vt:lpstr>PowerPoint 프레젠테이션</vt:lpstr>
      <vt:lpstr>1. 요구사항 대응 요약</vt:lpstr>
      <vt:lpstr>2. 고객 확인 필요 사항</vt:lpstr>
      <vt:lpstr>3. 용어 약어표</vt:lpstr>
      <vt:lpstr>4. 제출 서류 체크리스트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담당자</dc:creator>
  <cp:lastModifiedBy>고은석</cp:lastModifiedBy>
  <cp:revision>12</cp:revision>
  <cp:lastPrinted>2021-01-11T04:25:53Z</cp:lastPrinted>
  <dcterms:created xsi:type="dcterms:W3CDTF">2026-08-26T00:47:45Z</dcterms:created>
  <dcterms:modified xsi:type="dcterms:W3CDTF">2026-10-28T00:51:13Z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ppt832C.pptm [자동 저장]</vt:lpwstr>
  </property>
  <property fmtid="{D5CDD505-2E9C-101B-9397-08002B2CF9AE}" pid="3" name="ContentTypeId">
    <vt:lpwstr>0x010100CE27F743D3EAFD41AFB548FE852C7C33</vt:lpwstr>
  </property>
  <property fmtid="{D5CDD505-2E9C-101B-9397-08002B2CF9AE}" pid="4" name="MSIP_Label_26a363b1-e64a-4529-b769-ff9d06a36afb_Enabled">
    <vt:lpwstr>true</vt:lpwstr>
  </property>
  <property fmtid="{D5CDD505-2E9C-101B-9397-08002B2CF9AE}" pid="5" name="MSIP_Label_26a363b1-e64a-4529-b769-ff9d06a36afb_SetDate">
    <vt:lpwstr>2025-06-29T08:06:54Z</vt:lpwstr>
  </property>
  <property fmtid="{D5CDD505-2E9C-101B-9397-08002B2CF9AE}" pid="6" name="MSIP_Label_26a363b1-e64a-4529-b769-ff9d06a36afb_Method">
    <vt:lpwstr>Privileged</vt:lpwstr>
  </property>
  <property fmtid="{D5CDD505-2E9C-101B-9397-08002B2CF9AE}" pid="7" name="MSIP_Label_26a363b1-e64a-4529-b769-ff9d06a36afb_Name">
    <vt:lpwstr>Common</vt:lpwstr>
  </property>
  <property fmtid="{D5CDD505-2E9C-101B-9397-08002B2CF9AE}" pid="8" name="MSIP_Label_26a363b1-e64a-4529-b769-ff9d06a36afb_SiteId">
    <vt:lpwstr>6144959d-620b-4d3d-9090-c4891f1914ce</vt:lpwstr>
  </property>
  <property fmtid="{D5CDD505-2E9C-101B-9397-08002B2CF9AE}" pid="9" name="MSIP_Label_26a363b1-e64a-4529-b769-ff9d06a36afb_ActionId">
    <vt:lpwstr>f0e17ed1-dee9-4281-9ce3-f42cb62e00e3</vt:lpwstr>
  </property>
  <property fmtid="{D5CDD505-2E9C-101B-9397-08002B2CF9AE}" pid="10" name="MSIP_Label_26a363b1-e64a-4529-b769-ff9d06a36afb_ContentBits">
    <vt:lpwstr>0</vt:lpwstr>
  </property>
  <property fmtid="{D5CDD505-2E9C-101B-9397-08002B2CF9AE}" pid="11" name="MSIP_Label_26a363b1-e64a-4529-b769-ff9d06a36afb_Tag">
    <vt:lpwstr>50, 0, 1, 1</vt:lpwstr>
  </property>
  <property fmtid="{D5CDD505-2E9C-101B-9397-08002B2CF9AE}" pid="12" name="Order">
    <vt:lpwstr>1000.00000000000</vt:lpwstr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  <property fmtid="{D5CDD505-2E9C-101B-9397-08002B2CF9AE}" pid="18" name="xd_Signature">
    <vt:lpwstr/>
  </property>
  <property fmtid="{D5CDD505-2E9C-101B-9397-08002B2CF9AE}" pid="19" name="_SharedFileIndex">
    <vt:lpwstr/>
  </property>
  <property fmtid="{D5CDD505-2E9C-101B-9397-08002B2CF9AE}" pid="20" name="MediaServiceImageTags">
    <vt:lpwstr/>
  </property>
  <property fmtid="{D5CDD505-2E9C-101B-9397-08002B2CF9AE}" pid="21" name="_SourceUrl">
    <vt:lpwstr/>
  </property>
</Properties>
</file>