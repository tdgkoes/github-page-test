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5"/>
    <p:sldMasterId id="2147483748" r:id="rId6"/>
    <p:sldMasterId id="2147483750" r:id="rId7"/>
    <p:sldMasterId id="2147483752" r:id="rId8"/>
    <p:sldMasterId id="2147483754" r:id="rId9"/>
  </p:sldMasterIdLst>
  <p:notesMasterIdLst>
    <p:notesMasterId r:id="rId57"/>
  </p:notesMasterIdLst>
  <p:handoutMasterIdLst>
    <p:handoutMasterId r:id="rId58"/>
  </p:handoutMasterIdLst>
  <p:sldIdLst>
    <p:sldId id="259" r:id="rId10"/>
    <p:sldId id="315" r:id="rId11"/>
    <p:sldId id="600" r:id="rId12"/>
    <p:sldId id="602" r:id="rId13"/>
    <p:sldId id="626" r:id="rId14"/>
    <p:sldId id="603" r:id="rId15"/>
    <p:sldId id="434" r:id="rId16"/>
    <p:sldId id="416" r:id="rId17"/>
    <p:sldId id="417" r:id="rId18"/>
    <p:sldId id="435" r:id="rId19"/>
    <p:sldId id="418" r:id="rId20"/>
    <p:sldId id="419" r:id="rId21"/>
    <p:sldId id="430" r:id="rId22"/>
    <p:sldId id="445" r:id="rId23"/>
    <p:sldId id="446" r:id="rId24"/>
    <p:sldId id="646" r:id="rId25"/>
    <p:sldId id="639" r:id="rId26"/>
    <p:sldId id="556" r:id="rId27"/>
    <p:sldId id="628" r:id="rId28"/>
    <p:sldId id="630" r:id="rId29"/>
    <p:sldId id="636" r:id="rId30"/>
    <p:sldId id="640" r:id="rId31"/>
    <p:sldId id="641" r:id="rId32"/>
    <p:sldId id="463" r:id="rId33"/>
    <p:sldId id="564" r:id="rId34"/>
    <p:sldId id="604" r:id="rId35"/>
    <p:sldId id="605" r:id="rId36"/>
    <p:sldId id="606" r:id="rId37"/>
    <p:sldId id="608" r:id="rId38"/>
    <p:sldId id="610" r:id="rId39"/>
    <p:sldId id="612" r:id="rId40"/>
    <p:sldId id="613" r:id="rId41"/>
    <p:sldId id="631" r:id="rId42"/>
    <p:sldId id="632" r:id="rId43"/>
    <p:sldId id="633" r:id="rId44"/>
    <p:sldId id="644" r:id="rId45"/>
    <p:sldId id="645" r:id="rId46"/>
    <p:sldId id="614" r:id="rId47"/>
    <p:sldId id="616" r:id="rId48"/>
    <p:sldId id="617" r:id="rId49"/>
    <p:sldId id="621" r:id="rId50"/>
    <p:sldId id="573" r:id="rId51"/>
    <p:sldId id="618" r:id="rId52"/>
    <p:sldId id="620" r:id="rId53"/>
    <p:sldId id="622" r:id="rId54"/>
    <p:sldId id="625" r:id="rId55"/>
    <p:sldId id="581" r:id="rId56"/>
  </p:sldIdLst>
  <p:sldSz cx="9144000" cy="6858000" type="screen4x3"/>
  <p:notesSz cx="9144000" cy="6858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A4A3A4"/>
          </p15:clr>
        </p15:guide>
        <p15:guide id="2" pos="2880">
          <p15:clr>
            <a:srgbClr val="A4A3A4"/>
          </p15:clr>
        </p15:guide>
        <p15:guide id="3" pos="204">
          <p15:clr>
            <a:srgbClr val="A4A3A4"/>
          </p15:clr>
        </p15:guide>
        <p15:guide id="4" pos="5375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4F81BD"/>
    <a:srgbClr val="4BACC6"/>
    <a:srgbClr val="F79646"/>
    <a:srgbClr val="6F84B7"/>
    <a:srgbClr val="FF0707"/>
    <a:srgbClr val="FFFFFF"/>
    <a:srgbClr val="7FBA00"/>
    <a:srgbClr val="FF8C00"/>
    <a:srgbClr val="0072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F80A0-5D0D-42A6-845D-1EE93B609FF5}" v="5" dt="2026-10-28T04:12:30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89401" autoAdjust="0"/>
  </p:normalViewPr>
  <p:slideViewPr>
    <p:cSldViewPr>
      <p:cViewPr varScale="1">
        <p:scale>
          <a:sx n="110" d="100"/>
          <a:sy n="110" d="100"/>
        </p:scale>
        <p:origin x="1752" y="114"/>
      </p:cViewPr>
      <p:guideLst>
        <p:guide orient="horz" pos="618"/>
        <p:guide pos="2880"/>
        <p:guide pos="204"/>
        <p:guide pos="5375"/>
        <p:guide pos="1066"/>
      </p:guideLst>
    </p:cSldViewPr>
  </p:slideViewPr>
  <p:outlineViewPr>
    <p:cViewPr>
      <p:scale>
        <a:sx n="33" d="100"/>
        <a:sy n="33" d="100"/>
      </p:scale>
      <p:origin x="0" y="-103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-27654"/>
    </p:cViewPr>
  </p:sorterViewPr>
  <p:notesViewPr>
    <p:cSldViewPr>
      <p:cViewPr varScale="1">
        <p:scale>
          <a:sx n="118" d="100"/>
          <a:sy n="118" d="100"/>
        </p:scale>
        <p:origin x="14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slide" Target="slides/slide38.xml"/><Relationship Id="rId50" Type="http://schemas.openxmlformats.org/officeDocument/2006/relationships/slide" Target="slides/slide41.xml"/><Relationship Id="rId55" Type="http://schemas.openxmlformats.org/officeDocument/2006/relationships/slide" Target="slides/slide46.xml"/><Relationship Id="rId63" Type="http://schemas.microsoft.com/office/2016/11/relationships/changesInfo" Target="changesInfos/changesInfo1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slide" Target="slides/slide36.xml"/><Relationship Id="rId53" Type="http://schemas.openxmlformats.org/officeDocument/2006/relationships/slide" Target="slides/slide44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61" Type="http://schemas.openxmlformats.org/officeDocument/2006/relationships/theme" Target="theme/theme1.xml"/><Relationship Id="rId19" Type="http://schemas.openxmlformats.org/officeDocument/2006/relationships/slide" Target="slides/slide10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slide" Target="slides/slide39.xml"/><Relationship Id="rId56" Type="http://schemas.openxmlformats.org/officeDocument/2006/relationships/slide" Target="slides/slide47.xml"/><Relationship Id="rId64" Type="http://schemas.microsoft.com/office/2015/10/relationships/revisionInfo" Target="revisionInfo.xml"/><Relationship Id="rId8" Type="http://schemas.openxmlformats.org/officeDocument/2006/relationships/slideMaster" Target="slideMasters/slideMaster4.xml"/><Relationship Id="rId51" Type="http://schemas.openxmlformats.org/officeDocument/2006/relationships/slide" Target="slides/slide42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slide" Target="slides/slide37.xml"/><Relationship Id="rId59" Type="http://schemas.openxmlformats.org/officeDocument/2006/relationships/presProps" Target="pres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Relationship Id="rId54" Type="http://schemas.openxmlformats.org/officeDocument/2006/relationships/slide" Target="slides/slide45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slide" Target="slides/slide40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slide" Target="slides/slide35.xml"/><Relationship Id="rId52" Type="http://schemas.openxmlformats.org/officeDocument/2006/relationships/slide" Target="slides/slide43.xml"/><Relationship Id="rId6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408F80A0-5D0D-42A6-845D-1EE93B609FF5}"/>
    <pc:docChg chg="modSld">
      <pc:chgData name="" userId="" providerId="" clId="Web-{408F80A0-5D0D-42A6-845D-1EE93B609FF5}" dt="2026-10-28T04:12:30.128" v="11" actId="34807"/>
      <pc:docMkLst>
        <pc:docMk/>
      </pc:docMkLst>
      <pc:sldChg chg="addSp modSp modNotesTx">
        <pc:chgData name="" userId="" providerId="" clId="Web-{408F80A0-5D0D-42A6-845D-1EE93B609FF5}" dt="2026-10-28T04:07:42.672" v="1" actId="34807"/>
        <pc:sldMkLst>
          <pc:docMk/>
          <pc:sldMk cId="0" sldId="259"/>
        </pc:sldMkLst>
        <pc:spChg chg="mod">
          <ac:chgData name="" userId="" providerId="" clId="Web-{408F80A0-5D0D-42A6-845D-1EE93B609FF5}" dt="2026-10-28T04:07:42.672" v="1" actId="348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" userId="" providerId="" clId="Web-{408F80A0-5D0D-42A6-845D-1EE93B609FF5}" dt="2026-10-28T04:07:42.672" v="1" actId="34807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0" sldId="259"/>
            <ac:spMk id="82562" creationId="{5DC54093-62B8-76EB-74C6-9D305DDC04EB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0" sldId="259"/>
            <ac:spMk id="82600" creationId="{E0A26000-E6AA-75A8-02F3-C9EEB20471D9}"/>
          </ac:spMkLst>
        </pc:spChg>
      </pc:sldChg>
      <pc:sldChg chg="addSp modSp">
        <pc:chgData name="" userId="" providerId="" clId="Web-{408F80A0-5D0D-42A6-845D-1EE93B609FF5}" dt="2026-10-28T04:07:34.906" v="0" actId="34807"/>
        <pc:sldMkLst>
          <pc:docMk/>
          <pc:sldMk cId="0" sldId="315"/>
        </pc:sldMkLst>
        <pc:spChg chg="add mod">
          <ac:chgData name="" userId="" providerId="" clId="Web-{408F80A0-5D0D-42A6-845D-1EE93B609FF5}" dt="2026-10-28T04:07:34.906" v="0" actId="34807"/>
          <ac:spMkLst>
            <pc:docMk/>
            <pc:sldMk cId="0" sldId="315"/>
            <ac:spMk id="82639" creationId="{2CE1CC66-0A00-D9AB-C77C-9DF72C331050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0" sldId="315"/>
            <ac:spMk id="82679" creationId="{BA200C7A-2CD7-F9B6-2B06-A23FB739F7FF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870971118" sldId="416"/>
        </pc:sldMkLst>
        <pc:spChg chg="mod">
          <ac:chgData name="" userId="" providerId="" clId="Web-{408F80A0-5D0D-42A6-845D-1EE93B609FF5}" dt="2026-10-28T04:09:17.423" v="6" actId="34807"/>
          <ac:spMkLst>
            <pc:docMk/>
            <pc:sldMk cId="870971118" sldId="416"/>
            <ac:spMk id="14" creationId="{00000000-0000-0000-0000-000000000000}"/>
          </ac:spMkLst>
        </pc:spChg>
        <pc:spChg chg="mod">
          <ac:chgData name="" userId="" providerId="" clId="Web-{408F80A0-5D0D-42A6-845D-1EE93B609FF5}" dt="2026-10-28T04:07:42.672" v="1" actId="34807"/>
          <ac:spMkLst>
            <pc:docMk/>
            <pc:sldMk cId="870971118" sldId="416"/>
            <ac:spMk id="26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870971118" sldId="416"/>
            <ac:spMk id="32" creationId="{00000000-0000-0000-0000-000000000000}"/>
          </ac:spMkLst>
        </pc:spChg>
        <pc:spChg chg="add del mod">
          <ac:chgData name="" userId="" providerId="" clId="Web-{408F80A0-5D0D-42A6-845D-1EE93B609FF5}" dt="2026-10-28T04:11:10.658" v="8" actId="34807"/>
          <ac:spMkLst>
            <pc:docMk/>
            <pc:sldMk cId="870971118" sldId="416"/>
            <ac:spMk id="81929" creationId="{E6D2DFE7-83F1-092F-2062-7E63E629797F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870971118" sldId="416"/>
            <ac:spMk id="82324" creationId="{92C4B6BB-9F30-95F8-0789-8CC6A0B546B1}"/>
          </ac:spMkLst>
        </pc:spChg>
        <pc:spChg chg="add mod">
          <ac:chgData name="" userId="" providerId="" clId="Web-{408F80A0-5D0D-42A6-845D-1EE93B609FF5}" dt="2026-10-28T04:11:08.627" v="7" actId="34807"/>
          <ac:spMkLst>
            <pc:docMk/>
            <pc:sldMk cId="870971118" sldId="416"/>
            <ac:spMk id="85533" creationId="{BE4FE766-9B15-8E00-780C-5D2FB0C52F4D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870971118" sldId="416"/>
            <ac:spMk id="85565" creationId="{D58D757C-5A80-6A02-FC95-554A0524E7CE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870971118" sldId="416"/>
            <ac:spMk id="85573" creationId="{B1512FA5-5996-6A2D-5666-E35DA4FC475D}"/>
          </ac:spMkLst>
        </pc:spChg>
        <pc:graphicFrameChg chg="add mod">
          <ac:chgData name="" userId="" providerId="" clId="Web-{408F80A0-5D0D-42A6-845D-1EE93B609FF5}" dt="2026-10-28T04:11:08.627" v="7" actId="34807"/>
          <ac:graphicFrameMkLst>
            <pc:docMk/>
            <pc:sldMk cId="870971118" sldId="416"/>
            <ac:graphicFrameMk id="4" creationId="{111E9423-8C62-4C53-BF06-EB2E9393914E}"/>
          </ac:graphicFrameMkLst>
        </pc:graphicFrameChg>
        <pc:graphicFrameChg chg="add del mod">
          <ac:chgData name="" userId="" providerId="" clId="Web-{408F80A0-5D0D-42A6-845D-1EE93B609FF5}" dt="2026-10-28T04:11:10.658" v="8" actId="34807"/>
          <ac:graphicFrameMkLst>
            <pc:docMk/>
            <pc:sldMk cId="870971118" sldId="416"/>
            <ac:graphicFrameMk id="6" creationId="{0A415106-BE54-4536-B5ED-28031F4763CE}"/>
          </ac:graphicFrameMkLst>
        </pc:graphicFrameChg>
        <pc:graphicFrameChg chg="add mod">
          <ac:chgData name="" userId="" providerId="" clId="Web-{408F80A0-5D0D-42A6-845D-1EE93B609FF5}" dt="2026-10-28T04:07:34.906" v="0" actId="34807"/>
          <ac:graphicFrameMkLst>
            <pc:docMk/>
            <pc:sldMk cId="870971118" sldId="416"/>
            <ac:graphicFrameMk id="8" creationId="{FAB48950-3FD2-461C-99B0-381D69F142C1}"/>
          </ac:graphicFrameMkLst>
        </pc:graphicFrameChg>
        <pc:graphicFrameChg chg="add mod">
          <ac:chgData name="" userId="" providerId="" clId="Web-{408F80A0-5D0D-42A6-845D-1EE93B609FF5}" dt="2026-10-28T04:07:34.906" v="0" actId="34807"/>
          <ac:graphicFrameMkLst>
            <pc:docMk/>
            <pc:sldMk cId="870971118" sldId="416"/>
            <ac:graphicFrameMk id="10" creationId="{70CC7BA0-9883-42C9-A52F-BD0121909A92}"/>
          </ac:graphicFrameMkLst>
        </pc:graphicFrameChg>
        <pc:graphicFrameChg chg="del">
          <ac:chgData name="" userId="" providerId="" clId="Web-{408F80A0-5D0D-42A6-845D-1EE93B609FF5}" dt="2026-10-28T04:07:42.672" v="1" actId="34807"/>
          <ac:graphicFrameMkLst>
            <pc:docMk/>
            <pc:sldMk cId="870971118" sldId="416"/>
            <ac:graphicFrameMk id="15" creationId="{00000000-0000-0000-0000-000000000000}"/>
          </ac:graphicFrameMkLst>
        </pc:graphicFrameChg>
        <pc:graphicFrameChg chg="del">
          <ac:chgData name="" userId="" providerId="" clId="Web-{408F80A0-5D0D-42A6-845D-1EE93B609FF5}" dt="2026-10-28T04:07:42.672" v="1" actId="34807"/>
          <ac:graphicFrameMkLst>
            <pc:docMk/>
            <pc:sldMk cId="870971118" sldId="416"/>
            <ac:graphicFrameMk id="23" creationId="{00000000-0000-0000-0000-000000000000}"/>
          </ac:graphicFrameMkLst>
        </pc:graphicFrameChg>
        <pc:graphicFrameChg chg="del">
          <ac:chgData name="" userId="" providerId="" clId="Web-{408F80A0-5D0D-42A6-845D-1EE93B609FF5}" dt="2026-10-28T04:07:42.672" v="1" actId="34807"/>
          <ac:graphicFrameMkLst>
            <pc:docMk/>
            <pc:sldMk cId="870971118" sldId="416"/>
            <ac:graphicFrameMk id="24" creationId="{00000000-0000-0000-0000-000000000000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386339906" sldId="417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386339906" sldId="417"/>
            <ac:spMk id="26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386339906" sldId="417"/>
            <ac:spMk id="82355" creationId="{79ED246F-3DF8-69F5-DFA8-DA0E1A17D827}"/>
          </ac:spMkLst>
        </pc:spChg>
        <pc:spChg chg="add mod">
          <ac:chgData name="" userId="" providerId="" clId="Web-{408F80A0-5D0D-42A6-845D-1EE93B609FF5}" dt="2026-10-28T04:11:08.627" v="7" actId="34807"/>
          <ac:spMkLst>
            <pc:docMk/>
            <pc:sldMk cId="3386339906" sldId="417"/>
            <ac:spMk id="85537" creationId="{212E2635-CC17-49FC-F1EA-A8E4452F2942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386339906" sldId="417"/>
            <ac:spMk id="85582" creationId="{9C82A37D-DA11-FDBB-25EE-E43633DFA5EB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386339906" sldId="417"/>
            <ac:spMk id="85592" creationId="{F3FA58C6-32AD-DC99-0011-D7679D749819}"/>
          </ac:spMkLst>
        </pc:spChg>
        <pc:graphicFrameChg chg="add mod">
          <ac:chgData name="" userId="" providerId="" clId="Web-{408F80A0-5D0D-42A6-845D-1EE93B609FF5}" dt="2026-10-28T04:07:34.906" v="0" actId="34807"/>
          <ac:graphicFrameMkLst>
            <pc:docMk/>
            <pc:sldMk cId="3386339906" sldId="417"/>
            <ac:graphicFrameMk id="4" creationId="{0756BDFE-0A3B-486C-9C8E-8EAA94EE644C}"/>
          </ac:graphicFrameMkLst>
        </pc:graphicFrameChg>
        <pc:graphicFrameChg chg="add mod">
          <ac:chgData name="" userId="" providerId="" clId="Web-{408F80A0-5D0D-42A6-845D-1EE93B609FF5}" dt="2026-10-28T04:07:34.906" v="0" actId="34807"/>
          <ac:graphicFrameMkLst>
            <pc:docMk/>
            <pc:sldMk cId="3386339906" sldId="417"/>
            <ac:graphicFrameMk id="6" creationId="{BD3C6E65-E0C5-4977-AEB1-A21419936097}"/>
          </ac:graphicFrameMkLst>
        </pc:graphicFrameChg>
        <pc:graphicFrameChg chg="del">
          <ac:chgData name="" userId="" providerId="" clId="Web-{408F80A0-5D0D-42A6-845D-1EE93B609FF5}" dt="2026-10-28T04:07:42.672" v="1" actId="34807"/>
          <ac:graphicFrameMkLst>
            <pc:docMk/>
            <pc:sldMk cId="3386339906" sldId="417"/>
            <ac:graphicFrameMk id="13" creationId="{00000000-0000-0000-0000-000000000000}"/>
          </ac:graphicFrameMkLst>
        </pc:graphicFrameChg>
        <pc:graphicFrameChg chg="del">
          <ac:chgData name="" userId="" providerId="" clId="Web-{408F80A0-5D0D-42A6-845D-1EE93B609FF5}" dt="2026-10-28T04:07:42.672" v="1" actId="34807"/>
          <ac:graphicFrameMkLst>
            <pc:docMk/>
            <pc:sldMk cId="3386339906" sldId="417"/>
            <ac:graphicFrameMk id="21" creationId="{00000000-0000-0000-0000-000000000000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363922069" sldId="418"/>
        </pc:sldMkLst>
        <pc:spChg chg="mod">
          <ac:chgData name="" userId="" providerId="" clId="Web-{408F80A0-5D0D-42A6-845D-1EE93B609FF5}" dt="2026-10-28T04:09:17.423" v="6" actId="34807"/>
          <ac:spMkLst>
            <pc:docMk/>
            <pc:sldMk cId="3363922069" sldId="418"/>
            <ac:spMk id="7" creationId="{00000000-0000-0000-0000-000000000000}"/>
          </ac:spMkLst>
        </pc:spChg>
        <pc:spChg chg="del">
          <ac:chgData name="" userId="" providerId="" clId="Web-{408F80A0-5D0D-42A6-845D-1EE93B609FF5}" dt="2026-10-28T04:07:42.672" v="1" actId="34807"/>
          <ac:spMkLst>
            <pc:docMk/>
            <pc:sldMk cId="3363922069" sldId="418"/>
            <ac:spMk id="18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3363922069" sldId="418"/>
            <ac:spMk id="19" creationId="{00000000-0000-0000-0000-000000000000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1963" creationId="{1A7C1881-FB0C-D58E-ADF0-6AEEBF33B239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1974" creationId="{558E7D31-CD02-A1AC-0869-A79DC4109638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1986" creationId="{AD01872B-0CF8-3DBA-826C-697C0361F621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2013" creationId="{E79BFC54-6333-01C5-CA3F-61021BF4A59A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2028" creationId="{A565B56E-B62E-6498-431C-AAE94FDCB970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2044" creationId="{E2FCFA64-AEE4-B047-EA8D-C71C91DB4426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2079" creationId="{3CD4C48C-377D-A67E-AEE2-833D5510F36A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2118" creationId="{1A100C2F-03CE-418C-CC25-2E31B7A89B63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363922069" sldId="418"/>
            <ac:spMk id="82161" creationId="{F0BE662F-8826-6816-2103-D76FDE1C41A1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3363922069" sldId="418"/>
            <ac:spMk id="82184" creationId="{AB3E16EF-9CAA-CE10-5127-3CDFA10592B3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363922069" sldId="418"/>
            <ac:spMk id="82420" creationId="{7FB6A15E-E73D-199F-86A6-FD1F348147C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363922069" sldId="418"/>
            <ac:spMk id="85628" creationId="{711FCD7E-657C-007A-6200-F0E26D5FEB0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363922069" sldId="418"/>
            <ac:spMk id="85642" creationId="{5BBB28E5-C60E-8760-64F2-7BFCB3EE88DE}"/>
          </ac:spMkLst>
        </pc:spChg>
        <pc:picChg chg="del">
          <ac:chgData name="" userId="" providerId="" clId="Web-{408F80A0-5D0D-42A6-845D-1EE93B609FF5}" dt="2026-10-28T04:07:42.672" v="1" actId="34807"/>
          <ac:picMkLst>
            <pc:docMk/>
            <pc:sldMk cId="3363922069" sldId="418"/>
            <ac:picMk id="17" creationId="{00000000-0000-0000-0000-000000000000}"/>
          </ac:picMkLst>
        </pc:pic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524151413" sldId="419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524151413" sldId="419"/>
            <ac:spMk id="15" creationId="{00000000-0000-0000-0000-000000000000}"/>
          </ac:spMkLst>
        </pc:spChg>
        <pc:spChg chg="add mod">
          <ac:chgData name="" userId="" providerId="" clId="Web-{408F80A0-5D0D-42A6-845D-1EE93B609FF5}" dt="2026-10-28T04:09:17.423" v="6" actId="34807"/>
          <ac:spMkLst>
            <pc:docMk/>
            <pc:sldMk cId="3524151413" sldId="419"/>
            <ac:spMk id="82210" creationId="{F1041158-3C9C-F8B4-9B78-6333202062A6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524151413" sldId="419"/>
            <ac:spMk id="82454" creationId="{2EE2EAD6-EBA9-5F91-2D91-9E790CA4725B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524151413" sldId="419"/>
            <ac:spMk id="85657" creationId="{1E3578F3-1A2A-B503-871E-281CE81733C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524151413" sldId="419"/>
            <ac:spMk id="85673" creationId="{D9479A9D-67D5-63A0-E808-90B47E950C77}"/>
          </ac:spMkLst>
        </pc:sp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3524151413" sldId="419"/>
            <ac:graphicFrameMk id="5" creationId="{A167D5B7-222B-47EE-A9BA-48BC7B3283F3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3524151413" sldId="419"/>
            <ac:graphicFrameMk id="7" creationId="{249346E3-FEBB-4E09-A9C2-64652A703DBB}"/>
          </ac:graphicFrameMkLst>
        </pc:graphicFrameChg>
        <pc:graphicFrameChg chg="del">
          <ac:chgData name="" userId="" providerId="" clId="Web-{408F80A0-5D0D-42A6-845D-1EE93B609FF5}" dt="2026-10-28T04:07:42.672" v="1" actId="34807"/>
          <ac:graphicFrameMkLst>
            <pc:docMk/>
            <pc:sldMk cId="3524151413" sldId="419"/>
            <ac:graphicFrameMk id="13" creationId="{00000000-0000-0000-0000-000000000000}"/>
          </ac:graphicFrameMkLst>
        </pc:graphicFrameChg>
        <pc:graphicFrameChg chg="del">
          <ac:chgData name="" userId="" providerId="" clId="Web-{408F80A0-5D0D-42A6-845D-1EE93B609FF5}" dt="2026-10-28T04:07:42.672" v="1" actId="34807"/>
          <ac:graphicFrameMkLst>
            <pc:docMk/>
            <pc:sldMk cId="3524151413" sldId="419"/>
            <ac:graphicFrameMk id="14" creationId="{00000000-0000-0000-0000-000000000000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4278241374" sldId="430"/>
        </pc:sldMkLst>
        <pc:spChg chg="mod">
          <ac:chgData name="" userId="" providerId="" clId="Web-{408F80A0-5D0D-42A6-845D-1EE93B609FF5}" dt="2026-10-28T04:07:42.672" v="1" actId="34807"/>
          <ac:spMkLst>
            <pc:docMk/>
            <pc:sldMk cId="4278241374" sldId="430"/>
            <ac:spMk id="20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4278241374" sldId="430"/>
            <ac:spMk id="22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4278241374" sldId="430"/>
            <ac:spMk id="82489" creationId="{4E59E142-4F25-0EAF-5E64-337B4FA42DF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4278241374" sldId="430"/>
            <ac:spMk id="85690" creationId="{F720EF93-906B-0F97-58BE-C32983EE0CD8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4278241374" sldId="430"/>
            <ac:spMk id="85708" creationId="{5FF8C37C-0922-8ED0-FB03-63A19C500D2E}"/>
          </ac:spMkLst>
        </pc:spChg>
      </pc:sldChg>
      <pc:sldChg chg="addSp modSp">
        <pc:chgData name="" userId="" providerId="" clId="Web-{408F80A0-5D0D-42A6-845D-1EE93B609FF5}" dt="2026-10-28T04:07:34.906" v="0" actId="34807"/>
        <pc:sldMkLst>
          <pc:docMk/>
          <pc:sldMk cId="2588814514" sldId="434"/>
        </pc:sldMkLst>
        <pc:spChg chg="add mod">
          <ac:chgData name="" userId="" providerId="" clId="Web-{408F80A0-5D0D-42A6-845D-1EE93B609FF5}" dt="2026-10-28T04:07:34.906" v="0" actId="34807"/>
          <ac:spMkLst>
            <pc:docMk/>
            <pc:sldMk cId="2588814514" sldId="434"/>
            <ac:spMk id="82805" creationId="{E959BDCD-A586-7E75-C753-C60852624140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2588814514" sldId="434"/>
            <ac:spMk id="82849" creationId="{2789A520-0E40-FD03-47BB-1394CD1500B8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086460266" sldId="435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086460266" sldId="435"/>
            <ac:spMk id="72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086460266" sldId="435"/>
            <ac:spMk id="82387" creationId="{4E7347DE-F6F5-DC99-9724-5C15FCB3555D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086460266" sldId="435"/>
            <ac:spMk id="85603" creationId="{52F0F86D-C39C-395C-973B-D60690D689FF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086460266" sldId="435"/>
            <ac:spMk id="85615" creationId="{AE3AC9F4-FBF7-10DF-7944-7ABF2385E0EB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18923652" sldId="445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18923652" sldId="445"/>
            <ac:spMk id="16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318923652" sldId="445"/>
            <ac:spMk id="18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18923652" sldId="445"/>
            <ac:spMk id="82525" creationId="{1C03E962-D215-BF3E-48C6-0C0A58D936A0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18923652" sldId="445"/>
            <ac:spMk id="85727" creationId="{5BCDB99A-5A08-339E-EED5-86EACFE557FD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18923652" sldId="445"/>
            <ac:spMk id="85747" creationId="{E3024564-60E4-AEBA-F2B7-AAA2BE86C816}"/>
          </ac:spMkLst>
        </pc:spChg>
      </pc:sldChg>
      <pc:sldChg chg="addSp modSp">
        <pc:chgData name="" userId="" providerId="" clId="Web-{408F80A0-5D0D-42A6-845D-1EE93B609FF5}" dt="2026-10-28T04:08:09.469" v="3" actId="34807"/>
        <pc:sldMkLst>
          <pc:docMk/>
          <pc:sldMk cId="954803674" sldId="446"/>
        </pc:sldMkLst>
        <pc:spChg chg="add mod">
          <ac:chgData name="" userId="" providerId="" clId="Web-{408F80A0-5D0D-42A6-845D-1EE93B609FF5}" dt="2026-10-28T04:08:09.469" v="3" actId="34807"/>
          <ac:spMkLst>
            <pc:docMk/>
            <pc:sldMk cId="954803674" sldId="446"/>
            <ac:spMk id="84955" creationId="{F496DE04-094F-E1CB-CB6A-55973412214F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954803674" sldId="446"/>
            <ac:spMk id="85034" creationId="{D8B4EE61-0AB3-DED7-1711-9E30AE683F28}"/>
          </ac:spMkLst>
        </pc:spChg>
      </pc:sldChg>
      <pc:sldChg chg="addSp modSp">
        <pc:chgData name="" userId="" providerId="" clId="Web-{408F80A0-5D0D-42A6-845D-1EE93B609FF5}" dt="2026-10-28T04:08:09.469" v="3" actId="34807"/>
        <pc:sldMkLst>
          <pc:docMk/>
          <pc:sldMk cId="1064789124" sldId="463"/>
        </pc:sldMkLst>
        <pc:spChg chg="add mod">
          <ac:chgData name="" userId="" providerId="" clId="Web-{408F80A0-5D0D-42A6-845D-1EE93B609FF5}" dt="2026-10-28T04:08:09.469" v="3" actId="34807"/>
          <ac:spMkLst>
            <pc:docMk/>
            <pc:sldMk cId="1064789124" sldId="463"/>
            <ac:spMk id="85114" creationId="{F5B5381E-0CD9-2572-C74D-C2C2D6A2684A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064789124" sldId="463"/>
            <ac:spMk id="85195" creationId="{9311D10D-3CEB-828B-345A-2FBEBF452490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582083875" sldId="556"/>
        </pc:sldMkLst>
        <pc:spChg chg="del mod">
          <ac:chgData name="" userId="" providerId="" clId="Web-{408F80A0-5D0D-42A6-845D-1EE93B609FF5}" dt="2026-10-28T04:11:10.658" v="8" actId="34807"/>
          <ac:spMkLst>
            <pc:docMk/>
            <pc:sldMk cId="1582083875" sldId="556"/>
            <ac:spMk id="7" creationId="{00000000-0000-0000-0000-000000000000}"/>
          </ac:spMkLst>
        </pc:spChg>
        <pc:spChg chg="mod">
          <ac:chgData name="" userId="" providerId="" clId="Web-{408F80A0-5D0D-42A6-845D-1EE93B609FF5}" dt="2026-10-28T04:07:42.672" v="1" actId="34807"/>
          <ac:spMkLst>
            <pc:docMk/>
            <pc:sldMk cId="1582083875" sldId="556"/>
            <ac:spMk id="17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582083875" sldId="556"/>
            <ac:spMk id="82850" creationId="{F98D93CB-46CD-9611-9EE1-0E72FB9CE094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582083875" sldId="556"/>
            <ac:spMk id="83149" creationId="{BF2FC4D0-248A-899A-DB4D-71FA96883CC8}"/>
          </ac:spMkLst>
        </pc:spChg>
        <pc:spChg chg="add mod">
          <ac:chgData name="" userId="" providerId="" clId="Web-{408F80A0-5D0D-42A6-845D-1EE93B609FF5}" dt="2026-10-28T04:11:08.627" v="7" actId="34807"/>
          <ac:spMkLst>
            <pc:docMk/>
            <pc:sldMk cId="1582083875" sldId="556"/>
            <ac:spMk id="85530" creationId="{6CD64863-534F-09EE-1D37-63C5264CC810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582083875" sldId="556"/>
            <ac:spMk id="85862" creationId="{217023A8-7E0B-3F51-F5BD-C1669EFCE4ED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582083875" sldId="556"/>
            <ac:spMk id="85888" creationId="{5E99D71A-F1B7-A0DB-FE08-5089AD9D96BA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582083875" sldId="556"/>
            <ac:spMk id="85915" creationId="{C15C689E-DB26-2495-F36A-9F7754D449EE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582083875" sldId="556"/>
            <ac:spMk id="85943" creationId="{7FA9E8ED-235F-BFBA-9564-AD42639EF200}"/>
          </ac:spMkLst>
        </pc:spChg>
        <pc:graphicFrameChg chg="mod">
          <ac:chgData name="" userId="" providerId="" clId="Web-{408F80A0-5D0D-42A6-845D-1EE93B609FF5}" dt="2026-10-28T04:07:48.329" v="2" actId="34807"/>
          <ac:graphicFrameMkLst>
            <pc:docMk/>
            <pc:sldMk cId="1582083875" sldId="556"/>
            <ac:graphicFrameMk id="2" creationId="{00000000-0000-0000-0000-000000000000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776491111" sldId="564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776491111" sldId="564"/>
            <ac:spMk id="15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776491111" sldId="564"/>
            <ac:spMk id="83470" creationId="{D3B45653-7FD9-8416-D35F-1821B217FC75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776491111" sldId="564"/>
            <ac:spMk id="86317" creationId="{5650D8F2-A67A-F344-CBE1-739D020573FC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776491111" sldId="564"/>
            <ac:spMk id="86357" creationId="{F8468D46-E3CE-716B-EBE0-0CD71F6D1F1B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743300942" sldId="573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743300942" sldId="573"/>
            <ac:spMk id="71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743300942" sldId="573"/>
            <ac:spMk id="84502" creationId="{11A6CEA7-4EF2-617C-DABE-5D0726223585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743300942" sldId="573"/>
            <ac:spMk id="88093" creationId="{C2CBB093-EEFE-0C99-D34C-12C081D3181F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743300942" sldId="573"/>
            <ac:spMk id="88165" creationId="{DD7603F3-D4CB-A530-AA7D-B6569DA63468}"/>
          </ac:spMkLst>
        </pc:spChg>
      </pc:sldChg>
      <pc:sldChg chg="addSp modSp">
        <pc:chgData name="" userId="" providerId="" clId="Web-{408F80A0-5D0D-42A6-845D-1EE93B609FF5}" dt="2026-10-28T04:08:09.469" v="3" actId="34807"/>
        <pc:sldMkLst>
          <pc:docMk/>
          <pc:sldMk cId="1134211969" sldId="581"/>
        </pc:sldMkLst>
        <pc:spChg chg="add mod">
          <ac:chgData name="" userId="" providerId="" clId="Web-{408F80A0-5D0D-42A6-845D-1EE93B609FF5}" dt="2026-10-28T04:08:09.469" v="3" actId="34807"/>
          <ac:spMkLst>
            <pc:docMk/>
            <pc:sldMk cId="1134211969" sldId="581"/>
            <ac:spMk id="85444" creationId="{FED9BF87-E451-841E-53F0-6FCCC27980DC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134211969" sldId="581"/>
            <ac:spMk id="85529" creationId="{8659ACFB-0191-1567-AA80-DA2EAA83AEDC}"/>
          </ac:spMkLst>
        </pc:spChg>
      </pc:sldChg>
      <pc:sldChg chg="addSp modSp">
        <pc:chgData name="" userId="" providerId="" clId="Web-{408F80A0-5D0D-42A6-845D-1EE93B609FF5}" dt="2026-10-28T04:07:34.906" v="0" actId="34807"/>
        <pc:sldMkLst>
          <pc:docMk/>
          <pc:sldMk cId="3891955038" sldId="600"/>
        </pc:sldMkLst>
        <pc:spChg chg="add mod">
          <ac:chgData name="" userId="" providerId="" clId="Web-{408F80A0-5D0D-42A6-845D-1EE93B609FF5}" dt="2026-10-28T04:07:34.906" v="0" actId="34807"/>
          <ac:spMkLst>
            <pc:docMk/>
            <pc:sldMk cId="3891955038" sldId="600"/>
            <ac:spMk id="82720" creationId="{3B436A1B-F374-BAD5-491A-4382C24F9522}"/>
          </ac:spMkLst>
        </pc:spChg>
        <pc:spChg chg="add mod">
          <ac:chgData name="" userId="" providerId="" clId="Web-{408F80A0-5D0D-42A6-845D-1EE93B609FF5}" dt="2026-10-28T04:07:34.906" v="0" actId="34807"/>
          <ac:spMkLst>
            <pc:docMk/>
            <pc:sldMk cId="3891955038" sldId="600"/>
            <ac:spMk id="82762" creationId="{0A2BA1D2-FA3C-AA1A-E836-E2F44CA9FF68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760975586" sldId="602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760975586" sldId="602"/>
            <ac:spMk id="66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760975586" sldId="602"/>
            <ac:spMk id="72" creationId="{00000000-0000-0000-0000-000000000000}"/>
          </ac:spMkLst>
        </pc:spChg>
        <pc:spChg chg="mod">
          <ac:chgData name="" userId="" providerId="" clId="Web-{408F80A0-5D0D-42A6-845D-1EE93B609FF5}" dt="2026-10-28T04:07:42.672" v="1" actId="34807"/>
          <ac:spMkLst>
            <pc:docMk/>
            <pc:sldMk cId="760975586" sldId="602"/>
            <ac:spMk id="74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760975586" sldId="602"/>
            <ac:spMk id="82237" creationId="{EA075C0F-6E7B-69CA-A64B-76DE6B650747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760975586" sldId="602"/>
            <ac:spMk id="85538" creationId="{0117337F-63B3-B101-0F7F-C311F8E411EB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760975586" sldId="602"/>
            <ac:spMk id="85540" creationId="{2C98A57D-C08D-CB60-0B81-F81F6BFE73E1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64147707" sldId="603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64147707" sldId="603"/>
            <ac:spMk id="72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364147707" sldId="603"/>
            <ac:spMk id="74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64147707" sldId="603"/>
            <ac:spMk id="82294" creationId="{ED41D88C-0B50-6D9D-30AA-58647B52E2BB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64147707" sldId="603"/>
            <ac:spMk id="85552" creationId="{B3DD8DFB-17E0-6E4A-E9B1-0E403381F56A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64147707" sldId="603"/>
            <ac:spMk id="85558" creationId="{67285066-C3E8-B29F-F951-A4165D10CC2B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261366686" sldId="604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261366686" sldId="604"/>
            <ac:spMk id="151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261366686" sldId="604"/>
            <ac:spMk id="83527" creationId="{E428D832-83C8-1E05-B656-433AC31DBBB2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261366686" sldId="604"/>
            <ac:spMk id="86398" creationId="{A059882C-1571-7259-6FB3-B87097486322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261366686" sldId="604"/>
            <ac:spMk id="86440" creationId="{19D55CBB-4E77-B4C8-FC0E-396E060E7A56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059488110" sldId="605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2059488110" sldId="605"/>
            <ac:spMk id="252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059488110" sldId="605"/>
            <ac:spMk id="83585" creationId="{389E96E7-904B-7FE9-7022-B62F926DABE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059488110" sldId="605"/>
            <ac:spMk id="86483" creationId="{08B2556B-2519-60BF-59D6-B3908E82A31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059488110" sldId="605"/>
            <ac:spMk id="86527" creationId="{3370BD72-457D-6034-BA44-89DF04EADD87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669256391" sldId="606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669256391" sldId="606"/>
            <ac:spMk id="63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669256391" sldId="606"/>
            <ac:spMk id="83644" creationId="{B76B36AC-0F79-58D9-5CBE-2CC4A3362D00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669256391" sldId="606"/>
            <ac:spMk id="86572" creationId="{E2F75895-E615-E09B-DB9A-67CB5FF765F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669256391" sldId="606"/>
            <ac:spMk id="86618" creationId="{8DAE57AE-E255-B309-2184-4F775AF8F954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105528713" sldId="608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105528713" sldId="608"/>
            <ac:spMk id="31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105528713" sldId="608"/>
            <ac:spMk id="83704" creationId="{BC755803-344D-F9A4-EC6F-BD13ACE37976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105528713" sldId="608"/>
            <ac:spMk id="86665" creationId="{664A1A55-CC2D-4F97-0CCD-E5C18E4B3CF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105528713" sldId="608"/>
            <ac:spMk id="86713" creationId="{18F9D258-8D83-F77B-A4B3-6F0A428216E3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641423725" sldId="610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641423725" sldId="610"/>
            <ac:spMk id="112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641423725" sldId="610"/>
            <ac:spMk id="83765" creationId="{D14152E0-6D19-7D42-D529-FC822F6C033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641423725" sldId="610"/>
            <ac:spMk id="86762" creationId="{A27D0E11-74FE-148B-A565-76E3A210DA35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641423725" sldId="610"/>
            <ac:spMk id="86812" creationId="{2D9E8239-FE21-57AA-A33F-090B674C4FC3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24006284" sldId="612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24006284" sldId="612"/>
            <ac:spMk id="57" creationId="{00000000-0000-0000-0000-000000000000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855" creationId="{7D9D1616-6944-0D2E-1F3A-9C9EB6C1BCE2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859" creationId="{40A8497F-7703-415B-F51C-0D57B49499C3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864" creationId="{2B94EA28-D2C3-CE47-02E3-35E9C5BEFE2A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870" creationId="{020538B7-F927-6203-A67A-B7B5C1C967F4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894" creationId="{E3CD95A1-873F-32A4-89A1-EA4A7DCE9B9A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915" creationId="{42C17364-3BBE-271C-CF45-73323386EABB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927" creationId="{366883B6-91DF-4012-8C6C-A4BA7ABBCE87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940" creationId="{1A5E7A0C-E9A8-689A-53A1-B6F48F24FFDF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969" creationId="{4D8DE0C5-D161-DE25-4B04-EE8444DD1933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24006284" sldId="612"/>
            <ac:spMk id="82985" creationId="{6E83FF0A-6E4C-21D8-C79E-C56EF5818957}"/>
          </ac:spMkLst>
        </pc:spChg>
        <pc:spChg chg="mod">
          <ac:chgData name="" userId="" providerId="" clId="Web-{408F80A0-5D0D-42A6-845D-1EE93B609FF5}" dt="2026-10-28T04:08:25.548" v="5" actId="34807"/>
          <ac:spMkLst>
            <pc:docMk/>
            <pc:sldMk cId="124006284" sldId="612"/>
            <ac:spMk id="83002" creationId="{02D0AFDD-5428-527A-1560-A7005E693C97}"/>
          </ac:spMkLst>
        </pc:spChg>
        <pc:spChg chg="del mod">
          <ac:chgData name="" userId="" providerId="" clId="Web-{408F80A0-5D0D-42A6-845D-1EE93B609FF5}" dt="2026-10-28T04:12:30.128" v="11" actId="34807"/>
          <ac:spMkLst>
            <pc:docMk/>
            <pc:sldMk cId="124006284" sldId="612"/>
            <ac:spMk id="83827" creationId="{796D074D-09D7-D2B4-5C4E-FBE1CFAFEF12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24006284" sldId="612"/>
            <ac:spMk id="86863" creationId="{C96A62A4-BDEE-3F63-89AF-C3E94E10573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24006284" sldId="612"/>
            <ac:spMk id="86915" creationId="{64C294ED-0621-6EEB-86F7-7797F5D6A014}"/>
          </ac:spMkLst>
        </pc:spChg>
        <pc:graphicFrameChg chg="del">
          <ac:chgData name="" userId="" providerId="" clId="Web-{408F80A0-5D0D-42A6-845D-1EE93B609FF5}" dt="2026-10-28T04:08:22.845" v="4" actId="34807"/>
          <ac:graphicFrameMkLst>
            <pc:docMk/>
            <pc:sldMk cId="124006284" sldId="612"/>
            <ac:graphicFrameMk id="55" creationId="{00000000-0000-0000-0000-000000000000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201144644" sldId="613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201144644" sldId="613"/>
            <ac:spMk id="21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201144644" sldId="613"/>
            <ac:spMk id="83890" creationId="{6BBB00C5-7EBA-56DE-DA6B-0ADB874A9D0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201144644" sldId="613"/>
            <ac:spMk id="86968" creationId="{88BFD67D-625C-5E5A-3F6A-3FD7D10DC8B8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201144644" sldId="613"/>
            <ac:spMk id="87022" creationId="{F017D98B-EC49-C89B-74A7-6FA6B8AF175C}"/>
          </ac:spMkLst>
        </pc:sp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201144644" sldId="613"/>
            <ac:graphicFrameMk id="4" creationId="{D41C5110-29AE-44A2-AC42-14132A4518E2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201144644" sldId="613"/>
            <ac:graphicFrameMk id="6" creationId="{D17BAA6D-808D-4FB7-AF9C-388B7814814D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201144644" sldId="613"/>
            <ac:graphicFrameMk id="8" creationId="{834768C0-6A5D-49B3-86CB-0F5BC3F16CA4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201144644" sldId="613"/>
            <ac:graphicFrameMk id="10" creationId="{37EF672E-BDC5-47CC-B7B3-9AD34BA520A7}"/>
          </ac:graphicFrameMkLst>
        </pc:graphicFrameChg>
        <pc:graphicFrameChg chg="del">
          <ac:chgData name="" userId="" providerId="" clId="Web-{408F80A0-5D0D-42A6-845D-1EE93B609FF5}" dt="2026-10-28T04:08:22.845" v="4" actId="34807"/>
          <ac:graphicFrameMkLst>
            <pc:docMk/>
            <pc:sldMk cId="1201144644" sldId="613"/>
            <ac:graphicFrameMk id="19" creationId="{00000000-0000-0000-0000-000000000000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201144644" sldId="613"/>
            <ac:graphicFrameMk id="20" creationId="{F9C90B20-885D-48F8-891E-943F2ECC6ACD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610254821" sldId="614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2610254821" sldId="614"/>
            <ac:spMk id="14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2610254821" sldId="614"/>
            <ac:spMk id="31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610254821" sldId="614"/>
            <ac:spMk id="84289" creationId="{BF525D96-2A67-AA98-DB53-AF6391F1BD05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610254821" sldId="614"/>
            <ac:spMk id="87682" creationId="{849ACA2C-2A7F-06FF-2D6A-02C80D0BE34A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610254821" sldId="614"/>
            <ac:spMk id="87748" creationId="{A4E9637A-DD19-D1E2-81F7-5D3A3548E620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342290781" sldId="616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2342290781" sldId="616"/>
            <ac:spMk id="12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2342290781" sldId="616"/>
            <ac:spMk id="27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342290781" sldId="616"/>
            <ac:spMk id="84359" creationId="{7A1FA70B-0A65-BCDF-2C66-61217E566AEC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342290781" sldId="616"/>
            <ac:spMk id="87815" creationId="{66567E29-5E89-2638-1BC3-B5E8993F0A4D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342290781" sldId="616"/>
            <ac:spMk id="87883" creationId="{1EEB5C5A-5675-3391-9F79-0951A7F2F0D2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134020828" sldId="617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134020828" sldId="617"/>
            <ac:spMk id="15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134020828" sldId="617"/>
            <ac:spMk id="84430" creationId="{037D3A3D-6BB0-5C82-3195-94D43BEA3F70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134020828" sldId="617"/>
            <ac:spMk id="87952" creationId="{D1FAE617-FD1C-4229-4C61-E1E423596DC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134020828" sldId="617"/>
            <ac:spMk id="88022" creationId="{FEE8227B-EC08-5A95-32FF-479B55E5A5A5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876284118" sldId="618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2876284118" sldId="618"/>
            <ac:spMk id="14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2876284118" sldId="618"/>
            <ac:spMk id="26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876284118" sldId="618"/>
            <ac:spMk id="84575" creationId="{99864A9F-C41A-783F-2EEA-B8A5CFD8D37B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876284118" sldId="618"/>
            <ac:spMk id="88238" creationId="{C02AF69E-7F68-60AB-5464-E9BE9D4037A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876284118" sldId="618"/>
            <ac:spMk id="88312" creationId="{A9F24B1B-6554-AAB3-BACE-856AA92BB47E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079663483" sldId="620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079663483" sldId="620"/>
            <ac:spMk id="14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079663483" sldId="620"/>
            <ac:spMk id="84649" creationId="{B130DC91-3E79-8B03-3A91-B05A005CD20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079663483" sldId="620"/>
            <ac:spMk id="88387" creationId="{43035D61-356A-9B0A-3D43-FB795ED585F4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079663483" sldId="620"/>
            <ac:spMk id="88463" creationId="{AF596622-E0A6-D10C-36E3-69AD8D19550B}"/>
          </ac:spMkLst>
        </pc:spChg>
      </pc:sldChg>
      <pc:sldChg chg="addSp modSp">
        <pc:chgData name="" userId="" providerId="" clId="Web-{408F80A0-5D0D-42A6-845D-1EE93B609FF5}" dt="2026-10-28T04:08:09.469" v="3" actId="34807"/>
        <pc:sldMkLst>
          <pc:docMk/>
          <pc:sldMk cId="1053997668" sldId="621"/>
        </pc:sldMkLst>
        <pc:spChg chg="add mod">
          <ac:chgData name="" userId="" providerId="" clId="Web-{408F80A0-5D0D-42A6-845D-1EE93B609FF5}" dt="2026-10-28T04:08:09.469" v="3" actId="34807"/>
          <ac:spMkLst>
            <pc:docMk/>
            <pc:sldMk cId="1053997668" sldId="621"/>
            <ac:spMk id="85277" creationId="{C640DC2B-F0D5-4170-9DBA-FCFEEEAFAE4C}"/>
          </ac:spMkLst>
        </pc:spChg>
        <pc:spChg chg="add mod">
          <ac:chgData name="" userId="" providerId="" clId="Web-{408F80A0-5D0D-42A6-845D-1EE93B609FF5}" dt="2026-10-28T04:08:09.469" v="3" actId="34807"/>
          <ac:spMkLst>
            <pc:docMk/>
            <pc:sldMk cId="1053997668" sldId="621"/>
            <ac:spMk id="85360" creationId="{7F4B0311-0C69-BF7E-E373-CFC1F708BACC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0869150" sldId="622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0869150" sldId="622"/>
            <ac:spMk id="46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0869150" sldId="622"/>
            <ac:spMk id="84724" creationId="{2361D25B-CA10-DB0A-767F-199DB4653B3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0869150" sldId="622"/>
            <ac:spMk id="88540" creationId="{8F313B4F-D301-BFE5-160E-561A13262A5D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0869150" sldId="622"/>
            <ac:spMk id="88618" creationId="{2F8475BA-D077-B626-D3AF-D052B681C10D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279896814" sldId="623"/>
        </pc:sldMkLst>
        <pc:spChg chg="mod">
          <ac:chgData name="" userId="" providerId="" clId="Web-{408F80A0-5D0D-42A6-845D-1EE93B609FF5}" dt="2026-10-28T04:07:42.672" v="1" actId="34807"/>
          <ac:spMkLst>
            <pc:docMk/>
            <pc:sldMk cId="2279896814" sldId="623"/>
            <ac:spMk id="11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2279896814" sldId="623"/>
            <ac:spMk id="31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279896814" sldId="623"/>
            <ac:spMk id="84877" creationId="{7F2A37F5-ABC8-5DBF-101C-EFB48734364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279896814" sldId="623"/>
            <ac:spMk id="88858" creationId="{E3A225A2-0056-B9D0-7682-2AAC28802EC4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279896814" sldId="623"/>
            <ac:spMk id="88940" creationId="{22CD36FB-E2CF-4FF4-13D4-6AEABDA8B802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331729372" sldId="625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331729372" sldId="625"/>
            <ac:spMk id="31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331729372" sldId="625"/>
            <ac:spMk id="84800" creationId="{38F22C57-0B90-025E-9884-29303B1CD2A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331729372" sldId="625"/>
            <ac:spMk id="88697" creationId="{EA813282-4250-31F8-284A-4DC22ED8F344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331729372" sldId="625"/>
            <ac:spMk id="88777" creationId="{4361E79F-F492-1ABF-18D7-EC1CA9124D33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985900993" sldId="626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985900993" sldId="626"/>
            <ac:spMk id="72" creationId="{00000000-0000-0000-0000-000000000000}"/>
          </ac:spMkLst>
        </pc:spChg>
        <pc:spChg chg="mod">
          <ac:chgData name="" userId="" providerId="" clId="Web-{408F80A0-5D0D-42A6-845D-1EE93B609FF5}" dt="2026-10-28T04:07:42.672" v="1" actId="34807"/>
          <ac:spMkLst>
            <pc:docMk/>
            <pc:sldMk cId="3985900993" sldId="626"/>
            <ac:spMk id="74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985900993" sldId="626"/>
            <ac:spMk id="82265" creationId="{077D90B7-7E36-2CEA-4811-5584E99AAAE8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985900993" sldId="626"/>
            <ac:spMk id="85543" creationId="{27EA8AE3-C4E3-644E-4EFA-3D03D5E135EE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985900993" sldId="626"/>
            <ac:spMk id="85547" creationId="{11B60B7E-5B4D-1EF9-2B7B-D94CE71B170B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533892322" sldId="628"/>
        </pc:sldMkLst>
        <pc:spChg chg="add del mod">
          <ac:chgData name="" userId="" providerId="" clId="Web-{408F80A0-5D0D-42A6-845D-1EE93B609FF5}" dt="2026-10-28T04:12:30.128" v="11" actId="34807"/>
          <ac:spMkLst>
            <pc:docMk/>
            <pc:sldMk cId="2533892322" sldId="628"/>
            <ac:spMk id="83200" creationId="{CE418D46-ADA2-48E4-296E-F4D9BD3301A0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533892322" sldId="628"/>
            <ac:spMk id="85972" creationId="{DC335875-5B38-710A-D405-8C39A6CBBB9A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533892322" sldId="628"/>
            <ac:spMk id="86002" creationId="{4C41E3D8-EC57-D401-28F4-247541D4E52E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266566878" sldId="630"/>
        </pc:sldMkLst>
        <pc:spChg chg="add del mod">
          <ac:chgData name="" userId="" providerId="" clId="Web-{408F80A0-5D0D-42A6-845D-1EE93B609FF5}" dt="2026-10-28T04:12:30.128" v="11" actId="34807"/>
          <ac:spMkLst>
            <pc:docMk/>
            <pc:sldMk cId="1266566878" sldId="630"/>
            <ac:spMk id="83252" creationId="{62A8E9B1-AE50-848C-EF5B-2ED026BE82C0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266566878" sldId="630"/>
            <ac:spMk id="86033" creationId="{A027C9BA-7A92-26E1-79CF-A079A8BD3C4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266566878" sldId="630"/>
            <ac:spMk id="86065" creationId="{62290C68-C08A-035F-DDFD-2A9722906E8C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416205942" sldId="631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416205942" sldId="631"/>
            <ac:spMk id="18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416205942" sldId="631"/>
            <ac:spMk id="83954" creationId="{3052945A-67DE-351C-70C2-760399F7EBB2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416205942" sldId="631"/>
            <ac:spMk id="87077" creationId="{3A0C2FFF-73F8-D13B-D9F5-523DBBB4AC0B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416205942" sldId="631"/>
            <ac:spMk id="87133" creationId="{D907C209-95D1-4AE3-92E2-B96D51E6D392}"/>
          </ac:spMkLst>
        </pc:sp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3416205942" sldId="631"/>
            <ac:graphicFrameMk id="4" creationId="{1D9DEE05-043E-4376-AE4A-904D1043D241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3416205942" sldId="631"/>
            <ac:graphicFrameMk id="6" creationId="{2A8C13B6-78A1-47B0-8BA2-E182A1525B0C}"/>
          </ac:graphicFrameMkLst>
        </pc:graphicFrameChg>
        <pc:graphicFrameChg chg="del">
          <ac:chgData name="" userId="" providerId="" clId="Web-{408F80A0-5D0D-42A6-845D-1EE93B609FF5}" dt="2026-10-28T04:08:22.845" v="4" actId="34807"/>
          <ac:graphicFrameMkLst>
            <pc:docMk/>
            <pc:sldMk cId="3416205942" sldId="631"/>
            <ac:graphicFrameMk id="14" creationId="{00000000-0000-0000-0000-000000000000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3416205942" sldId="631"/>
            <ac:graphicFrameMk id="16" creationId="{CF423EE9-58A1-4800-ACCC-F1D3887808CA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3416205942" sldId="631"/>
            <ac:graphicFrameMk id="20" creationId="{F98468FA-8928-4DBC-ADC7-A0BBD4CAC3E5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3416205942" sldId="631"/>
            <ac:graphicFrameMk id="22" creationId="{E69CD938-0247-40AF-A31D-55F3BD4B65E2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500182761" sldId="632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2500182761" sldId="632"/>
            <ac:spMk id="17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500182761" sldId="632"/>
            <ac:spMk id="84019" creationId="{73FEC0F8-0FCF-1DA9-1296-E7CECF75FCF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500182761" sldId="632"/>
            <ac:spMk id="87190" creationId="{1B5C324F-70FE-DB23-48BD-7C1FE8D2BCC7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500182761" sldId="632"/>
            <ac:spMk id="87248" creationId="{C9A84544-2396-BC23-6E9D-B9B8BEC39A40}"/>
          </ac:spMkLst>
        </pc:sp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500182761" sldId="632"/>
            <ac:graphicFrameMk id="4" creationId="{2DE89089-240F-4131-95E4-2D94ADB49828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500182761" sldId="632"/>
            <ac:graphicFrameMk id="13" creationId="{1F52FCD6-6E02-4617-801C-A2E7E0C0BBDB}"/>
          </ac:graphicFrameMkLst>
        </pc:graphicFrameChg>
        <pc:graphicFrameChg chg="del">
          <ac:chgData name="" userId="" providerId="" clId="Web-{408F80A0-5D0D-42A6-845D-1EE93B609FF5}" dt="2026-10-28T04:08:22.845" v="4" actId="34807"/>
          <ac:graphicFrameMkLst>
            <pc:docMk/>
            <pc:sldMk cId="2500182761" sldId="632"/>
            <ac:graphicFrameMk id="14" creationId="{00000000-0000-0000-0000-000000000000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500182761" sldId="632"/>
            <ac:graphicFrameMk id="18" creationId="{2623F3FF-7838-47C5-9D8C-7B686915575E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500182761" sldId="632"/>
            <ac:graphicFrameMk id="20" creationId="{83B2220D-10C1-46E7-8739-4CE61ADC4074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500182761" sldId="632"/>
            <ac:graphicFrameMk id="22" creationId="{33D667C2-6A06-435F-A353-8ADCDA76C120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426868550" sldId="633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426868550" sldId="633"/>
            <ac:spMk id="18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426868550" sldId="633"/>
            <ac:spMk id="84085" creationId="{E4C4663A-4153-C8D2-3D93-463F0656BA67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426868550" sldId="633"/>
            <ac:spMk id="87307" creationId="{CAEE9F12-F593-D570-4766-EE19598EE80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426868550" sldId="633"/>
            <ac:spMk id="87367" creationId="{0BB63690-CE8F-A410-4BC3-DD3100064A10}"/>
          </ac:spMkLst>
        </pc:sp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426868550" sldId="633"/>
            <ac:graphicFrameMk id="4" creationId="{9930801E-92D4-40A1-8B53-76DFFFAFDBAA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426868550" sldId="633"/>
            <ac:graphicFrameMk id="6" creationId="{4AE616CB-9934-4855-8D32-76D38E896271}"/>
          </ac:graphicFrameMkLst>
        </pc:graphicFrameChg>
        <pc:graphicFrameChg chg="del">
          <ac:chgData name="" userId="" providerId="" clId="Web-{408F80A0-5D0D-42A6-845D-1EE93B609FF5}" dt="2026-10-28T04:08:22.845" v="4" actId="34807"/>
          <ac:graphicFrameMkLst>
            <pc:docMk/>
            <pc:sldMk cId="1426868550" sldId="633"/>
            <ac:graphicFrameMk id="14" creationId="{00000000-0000-0000-0000-000000000000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426868550" sldId="633"/>
            <ac:graphicFrameMk id="16" creationId="{17BDC053-E921-4AF2-BBF1-DCC42D9D43E4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426868550" sldId="633"/>
            <ac:graphicFrameMk id="20" creationId="{4E172112-DE91-4BD1-8106-594258D1B91B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426868550" sldId="633"/>
            <ac:graphicFrameMk id="22" creationId="{50E68F26-D6E6-4F6C-B1E2-62D430452F0A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451745813" sldId="636"/>
        </pc:sldMkLst>
        <pc:spChg chg="add del mod">
          <ac:chgData name="" userId="" providerId="" clId="Web-{408F80A0-5D0D-42A6-845D-1EE93B609FF5}" dt="2026-10-28T04:12:30.128" v="11" actId="34807"/>
          <ac:spMkLst>
            <pc:docMk/>
            <pc:sldMk cId="3451745813" sldId="636"/>
            <ac:spMk id="83305" creationId="{F17C0B5B-57D6-FE8F-B4F4-55199653891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451745813" sldId="636"/>
            <ac:spMk id="86098" creationId="{442213C7-B7D5-3799-188C-D91D088327B7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451745813" sldId="636"/>
            <ac:spMk id="86132" creationId="{BF2A2A9D-009E-D13A-75B9-7AA72A5D4C72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4225040900" sldId="639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4225040900" sldId="639"/>
            <ac:spMk id="13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4225040900" sldId="639"/>
            <ac:spMk id="25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4225040900" sldId="639"/>
            <ac:spMk id="83099" creationId="{AA67BA10-371B-A318-27D7-F0C8220CDAEE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4225040900" sldId="639"/>
            <ac:spMk id="85813" creationId="{E6E7E119-58C5-FEA1-FEA9-547DFC5DABAD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4225040900" sldId="639"/>
            <ac:spMk id="85837" creationId="{AA387BB9-2E99-43B4-64CA-107175EB1EEC}"/>
          </ac:spMkLst>
        </pc:spChg>
        <pc:cxnChg chg="mod">
          <ac:chgData name="" userId="" providerId="" clId="Web-{408F80A0-5D0D-42A6-845D-1EE93B609FF5}" dt="2026-10-28T04:07:48.329" v="2" actId="34807"/>
          <ac:cxnSpMkLst>
            <pc:docMk/>
            <pc:sldMk cId="4225040900" sldId="639"/>
            <ac:cxnSpMk id="26" creationId="{00000000-0000-0000-0000-000000000000}"/>
          </ac:cxnSpMkLst>
        </pc:cxn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1099893" sldId="640"/>
        </pc:sldMkLst>
        <pc:spChg chg="add del mod">
          <ac:chgData name="" userId="" providerId="" clId="Web-{408F80A0-5D0D-42A6-845D-1EE93B609FF5}" dt="2026-10-28T04:12:30.128" v="11" actId="34807"/>
          <ac:spMkLst>
            <pc:docMk/>
            <pc:sldMk cId="31099893" sldId="640"/>
            <ac:spMk id="83359" creationId="{809A14E0-D846-A69E-E074-2D5376436AF2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1099893" sldId="640"/>
            <ac:spMk id="86167" creationId="{113BC374-E68C-879B-3723-E4A7B0E5845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1099893" sldId="640"/>
            <ac:spMk id="86203" creationId="{F099C386-6DA8-1321-AC75-EA5612197585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357925326" sldId="641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357925326" sldId="641"/>
            <ac:spMk id="64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357925326" sldId="641"/>
            <ac:spMk id="73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357925326" sldId="641"/>
            <ac:spMk id="83414" creationId="{B5307411-ED0B-E8D4-17DB-A41218EA66F1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57925326" sldId="641"/>
            <ac:spMk id="86240" creationId="{6C0E787D-EB04-9AD9-FBC4-F4FFA4126BB2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357925326" sldId="641"/>
            <ac:spMk id="86278" creationId="{7EA779E6-F6CA-91BD-657B-6836FA6CA89C}"/>
          </ac:spMkLst>
        </pc:sp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139735907" sldId="644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2139735907" sldId="644"/>
            <ac:spMk id="18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139735907" sldId="644"/>
            <ac:spMk id="84152" creationId="{775432F1-F455-F220-8762-CF628D901547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139735907" sldId="644"/>
            <ac:spMk id="87428" creationId="{A0A44363-1BB0-C7E5-6915-4C20BBF0648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139735907" sldId="644"/>
            <ac:spMk id="87490" creationId="{7D70B9F6-0078-EFB9-E6A5-A583ED47E7CB}"/>
          </ac:spMkLst>
        </pc:sp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139735907" sldId="644"/>
            <ac:graphicFrameMk id="4" creationId="{E6A584B0-B805-40D7-A24A-3C08F6795E9F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139735907" sldId="644"/>
            <ac:graphicFrameMk id="6" creationId="{C34A1383-DDDF-464C-8921-0053F30D1A9A}"/>
          </ac:graphicFrameMkLst>
        </pc:graphicFrameChg>
        <pc:graphicFrameChg chg="del">
          <ac:chgData name="" userId="" providerId="" clId="Web-{408F80A0-5D0D-42A6-845D-1EE93B609FF5}" dt="2026-10-28T04:08:22.845" v="4" actId="34807"/>
          <ac:graphicFrameMkLst>
            <pc:docMk/>
            <pc:sldMk cId="2139735907" sldId="644"/>
            <ac:graphicFrameMk id="14" creationId="{00000000-0000-0000-0000-000000000000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139735907" sldId="644"/>
            <ac:graphicFrameMk id="16" creationId="{EC0BF336-CFD0-4877-8D34-42E74B39FBCD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139735907" sldId="644"/>
            <ac:graphicFrameMk id="20" creationId="{BF2DF9B3-DEFC-4295-B94F-487FB52D2D5E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2139735907" sldId="644"/>
            <ac:graphicFrameMk id="22" creationId="{ABB8C61B-7FBD-4163-83E0-76200DF124CD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1307790022" sldId="645"/>
        </pc:sldMkLst>
        <pc:spChg chg="mod">
          <ac:chgData name="" userId="" providerId="" clId="Web-{408F80A0-5D0D-42A6-845D-1EE93B609FF5}" dt="2026-10-28T04:07:48.329" v="2" actId="34807"/>
          <ac:spMkLst>
            <pc:docMk/>
            <pc:sldMk cId="1307790022" sldId="645"/>
            <ac:spMk id="18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1307790022" sldId="645"/>
            <ac:spMk id="84220" creationId="{351CF304-121C-E6C5-551A-E5F0C16C8D80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307790022" sldId="645"/>
            <ac:spMk id="87553" creationId="{C8FF13C3-5244-F7FB-79DD-B99660EA2A23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1307790022" sldId="645"/>
            <ac:spMk id="87617" creationId="{76A079CA-25BC-63D7-EE7F-2F21DEC0358E}"/>
          </ac:spMkLst>
        </pc:sp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307790022" sldId="645"/>
            <ac:graphicFrameMk id="4" creationId="{0FA0CE0B-3E9A-42AD-99CB-0950CF06BA06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307790022" sldId="645"/>
            <ac:graphicFrameMk id="6" creationId="{105DBE69-33A1-43C4-B7E3-6238C1B6B6D1}"/>
          </ac:graphicFrameMkLst>
        </pc:graphicFrameChg>
        <pc:graphicFrameChg chg="del">
          <ac:chgData name="" userId="" providerId="" clId="Web-{408F80A0-5D0D-42A6-845D-1EE93B609FF5}" dt="2026-10-28T04:08:22.845" v="4" actId="34807"/>
          <ac:graphicFrameMkLst>
            <pc:docMk/>
            <pc:sldMk cId="1307790022" sldId="645"/>
            <ac:graphicFrameMk id="14" creationId="{00000000-0000-0000-0000-000000000000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307790022" sldId="645"/>
            <ac:graphicFrameMk id="16" creationId="{D4FC8653-4D0A-4B9A-A8F1-24BC23485CD0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307790022" sldId="645"/>
            <ac:graphicFrameMk id="20" creationId="{E088770D-E895-4B32-9AF2-0F01B378E4FB}"/>
          </ac:graphicFrameMkLst>
        </pc:graphicFrameChg>
        <pc:graphicFrameChg chg="add mod">
          <ac:chgData name="" userId="" providerId="" clId="Web-{408F80A0-5D0D-42A6-845D-1EE93B609FF5}" dt="2026-10-28T04:09:17.423" v="6" actId="34807"/>
          <ac:graphicFrameMkLst>
            <pc:docMk/>
            <pc:sldMk cId="1307790022" sldId="645"/>
            <ac:graphicFrameMk id="22" creationId="{AAFACA08-028A-4BCF-8C46-610F71CED11D}"/>
          </ac:graphicFrameMkLst>
        </pc:graphicFrameChg>
      </pc:sldChg>
      <pc:sldChg chg="addSp delSp modSp">
        <pc:chgData name="" userId="" providerId="" clId="Web-{408F80A0-5D0D-42A6-845D-1EE93B609FF5}" dt="2026-10-28T04:12:30.128" v="11" actId="34807"/>
        <pc:sldMkLst>
          <pc:docMk/>
          <pc:sldMk cId="2874382933" sldId="646"/>
        </pc:sldMkLst>
        <pc:spChg chg="mod">
          <ac:chgData name="" userId="" providerId="" clId="Web-{408F80A0-5D0D-42A6-845D-1EE93B609FF5}" dt="2026-10-28T04:07:42.672" v="1" actId="34807"/>
          <ac:spMkLst>
            <pc:docMk/>
            <pc:sldMk cId="2874382933" sldId="646"/>
            <ac:spMk id="17" creationId="{00000000-0000-0000-0000-000000000000}"/>
          </ac:spMkLst>
        </pc:spChg>
        <pc:spChg chg="mod">
          <ac:chgData name="" userId="" providerId="" clId="Web-{408F80A0-5D0D-42A6-845D-1EE93B609FF5}" dt="2026-10-28T04:07:48.329" v="2" actId="34807"/>
          <ac:spMkLst>
            <pc:docMk/>
            <pc:sldMk cId="2874382933" sldId="646"/>
            <ac:spMk id="73" creationId="{00000000-0000-0000-0000-000000000000}"/>
          </ac:spMkLst>
        </pc:spChg>
        <pc:spChg chg="add del mod">
          <ac:chgData name="" userId="" providerId="" clId="Web-{408F80A0-5D0D-42A6-845D-1EE93B609FF5}" dt="2026-10-28T04:12:30.128" v="11" actId="34807"/>
          <ac:spMkLst>
            <pc:docMk/>
            <pc:sldMk cId="2874382933" sldId="646"/>
            <ac:spMk id="83050" creationId="{0BFEC6E0-C375-948B-CD7B-F343F6E18049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874382933" sldId="646"/>
            <ac:spMk id="85768" creationId="{5A3BB462-7DEA-72A5-974F-FC867D51D3C8}"/>
          </ac:spMkLst>
        </pc:spChg>
        <pc:spChg chg="add mod">
          <ac:chgData name="" userId="" providerId="" clId="Web-{408F80A0-5D0D-42A6-845D-1EE93B609FF5}" dt="2026-10-28T04:12:15.174" v="10" actId="34807"/>
          <ac:spMkLst>
            <pc:docMk/>
            <pc:sldMk cId="2874382933" sldId="646"/>
            <ac:spMk id="85790" creationId="{6C7E9A23-E83B-455C-51D2-5C1CBD12E1C7}"/>
          </ac:spMkLst>
        </pc:spChg>
        <pc:picChg chg="mod">
          <ac:chgData name="" userId="" providerId="" clId="Web-{408F80A0-5D0D-42A6-845D-1EE93B609FF5}" dt="2026-10-28T04:07:48.329" v="2" actId="34807"/>
          <ac:picMkLst>
            <pc:docMk/>
            <pc:sldMk cId="2874382933" sldId="646"/>
            <ac:picMk id="25" creationId="{00000000-0000-0000-0000-0000000000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E24BB9-1004-4AD0-AAF6-816F66AA48AE}" type="doc">
      <dgm:prSet loTypeId="urn:microsoft.com/office/officeart/2005/8/layout/cycle1" loCatId="cycle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pPr latinLnBrk="1"/>
          <a:endParaRPr lang="ko-KR" altLang="en-US"/>
        </a:p>
      </dgm:t>
    </dgm:pt>
    <dgm:pt modelId="{1978D158-1D51-46CB-BD7C-C267E224B22F}">
      <dgm:prSet phldrT="[텍스트]" custT="1"/>
      <dgm:spPr/>
      <dgm:t>
        <a:bodyPr/>
        <a:lstStyle/>
        <a:p>
          <a:pPr latinLnBrk="1"/>
          <a:r>
            <a:rPr lang="ko-KR" altLang="en-US" sz="1200" b="1" dirty="0"/>
            <a:t>중요도</a:t>
          </a:r>
          <a:br>
            <a:rPr lang="en-US" altLang="ko-KR" sz="1200" b="1" dirty="0"/>
          </a:br>
          <a:r>
            <a:rPr lang="ko-KR" altLang="en-US" sz="1200" b="1" dirty="0"/>
            <a:t>영향도</a:t>
          </a:r>
          <a:br>
            <a:rPr lang="en-US" altLang="ko-KR" sz="1200" b="1" dirty="0"/>
          </a:br>
          <a:r>
            <a:rPr lang="ko-KR" altLang="en-US" sz="1200" b="1" dirty="0"/>
            <a:t>평가</a:t>
          </a:r>
        </a:p>
      </dgm:t>
    </dgm:pt>
    <dgm:pt modelId="{6F671046-4E3B-4045-B0DB-1B618E79AB45}" type="parTrans" cxnId="{3AB9F2CA-B254-4CE6-A786-B550214341B5}">
      <dgm:prSet/>
      <dgm:spPr/>
      <dgm:t>
        <a:bodyPr/>
        <a:lstStyle/>
        <a:p>
          <a:pPr latinLnBrk="1"/>
          <a:endParaRPr lang="ko-KR" altLang="en-US"/>
        </a:p>
      </dgm:t>
    </dgm:pt>
    <dgm:pt modelId="{EF1BA42A-764F-4BC8-99A6-94CB4ADA1759}" type="sibTrans" cxnId="{3AB9F2CA-B254-4CE6-A786-B550214341B5}">
      <dgm:prSet/>
      <dgm:spPr/>
      <dgm:t>
        <a:bodyPr/>
        <a:lstStyle/>
        <a:p>
          <a:pPr latinLnBrk="1"/>
          <a:endParaRPr lang="ko-KR" altLang="en-US"/>
        </a:p>
      </dgm:t>
    </dgm:pt>
    <dgm:pt modelId="{9D39DCF6-DECB-4040-8BDF-D5F13CDD57E3}">
      <dgm:prSet phldrT="[텍스트]" custT="1"/>
      <dgm:spPr/>
      <dgm:t>
        <a:bodyPr/>
        <a:lstStyle/>
        <a:p>
          <a:pPr latinLnBrk="1"/>
          <a:r>
            <a:rPr lang="ko-KR" altLang="en-US" sz="1200" b="1" dirty="0"/>
            <a:t>환경 분석</a:t>
          </a:r>
        </a:p>
      </dgm:t>
    </dgm:pt>
    <dgm:pt modelId="{020C6B8A-4986-4955-B74A-5AD177AA7098}" type="parTrans" cxnId="{2BF94E0C-6A3A-4FA9-A928-FC1C4C781131}">
      <dgm:prSet/>
      <dgm:spPr/>
      <dgm:t>
        <a:bodyPr/>
        <a:lstStyle/>
        <a:p>
          <a:pPr latinLnBrk="1"/>
          <a:endParaRPr lang="ko-KR" altLang="en-US"/>
        </a:p>
      </dgm:t>
    </dgm:pt>
    <dgm:pt modelId="{74B86502-0E64-47FA-ACB1-CF7A7F652800}" type="sibTrans" cxnId="{2BF94E0C-6A3A-4FA9-A928-FC1C4C781131}">
      <dgm:prSet/>
      <dgm:spPr/>
      <dgm:t>
        <a:bodyPr/>
        <a:lstStyle/>
        <a:p>
          <a:pPr latinLnBrk="1"/>
          <a:endParaRPr lang="ko-KR" altLang="en-US"/>
        </a:p>
      </dgm:t>
    </dgm:pt>
    <dgm:pt modelId="{D3CA377E-8097-4CD7-BD93-ED71251F1BC6}">
      <dgm:prSet phldrT="[텍스트]" custT="1"/>
      <dgm:spPr/>
      <dgm:t>
        <a:bodyPr/>
        <a:lstStyle/>
        <a:p>
          <a:pPr latinLnBrk="1"/>
          <a:r>
            <a:rPr lang="en-US" altLang="ko-KR" sz="1200" b="1" dirty="0"/>
            <a:t>Test </a:t>
          </a:r>
          <a:r>
            <a:rPr lang="ko-KR" altLang="en-US" sz="1200" b="1" dirty="0"/>
            <a:t>계</a:t>
          </a:r>
          <a:br>
            <a:rPr lang="en-US" altLang="ko-KR" sz="1200" b="1" dirty="0"/>
          </a:br>
          <a:r>
            <a:rPr lang="ko-KR" altLang="en-US" sz="1200" b="1" dirty="0"/>
            <a:t>구축 및</a:t>
          </a:r>
          <a:br>
            <a:rPr lang="en-US" altLang="ko-KR" sz="1200" b="1" dirty="0"/>
          </a:br>
          <a:r>
            <a:rPr lang="ko-KR" altLang="en-US" sz="1200" b="1" dirty="0"/>
            <a:t>테스트</a:t>
          </a:r>
        </a:p>
      </dgm:t>
    </dgm:pt>
    <dgm:pt modelId="{89B18254-3B53-40C8-B998-4EED02D675E9}" type="parTrans" cxnId="{E90B4E25-5A0B-435B-8930-0511F9BF3383}">
      <dgm:prSet/>
      <dgm:spPr/>
      <dgm:t>
        <a:bodyPr/>
        <a:lstStyle/>
        <a:p>
          <a:pPr latinLnBrk="1"/>
          <a:endParaRPr lang="ko-KR" altLang="en-US"/>
        </a:p>
      </dgm:t>
    </dgm:pt>
    <dgm:pt modelId="{D1EA68B4-2969-4670-A6CC-AC4AF0C14805}" type="sibTrans" cxnId="{E90B4E25-5A0B-435B-8930-0511F9BF3383}">
      <dgm:prSet/>
      <dgm:spPr/>
      <dgm:t>
        <a:bodyPr/>
        <a:lstStyle/>
        <a:p>
          <a:pPr latinLnBrk="1"/>
          <a:endParaRPr lang="ko-KR" altLang="en-US"/>
        </a:p>
      </dgm:t>
    </dgm:pt>
    <dgm:pt modelId="{84F71077-5A90-4F99-9996-01E7648D3692}">
      <dgm:prSet phldrT="[텍스트]" custT="1"/>
      <dgm:spPr/>
      <dgm:t>
        <a:bodyPr/>
        <a:lstStyle/>
        <a:p>
          <a:pPr latinLnBrk="1"/>
          <a:r>
            <a:rPr lang="en-US" altLang="ko-KR" sz="1200" b="1" dirty="0"/>
            <a:t>Production</a:t>
          </a:r>
          <a:endParaRPr lang="ko-KR" altLang="en-US" sz="1200" b="1" dirty="0"/>
        </a:p>
      </dgm:t>
    </dgm:pt>
    <dgm:pt modelId="{EE0834CC-7B7B-4FCC-AD3A-73039A3DBEA4}" type="parTrans" cxnId="{4C27A7B0-8846-4601-8404-BABF21CA3ED4}">
      <dgm:prSet/>
      <dgm:spPr/>
      <dgm:t>
        <a:bodyPr/>
        <a:lstStyle/>
        <a:p>
          <a:pPr latinLnBrk="1"/>
          <a:endParaRPr lang="ko-KR" altLang="en-US"/>
        </a:p>
      </dgm:t>
    </dgm:pt>
    <dgm:pt modelId="{6DBE25F6-3E19-425A-BCAD-8ECA2A2741DD}" type="sibTrans" cxnId="{4C27A7B0-8846-4601-8404-BABF21CA3ED4}">
      <dgm:prSet/>
      <dgm:spPr/>
      <dgm:t>
        <a:bodyPr/>
        <a:lstStyle/>
        <a:p>
          <a:pPr latinLnBrk="1"/>
          <a:endParaRPr lang="ko-KR" altLang="en-US"/>
        </a:p>
      </dgm:t>
    </dgm:pt>
    <dgm:pt modelId="{16C11AA3-8405-415D-95F6-DFB3F77FAD08}">
      <dgm:prSet phldrT="[텍스트]" custT="1"/>
      <dgm:spPr/>
      <dgm:t>
        <a:bodyPr/>
        <a:lstStyle/>
        <a:p>
          <a:pPr latinLnBrk="1"/>
          <a:r>
            <a:rPr lang="ko-KR" altLang="en-US" sz="1200" b="1" dirty="0"/>
            <a:t>모니터링</a:t>
          </a:r>
          <a:r>
            <a:rPr lang="en-US" altLang="ko-KR" sz="1200" b="1" dirty="0"/>
            <a:t> </a:t>
          </a:r>
          <a:r>
            <a:rPr lang="ko-KR" altLang="en-US" sz="1200" b="1" dirty="0"/>
            <a:t>및 수정 보완</a:t>
          </a:r>
        </a:p>
      </dgm:t>
    </dgm:pt>
    <dgm:pt modelId="{408E8AE7-CA7E-422D-94B9-29908BEB4CE0}" type="parTrans" cxnId="{C1256D25-1C84-43B3-ACA5-64B195FD52E7}">
      <dgm:prSet/>
      <dgm:spPr/>
      <dgm:t>
        <a:bodyPr/>
        <a:lstStyle/>
        <a:p>
          <a:pPr latinLnBrk="1"/>
          <a:endParaRPr lang="ko-KR" altLang="en-US"/>
        </a:p>
      </dgm:t>
    </dgm:pt>
    <dgm:pt modelId="{AA7A3C5C-A116-4418-942A-CFC509FDF29A}" type="sibTrans" cxnId="{C1256D25-1C84-43B3-ACA5-64B195FD52E7}">
      <dgm:prSet/>
      <dgm:spPr/>
      <dgm:t>
        <a:bodyPr/>
        <a:lstStyle/>
        <a:p>
          <a:pPr latinLnBrk="1"/>
          <a:endParaRPr lang="ko-KR" altLang="en-US"/>
        </a:p>
      </dgm:t>
    </dgm:pt>
    <dgm:pt modelId="{4FA1A3DC-7071-4E07-8069-6C7151C8D1AB}" type="pres">
      <dgm:prSet presAssocID="{84E24BB9-1004-4AD0-AAF6-816F66AA48AE}" presName="cycle" presStyleCnt="0">
        <dgm:presLayoutVars>
          <dgm:dir/>
          <dgm:resizeHandles val="exact"/>
        </dgm:presLayoutVars>
      </dgm:prSet>
      <dgm:spPr/>
    </dgm:pt>
    <dgm:pt modelId="{12C9F239-6B10-4D0E-9030-6F4CA9449D13}" type="pres">
      <dgm:prSet presAssocID="{1978D158-1D51-46CB-BD7C-C267E224B22F}" presName="dummy" presStyleCnt="0"/>
      <dgm:spPr/>
    </dgm:pt>
    <dgm:pt modelId="{67FD50FB-FFA0-4D91-9E96-6BADC2671F4E}" type="pres">
      <dgm:prSet presAssocID="{1978D158-1D51-46CB-BD7C-C267E224B22F}" presName="node" presStyleLbl="revTx" presStyleIdx="0" presStyleCnt="5" custRadScaleRad="67341" custRadScaleInc="-35515">
        <dgm:presLayoutVars>
          <dgm:bulletEnabled val="1"/>
        </dgm:presLayoutVars>
      </dgm:prSet>
      <dgm:spPr/>
    </dgm:pt>
    <dgm:pt modelId="{7C7F443E-917B-46A7-9CEF-F29C4D6FC28D}" type="pres">
      <dgm:prSet presAssocID="{EF1BA42A-764F-4BC8-99A6-94CB4ADA1759}" presName="sibTrans" presStyleLbl="node1" presStyleIdx="0" presStyleCnt="5" custLinFactNeighborX="-3232" custLinFactNeighborY="4858"/>
      <dgm:spPr/>
    </dgm:pt>
    <dgm:pt modelId="{A24E1384-6C14-4393-868E-6963A12F7F40}" type="pres">
      <dgm:prSet presAssocID="{9D39DCF6-DECB-4040-8BDF-D5F13CDD57E3}" presName="dummy" presStyleCnt="0"/>
      <dgm:spPr/>
    </dgm:pt>
    <dgm:pt modelId="{D953D1A7-C78E-417B-BE33-8B09E38B068F}" type="pres">
      <dgm:prSet presAssocID="{9D39DCF6-DECB-4040-8BDF-D5F13CDD57E3}" presName="node" presStyleLbl="revTx" presStyleIdx="1" presStyleCnt="5" custRadScaleRad="64741" custRadScaleInc="43791">
        <dgm:presLayoutVars>
          <dgm:bulletEnabled val="1"/>
        </dgm:presLayoutVars>
      </dgm:prSet>
      <dgm:spPr/>
    </dgm:pt>
    <dgm:pt modelId="{9C7DE810-97C1-479B-8312-5ECE7E0F3E2F}" type="pres">
      <dgm:prSet presAssocID="{74B86502-0E64-47FA-ACB1-CF7A7F652800}" presName="sibTrans" presStyleLbl="node1" presStyleIdx="1" presStyleCnt="5" custLinFactNeighborX="5520" custLinFactNeighborY="-5353"/>
      <dgm:spPr/>
    </dgm:pt>
    <dgm:pt modelId="{FCFE1D0F-45B8-4AD2-B446-8386612CD035}" type="pres">
      <dgm:prSet presAssocID="{D3CA377E-8097-4CD7-BD93-ED71251F1BC6}" presName="dummy" presStyleCnt="0"/>
      <dgm:spPr/>
    </dgm:pt>
    <dgm:pt modelId="{374FF5D0-27BC-43AB-AEED-FED581AE963C}" type="pres">
      <dgm:prSet presAssocID="{D3CA377E-8097-4CD7-BD93-ED71251F1BC6}" presName="node" presStyleLbl="revTx" presStyleIdx="2" presStyleCnt="5" custRadScaleRad="100713" custRadScaleInc="79529">
        <dgm:presLayoutVars>
          <dgm:bulletEnabled val="1"/>
        </dgm:presLayoutVars>
      </dgm:prSet>
      <dgm:spPr/>
    </dgm:pt>
    <dgm:pt modelId="{E5B11CE5-9D3A-474D-927B-98A77709B6B2}" type="pres">
      <dgm:prSet presAssocID="{D1EA68B4-2969-4670-A6CC-AC4AF0C14805}" presName="sibTrans" presStyleLbl="node1" presStyleIdx="2" presStyleCnt="5"/>
      <dgm:spPr/>
    </dgm:pt>
    <dgm:pt modelId="{B2B2C5FB-F94D-4720-9C96-8ED76CC336F2}" type="pres">
      <dgm:prSet presAssocID="{84F71077-5A90-4F99-9996-01E7648D3692}" presName="dummy" presStyleCnt="0"/>
      <dgm:spPr/>
    </dgm:pt>
    <dgm:pt modelId="{BE9232CE-D682-4389-863B-DC397A26A361}" type="pres">
      <dgm:prSet presAssocID="{84F71077-5A90-4F99-9996-01E7648D3692}" presName="node" presStyleLbl="revTx" presStyleIdx="3" presStyleCnt="5" custRadScaleRad="113993" custRadScaleInc="19634">
        <dgm:presLayoutVars>
          <dgm:bulletEnabled val="1"/>
        </dgm:presLayoutVars>
      </dgm:prSet>
      <dgm:spPr/>
    </dgm:pt>
    <dgm:pt modelId="{87ACCB7B-D195-4A22-8F02-924B13F85816}" type="pres">
      <dgm:prSet presAssocID="{6DBE25F6-3E19-425A-BCAD-8ECA2A2741DD}" presName="sibTrans" presStyleLbl="node1" presStyleIdx="3" presStyleCnt="5"/>
      <dgm:spPr/>
    </dgm:pt>
    <dgm:pt modelId="{6A9313D3-38CE-4EF3-8A02-680791CA5861}" type="pres">
      <dgm:prSet presAssocID="{16C11AA3-8405-415D-95F6-DFB3F77FAD08}" presName="dummy" presStyleCnt="0"/>
      <dgm:spPr/>
    </dgm:pt>
    <dgm:pt modelId="{5BE17DC3-AC3F-4D45-B32D-BB6D9F20A000}" type="pres">
      <dgm:prSet presAssocID="{16C11AA3-8405-415D-95F6-DFB3F77FAD08}" presName="node" presStyleLbl="revTx" presStyleIdx="4" presStyleCnt="5" custRadScaleRad="106526" custRadScaleInc="-71002">
        <dgm:presLayoutVars>
          <dgm:bulletEnabled val="1"/>
        </dgm:presLayoutVars>
      </dgm:prSet>
      <dgm:spPr/>
    </dgm:pt>
    <dgm:pt modelId="{1E46CAE8-B71D-4EA9-A86B-EE9F8711BE93}" type="pres">
      <dgm:prSet presAssocID="{AA7A3C5C-A116-4418-942A-CFC509FDF29A}" presName="sibTrans" presStyleLbl="node1" presStyleIdx="4" presStyleCnt="5" custLinFactNeighborX="3300" custLinFactNeighborY="6392"/>
      <dgm:spPr/>
    </dgm:pt>
  </dgm:ptLst>
  <dgm:cxnLst>
    <dgm:cxn modelId="{2BF94E0C-6A3A-4FA9-A928-FC1C4C781131}" srcId="{84E24BB9-1004-4AD0-AAF6-816F66AA48AE}" destId="{9D39DCF6-DECB-4040-8BDF-D5F13CDD57E3}" srcOrd="1" destOrd="0" parTransId="{020C6B8A-4986-4955-B74A-5AD177AA7098}" sibTransId="{74B86502-0E64-47FA-ACB1-CF7A7F652800}"/>
    <dgm:cxn modelId="{45CADE19-629E-44F1-A5F0-7413852B333A}" type="presOf" srcId="{6DBE25F6-3E19-425A-BCAD-8ECA2A2741DD}" destId="{87ACCB7B-D195-4A22-8F02-924B13F85816}" srcOrd="0" destOrd="0" presId="urn:microsoft.com/office/officeart/2005/8/layout/cycle1"/>
    <dgm:cxn modelId="{FD8F7724-8416-48FC-9FA1-F40ED2E86352}" type="presOf" srcId="{D3CA377E-8097-4CD7-BD93-ED71251F1BC6}" destId="{374FF5D0-27BC-43AB-AEED-FED581AE963C}" srcOrd="0" destOrd="0" presId="urn:microsoft.com/office/officeart/2005/8/layout/cycle1"/>
    <dgm:cxn modelId="{C1256D25-1C84-43B3-ACA5-64B195FD52E7}" srcId="{84E24BB9-1004-4AD0-AAF6-816F66AA48AE}" destId="{16C11AA3-8405-415D-95F6-DFB3F77FAD08}" srcOrd="4" destOrd="0" parTransId="{408E8AE7-CA7E-422D-94B9-29908BEB4CE0}" sibTransId="{AA7A3C5C-A116-4418-942A-CFC509FDF29A}"/>
    <dgm:cxn modelId="{E90B4E25-5A0B-435B-8930-0511F9BF3383}" srcId="{84E24BB9-1004-4AD0-AAF6-816F66AA48AE}" destId="{D3CA377E-8097-4CD7-BD93-ED71251F1BC6}" srcOrd="2" destOrd="0" parTransId="{89B18254-3B53-40C8-B998-4EED02D675E9}" sibTransId="{D1EA68B4-2969-4670-A6CC-AC4AF0C14805}"/>
    <dgm:cxn modelId="{43CF7A2F-450E-4A77-BC79-7D1F5555284B}" type="presOf" srcId="{74B86502-0E64-47FA-ACB1-CF7A7F652800}" destId="{9C7DE810-97C1-479B-8312-5ECE7E0F3E2F}" srcOrd="0" destOrd="0" presId="urn:microsoft.com/office/officeart/2005/8/layout/cycle1"/>
    <dgm:cxn modelId="{29A8A432-08D4-4EBC-B735-CB28C52B0DE4}" type="presOf" srcId="{EF1BA42A-764F-4BC8-99A6-94CB4ADA1759}" destId="{7C7F443E-917B-46A7-9CEF-F29C4D6FC28D}" srcOrd="0" destOrd="0" presId="urn:microsoft.com/office/officeart/2005/8/layout/cycle1"/>
    <dgm:cxn modelId="{A748FE6C-7B8F-4FFC-8EA9-417B6ABD9F4E}" type="presOf" srcId="{AA7A3C5C-A116-4418-942A-CFC509FDF29A}" destId="{1E46CAE8-B71D-4EA9-A86B-EE9F8711BE93}" srcOrd="0" destOrd="0" presId="urn:microsoft.com/office/officeart/2005/8/layout/cycle1"/>
    <dgm:cxn modelId="{0661B573-FBCB-475B-ABC3-5DCF508E80C7}" type="presOf" srcId="{84E24BB9-1004-4AD0-AAF6-816F66AA48AE}" destId="{4FA1A3DC-7071-4E07-8069-6C7151C8D1AB}" srcOrd="0" destOrd="0" presId="urn:microsoft.com/office/officeart/2005/8/layout/cycle1"/>
    <dgm:cxn modelId="{34EC8059-56FE-438D-9691-A5699083A520}" type="presOf" srcId="{9D39DCF6-DECB-4040-8BDF-D5F13CDD57E3}" destId="{D953D1A7-C78E-417B-BE33-8B09E38B068F}" srcOrd="0" destOrd="0" presId="urn:microsoft.com/office/officeart/2005/8/layout/cycle1"/>
    <dgm:cxn modelId="{4C27A7B0-8846-4601-8404-BABF21CA3ED4}" srcId="{84E24BB9-1004-4AD0-AAF6-816F66AA48AE}" destId="{84F71077-5A90-4F99-9996-01E7648D3692}" srcOrd="3" destOrd="0" parTransId="{EE0834CC-7B7B-4FCC-AD3A-73039A3DBEA4}" sibTransId="{6DBE25F6-3E19-425A-BCAD-8ECA2A2741DD}"/>
    <dgm:cxn modelId="{77A308B7-191E-4410-9C16-B02212B54A67}" type="presOf" srcId="{16C11AA3-8405-415D-95F6-DFB3F77FAD08}" destId="{5BE17DC3-AC3F-4D45-B32D-BB6D9F20A000}" srcOrd="0" destOrd="0" presId="urn:microsoft.com/office/officeart/2005/8/layout/cycle1"/>
    <dgm:cxn modelId="{30EF85C0-2DE8-49B2-B538-3C26F6FE24F6}" type="presOf" srcId="{1978D158-1D51-46CB-BD7C-C267E224B22F}" destId="{67FD50FB-FFA0-4D91-9E96-6BADC2671F4E}" srcOrd="0" destOrd="0" presId="urn:microsoft.com/office/officeart/2005/8/layout/cycle1"/>
    <dgm:cxn modelId="{400C2DC9-5315-4496-B20E-3AD73B165F4E}" type="presOf" srcId="{D1EA68B4-2969-4670-A6CC-AC4AF0C14805}" destId="{E5B11CE5-9D3A-474D-927B-98A77709B6B2}" srcOrd="0" destOrd="0" presId="urn:microsoft.com/office/officeart/2005/8/layout/cycle1"/>
    <dgm:cxn modelId="{3AB9F2CA-B254-4CE6-A786-B550214341B5}" srcId="{84E24BB9-1004-4AD0-AAF6-816F66AA48AE}" destId="{1978D158-1D51-46CB-BD7C-C267E224B22F}" srcOrd="0" destOrd="0" parTransId="{6F671046-4E3B-4045-B0DB-1B618E79AB45}" sibTransId="{EF1BA42A-764F-4BC8-99A6-94CB4ADA1759}"/>
    <dgm:cxn modelId="{2EA092FA-7F2F-42AC-A0BC-DACE8ED88B63}" type="presOf" srcId="{84F71077-5A90-4F99-9996-01E7648D3692}" destId="{BE9232CE-D682-4389-863B-DC397A26A361}" srcOrd="0" destOrd="0" presId="urn:microsoft.com/office/officeart/2005/8/layout/cycle1"/>
    <dgm:cxn modelId="{7AD657B7-2D0F-43F9-8FA4-C9B32FE79556}" type="presParOf" srcId="{4FA1A3DC-7071-4E07-8069-6C7151C8D1AB}" destId="{12C9F239-6B10-4D0E-9030-6F4CA9449D13}" srcOrd="0" destOrd="0" presId="urn:microsoft.com/office/officeart/2005/8/layout/cycle1"/>
    <dgm:cxn modelId="{90405D7E-E5AF-48AD-B3FD-463C7F29C259}" type="presParOf" srcId="{4FA1A3DC-7071-4E07-8069-6C7151C8D1AB}" destId="{67FD50FB-FFA0-4D91-9E96-6BADC2671F4E}" srcOrd="1" destOrd="0" presId="urn:microsoft.com/office/officeart/2005/8/layout/cycle1"/>
    <dgm:cxn modelId="{7D41521D-69FC-4F26-9796-51228952377E}" type="presParOf" srcId="{4FA1A3DC-7071-4E07-8069-6C7151C8D1AB}" destId="{7C7F443E-917B-46A7-9CEF-F29C4D6FC28D}" srcOrd="2" destOrd="0" presId="urn:microsoft.com/office/officeart/2005/8/layout/cycle1"/>
    <dgm:cxn modelId="{7EEB984C-991F-4C8B-8A06-FE1B9E933E46}" type="presParOf" srcId="{4FA1A3DC-7071-4E07-8069-6C7151C8D1AB}" destId="{A24E1384-6C14-4393-868E-6963A12F7F40}" srcOrd="3" destOrd="0" presId="urn:microsoft.com/office/officeart/2005/8/layout/cycle1"/>
    <dgm:cxn modelId="{E5524417-6BDB-4877-B59F-EE771057BEE9}" type="presParOf" srcId="{4FA1A3DC-7071-4E07-8069-6C7151C8D1AB}" destId="{D953D1A7-C78E-417B-BE33-8B09E38B068F}" srcOrd="4" destOrd="0" presId="urn:microsoft.com/office/officeart/2005/8/layout/cycle1"/>
    <dgm:cxn modelId="{C95285C5-B008-45DE-8C85-6310141A0CE7}" type="presParOf" srcId="{4FA1A3DC-7071-4E07-8069-6C7151C8D1AB}" destId="{9C7DE810-97C1-479B-8312-5ECE7E0F3E2F}" srcOrd="5" destOrd="0" presId="urn:microsoft.com/office/officeart/2005/8/layout/cycle1"/>
    <dgm:cxn modelId="{F2C0813C-928E-4AB1-A8E7-2F468B3E29E0}" type="presParOf" srcId="{4FA1A3DC-7071-4E07-8069-6C7151C8D1AB}" destId="{FCFE1D0F-45B8-4AD2-B446-8386612CD035}" srcOrd="6" destOrd="0" presId="urn:microsoft.com/office/officeart/2005/8/layout/cycle1"/>
    <dgm:cxn modelId="{8800526F-01DA-43AF-B2E6-AEA3B3CC410C}" type="presParOf" srcId="{4FA1A3DC-7071-4E07-8069-6C7151C8D1AB}" destId="{374FF5D0-27BC-43AB-AEED-FED581AE963C}" srcOrd="7" destOrd="0" presId="urn:microsoft.com/office/officeart/2005/8/layout/cycle1"/>
    <dgm:cxn modelId="{61BA7D88-FF04-4D9F-8D37-AF2C05188916}" type="presParOf" srcId="{4FA1A3DC-7071-4E07-8069-6C7151C8D1AB}" destId="{E5B11CE5-9D3A-474D-927B-98A77709B6B2}" srcOrd="8" destOrd="0" presId="urn:microsoft.com/office/officeart/2005/8/layout/cycle1"/>
    <dgm:cxn modelId="{D7684DA0-43D1-4686-9D42-D618C080ADCC}" type="presParOf" srcId="{4FA1A3DC-7071-4E07-8069-6C7151C8D1AB}" destId="{B2B2C5FB-F94D-4720-9C96-8ED76CC336F2}" srcOrd="9" destOrd="0" presId="urn:microsoft.com/office/officeart/2005/8/layout/cycle1"/>
    <dgm:cxn modelId="{964C413A-7E5B-4D1B-A822-BE1F3EA75EE9}" type="presParOf" srcId="{4FA1A3DC-7071-4E07-8069-6C7151C8D1AB}" destId="{BE9232CE-D682-4389-863B-DC397A26A361}" srcOrd="10" destOrd="0" presId="urn:microsoft.com/office/officeart/2005/8/layout/cycle1"/>
    <dgm:cxn modelId="{1552F2E1-40D8-4E97-AC38-677615D3688F}" type="presParOf" srcId="{4FA1A3DC-7071-4E07-8069-6C7151C8D1AB}" destId="{87ACCB7B-D195-4A22-8F02-924B13F85816}" srcOrd="11" destOrd="0" presId="urn:microsoft.com/office/officeart/2005/8/layout/cycle1"/>
    <dgm:cxn modelId="{CBED66C4-B4BE-46C6-A031-C0E1F4DACA50}" type="presParOf" srcId="{4FA1A3DC-7071-4E07-8069-6C7151C8D1AB}" destId="{6A9313D3-38CE-4EF3-8A02-680791CA5861}" srcOrd="12" destOrd="0" presId="urn:microsoft.com/office/officeart/2005/8/layout/cycle1"/>
    <dgm:cxn modelId="{494285D0-582D-4721-8806-89B7A2F5A589}" type="presParOf" srcId="{4FA1A3DC-7071-4E07-8069-6C7151C8D1AB}" destId="{5BE17DC3-AC3F-4D45-B32D-BB6D9F20A000}" srcOrd="13" destOrd="0" presId="urn:microsoft.com/office/officeart/2005/8/layout/cycle1"/>
    <dgm:cxn modelId="{481E96A0-EC04-460C-9026-9256723D137D}" type="presParOf" srcId="{4FA1A3DC-7071-4E07-8069-6C7151C8D1AB}" destId="{1E46CAE8-B71D-4EA9-A86B-EE9F8711BE93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0FB676-F8B8-4851-8056-680AD3F638A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AB287B6-AE78-4629-ABB1-01C922CC8C4C}">
      <dgm:prSet phldrT="[텍스트]" custT="1"/>
      <dgm:spPr>
        <a:solidFill>
          <a:schemeClr val="accent5"/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리스크 진단</a:t>
          </a:r>
        </a:p>
      </dgm:t>
    </dgm:pt>
    <dgm:pt modelId="{6B583D81-9C0B-450B-8397-F5CF087D345E}" type="parTrans" cxnId="{AE950BF2-5325-44CD-85C3-31605C42C5B0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E436F89B-6F54-4A72-9197-C988DB70A081}" type="sibTrans" cxnId="{AE950BF2-5325-44CD-85C3-31605C42C5B0}">
      <dgm:prSet custT="1"/>
      <dgm:spPr/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8C0A26E9-2A43-4483-819F-10DB24D9197A}">
      <dgm:prSet phldrT="[텍스트]" custT="1"/>
      <dgm:spPr>
        <a:solidFill>
          <a:schemeClr val="accent5"/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개발계 구축</a:t>
          </a:r>
        </a:p>
      </dgm:t>
    </dgm:pt>
    <dgm:pt modelId="{7A50D5C0-5237-4625-BEBE-D9EB4879AAAD}" type="parTrans" cxnId="{A573DFA5-661C-4E60-BD27-9D8B62267CDA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1DE97464-AC06-4B7B-91CD-A127F3FC797D}" type="sibTrans" cxnId="{A573DFA5-661C-4E60-BD27-9D8B62267CDA}">
      <dgm:prSet custT="1"/>
      <dgm:spPr/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828D142B-E942-44C0-B32A-18E67A40C01E}">
      <dgm:prSet phldrT="[텍스트]" custT="1"/>
      <dgm:spPr>
        <a:solidFill>
          <a:schemeClr val="accent5"/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Application</a:t>
          </a:r>
          <a:br>
            <a:rPr lang="en-US" altLang="ko-KR" sz="1000" b="1" dirty="0">
              <a:solidFill>
                <a:schemeClr val="tx1"/>
              </a:solidFill>
            </a:rPr>
          </a:br>
          <a:r>
            <a:rPr lang="ko-KR" altLang="en-US" sz="1000" b="1">
              <a:solidFill>
                <a:schemeClr val="tx1"/>
              </a:solidFill>
            </a:rPr>
            <a:t>테스트</a:t>
          </a:r>
        </a:p>
      </dgm:t>
    </dgm:pt>
    <dgm:pt modelId="{C3E793D3-6C0E-4311-B103-A02A1DF7FE1E}" type="parTrans" cxnId="{76128A0B-E29E-431D-A201-A4D655D02DB1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E68D9E53-17E3-406E-9F87-39F4F484752C}" type="sibTrans" cxnId="{76128A0B-E29E-431D-A201-A4D655D02DB1}">
      <dgm:prSet/>
      <dgm:spPr/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56573B7F-0922-4EB8-95EC-67565916DEE3}">
      <dgm:prSet phldrT="[텍스트]" custT="1"/>
      <dgm:spPr>
        <a:solidFill>
          <a:schemeClr val="accent5"/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TO-BE </a:t>
          </a:r>
          <a:r>
            <a:rPr lang="ko-KR" altLang="en-US" sz="1000" b="1">
              <a:solidFill>
                <a:schemeClr val="tx1"/>
              </a:solidFill>
            </a:rPr>
            <a:t>구축</a:t>
          </a:r>
        </a:p>
      </dgm:t>
    </dgm:pt>
    <dgm:pt modelId="{B0A7FE9F-F1E7-47A2-B89C-E259BB57A811}" type="parTrans" cxnId="{EE4781EC-BB8B-4E8F-AFE7-E5435911D677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14C5B6A3-C84D-4019-B5C5-C8E3645ED970}" type="sibTrans" cxnId="{EE4781EC-BB8B-4E8F-AFE7-E5435911D677}">
      <dgm:prSet/>
      <dgm:spPr/>
      <dgm:t>
        <a:bodyPr/>
        <a:lstStyle/>
        <a:p>
          <a:pPr latinLnBrk="1"/>
          <a:endParaRPr lang="ko-KR" altLang="en-US" b="1" dirty="0">
            <a:solidFill>
              <a:schemeClr val="tx1"/>
            </a:solidFill>
          </a:endParaRPr>
        </a:p>
      </dgm:t>
    </dgm:pt>
    <dgm:pt modelId="{9A80CA81-B975-4CFA-A840-799814508BCB}">
      <dgm:prSet phldrT="[텍스트]" custT="1"/>
      <dgm:spPr>
        <a:solidFill>
          <a:schemeClr val="accent5"/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Application</a:t>
          </a:r>
          <a:br>
            <a:rPr lang="en-US" altLang="ko-KR" sz="1000" b="1" dirty="0">
              <a:solidFill>
                <a:schemeClr val="tx1"/>
              </a:solidFill>
            </a:rPr>
          </a:br>
          <a:r>
            <a:rPr lang="ko-KR" altLang="en-US" sz="1000" b="1">
              <a:solidFill>
                <a:schemeClr val="tx1"/>
              </a:solidFill>
            </a:rPr>
            <a:t>테스트</a:t>
          </a:r>
        </a:p>
      </dgm:t>
    </dgm:pt>
    <dgm:pt modelId="{B87F10CD-E4A2-4DA5-9243-1D14DA46CFA1}" type="parTrans" cxnId="{AD8BA11F-6530-42C0-B0AA-0AEF8A65F1EE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29CEEE7C-4C0B-4F96-85E7-D01972410176}" type="sibTrans" cxnId="{AD8BA11F-6530-42C0-B0AA-0AEF8A65F1EE}">
      <dgm:prSet/>
      <dgm:spPr/>
      <dgm:t>
        <a:bodyPr/>
        <a:lstStyle/>
        <a:p>
          <a:pPr latinLnBrk="1"/>
          <a:endParaRPr lang="ko-KR" altLang="en-US" b="1" dirty="0">
            <a:solidFill>
              <a:schemeClr val="tx1"/>
            </a:solidFill>
          </a:endParaRPr>
        </a:p>
      </dgm:t>
    </dgm:pt>
    <dgm:pt modelId="{51129121-0EA3-4DE2-BE0C-460CFA4D6E2B}">
      <dgm:prSet phldrT="[텍스트]" custT="1"/>
      <dgm:spPr>
        <a:solidFill>
          <a:schemeClr val="accent5"/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서비스 오픈</a:t>
          </a:r>
        </a:p>
      </dgm:t>
    </dgm:pt>
    <dgm:pt modelId="{AFDC5994-0C3B-4697-8257-BBF717DE9A36}" type="parTrans" cxnId="{D38DC8BD-BAAA-4E7F-A9E0-2F553DE46B75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5B378130-854F-4A82-9336-127A6334E897}" type="sibTrans" cxnId="{D38DC8BD-BAAA-4E7F-A9E0-2F553DE46B75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0D3FB70D-3450-47A6-A6C7-5E7103325ED6}" type="pres">
      <dgm:prSet presAssocID="{610FB676-F8B8-4851-8056-680AD3F638A2}" presName="Name0" presStyleCnt="0">
        <dgm:presLayoutVars>
          <dgm:dir/>
          <dgm:resizeHandles val="exact"/>
        </dgm:presLayoutVars>
      </dgm:prSet>
      <dgm:spPr/>
    </dgm:pt>
    <dgm:pt modelId="{240AD0FD-8F47-4AA3-895A-5AE73343844C}" type="pres">
      <dgm:prSet presAssocID="{3AB287B6-AE78-4629-ABB1-01C922CC8C4C}" presName="node" presStyleLbl="node1" presStyleIdx="0" presStyleCnt="6" custScaleY="76111">
        <dgm:presLayoutVars>
          <dgm:bulletEnabled val="1"/>
        </dgm:presLayoutVars>
      </dgm:prSet>
      <dgm:spPr/>
    </dgm:pt>
    <dgm:pt modelId="{75D343F2-764F-4F32-A3F3-5EDCF9618626}" type="pres">
      <dgm:prSet presAssocID="{E436F89B-6F54-4A72-9197-C988DB70A081}" presName="sibTrans" presStyleLbl="sibTrans2D1" presStyleIdx="0" presStyleCnt="5"/>
      <dgm:spPr/>
    </dgm:pt>
    <dgm:pt modelId="{073F1F08-CD0B-4CC2-8C74-3E700A7669F6}" type="pres">
      <dgm:prSet presAssocID="{E436F89B-6F54-4A72-9197-C988DB70A081}" presName="connectorText" presStyleLbl="sibTrans2D1" presStyleIdx="0" presStyleCnt="5"/>
      <dgm:spPr/>
    </dgm:pt>
    <dgm:pt modelId="{46CDDC22-3C57-4C0D-8276-01AEFFD3891A}" type="pres">
      <dgm:prSet presAssocID="{8C0A26E9-2A43-4483-819F-10DB24D9197A}" presName="node" presStyleLbl="node1" presStyleIdx="1" presStyleCnt="6" custScaleY="72632">
        <dgm:presLayoutVars>
          <dgm:bulletEnabled val="1"/>
        </dgm:presLayoutVars>
      </dgm:prSet>
      <dgm:spPr/>
    </dgm:pt>
    <dgm:pt modelId="{5F4D5416-E7DC-4B78-8381-08FE699B238B}" type="pres">
      <dgm:prSet presAssocID="{1DE97464-AC06-4B7B-91CD-A127F3FC797D}" presName="sibTrans" presStyleLbl="sibTrans2D1" presStyleIdx="1" presStyleCnt="5"/>
      <dgm:spPr/>
    </dgm:pt>
    <dgm:pt modelId="{B94A9169-9D7A-47B4-8C00-B8E3DA599415}" type="pres">
      <dgm:prSet presAssocID="{1DE97464-AC06-4B7B-91CD-A127F3FC797D}" presName="connectorText" presStyleLbl="sibTrans2D1" presStyleIdx="1" presStyleCnt="5"/>
      <dgm:spPr/>
    </dgm:pt>
    <dgm:pt modelId="{CD2FE471-832A-4C8E-8827-011C5E8F0129}" type="pres">
      <dgm:prSet presAssocID="{828D142B-E942-44C0-B32A-18E67A40C01E}" presName="node" presStyleLbl="node1" presStyleIdx="2" presStyleCnt="6" custScaleY="72946">
        <dgm:presLayoutVars>
          <dgm:bulletEnabled val="1"/>
        </dgm:presLayoutVars>
      </dgm:prSet>
      <dgm:spPr/>
    </dgm:pt>
    <dgm:pt modelId="{8C3BBABE-51F9-4C59-9547-313CAA87AEEA}" type="pres">
      <dgm:prSet presAssocID="{E68D9E53-17E3-406E-9F87-39F4F484752C}" presName="sibTrans" presStyleLbl="sibTrans2D1" presStyleIdx="2" presStyleCnt="5"/>
      <dgm:spPr/>
    </dgm:pt>
    <dgm:pt modelId="{DE7F5585-3FA4-40C3-A75A-5E68FB75FC06}" type="pres">
      <dgm:prSet presAssocID="{E68D9E53-17E3-406E-9F87-39F4F484752C}" presName="connectorText" presStyleLbl="sibTrans2D1" presStyleIdx="2" presStyleCnt="5"/>
      <dgm:spPr/>
    </dgm:pt>
    <dgm:pt modelId="{EF893FD3-4E80-4333-A2EA-1F0E3B701632}" type="pres">
      <dgm:prSet presAssocID="{56573B7F-0922-4EB8-95EC-67565916DEE3}" presName="node" presStyleLbl="node1" presStyleIdx="3" presStyleCnt="6" custScaleY="72946">
        <dgm:presLayoutVars>
          <dgm:bulletEnabled val="1"/>
        </dgm:presLayoutVars>
      </dgm:prSet>
      <dgm:spPr/>
    </dgm:pt>
    <dgm:pt modelId="{4576E717-8840-4FBA-93A2-26C7B2222638}" type="pres">
      <dgm:prSet presAssocID="{14C5B6A3-C84D-4019-B5C5-C8E3645ED970}" presName="sibTrans" presStyleLbl="sibTrans2D1" presStyleIdx="3" presStyleCnt="5"/>
      <dgm:spPr/>
    </dgm:pt>
    <dgm:pt modelId="{0CA444F0-550A-4953-879D-F39035908355}" type="pres">
      <dgm:prSet presAssocID="{14C5B6A3-C84D-4019-B5C5-C8E3645ED970}" presName="connectorText" presStyleLbl="sibTrans2D1" presStyleIdx="3" presStyleCnt="5"/>
      <dgm:spPr/>
    </dgm:pt>
    <dgm:pt modelId="{C9409E38-85A2-435A-BEC8-37608786A1A1}" type="pres">
      <dgm:prSet presAssocID="{9A80CA81-B975-4CFA-A840-799814508BCB}" presName="node" presStyleLbl="node1" presStyleIdx="4" presStyleCnt="6" custScaleY="72946">
        <dgm:presLayoutVars>
          <dgm:bulletEnabled val="1"/>
        </dgm:presLayoutVars>
      </dgm:prSet>
      <dgm:spPr/>
    </dgm:pt>
    <dgm:pt modelId="{84719D8C-3E4D-4A29-AA98-64CF8DAE86FA}" type="pres">
      <dgm:prSet presAssocID="{29CEEE7C-4C0B-4F96-85E7-D01972410176}" presName="sibTrans" presStyleLbl="sibTrans2D1" presStyleIdx="4" presStyleCnt="5"/>
      <dgm:spPr/>
    </dgm:pt>
    <dgm:pt modelId="{CD89DF4C-B4CD-44F2-8AFE-ED6C808B9B5F}" type="pres">
      <dgm:prSet presAssocID="{29CEEE7C-4C0B-4F96-85E7-D01972410176}" presName="connectorText" presStyleLbl="sibTrans2D1" presStyleIdx="4" presStyleCnt="5"/>
      <dgm:spPr/>
    </dgm:pt>
    <dgm:pt modelId="{94081662-8179-4646-874C-0C442DC11ED0}" type="pres">
      <dgm:prSet presAssocID="{51129121-0EA3-4DE2-BE0C-460CFA4D6E2B}" presName="node" presStyleLbl="node1" presStyleIdx="5" presStyleCnt="6" custScaleY="72946">
        <dgm:presLayoutVars>
          <dgm:bulletEnabled val="1"/>
        </dgm:presLayoutVars>
      </dgm:prSet>
      <dgm:spPr/>
    </dgm:pt>
  </dgm:ptLst>
  <dgm:cxnLst>
    <dgm:cxn modelId="{3C8DC506-2D91-4106-AE1F-86ED6765D4C6}" type="presOf" srcId="{1DE97464-AC06-4B7B-91CD-A127F3FC797D}" destId="{B94A9169-9D7A-47B4-8C00-B8E3DA599415}" srcOrd="1" destOrd="0" presId="urn:microsoft.com/office/officeart/2005/8/layout/process1"/>
    <dgm:cxn modelId="{AEF2A708-2A17-4042-8C96-24B5E2470E7D}" type="presOf" srcId="{14C5B6A3-C84D-4019-B5C5-C8E3645ED970}" destId="{0CA444F0-550A-4953-879D-F39035908355}" srcOrd="1" destOrd="0" presId="urn:microsoft.com/office/officeart/2005/8/layout/process1"/>
    <dgm:cxn modelId="{76128A0B-E29E-431D-A201-A4D655D02DB1}" srcId="{610FB676-F8B8-4851-8056-680AD3F638A2}" destId="{828D142B-E942-44C0-B32A-18E67A40C01E}" srcOrd="2" destOrd="0" parTransId="{C3E793D3-6C0E-4311-B103-A02A1DF7FE1E}" sibTransId="{E68D9E53-17E3-406E-9F87-39F4F484752C}"/>
    <dgm:cxn modelId="{FD30A511-81D2-46C2-83B4-240AFC640889}" type="presOf" srcId="{51129121-0EA3-4DE2-BE0C-460CFA4D6E2B}" destId="{94081662-8179-4646-874C-0C442DC11ED0}" srcOrd="0" destOrd="0" presId="urn:microsoft.com/office/officeart/2005/8/layout/process1"/>
    <dgm:cxn modelId="{005BBE1C-AFE0-4D10-A435-87D24006E98B}" type="presOf" srcId="{14C5B6A3-C84D-4019-B5C5-C8E3645ED970}" destId="{4576E717-8840-4FBA-93A2-26C7B2222638}" srcOrd="0" destOrd="0" presId="urn:microsoft.com/office/officeart/2005/8/layout/process1"/>
    <dgm:cxn modelId="{AD8BA11F-6530-42C0-B0AA-0AEF8A65F1EE}" srcId="{610FB676-F8B8-4851-8056-680AD3F638A2}" destId="{9A80CA81-B975-4CFA-A840-799814508BCB}" srcOrd="4" destOrd="0" parTransId="{B87F10CD-E4A2-4DA5-9243-1D14DA46CFA1}" sibTransId="{29CEEE7C-4C0B-4F96-85E7-D01972410176}"/>
    <dgm:cxn modelId="{65B7AB28-063F-44E6-8F92-0CAE8D9D9335}" type="presOf" srcId="{828D142B-E942-44C0-B32A-18E67A40C01E}" destId="{CD2FE471-832A-4C8E-8827-011C5E8F0129}" srcOrd="0" destOrd="0" presId="urn:microsoft.com/office/officeart/2005/8/layout/process1"/>
    <dgm:cxn modelId="{5A8F352D-23CE-4E91-8963-7A7340CD3B04}" type="presOf" srcId="{9A80CA81-B975-4CFA-A840-799814508BCB}" destId="{C9409E38-85A2-435A-BEC8-37608786A1A1}" srcOrd="0" destOrd="0" presId="urn:microsoft.com/office/officeart/2005/8/layout/process1"/>
    <dgm:cxn modelId="{5FF1D034-04BD-418C-A4B8-184EACDFA8A2}" type="presOf" srcId="{8C0A26E9-2A43-4483-819F-10DB24D9197A}" destId="{46CDDC22-3C57-4C0D-8276-01AEFFD3891A}" srcOrd="0" destOrd="0" presId="urn:microsoft.com/office/officeart/2005/8/layout/process1"/>
    <dgm:cxn modelId="{8BD23A5F-1372-4471-ADB5-9A06E2DE0F17}" type="presOf" srcId="{56573B7F-0922-4EB8-95EC-67565916DEE3}" destId="{EF893FD3-4E80-4333-A2EA-1F0E3B701632}" srcOrd="0" destOrd="0" presId="urn:microsoft.com/office/officeart/2005/8/layout/process1"/>
    <dgm:cxn modelId="{3C8AA560-D05A-468A-A000-E1F0D1B91157}" type="presOf" srcId="{3AB287B6-AE78-4629-ABB1-01C922CC8C4C}" destId="{240AD0FD-8F47-4AA3-895A-5AE73343844C}" srcOrd="0" destOrd="0" presId="urn:microsoft.com/office/officeart/2005/8/layout/process1"/>
    <dgm:cxn modelId="{12511862-B664-45C7-A188-0000B50FDA87}" type="presOf" srcId="{610FB676-F8B8-4851-8056-680AD3F638A2}" destId="{0D3FB70D-3450-47A6-A6C7-5E7103325ED6}" srcOrd="0" destOrd="0" presId="urn:microsoft.com/office/officeart/2005/8/layout/process1"/>
    <dgm:cxn modelId="{21A69F6F-6978-452C-AB2A-86A52E856846}" type="presOf" srcId="{E436F89B-6F54-4A72-9197-C988DB70A081}" destId="{073F1F08-CD0B-4CC2-8C74-3E700A7669F6}" srcOrd="1" destOrd="0" presId="urn:microsoft.com/office/officeart/2005/8/layout/process1"/>
    <dgm:cxn modelId="{727FE951-A19C-47C6-BF51-6CB7651F5693}" type="presOf" srcId="{29CEEE7C-4C0B-4F96-85E7-D01972410176}" destId="{CD89DF4C-B4CD-44F2-8AFE-ED6C808B9B5F}" srcOrd="1" destOrd="0" presId="urn:microsoft.com/office/officeart/2005/8/layout/process1"/>
    <dgm:cxn modelId="{842F4E59-45D6-4E43-B549-68EA0D8343B7}" type="presOf" srcId="{E436F89B-6F54-4A72-9197-C988DB70A081}" destId="{75D343F2-764F-4F32-A3F3-5EDCF9618626}" srcOrd="0" destOrd="0" presId="urn:microsoft.com/office/officeart/2005/8/layout/process1"/>
    <dgm:cxn modelId="{2BCB7893-F29A-4D49-922A-B9EF690CFC96}" type="presOf" srcId="{1DE97464-AC06-4B7B-91CD-A127F3FC797D}" destId="{5F4D5416-E7DC-4B78-8381-08FE699B238B}" srcOrd="0" destOrd="0" presId="urn:microsoft.com/office/officeart/2005/8/layout/process1"/>
    <dgm:cxn modelId="{9872CB95-F3EC-4E39-811E-B50C74A003C7}" type="presOf" srcId="{E68D9E53-17E3-406E-9F87-39F4F484752C}" destId="{8C3BBABE-51F9-4C59-9547-313CAA87AEEA}" srcOrd="0" destOrd="0" presId="urn:microsoft.com/office/officeart/2005/8/layout/process1"/>
    <dgm:cxn modelId="{1BC118A1-A0E4-4CCB-9418-22C0100F6991}" type="presOf" srcId="{29CEEE7C-4C0B-4F96-85E7-D01972410176}" destId="{84719D8C-3E4D-4A29-AA98-64CF8DAE86FA}" srcOrd="0" destOrd="0" presId="urn:microsoft.com/office/officeart/2005/8/layout/process1"/>
    <dgm:cxn modelId="{A573DFA5-661C-4E60-BD27-9D8B62267CDA}" srcId="{610FB676-F8B8-4851-8056-680AD3F638A2}" destId="{8C0A26E9-2A43-4483-819F-10DB24D9197A}" srcOrd="1" destOrd="0" parTransId="{7A50D5C0-5237-4625-BEBE-D9EB4879AAAD}" sibTransId="{1DE97464-AC06-4B7B-91CD-A127F3FC797D}"/>
    <dgm:cxn modelId="{1E0A63B7-BD2F-4C1E-9555-5E5AB3D3C72D}" type="presOf" srcId="{E68D9E53-17E3-406E-9F87-39F4F484752C}" destId="{DE7F5585-3FA4-40C3-A75A-5E68FB75FC06}" srcOrd="1" destOrd="0" presId="urn:microsoft.com/office/officeart/2005/8/layout/process1"/>
    <dgm:cxn modelId="{D38DC8BD-BAAA-4E7F-A9E0-2F553DE46B75}" srcId="{610FB676-F8B8-4851-8056-680AD3F638A2}" destId="{51129121-0EA3-4DE2-BE0C-460CFA4D6E2B}" srcOrd="5" destOrd="0" parTransId="{AFDC5994-0C3B-4697-8257-BBF717DE9A36}" sibTransId="{5B378130-854F-4A82-9336-127A6334E897}"/>
    <dgm:cxn modelId="{EE4781EC-BB8B-4E8F-AFE7-E5435911D677}" srcId="{610FB676-F8B8-4851-8056-680AD3F638A2}" destId="{56573B7F-0922-4EB8-95EC-67565916DEE3}" srcOrd="3" destOrd="0" parTransId="{B0A7FE9F-F1E7-47A2-B89C-E259BB57A811}" sibTransId="{14C5B6A3-C84D-4019-B5C5-C8E3645ED970}"/>
    <dgm:cxn modelId="{AE950BF2-5325-44CD-85C3-31605C42C5B0}" srcId="{610FB676-F8B8-4851-8056-680AD3F638A2}" destId="{3AB287B6-AE78-4629-ABB1-01C922CC8C4C}" srcOrd="0" destOrd="0" parTransId="{6B583D81-9C0B-450B-8397-F5CF087D345E}" sibTransId="{E436F89B-6F54-4A72-9197-C988DB70A081}"/>
    <dgm:cxn modelId="{11583D41-D15E-4E40-BD08-E977B6F19929}" type="presParOf" srcId="{0D3FB70D-3450-47A6-A6C7-5E7103325ED6}" destId="{240AD0FD-8F47-4AA3-895A-5AE73343844C}" srcOrd="0" destOrd="0" presId="urn:microsoft.com/office/officeart/2005/8/layout/process1"/>
    <dgm:cxn modelId="{7AAD6C5C-2884-40E2-B3D5-411878C416F2}" type="presParOf" srcId="{0D3FB70D-3450-47A6-A6C7-5E7103325ED6}" destId="{75D343F2-764F-4F32-A3F3-5EDCF9618626}" srcOrd="1" destOrd="0" presId="urn:microsoft.com/office/officeart/2005/8/layout/process1"/>
    <dgm:cxn modelId="{B84C3E2C-B9C5-4F8E-A5C8-A80A9CAB7A79}" type="presParOf" srcId="{75D343F2-764F-4F32-A3F3-5EDCF9618626}" destId="{073F1F08-CD0B-4CC2-8C74-3E700A7669F6}" srcOrd="0" destOrd="0" presId="urn:microsoft.com/office/officeart/2005/8/layout/process1"/>
    <dgm:cxn modelId="{5EA7334C-F9B9-45A7-87E8-83338F3F5C30}" type="presParOf" srcId="{0D3FB70D-3450-47A6-A6C7-5E7103325ED6}" destId="{46CDDC22-3C57-4C0D-8276-01AEFFD3891A}" srcOrd="2" destOrd="0" presId="urn:microsoft.com/office/officeart/2005/8/layout/process1"/>
    <dgm:cxn modelId="{F2BE7158-2D06-4147-A96D-19C3D2618604}" type="presParOf" srcId="{0D3FB70D-3450-47A6-A6C7-5E7103325ED6}" destId="{5F4D5416-E7DC-4B78-8381-08FE699B238B}" srcOrd="3" destOrd="0" presId="urn:microsoft.com/office/officeart/2005/8/layout/process1"/>
    <dgm:cxn modelId="{6DFE8D12-6BD1-4867-AD73-E1DCB4071F0E}" type="presParOf" srcId="{5F4D5416-E7DC-4B78-8381-08FE699B238B}" destId="{B94A9169-9D7A-47B4-8C00-B8E3DA599415}" srcOrd="0" destOrd="0" presId="urn:microsoft.com/office/officeart/2005/8/layout/process1"/>
    <dgm:cxn modelId="{9A81863C-8D3C-43CA-9C36-7C073B64C100}" type="presParOf" srcId="{0D3FB70D-3450-47A6-A6C7-5E7103325ED6}" destId="{CD2FE471-832A-4C8E-8827-011C5E8F0129}" srcOrd="4" destOrd="0" presId="urn:microsoft.com/office/officeart/2005/8/layout/process1"/>
    <dgm:cxn modelId="{85015D30-6944-40AF-AC9A-BBFDF8465BB6}" type="presParOf" srcId="{0D3FB70D-3450-47A6-A6C7-5E7103325ED6}" destId="{8C3BBABE-51F9-4C59-9547-313CAA87AEEA}" srcOrd="5" destOrd="0" presId="urn:microsoft.com/office/officeart/2005/8/layout/process1"/>
    <dgm:cxn modelId="{F397A1A6-CE0C-4DE6-B2F2-53B4DCC99A5D}" type="presParOf" srcId="{8C3BBABE-51F9-4C59-9547-313CAA87AEEA}" destId="{DE7F5585-3FA4-40C3-A75A-5E68FB75FC06}" srcOrd="0" destOrd="0" presId="urn:microsoft.com/office/officeart/2005/8/layout/process1"/>
    <dgm:cxn modelId="{E99B58F8-E4A4-4347-8BA2-68D763385DB5}" type="presParOf" srcId="{0D3FB70D-3450-47A6-A6C7-5E7103325ED6}" destId="{EF893FD3-4E80-4333-A2EA-1F0E3B701632}" srcOrd="6" destOrd="0" presId="urn:microsoft.com/office/officeart/2005/8/layout/process1"/>
    <dgm:cxn modelId="{24F397C1-C013-49A9-8913-F7272DFF8968}" type="presParOf" srcId="{0D3FB70D-3450-47A6-A6C7-5E7103325ED6}" destId="{4576E717-8840-4FBA-93A2-26C7B2222638}" srcOrd="7" destOrd="0" presId="urn:microsoft.com/office/officeart/2005/8/layout/process1"/>
    <dgm:cxn modelId="{CCBE255F-30CC-4A8C-AA07-28E1A307114F}" type="presParOf" srcId="{4576E717-8840-4FBA-93A2-26C7B2222638}" destId="{0CA444F0-550A-4953-879D-F39035908355}" srcOrd="0" destOrd="0" presId="urn:microsoft.com/office/officeart/2005/8/layout/process1"/>
    <dgm:cxn modelId="{6F5645BB-3F2E-4BE9-92FC-87809B559F74}" type="presParOf" srcId="{0D3FB70D-3450-47A6-A6C7-5E7103325ED6}" destId="{C9409E38-85A2-435A-BEC8-37608786A1A1}" srcOrd="8" destOrd="0" presId="urn:microsoft.com/office/officeart/2005/8/layout/process1"/>
    <dgm:cxn modelId="{1ED8590C-0674-46E9-BD5A-31BB5681BD5B}" type="presParOf" srcId="{0D3FB70D-3450-47A6-A6C7-5E7103325ED6}" destId="{84719D8C-3E4D-4A29-AA98-64CF8DAE86FA}" srcOrd="9" destOrd="0" presId="urn:microsoft.com/office/officeart/2005/8/layout/process1"/>
    <dgm:cxn modelId="{52A17242-F728-4515-A4E9-CFDA8BB6CDF1}" type="presParOf" srcId="{84719D8C-3E4D-4A29-AA98-64CF8DAE86FA}" destId="{CD89DF4C-B4CD-44F2-8AFE-ED6C808B9B5F}" srcOrd="0" destOrd="0" presId="urn:microsoft.com/office/officeart/2005/8/layout/process1"/>
    <dgm:cxn modelId="{65587AE8-D948-4A72-9FC6-CFC6DCE7FDB8}" type="presParOf" srcId="{0D3FB70D-3450-47A6-A6C7-5E7103325ED6}" destId="{94081662-8179-4646-874C-0C442DC11ED0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0FB676-F8B8-4851-8056-680AD3F638A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AB287B6-AE78-4629-ABB1-01C922CC8C4C}">
      <dgm:prSet phldrT="[텍스트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리스크 진단</a:t>
          </a:r>
        </a:p>
      </dgm:t>
    </dgm:pt>
    <dgm:pt modelId="{6B583D81-9C0B-450B-8397-F5CF087D345E}" type="parTrans" cxnId="{AE950BF2-5325-44CD-85C3-31605C42C5B0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E436F89B-6F54-4A72-9197-C988DB70A081}" type="sibTrans" cxnId="{AE950BF2-5325-44CD-85C3-31605C42C5B0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8C0A26E9-2A43-4483-819F-10DB24D9197A}">
      <dgm:prSet phldrT="[텍스트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개발계 구축</a:t>
          </a:r>
        </a:p>
      </dgm:t>
    </dgm:pt>
    <dgm:pt modelId="{7A50D5C0-5237-4625-BEBE-D9EB4879AAAD}" type="parTrans" cxnId="{A573DFA5-661C-4E60-BD27-9D8B62267CDA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1DE97464-AC06-4B7B-91CD-A127F3FC797D}" type="sibTrans" cxnId="{A573DFA5-661C-4E60-BD27-9D8B62267CDA}">
      <dgm:prSet custT="1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828D142B-E942-44C0-B32A-18E67A40C01E}">
      <dgm:prSet phldrT="[텍스트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Application</a:t>
          </a:r>
          <a:br>
            <a:rPr lang="en-US" altLang="ko-KR" sz="1000" b="1" dirty="0">
              <a:solidFill>
                <a:schemeClr val="tx1"/>
              </a:solidFill>
            </a:rPr>
          </a:br>
          <a:r>
            <a:rPr lang="ko-KR" altLang="en-US" sz="1000" b="1">
              <a:solidFill>
                <a:schemeClr val="tx1"/>
              </a:solidFill>
            </a:rPr>
            <a:t>테스트</a:t>
          </a:r>
        </a:p>
      </dgm:t>
    </dgm:pt>
    <dgm:pt modelId="{C3E793D3-6C0E-4311-B103-A02A1DF7FE1E}" type="parTrans" cxnId="{76128A0B-E29E-431D-A201-A4D655D02DB1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E68D9E53-17E3-406E-9F87-39F4F484752C}" type="sibTrans" cxnId="{76128A0B-E29E-431D-A201-A4D655D02DB1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56573B7F-0922-4EB8-95EC-67565916DEE3}">
      <dgm:prSet phldrT="[텍스트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TO-BE </a:t>
          </a:r>
          <a:r>
            <a:rPr lang="ko-KR" altLang="en-US" sz="1000" b="1">
              <a:solidFill>
                <a:schemeClr val="tx1"/>
              </a:solidFill>
            </a:rPr>
            <a:t>구축</a:t>
          </a:r>
        </a:p>
      </dgm:t>
    </dgm:pt>
    <dgm:pt modelId="{B0A7FE9F-F1E7-47A2-B89C-E259BB57A811}" type="parTrans" cxnId="{EE4781EC-BB8B-4E8F-AFE7-E5435911D677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14C5B6A3-C84D-4019-B5C5-C8E3645ED970}" type="sibTrans" cxnId="{EE4781EC-BB8B-4E8F-AFE7-E5435911D677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b="1" dirty="0">
            <a:solidFill>
              <a:schemeClr val="tx1"/>
            </a:solidFill>
          </a:endParaRPr>
        </a:p>
      </dgm:t>
    </dgm:pt>
    <dgm:pt modelId="{9A80CA81-B975-4CFA-A840-799814508BCB}">
      <dgm:prSet phldrT="[텍스트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Application</a:t>
          </a:r>
          <a:br>
            <a:rPr lang="en-US" altLang="ko-KR" sz="1000" b="1" dirty="0">
              <a:solidFill>
                <a:schemeClr val="tx1"/>
              </a:solidFill>
            </a:rPr>
          </a:br>
          <a:r>
            <a:rPr lang="ko-KR" altLang="en-US" sz="1000" b="1">
              <a:solidFill>
                <a:schemeClr val="tx1"/>
              </a:solidFill>
            </a:rPr>
            <a:t>테스트</a:t>
          </a:r>
        </a:p>
      </dgm:t>
    </dgm:pt>
    <dgm:pt modelId="{B87F10CD-E4A2-4DA5-9243-1D14DA46CFA1}" type="parTrans" cxnId="{AD8BA11F-6530-42C0-B0AA-0AEF8A65F1EE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29CEEE7C-4C0B-4F96-85E7-D01972410176}" type="sibTrans" cxnId="{AD8BA11F-6530-42C0-B0AA-0AEF8A65F1EE}">
      <dgm:prSet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b="1" dirty="0">
            <a:solidFill>
              <a:schemeClr val="tx1"/>
            </a:solidFill>
          </a:endParaRPr>
        </a:p>
      </dgm:t>
    </dgm:pt>
    <dgm:pt modelId="{51129121-0EA3-4DE2-BE0C-460CFA4D6E2B}">
      <dgm:prSet phldrT="[텍스트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서비스 오픈</a:t>
          </a:r>
        </a:p>
      </dgm:t>
    </dgm:pt>
    <dgm:pt modelId="{AFDC5994-0C3B-4697-8257-BBF717DE9A36}" type="parTrans" cxnId="{D38DC8BD-BAAA-4E7F-A9E0-2F553DE46B75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5B378130-854F-4A82-9336-127A6334E897}" type="sibTrans" cxnId="{D38DC8BD-BAAA-4E7F-A9E0-2F553DE46B75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0D3FB70D-3450-47A6-A6C7-5E7103325ED6}" type="pres">
      <dgm:prSet presAssocID="{610FB676-F8B8-4851-8056-680AD3F638A2}" presName="Name0" presStyleCnt="0">
        <dgm:presLayoutVars>
          <dgm:dir/>
          <dgm:resizeHandles val="exact"/>
        </dgm:presLayoutVars>
      </dgm:prSet>
      <dgm:spPr/>
    </dgm:pt>
    <dgm:pt modelId="{240AD0FD-8F47-4AA3-895A-5AE73343844C}" type="pres">
      <dgm:prSet presAssocID="{3AB287B6-AE78-4629-ABB1-01C922CC8C4C}" presName="node" presStyleLbl="node1" presStyleIdx="0" presStyleCnt="6" custScaleY="80380">
        <dgm:presLayoutVars>
          <dgm:bulletEnabled val="1"/>
        </dgm:presLayoutVars>
      </dgm:prSet>
      <dgm:spPr/>
    </dgm:pt>
    <dgm:pt modelId="{75D343F2-764F-4F32-A3F3-5EDCF9618626}" type="pres">
      <dgm:prSet presAssocID="{E436F89B-6F54-4A72-9197-C988DB70A081}" presName="sibTrans" presStyleLbl="sibTrans2D1" presStyleIdx="0" presStyleCnt="5"/>
      <dgm:spPr/>
    </dgm:pt>
    <dgm:pt modelId="{073F1F08-CD0B-4CC2-8C74-3E700A7669F6}" type="pres">
      <dgm:prSet presAssocID="{E436F89B-6F54-4A72-9197-C988DB70A081}" presName="connectorText" presStyleLbl="sibTrans2D1" presStyleIdx="0" presStyleCnt="5"/>
      <dgm:spPr/>
    </dgm:pt>
    <dgm:pt modelId="{46CDDC22-3C57-4C0D-8276-01AEFFD3891A}" type="pres">
      <dgm:prSet presAssocID="{8C0A26E9-2A43-4483-819F-10DB24D9197A}" presName="node" presStyleLbl="node1" presStyleIdx="1" presStyleCnt="6" custScaleY="82186">
        <dgm:presLayoutVars>
          <dgm:bulletEnabled val="1"/>
        </dgm:presLayoutVars>
      </dgm:prSet>
      <dgm:spPr/>
    </dgm:pt>
    <dgm:pt modelId="{5F4D5416-E7DC-4B78-8381-08FE699B238B}" type="pres">
      <dgm:prSet presAssocID="{1DE97464-AC06-4B7B-91CD-A127F3FC797D}" presName="sibTrans" presStyleLbl="sibTrans2D1" presStyleIdx="1" presStyleCnt="5"/>
      <dgm:spPr/>
    </dgm:pt>
    <dgm:pt modelId="{B94A9169-9D7A-47B4-8C00-B8E3DA599415}" type="pres">
      <dgm:prSet presAssocID="{1DE97464-AC06-4B7B-91CD-A127F3FC797D}" presName="connectorText" presStyleLbl="sibTrans2D1" presStyleIdx="1" presStyleCnt="5"/>
      <dgm:spPr/>
    </dgm:pt>
    <dgm:pt modelId="{CD2FE471-832A-4C8E-8827-011C5E8F0129}" type="pres">
      <dgm:prSet presAssocID="{828D142B-E942-44C0-B32A-18E67A40C01E}" presName="node" presStyleLbl="node1" presStyleIdx="2" presStyleCnt="6" custScaleY="83670">
        <dgm:presLayoutVars>
          <dgm:bulletEnabled val="1"/>
        </dgm:presLayoutVars>
      </dgm:prSet>
      <dgm:spPr/>
    </dgm:pt>
    <dgm:pt modelId="{8C3BBABE-51F9-4C59-9547-313CAA87AEEA}" type="pres">
      <dgm:prSet presAssocID="{E68D9E53-17E3-406E-9F87-39F4F484752C}" presName="sibTrans" presStyleLbl="sibTrans2D1" presStyleIdx="2" presStyleCnt="5"/>
      <dgm:spPr/>
    </dgm:pt>
    <dgm:pt modelId="{DE7F5585-3FA4-40C3-A75A-5E68FB75FC06}" type="pres">
      <dgm:prSet presAssocID="{E68D9E53-17E3-406E-9F87-39F4F484752C}" presName="connectorText" presStyleLbl="sibTrans2D1" presStyleIdx="2" presStyleCnt="5"/>
      <dgm:spPr/>
    </dgm:pt>
    <dgm:pt modelId="{EF893FD3-4E80-4333-A2EA-1F0E3B701632}" type="pres">
      <dgm:prSet presAssocID="{56573B7F-0922-4EB8-95EC-67565916DEE3}" presName="node" presStyleLbl="node1" presStyleIdx="3" presStyleCnt="6" custScaleY="83670">
        <dgm:presLayoutVars>
          <dgm:bulletEnabled val="1"/>
        </dgm:presLayoutVars>
      </dgm:prSet>
      <dgm:spPr/>
    </dgm:pt>
    <dgm:pt modelId="{4576E717-8840-4FBA-93A2-26C7B2222638}" type="pres">
      <dgm:prSet presAssocID="{14C5B6A3-C84D-4019-B5C5-C8E3645ED970}" presName="sibTrans" presStyleLbl="sibTrans2D1" presStyleIdx="3" presStyleCnt="5"/>
      <dgm:spPr/>
    </dgm:pt>
    <dgm:pt modelId="{0CA444F0-550A-4953-879D-F39035908355}" type="pres">
      <dgm:prSet presAssocID="{14C5B6A3-C84D-4019-B5C5-C8E3645ED970}" presName="connectorText" presStyleLbl="sibTrans2D1" presStyleIdx="3" presStyleCnt="5"/>
      <dgm:spPr/>
    </dgm:pt>
    <dgm:pt modelId="{C9409E38-85A2-435A-BEC8-37608786A1A1}" type="pres">
      <dgm:prSet presAssocID="{9A80CA81-B975-4CFA-A840-799814508BCB}" presName="node" presStyleLbl="node1" presStyleIdx="4" presStyleCnt="6" custScaleY="83670">
        <dgm:presLayoutVars>
          <dgm:bulletEnabled val="1"/>
        </dgm:presLayoutVars>
      </dgm:prSet>
      <dgm:spPr/>
    </dgm:pt>
    <dgm:pt modelId="{84719D8C-3E4D-4A29-AA98-64CF8DAE86FA}" type="pres">
      <dgm:prSet presAssocID="{29CEEE7C-4C0B-4F96-85E7-D01972410176}" presName="sibTrans" presStyleLbl="sibTrans2D1" presStyleIdx="4" presStyleCnt="5"/>
      <dgm:spPr/>
    </dgm:pt>
    <dgm:pt modelId="{CD89DF4C-B4CD-44F2-8AFE-ED6C808B9B5F}" type="pres">
      <dgm:prSet presAssocID="{29CEEE7C-4C0B-4F96-85E7-D01972410176}" presName="connectorText" presStyleLbl="sibTrans2D1" presStyleIdx="4" presStyleCnt="5"/>
      <dgm:spPr/>
    </dgm:pt>
    <dgm:pt modelId="{94081662-8179-4646-874C-0C442DC11ED0}" type="pres">
      <dgm:prSet presAssocID="{51129121-0EA3-4DE2-BE0C-460CFA4D6E2B}" presName="node" presStyleLbl="node1" presStyleIdx="5" presStyleCnt="6" custScaleY="83670">
        <dgm:presLayoutVars>
          <dgm:bulletEnabled val="1"/>
        </dgm:presLayoutVars>
      </dgm:prSet>
      <dgm:spPr/>
    </dgm:pt>
  </dgm:ptLst>
  <dgm:cxnLst>
    <dgm:cxn modelId="{AB28EF07-E0B6-4B87-B1A0-2BA14F3F0415}" type="presOf" srcId="{56573B7F-0922-4EB8-95EC-67565916DEE3}" destId="{EF893FD3-4E80-4333-A2EA-1F0E3B701632}" srcOrd="0" destOrd="0" presId="urn:microsoft.com/office/officeart/2005/8/layout/process1"/>
    <dgm:cxn modelId="{76128A0B-E29E-431D-A201-A4D655D02DB1}" srcId="{610FB676-F8B8-4851-8056-680AD3F638A2}" destId="{828D142B-E942-44C0-B32A-18E67A40C01E}" srcOrd="2" destOrd="0" parTransId="{C3E793D3-6C0E-4311-B103-A02A1DF7FE1E}" sibTransId="{E68D9E53-17E3-406E-9F87-39F4F484752C}"/>
    <dgm:cxn modelId="{62428D11-818F-4600-8143-3ED56A81245C}" type="presOf" srcId="{E68D9E53-17E3-406E-9F87-39F4F484752C}" destId="{DE7F5585-3FA4-40C3-A75A-5E68FB75FC06}" srcOrd="1" destOrd="0" presId="urn:microsoft.com/office/officeart/2005/8/layout/process1"/>
    <dgm:cxn modelId="{AD8BA11F-6530-42C0-B0AA-0AEF8A65F1EE}" srcId="{610FB676-F8B8-4851-8056-680AD3F638A2}" destId="{9A80CA81-B975-4CFA-A840-799814508BCB}" srcOrd="4" destOrd="0" parTransId="{B87F10CD-E4A2-4DA5-9243-1D14DA46CFA1}" sibTransId="{29CEEE7C-4C0B-4F96-85E7-D01972410176}"/>
    <dgm:cxn modelId="{2EC3F424-144F-436E-BDD4-7D9E71AF5241}" type="presOf" srcId="{14C5B6A3-C84D-4019-B5C5-C8E3645ED970}" destId="{4576E717-8840-4FBA-93A2-26C7B2222638}" srcOrd="0" destOrd="0" presId="urn:microsoft.com/office/officeart/2005/8/layout/process1"/>
    <dgm:cxn modelId="{CE4F5325-85BF-4F66-9FB3-2DB3ACF946E9}" type="presOf" srcId="{1DE97464-AC06-4B7B-91CD-A127F3FC797D}" destId="{B94A9169-9D7A-47B4-8C00-B8E3DA599415}" srcOrd="1" destOrd="0" presId="urn:microsoft.com/office/officeart/2005/8/layout/process1"/>
    <dgm:cxn modelId="{7CC49426-7B17-4FB4-A0BB-855EE088B23F}" type="presOf" srcId="{29CEEE7C-4C0B-4F96-85E7-D01972410176}" destId="{84719D8C-3E4D-4A29-AA98-64CF8DAE86FA}" srcOrd="0" destOrd="0" presId="urn:microsoft.com/office/officeart/2005/8/layout/process1"/>
    <dgm:cxn modelId="{9D391360-8C1F-4336-ABFC-F88FA6F3FE0A}" type="presOf" srcId="{51129121-0EA3-4DE2-BE0C-460CFA4D6E2B}" destId="{94081662-8179-4646-874C-0C442DC11ED0}" srcOrd="0" destOrd="0" presId="urn:microsoft.com/office/officeart/2005/8/layout/process1"/>
    <dgm:cxn modelId="{1B452852-60F9-4D4F-9F0E-9D4C9821EBBB}" type="presOf" srcId="{E68D9E53-17E3-406E-9F87-39F4F484752C}" destId="{8C3BBABE-51F9-4C59-9547-313CAA87AEEA}" srcOrd="0" destOrd="0" presId="urn:microsoft.com/office/officeart/2005/8/layout/process1"/>
    <dgm:cxn modelId="{36049274-835F-4ED3-9EFB-350EF88CC22A}" type="presOf" srcId="{E436F89B-6F54-4A72-9197-C988DB70A081}" destId="{073F1F08-CD0B-4CC2-8C74-3E700A7669F6}" srcOrd="1" destOrd="0" presId="urn:microsoft.com/office/officeart/2005/8/layout/process1"/>
    <dgm:cxn modelId="{F854BF59-DF2F-43B4-A1F3-82B45E4E4A21}" type="presOf" srcId="{8C0A26E9-2A43-4483-819F-10DB24D9197A}" destId="{46CDDC22-3C57-4C0D-8276-01AEFFD3891A}" srcOrd="0" destOrd="0" presId="urn:microsoft.com/office/officeart/2005/8/layout/process1"/>
    <dgm:cxn modelId="{896A069E-D050-4CA2-8999-18B213F8A43E}" type="presOf" srcId="{3AB287B6-AE78-4629-ABB1-01C922CC8C4C}" destId="{240AD0FD-8F47-4AA3-895A-5AE73343844C}" srcOrd="0" destOrd="0" presId="urn:microsoft.com/office/officeart/2005/8/layout/process1"/>
    <dgm:cxn modelId="{509EC7A2-1ACB-4580-AFE5-999B0FF0B169}" type="presOf" srcId="{610FB676-F8B8-4851-8056-680AD3F638A2}" destId="{0D3FB70D-3450-47A6-A6C7-5E7103325ED6}" srcOrd="0" destOrd="0" presId="urn:microsoft.com/office/officeart/2005/8/layout/process1"/>
    <dgm:cxn modelId="{56025FA5-C5A3-4FA3-BD8B-B23101023C24}" type="presOf" srcId="{1DE97464-AC06-4B7B-91CD-A127F3FC797D}" destId="{5F4D5416-E7DC-4B78-8381-08FE699B238B}" srcOrd="0" destOrd="0" presId="urn:microsoft.com/office/officeart/2005/8/layout/process1"/>
    <dgm:cxn modelId="{A573DFA5-661C-4E60-BD27-9D8B62267CDA}" srcId="{610FB676-F8B8-4851-8056-680AD3F638A2}" destId="{8C0A26E9-2A43-4483-819F-10DB24D9197A}" srcOrd="1" destOrd="0" parTransId="{7A50D5C0-5237-4625-BEBE-D9EB4879AAAD}" sibTransId="{1DE97464-AC06-4B7B-91CD-A127F3FC797D}"/>
    <dgm:cxn modelId="{BC6CAAA9-641E-4A65-8468-7DAAAD8EC2D3}" type="presOf" srcId="{14C5B6A3-C84D-4019-B5C5-C8E3645ED970}" destId="{0CA444F0-550A-4953-879D-F39035908355}" srcOrd="1" destOrd="0" presId="urn:microsoft.com/office/officeart/2005/8/layout/process1"/>
    <dgm:cxn modelId="{D38DC8BD-BAAA-4E7F-A9E0-2F553DE46B75}" srcId="{610FB676-F8B8-4851-8056-680AD3F638A2}" destId="{51129121-0EA3-4DE2-BE0C-460CFA4D6E2B}" srcOrd="5" destOrd="0" parTransId="{AFDC5994-0C3B-4697-8257-BBF717DE9A36}" sibTransId="{5B378130-854F-4A82-9336-127A6334E897}"/>
    <dgm:cxn modelId="{835B8DD5-8010-49C0-B829-12693815E5FC}" type="presOf" srcId="{E436F89B-6F54-4A72-9197-C988DB70A081}" destId="{75D343F2-764F-4F32-A3F3-5EDCF9618626}" srcOrd="0" destOrd="0" presId="urn:microsoft.com/office/officeart/2005/8/layout/process1"/>
    <dgm:cxn modelId="{5E883DDB-8870-47E3-AC94-5F75A7B9BF42}" type="presOf" srcId="{29CEEE7C-4C0B-4F96-85E7-D01972410176}" destId="{CD89DF4C-B4CD-44F2-8AFE-ED6C808B9B5F}" srcOrd="1" destOrd="0" presId="urn:microsoft.com/office/officeart/2005/8/layout/process1"/>
    <dgm:cxn modelId="{F6004FE6-6E65-48DA-AA26-8F5804F829EF}" type="presOf" srcId="{9A80CA81-B975-4CFA-A840-799814508BCB}" destId="{C9409E38-85A2-435A-BEC8-37608786A1A1}" srcOrd="0" destOrd="0" presId="urn:microsoft.com/office/officeart/2005/8/layout/process1"/>
    <dgm:cxn modelId="{9550B0EB-43DC-4EAE-A06E-00A916B44CFC}" type="presOf" srcId="{828D142B-E942-44C0-B32A-18E67A40C01E}" destId="{CD2FE471-832A-4C8E-8827-011C5E8F0129}" srcOrd="0" destOrd="0" presId="urn:microsoft.com/office/officeart/2005/8/layout/process1"/>
    <dgm:cxn modelId="{EE4781EC-BB8B-4E8F-AFE7-E5435911D677}" srcId="{610FB676-F8B8-4851-8056-680AD3F638A2}" destId="{56573B7F-0922-4EB8-95EC-67565916DEE3}" srcOrd="3" destOrd="0" parTransId="{B0A7FE9F-F1E7-47A2-B89C-E259BB57A811}" sibTransId="{14C5B6A3-C84D-4019-B5C5-C8E3645ED970}"/>
    <dgm:cxn modelId="{AE950BF2-5325-44CD-85C3-31605C42C5B0}" srcId="{610FB676-F8B8-4851-8056-680AD3F638A2}" destId="{3AB287B6-AE78-4629-ABB1-01C922CC8C4C}" srcOrd="0" destOrd="0" parTransId="{6B583D81-9C0B-450B-8397-F5CF087D345E}" sibTransId="{E436F89B-6F54-4A72-9197-C988DB70A081}"/>
    <dgm:cxn modelId="{78E4E9EB-119E-4DC2-8326-702292055D7F}" type="presParOf" srcId="{0D3FB70D-3450-47A6-A6C7-5E7103325ED6}" destId="{240AD0FD-8F47-4AA3-895A-5AE73343844C}" srcOrd="0" destOrd="0" presId="urn:microsoft.com/office/officeart/2005/8/layout/process1"/>
    <dgm:cxn modelId="{7C12391C-607C-4FAE-9FFF-C7A6104BA0BF}" type="presParOf" srcId="{0D3FB70D-3450-47A6-A6C7-5E7103325ED6}" destId="{75D343F2-764F-4F32-A3F3-5EDCF9618626}" srcOrd="1" destOrd="0" presId="urn:microsoft.com/office/officeart/2005/8/layout/process1"/>
    <dgm:cxn modelId="{55CF1319-4148-42FE-AC16-ACECEFA9BA18}" type="presParOf" srcId="{75D343F2-764F-4F32-A3F3-5EDCF9618626}" destId="{073F1F08-CD0B-4CC2-8C74-3E700A7669F6}" srcOrd="0" destOrd="0" presId="urn:microsoft.com/office/officeart/2005/8/layout/process1"/>
    <dgm:cxn modelId="{8751557A-27CD-4231-89AD-EF46A03CFC8E}" type="presParOf" srcId="{0D3FB70D-3450-47A6-A6C7-5E7103325ED6}" destId="{46CDDC22-3C57-4C0D-8276-01AEFFD3891A}" srcOrd="2" destOrd="0" presId="urn:microsoft.com/office/officeart/2005/8/layout/process1"/>
    <dgm:cxn modelId="{6486C4E6-50E9-4DF2-A8B5-AA0B6F96B4D3}" type="presParOf" srcId="{0D3FB70D-3450-47A6-A6C7-5E7103325ED6}" destId="{5F4D5416-E7DC-4B78-8381-08FE699B238B}" srcOrd="3" destOrd="0" presId="urn:microsoft.com/office/officeart/2005/8/layout/process1"/>
    <dgm:cxn modelId="{2CC6532E-15DA-4FD0-8662-0C19477FED7C}" type="presParOf" srcId="{5F4D5416-E7DC-4B78-8381-08FE699B238B}" destId="{B94A9169-9D7A-47B4-8C00-B8E3DA599415}" srcOrd="0" destOrd="0" presId="urn:microsoft.com/office/officeart/2005/8/layout/process1"/>
    <dgm:cxn modelId="{30F9FCA1-C734-4CE5-9464-76337E1DC12D}" type="presParOf" srcId="{0D3FB70D-3450-47A6-A6C7-5E7103325ED6}" destId="{CD2FE471-832A-4C8E-8827-011C5E8F0129}" srcOrd="4" destOrd="0" presId="urn:microsoft.com/office/officeart/2005/8/layout/process1"/>
    <dgm:cxn modelId="{2B126865-9FC2-4C02-9696-ADF3696F44FA}" type="presParOf" srcId="{0D3FB70D-3450-47A6-A6C7-5E7103325ED6}" destId="{8C3BBABE-51F9-4C59-9547-313CAA87AEEA}" srcOrd="5" destOrd="0" presId="urn:microsoft.com/office/officeart/2005/8/layout/process1"/>
    <dgm:cxn modelId="{A4F5AA70-ADF3-4BC8-A172-70EB5F9B48D0}" type="presParOf" srcId="{8C3BBABE-51F9-4C59-9547-313CAA87AEEA}" destId="{DE7F5585-3FA4-40C3-A75A-5E68FB75FC06}" srcOrd="0" destOrd="0" presId="urn:microsoft.com/office/officeart/2005/8/layout/process1"/>
    <dgm:cxn modelId="{757B9C2F-AAD7-452B-8631-AFFBF94AE6C3}" type="presParOf" srcId="{0D3FB70D-3450-47A6-A6C7-5E7103325ED6}" destId="{EF893FD3-4E80-4333-A2EA-1F0E3B701632}" srcOrd="6" destOrd="0" presId="urn:microsoft.com/office/officeart/2005/8/layout/process1"/>
    <dgm:cxn modelId="{B1160E74-17B8-4DE0-ADA1-4726F5F2CA0F}" type="presParOf" srcId="{0D3FB70D-3450-47A6-A6C7-5E7103325ED6}" destId="{4576E717-8840-4FBA-93A2-26C7B2222638}" srcOrd="7" destOrd="0" presId="urn:microsoft.com/office/officeart/2005/8/layout/process1"/>
    <dgm:cxn modelId="{98C5C6EB-0F33-4FFB-BF95-BC0E3F8730D3}" type="presParOf" srcId="{4576E717-8840-4FBA-93A2-26C7B2222638}" destId="{0CA444F0-550A-4953-879D-F39035908355}" srcOrd="0" destOrd="0" presId="urn:microsoft.com/office/officeart/2005/8/layout/process1"/>
    <dgm:cxn modelId="{5815FABA-FFA1-4D75-B018-EBA97B2C5BE0}" type="presParOf" srcId="{0D3FB70D-3450-47A6-A6C7-5E7103325ED6}" destId="{C9409E38-85A2-435A-BEC8-37608786A1A1}" srcOrd="8" destOrd="0" presId="urn:microsoft.com/office/officeart/2005/8/layout/process1"/>
    <dgm:cxn modelId="{F7DEED61-A298-4453-95BF-66E8B0B4F9CF}" type="presParOf" srcId="{0D3FB70D-3450-47A6-A6C7-5E7103325ED6}" destId="{84719D8C-3E4D-4A29-AA98-64CF8DAE86FA}" srcOrd="9" destOrd="0" presId="urn:microsoft.com/office/officeart/2005/8/layout/process1"/>
    <dgm:cxn modelId="{654E6939-956A-4021-8EA0-0D3F8538E037}" type="presParOf" srcId="{84719D8C-3E4D-4A29-AA98-64CF8DAE86FA}" destId="{CD89DF4C-B4CD-44F2-8AFE-ED6C808B9B5F}" srcOrd="0" destOrd="0" presId="urn:microsoft.com/office/officeart/2005/8/layout/process1"/>
    <dgm:cxn modelId="{A61798C9-B696-4819-B248-4E968E7D012E}" type="presParOf" srcId="{0D3FB70D-3450-47A6-A6C7-5E7103325ED6}" destId="{94081662-8179-4646-874C-0C442DC11ED0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0FB676-F8B8-4851-8056-680AD3F638A2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3AB287B6-AE78-4629-ABB1-01C922CC8C4C}">
      <dgm:prSet phldrT="[텍스트]" custT="1"/>
      <dgm:spPr>
        <a:solidFill>
          <a:schemeClr val="accent6"/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리스크 진단</a:t>
          </a:r>
        </a:p>
      </dgm:t>
    </dgm:pt>
    <dgm:pt modelId="{6B583D81-9C0B-450B-8397-F5CF087D345E}" type="parTrans" cxnId="{AE950BF2-5325-44CD-85C3-31605C42C5B0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E436F89B-6F54-4A72-9197-C988DB70A081}" type="sibTrans" cxnId="{AE950BF2-5325-44CD-85C3-31605C42C5B0}">
      <dgm:prSet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8C0A26E9-2A43-4483-819F-10DB24D9197A}">
      <dgm:prSet phldrT="[텍스트]" custT="1"/>
      <dgm:spPr>
        <a:solidFill>
          <a:schemeClr val="accent6"/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개발계 구축</a:t>
          </a:r>
        </a:p>
      </dgm:t>
    </dgm:pt>
    <dgm:pt modelId="{7A50D5C0-5237-4625-BEBE-D9EB4879AAAD}" type="parTrans" cxnId="{A573DFA5-661C-4E60-BD27-9D8B62267CDA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1DE97464-AC06-4B7B-91CD-A127F3FC797D}" type="sibTrans" cxnId="{A573DFA5-661C-4E60-BD27-9D8B62267CDA}">
      <dgm:prSet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828D142B-E942-44C0-B32A-18E67A40C01E}">
      <dgm:prSet phldrT="[텍스트]" custT="1"/>
      <dgm:spPr>
        <a:solidFill>
          <a:schemeClr val="accent6"/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Application</a:t>
          </a:r>
          <a:br>
            <a:rPr lang="en-US" altLang="ko-KR" sz="1000" b="1" dirty="0">
              <a:solidFill>
                <a:schemeClr val="tx1"/>
              </a:solidFill>
            </a:rPr>
          </a:br>
          <a:r>
            <a:rPr lang="ko-KR" altLang="en-US" sz="1000" b="1">
              <a:solidFill>
                <a:schemeClr val="tx1"/>
              </a:solidFill>
            </a:rPr>
            <a:t>테스트</a:t>
          </a:r>
        </a:p>
      </dgm:t>
    </dgm:pt>
    <dgm:pt modelId="{C3E793D3-6C0E-4311-B103-A02A1DF7FE1E}" type="parTrans" cxnId="{76128A0B-E29E-431D-A201-A4D655D02DB1}">
      <dgm:prSet/>
      <dgm:spPr/>
      <dgm:t>
        <a:bodyPr/>
        <a:lstStyle/>
        <a:p>
          <a:pPr latinLnBrk="1"/>
          <a:endParaRPr lang="ko-KR" altLang="en-US" sz="1000" b="1">
            <a:solidFill>
              <a:schemeClr val="tx1"/>
            </a:solidFill>
          </a:endParaRPr>
        </a:p>
      </dgm:t>
    </dgm:pt>
    <dgm:pt modelId="{E68D9E53-17E3-406E-9F87-39F4F484752C}" type="sibTrans" cxnId="{76128A0B-E29E-431D-A201-A4D655D02DB1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sz="1000" b="1" dirty="0">
            <a:solidFill>
              <a:schemeClr val="tx1"/>
            </a:solidFill>
          </a:endParaRPr>
        </a:p>
      </dgm:t>
    </dgm:pt>
    <dgm:pt modelId="{56573B7F-0922-4EB8-95EC-67565916DEE3}">
      <dgm:prSet phldrT="[텍스트]" custT="1"/>
      <dgm:spPr>
        <a:solidFill>
          <a:schemeClr val="accent6"/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TO-BE </a:t>
          </a:r>
          <a:r>
            <a:rPr lang="ko-KR" altLang="en-US" sz="1000" b="1">
              <a:solidFill>
                <a:schemeClr val="tx1"/>
              </a:solidFill>
            </a:rPr>
            <a:t>구축</a:t>
          </a:r>
        </a:p>
      </dgm:t>
    </dgm:pt>
    <dgm:pt modelId="{B0A7FE9F-F1E7-47A2-B89C-E259BB57A811}" type="parTrans" cxnId="{EE4781EC-BB8B-4E8F-AFE7-E5435911D677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14C5B6A3-C84D-4019-B5C5-C8E3645ED970}" type="sibTrans" cxnId="{EE4781EC-BB8B-4E8F-AFE7-E5435911D677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b="1" dirty="0">
            <a:solidFill>
              <a:schemeClr val="tx1"/>
            </a:solidFill>
          </a:endParaRPr>
        </a:p>
      </dgm:t>
    </dgm:pt>
    <dgm:pt modelId="{9A80CA81-B975-4CFA-A840-799814508BCB}">
      <dgm:prSet phldrT="[텍스트]" custT="1"/>
      <dgm:spPr>
        <a:solidFill>
          <a:schemeClr val="accent6"/>
        </a:solidFill>
      </dgm:spPr>
      <dgm:t>
        <a:bodyPr/>
        <a:lstStyle/>
        <a:p>
          <a:pPr latinLnBrk="1"/>
          <a:r>
            <a:rPr lang="en-US" altLang="ko-KR" sz="1000" b="1" dirty="0">
              <a:solidFill>
                <a:schemeClr val="tx1"/>
              </a:solidFill>
            </a:rPr>
            <a:t>Application</a:t>
          </a:r>
          <a:br>
            <a:rPr lang="en-US" altLang="ko-KR" sz="1000" b="1" dirty="0">
              <a:solidFill>
                <a:schemeClr val="tx1"/>
              </a:solidFill>
            </a:rPr>
          </a:br>
          <a:r>
            <a:rPr lang="ko-KR" altLang="en-US" sz="1000" b="1">
              <a:solidFill>
                <a:schemeClr val="tx1"/>
              </a:solidFill>
            </a:rPr>
            <a:t>테스트</a:t>
          </a:r>
        </a:p>
      </dgm:t>
    </dgm:pt>
    <dgm:pt modelId="{B87F10CD-E4A2-4DA5-9243-1D14DA46CFA1}" type="parTrans" cxnId="{AD8BA11F-6530-42C0-B0AA-0AEF8A65F1EE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29CEEE7C-4C0B-4F96-85E7-D01972410176}" type="sibTrans" cxnId="{AD8BA11F-6530-42C0-B0AA-0AEF8A65F1EE}">
      <dgm:prSet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latinLnBrk="1"/>
          <a:endParaRPr lang="ko-KR" altLang="en-US" b="1" dirty="0">
            <a:solidFill>
              <a:schemeClr val="tx1"/>
            </a:solidFill>
          </a:endParaRPr>
        </a:p>
      </dgm:t>
    </dgm:pt>
    <dgm:pt modelId="{51129121-0EA3-4DE2-BE0C-460CFA4D6E2B}">
      <dgm:prSet phldrT="[텍스트]" custT="1"/>
      <dgm:spPr>
        <a:solidFill>
          <a:schemeClr val="accent6"/>
        </a:solidFill>
      </dgm:spPr>
      <dgm:t>
        <a:bodyPr/>
        <a:lstStyle/>
        <a:p>
          <a:pPr latinLnBrk="1"/>
          <a:r>
            <a:rPr lang="ko-KR" altLang="en-US" sz="1000" b="1" dirty="0">
              <a:solidFill>
                <a:schemeClr val="tx1"/>
              </a:solidFill>
            </a:rPr>
            <a:t>서비스 오픈</a:t>
          </a:r>
        </a:p>
      </dgm:t>
    </dgm:pt>
    <dgm:pt modelId="{AFDC5994-0C3B-4697-8257-BBF717DE9A36}" type="parTrans" cxnId="{D38DC8BD-BAAA-4E7F-A9E0-2F553DE46B75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5B378130-854F-4A82-9336-127A6334E897}" type="sibTrans" cxnId="{D38DC8BD-BAAA-4E7F-A9E0-2F553DE46B75}">
      <dgm:prSet/>
      <dgm:spPr/>
      <dgm:t>
        <a:bodyPr/>
        <a:lstStyle/>
        <a:p>
          <a:pPr latinLnBrk="1"/>
          <a:endParaRPr lang="ko-KR" altLang="en-US" b="1">
            <a:solidFill>
              <a:schemeClr val="tx1"/>
            </a:solidFill>
          </a:endParaRPr>
        </a:p>
      </dgm:t>
    </dgm:pt>
    <dgm:pt modelId="{0D3FB70D-3450-47A6-A6C7-5E7103325ED6}" type="pres">
      <dgm:prSet presAssocID="{610FB676-F8B8-4851-8056-680AD3F638A2}" presName="Name0" presStyleCnt="0">
        <dgm:presLayoutVars>
          <dgm:dir/>
          <dgm:resizeHandles val="exact"/>
        </dgm:presLayoutVars>
      </dgm:prSet>
      <dgm:spPr/>
    </dgm:pt>
    <dgm:pt modelId="{240AD0FD-8F47-4AA3-895A-5AE73343844C}" type="pres">
      <dgm:prSet presAssocID="{3AB287B6-AE78-4629-ABB1-01C922CC8C4C}" presName="node" presStyleLbl="node1" presStyleIdx="0" presStyleCnt="6" custScaleY="72978">
        <dgm:presLayoutVars>
          <dgm:bulletEnabled val="1"/>
        </dgm:presLayoutVars>
      </dgm:prSet>
      <dgm:spPr/>
    </dgm:pt>
    <dgm:pt modelId="{75D343F2-764F-4F32-A3F3-5EDCF9618626}" type="pres">
      <dgm:prSet presAssocID="{E436F89B-6F54-4A72-9197-C988DB70A081}" presName="sibTrans" presStyleLbl="sibTrans2D1" presStyleIdx="0" presStyleCnt="5"/>
      <dgm:spPr/>
    </dgm:pt>
    <dgm:pt modelId="{073F1F08-CD0B-4CC2-8C74-3E700A7669F6}" type="pres">
      <dgm:prSet presAssocID="{E436F89B-6F54-4A72-9197-C988DB70A081}" presName="connectorText" presStyleLbl="sibTrans2D1" presStyleIdx="0" presStyleCnt="5"/>
      <dgm:spPr/>
    </dgm:pt>
    <dgm:pt modelId="{46CDDC22-3C57-4C0D-8276-01AEFFD3891A}" type="pres">
      <dgm:prSet presAssocID="{8C0A26E9-2A43-4483-819F-10DB24D9197A}" presName="node" presStyleLbl="node1" presStyleIdx="1" presStyleCnt="6" custScaleY="69643">
        <dgm:presLayoutVars>
          <dgm:bulletEnabled val="1"/>
        </dgm:presLayoutVars>
      </dgm:prSet>
      <dgm:spPr/>
    </dgm:pt>
    <dgm:pt modelId="{5F4D5416-E7DC-4B78-8381-08FE699B238B}" type="pres">
      <dgm:prSet presAssocID="{1DE97464-AC06-4B7B-91CD-A127F3FC797D}" presName="sibTrans" presStyleLbl="sibTrans2D1" presStyleIdx="1" presStyleCnt="5"/>
      <dgm:spPr/>
    </dgm:pt>
    <dgm:pt modelId="{B94A9169-9D7A-47B4-8C00-B8E3DA599415}" type="pres">
      <dgm:prSet presAssocID="{1DE97464-AC06-4B7B-91CD-A127F3FC797D}" presName="connectorText" presStyleLbl="sibTrans2D1" presStyleIdx="1" presStyleCnt="5"/>
      <dgm:spPr/>
    </dgm:pt>
    <dgm:pt modelId="{CD2FE471-832A-4C8E-8827-011C5E8F0129}" type="pres">
      <dgm:prSet presAssocID="{828D142B-E942-44C0-B32A-18E67A40C01E}" presName="node" presStyleLbl="node1" presStyleIdx="2" presStyleCnt="6" custScaleY="69944">
        <dgm:presLayoutVars>
          <dgm:bulletEnabled val="1"/>
        </dgm:presLayoutVars>
      </dgm:prSet>
      <dgm:spPr/>
    </dgm:pt>
    <dgm:pt modelId="{8C3BBABE-51F9-4C59-9547-313CAA87AEEA}" type="pres">
      <dgm:prSet presAssocID="{E68D9E53-17E3-406E-9F87-39F4F484752C}" presName="sibTrans" presStyleLbl="sibTrans2D1" presStyleIdx="2" presStyleCnt="5"/>
      <dgm:spPr/>
    </dgm:pt>
    <dgm:pt modelId="{DE7F5585-3FA4-40C3-A75A-5E68FB75FC06}" type="pres">
      <dgm:prSet presAssocID="{E68D9E53-17E3-406E-9F87-39F4F484752C}" presName="connectorText" presStyleLbl="sibTrans2D1" presStyleIdx="2" presStyleCnt="5"/>
      <dgm:spPr/>
    </dgm:pt>
    <dgm:pt modelId="{EF893FD3-4E80-4333-A2EA-1F0E3B701632}" type="pres">
      <dgm:prSet presAssocID="{56573B7F-0922-4EB8-95EC-67565916DEE3}" presName="node" presStyleLbl="node1" presStyleIdx="3" presStyleCnt="6" custScaleY="69944">
        <dgm:presLayoutVars>
          <dgm:bulletEnabled val="1"/>
        </dgm:presLayoutVars>
      </dgm:prSet>
      <dgm:spPr/>
    </dgm:pt>
    <dgm:pt modelId="{4576E717-8840-4FBA-93A2-26C7B2222638}" type="pres">
      <dgm:prSet presAssocID="{14C5B6A3-C84D-4019-B5C5-C8E3645ED970}" presName="sibTrans" presStyleLbl="sibTrans2D1" presStyleIdx="3" presStyleCnt="5"/>
      <dgm:spPr/>
    </dgm:pt>
    <dgm:pt modelId="{0CA444F0-550A-4953-879D-F39035908355}" type="pres">
      <dgm:prSet presAssocID="{14C5B6A3-C84D-4019-B5C5-C8E3645ED970}" presName="connectorText" presStyleLbl="sibTrans2D1" presStyleIdx="3" presStyleCnt="5"/>
      <dgm:spPr/>
    </dgm:pt>
    <dgm:pt modelId="{C9409E38-85A2-435A-BEC8-37608786A1A1}" type="pres">
      <dgm:prSet presAssocID="{9A80CA81-B975-4CFA-A840-799814508BCB}" presName="node" presStyleLbl="node1" presStyleIdx="4" presStyleCnt="6" custScaleY="69944">
        <dgm:presLayoutVars>
          <dgm:bulletEnabled val="1"/>
        </dgm:presLayoutVars>
      </dgm:prSet>
      <dgm:spPr/>
    </dgm:pt>
    <dgm:pt modelId="{84719D8C-3E4D-4A29-AA98-64CF8DAE86FA}" type="pres">
      <dgm:prSet presAssocID="{29CEEE7C-4C0B-4F96-85E7-D01972410176}" presName="sibTrans" presStyleLbl="sibTrans2D1" presStyleIdx="4" presStyleCnt="5"/>
      <dgm:spPr/>
    </dgm:pt>
    <dgm:pt modelId="{CD89DF4C-B4CD-44F2-8AFE-ED6C808B9B5F}" type="pres">
      <dgm:prSet presAssocID="{29CEEE7C-4C0B-4F96-85E7-D01972410176}" presName="connectorText" presStyleLbl="sibTrans2D1" presStyleIdx="4" presStyleCnt="5"/>
      <dgm:spPr/>
    </dgm:pt>
    <dgm:pt modelId="{94081662-8179-4646-874C-0C442DC11ED0}" type="pres">
      <dgm:prSet presAssocID="{51129121-0EA3-4DE2-BE0C-460CFA4D6E2B}" presName="node" presStyleLbl="node1" presStyleIdx="5" presStyleCnt="6" custScaleY="69944">
        <dgm:presLayoutVars>
          <dgm:bulletEnabled val="1"/>
        </dgm:presLayoutVars>
      </dgm:prSet>
      <dgm:spPr/>
    </dgm:pt>
  </dgm:ptLst>
  <dgm:cxnLst>
    <dgm:cxn modelId="{76128A0B-E29E-431D-A201-A4D655D02DB1}" srcId="{610FB676-F8B8-4851-8056-680AD3F638A2}" destId="{828D142B-E942-44C0-B32A-18E67A40C01E}" srcOrd="2" destOrd="0" parTransId="{C3E793D3-6C0E-4311-B103-A02A1DF7FE1E}" sibTransId="{E68D9E53-17E3-406E-9F87-39F4F484752C}"/>
    <dgm:cxn modelId="{79494A17-708B-4432-A49D-B2F93B846609}" type="presOf" srcId="{828D142B-E942-44C0-B32A-18E67A40C01E}" destId="{CD2FE471-832A-4C8E-8827-011C5E8F0129}" srcOrd="0" destOrd="0" presId="urn:microsoft.com/office/officeart/2005/8/layout/process1"/>
    <dgm:cxn modelId="{AD8BA11F-6530-42C0-B0AA-0AEF8A65F1EE}" srcId="{610FB676-F8B8-4851-8056-680AD3F638A2}" destId="{9A80CA81-B975-4CFA-A840-799814508BCB}" srcOrd="4" destOrd="0" parTransId="{B87F10CD-E4A2-4DA5-9243-1D14DA46CFA1}" sibTransId="{29CEEE7C-4C0B-4F96-85E7-D01972410176}"/>
    <dgm:cxn modelId="{9EA05644-1A27-4538-96FA-7D42B588C44A}" type="presOf" srcId="{E436F89B-6F54-4A72-9197-C988DB70A081}" destId="{073F1F08-CD0B-4CC2-8C74-3E700A7669F6}" srcOrd="1" destOrd="0" presId="urn:microsoft.com/office/officeart/2005/8/layout/process1"/>
    <dgm:cxn modelId="{EC67AD65-6993-46B6-9743-B7C5F4933A15}" type="presOf" srcId="{1DE97464-AC06-4B7B-91CD-A127F3FC797D}" destId="{B94A9169-9D7A-47B4-8C00-B8E3DA599415}" srcOrd="1" destOrd="0" presId="urn:microsoft.com/office/officeart/2005/8/layout/process1"/>
    <dgm:cxn modelId="{DFD5CF6B-EF99-4FEA-915A-F4387AD85F91}" type="presOf" srcId="{29CEEE7C-4C0B-4F96-85E7-D01972410176}" destId="{84719D8C-3E4D-4A29-AA98-64CF8DAE86FA}" srcOrd="0" destOrd="0" presId="urn:microsoft.com/office/officeart/2005/8/layout/process1"/>
    <dgm:cxn modelId="{F8CE236C-26F9-4561-91FF-02FEA2A2FC14}" type="presOf" srcId="{9A80CA81-B975-4CFA-A840-799814508BCB}" destId="{C9409E38-85A2-435A-BEC8-37608786A1A1}" srcOrd="0" destOrd="0" presId="urn:microsoft.com/office/officeart/2005/8/layout/process1"/>
    <dgm:cxn modelId="{EEFA476C-47E6-47D5-A7AE-376D6817F24B}" type="presOf" srcId="{29CEEE7C-4C0B-4F96-85E7-D01972410176}" destId="{CD89DF4C-B4CD-44F2-8AFE-ED6C808B9B5F}" srcOrd="1" destOrd="0" presId="urn:microsoft.com/office/officeart/2005/8/layout/process1"/>
    <dgm:cxn modelId="{E2B7AD6D-6EE6-4A3C-B874-50A1D93B28B8}" type="presOf" srcId="{610FB676-F8B8-4851-8056-680AD3F638A2}" destId="{0D3FB70D-3450-47A6-A6C7-5E7103325ED6}" srcOrd="0" destOrd="0" presId="urn:microsoft.com/office/officeart/2005/8/layout/process1"/>
    <dgm:cxn modelId="{5F37EF54-F14E-41A9-9BEA-58C0E6977BFD}" type="presOf" srcId="{56573B7F-0922-4EB8-95EC-67565916DEE3}" destId="{EF893FD3-4E80-4333-A2EA-1F0E3B701632}" srcOrd="0" destOrd="0" presId="urn:microsoft.com/office/officeart/2005/8/layout/process1"/>
    <dgm:cxn modelId="{4A649589-F9F3-43EA-93A0-203D8A85BBA9}" type="presOf" srcId="{14C5B6A3-C84D-4019-B5C5-C8E3645ED970}" destId="{0CA444F0-550A-4953-879D-F39035908355}" srcOrd="1" destOrd="0" presId="urn:microsoft.com/office/officeart/2005/8/layout/process1"/>
    <dgm:cxn modelId="{A573DFA5-661C-4E60-BD27-9D8B62267CDA}" srcId="{610FB676-F8B8-4851-8056-680AD3F638A2}" destId="{8C0A26E9-2A43-4483-819F-10DB24D9197A}" srcOrd="1" destOrd="0" parTransId="{7A50D5C0-5237-4625-BEBE-D9EB4879AAAD}" sibTransId="{1DE97464-AC06-4B7B-91CD-A127F3FC797D}"/>
    <dgm:cxn modelId="{3D551FB0-452B-48DB-9C11-78DCD8908D31}" type="presOf" srcId="{1DE97464-AC06-4B7B-91CD-A127F3FC797D}" destId="{5F4D5416-E7DC-4B78-8381-08FE699B238B}" srcOrd="0" destOrd="0" presId="urn:microsoft.com/office/officeart/2005/8/layout/process1"/>
    <dgm:cxn modelId="{CC850AB4-6C6B-4C45-BE4F-8D0393FC6306}" type="presOf" srcId="{E436F89B-6F54-4A72-9197-C988DB70A081}" destId="{75D343F2-764F-4F32-A3F3-5EDCF9618626}" srcOrd="0" destOrd="0" presId="urn:microsoft.com/office/officeart/2005/8/layout/process1"/>
    <dgm:cxn modelId="{D38DC8BD-BAAA-4E7F-A9E0-2F553DE46B75}" srcId="{610FB676-F8B8-4851-8056-680AD3F638A2}" destId="{51129121-0EA3-4DE2-BE0C-460CFA4D6E2B}" srcOrd="5" destOrd="0" parTransId="{AFDC5994-0C3B-4697-8257-BBF717DE9A36}" sibTransId="{5B378130-854F-4A82-9336-127A6334E897}"/>
    <dgm:cxn modelId="{007EDFC3-1595-4636-BF5C-5F2071B1B1E8}" type="presOf" srcId="{E68D9E53-17E3-406E-9F87-39F4F484752C}" destId="{DE7F5585-3FA4-40C3-A75A-5E68FB75FC06}" srcOrd="1" destOrd="0" presId="urn:microsoft.com/office/officeart/2005/8/layout/process1"/>
    <dgm:cxn modelId="{3D5575CF-1495-46A8-A9E5-D46216E90F11}" type="presOf" srcId="{8C0A26E9-2A43-4483-819F-10DB24D9197A}" destId="{46CDDC22-3C57-4C0D-8276-01AEFFD3891A}" srcOrd="0" destOrd="0" presId="urn:microsoft.com/office/officeart/2005/8/layout/process1"/>
    <dgm:cxn modelId="{D965C5D2-B075-40D0-AFC9-E9BF581226D2}" type="presOf" srcId="{3AB287B6-AE78-4629-ABB1-01C922CC8C4C}" destId="{240AD0FD-8F47-4AA3-895A-5AE73343844C}" srcOrd="0" destOrd="0" presId="urn:microsoft.com/office/officeart/2005/8/layout/process1"/>
    <dgm:cxn modelId="{25C28CD9-F2DA-4893-A03C-842E37AA1304}" type="presOf" srcId="{E68D9E53-17E3-406E-9F87-39F4F484752C}" destId="{8C3BBABE-51F9-4C59-9547-313CAA87AEEA}" srcOrd="0" destOrd="0" presId="urn:microsoft.com/office/officeart/2005/8/layout/process1"/>
    <dgm:cxn modelId="{EE4781EC-BB8B-4E8F-AFE7-E5435911D677}" srcId="{610FB676-F8B8-4851-8056-680AD3F638A2}" destId="{56573B7F-0922-4EB8-95EC-67565916DEE3}" srcOrd="3" destOrd="0" parTransId="{B0A7FE9F-F1E7-47A2-B89C-E259BB57A811}" sibTransId="{14C5B6A3-C84D-4019-B5C5-C8E3645ED970}"/>
    <dgm:cxn modelId="{C10EA2F1-3111-4070-966E-5911DB5C797A}" type="presOf" srcId="{14C5B6A3-C84D-4019-B5C5-C8E3645ED970}" destId="{4576E717-8840-4FBA-93A2-26C7B2222638}" srcOrd="0" destOrd="0" presId="urn:microsoft.com/office/officeart/2005/8/layout/process1"/>
    <dgm:cxn modelId="{AE950BF2-5325-44CD-85C3-31605C42C5B0}" srcId="{610FB676-F8B8-4851-8056-680AD3F638A2}" destId="{3AB287B6-AE78-4629-ABB1-01C922CC8C4C}" srcOrd="0" destOrd="0" parTransId="{6B583D81-9C0B-450B-8397-F5CF087D345E}" sibTransId="{E436F89B-6F54-4A72-9197-C988DB70A081}"/>
    <dgm:cxn modelId="{EE72B6F5-08D4-4ED8-97F2-3AB95540D1AF}" type="presOf" srcId="{51129121-0EA3-4DE2-BE0C-460CFA4D6E2B}" destId="{94081662-8179-4646-874C-0C442DC11ED0}" srcOrd="0" destOrd="0" presId="urn:microsoft.com/office/officeart/2005/8/layout/process1"/>
    <dgm:cxn modelId="{CA134A01-20E6-4C7C-8A0C-72662E236909}" type="presParOf" srcId="{0D3FB70D-3450-47A6-A6C7-5E7103325ED6}" destId="{240AD0FD-8F47-4AA3-895A-5AE73343844C}" srcOrd="0" destOrd="0" presId="urn:microsoft.com/office/officeart/2005/8/layout/process1"/>
    <dgm:cxn modelId="{88AD9586-B653-43DF-8637-ABA03CFE7225}" type="presParOf" srcId="{0D3FB70D-3450-47A6-A6C7-5E7103325ED6}" destId="{75D343F2-764F-4F32-A3F3-5EDCF9618626}" srcOrd="1" destOrd="0" presId="urn:microsoft.com/office/officeart/2005/8/layout/process1"/>
    <dgm:cxn modelId="{2794434E-7214-4BCC-802B-D1739AADBBB8}" type="presParOf" srcId="{75D343F2-764F-4F32-A3F3-5EDCF9618626}" destId="{073F1F08-CD0B-4CC2-8C74-3E700A7669F6}" srcOrd="0" destOrd="0" presId="urn:microsoft.com/office/officeart/2005/8/layout/process1"/>
    <dgm:cxn modelId="{A4D9FD16-A720-48C8-B9C9-64F6B554EA02}" type="presParOf" srcId="{0D3FB70D-3450-47A6-A6C7-5E7103325ED6}" destId="{46CDDC22-3C57-4C0D-8276-01AEFFD3891A}" srcOrd="2" destOrd="0" presId="urn:microsoft.com/office/officeart/2005/8/layout/process1"/>
    <dgm:cxn modelId="{B7B500AF-3BB3-4048-AE09-0C4AC939646D}" type="presParOf" srcId="{0D3FB70D-3450-47A6-A6C7-5E7103325ED6}" destId="{5F4D5416-E7DC-4B78-8381-08FE699B238B}" srcOrd="3" destOrd="0" presId="urn:microsoft.com/office/officeart/2005/8/layout/process1"/>
    <dgm:cxn modelId="{211D8EEC-CEA2-421A-B23D-F7BBB7A58414}" type="presParOf" srcId="{5F4D5416-E7DC-4B78-8381-08FE699B238B}" destId="{B94A9169-9D7A-47B4-8C00-B8E3DA599415}" srcOrd="0" destOrd="0" presId="urn:microsoft.com/office/officeart/2005/8/layout/process1"/>
    <dgm:cxn modelId="{0D6C9CF8-86B4-481A-9A9E-F13CDDA65155}" type="presParOf" srcId="{0D3FB70D-3450-47A6-A6C7-5E7103325ED6}" destId="{CD2FE471-832A-4C8E-8827-011C5E8F0129}" srcOrd="4" destOrd="0" presId="urn:microsoft.com/office/officeart/2005/8/layout/process1"/>
    <dgm:cxn modelId="{7A8719B7-F7B1-42AA-9930-74BF525DED24}" type="presParOf" srcId="{0D3FB70D-3450-47A6-A6C7-5E7103325ED6}" destId="{8C3BBABE-51F9-4C59-9547-313CAA87AEEA}" srcOrd="5" destOrd="0" presId="urn:microsoft.com/office/officeart/2005/8/layout/process1"/>
    <dgm:cxn modelId="{04CE790E-22CB-4604-82A5-F14C581750D4}" type="presParOf" srcId="{8C3BBABE-51F9-4C59-9547-313CAA87AEEA}" destId="{DE7F5585-3FA4-40C3-A75A-5E68FB75FC06}" srcOrd="0" destOrd="0" presId="urn:microsoft.com/office/officeart/2005/8/layout/process1"/>
    <dgm:cxn modelId="{024211E6-6F33-4369-901F-345AC1CB3DD7}" type="presParOf" srcId="{0D3FB70D-3450-47A6-A6C7-5E7103325ED6}" destId="{EF893FD3-4E80-4333-A2EA-1F0E3B701632}" srcOrd="6" destOrd="0" presId="urn:microsoft.com/office/officeart/2005/8/layout/process1"/>
    <dgm:cxn modelId="{C6349F79-082E-48FB-9EBF-CBC42BC2BB75}" type="presParOf" srcId="{0D3FB70D-3450-47A6-A6C7-5E7103325ED6}" destId="{4576E717-8840-4FBA-93A2-26C7B2222638}" srcOrd="7" destOrd="0" presId="urn:microsoft.com/office/officeart/2005/8/layout/process1"/>
    <dgm:cxn modelId="{6451E167-3C90-447C-8EB0-9A9681A43F98}" type="presParOf" srcId="{4576E717-8840-4FBA-93A2-26C7B2222638}" destId="{0CA444F0-550A-4953-879D-F39035908355}" srcOrd="0" destOrd="0" presId="urn:microsoft.com/office/officeart/2005/8/layout/process1"/>
    <dgm:cxn modelId="{92961523-B7AF-492B-92EC-9C280FA8AD05}" type="presParOf" srcId="{0D3FB70D-3450-47A6-A6C7-5E7103325ED6}" destId="{C9409E38-85A2-435A-BEC8-37608786A1A1}" srcOrd="8" destOrd="0" presId="urn:microsoft.com/office/officeart/2005/8/layout/process1"/>
    <dgm:cxn modelId="{16E66805-6208-473D-89C6-8ED95B783F99}" type="presParOf" srcId="{0D3FB70D-3450-47A6-A6C7-5E7103325ED6}" destId="{84719D8C-3E4D-4A29-AA98-64CF8DAE86FA}" srcOrd="9" destOrd="0" presId="urn:microsoft.com/office/officeart/2005/8/layout/process1"/>
    <dgm:cxn modelId="{DABBCB37-8B57-4E56-99D3-067579580FE5}" type="presParOf" srcId="{84719D8C-3E4D-4A29-AA98-64CF8DAE86FA}" destId="{CD89DF4C-B4CD-44F2-8AFE-ED6C808B9B5F}" srcOrd="0" destOrd="0" presId="urn:microsoft.com/office/officeart/2005/8/layout/process1"/>
    <dgm:cxn modelId="{1BDEFA31-7F19-4896-A56A-85A8B97B9203}" type="presParOf" srcId="{0D3FB70D-3450-47A6-A6C7-5E7103325ED6}" destId="{94081662-8179-4646-874C-0C442DC11ED0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EC8929B-924B-4398-ABA4-F9289901080A}" type="doc">
      <dgm:prSet loTypeId="urn:microsoft.com/office/officeart/2005/8/layout/hChevron3" loCatId="process" qsTypeId="urn:microsoft.com/office/officeart/2005/8/quickstyle/simple4" qsCatId="simple" csTypeId="urn:microsoft.com/office/officeart/2005/8/colors/colorful5" csCatId="colorful" phldr="1"/>
      <dgm:spPr/>
    </dgm:pt>
    <dgm:pt modelId="{6BA76240-F4FE-401F-81F2-9DAEB2F170EF}">
      <dgm:prSet phldrT="[텍스트]" custT="1"/>
      <dgm:spPr/>
      <dgm:t>
        <a:bodyPr/>
        <a:lstStyle/>
        <a:p>
          <a:pPr latinLnBrk="1"/>
          <a:r>
            <a:rPr lang="ko-KR" altLang="en-US" sz="10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교육일정 계획수립</a:t>
          </a:r>
        </a:p>
      </dgm:t>
    </dgm:pt>
    <dgm:pt modelId="{B4A32DE6-5258-40CF-ABAE-220DC81E331F}" type="parTrans" cxnId="{68A6BCEE-5D6A-4300-A1E9-2DF88A22E37E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B97D8F15-23D3-4008-A486-0B78494344BE}" type="sibTrans" cxnId="{68A6BCEE-5D6A-4300-A1E9-2DF88A22E37E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BDCBC053-CF2A-48B0-9A87-4A998DFFB44A}">
      <dgm:prSet phldrT="[텍스트]" custT="1"/>
      <dgm:spPr/>
      <dgm:t>
        <a:bodyPr/>
        <a:lstStyle/>
        <a:p>
          <a:pPr latinLnBrk="1"/>
          <a:r>
            <a:rPr lang="ko-KR" altLang="en-US" sz="10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교육대상자 선정</a:t>
          </a:r>
        </a:p>
      </dgm:t>
    </dgm:pt>
    <dgm:pt modelId="{0A9915ED-A160-42AB-83CC-3893065655A9}" type="parTrans" cxnId="{09FE388B-1583-44A0-AB53-33B6E9B32546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C0960889-07CA-47C6-B889-26070D9C6967}" type="sibTrans" cxnId="{09FE388B-1583-44A0-AB53-33B6E9B32546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F8B5BC37-0A48-4F62-9280-A56E8EFFA079}">
      <dgm:prSet phldrT="[텍스트]" custT="1"/>
      <dgm:spPr/>
      <dgm:t>
        <a:bodyPr/>
        <a:lstStyle/>
        <a:p>
          <a:pPr latinLnBrk="1"/>
          <a:r>
            <a:rPr lang="ko-KR" altLang="en-US" sz="10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교육훈련 환경구축</a:t>
          </a:r>
        </a:p>
      </dgm:t>
    </dgm:pt>
    <dgm:pt modelId="{23E8FDA2-64FE-42D0-9F74-1B32327427A7}" type="parTrans" cxnId="{62519307-7D22-4D8E-96BE-1B22A91DC076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008EDE88-00C7-4348-80F5-12F36B758511}" type="sibTrans" cxnId="{62519307-7D22-4D8E-96BE-1B22A91DC076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9A32692F-B5AE-4736-9137-DD7E6E9DAA48}">
      <dgm:prSet custT="1"/>
      <dgm:spPr/>
      <dgm:t>
        <a:bodyPr/>
        <a:lstStyle/>
        <a:p>
          <a:pPr latinLnBrk="1"/>
          <a:r>
            <a:rPr lang="ko-KR" altLang="en-US" sz="10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교육실시</a:t>
          </a:r>
        </a:p>
      </dgm:t>
    </dgm:pt>
    <dgm:pt modelId="{4EB5B6C1-A1F6-4E13-80D8-CC6F62C55A56}" type="parTrans" cxnId="{35293DE9-7EFD-43A1-8394-EBF21EC20B76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90676191-6077-4B49-8893-050CEFB0539A}" type="sibTrans" cxnId="{35293DE9-7EFD-43A1-8394-EBF21EC20B76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74D4D573-1EE4-4EB1-A119-DA129D9A0E9F}">
      <dgm:prSet custT="1"/>
      <dgm:spPr/>
      <dgm:t>
        <a:bodyPr/>
        <a:lstStyle/>
        <a:p>
          <a:pPr latinLnBrk="1"/>
          <a:r>
            <a:rPr lang="ko-KR" altLang="en-US" sz="10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교육이후</a:t>
          </a:r>
          <a:endParaRPr lang="en-US" altLang="ko-KR" sz="1000" dirty="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AB2BC083-061D-40E8-8105-ABA4FFF60DEF}" type="parTrans" cxnId="{7F3AF586-60DF-4B9D-9610-8C8210917903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AECEFB3E-7709-4BC7-B478-D81678AA8FFF}" type="sibTrans" cxnId="{7F3AF586-60DF-4B9D-9610-8C8210917903}">
      <dgm:prSet/>
      <dgm:spPr/>
      <dgm:t>
        <a:bodyPr/>
        <a:lstStyle/>
        <a:p>
          <a:pPr latinLnBrk="1"/>
          <a:endParaRPr lang="ko-KR" altLang="en-US" sz="100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gm:t>
    </dgm:pt>
    <dgm:pt modelId="{21E294B8-3D24-45D2-A41B-45A60009D3FF}" type="pres">
      <dgm:prSet presAssocID="{5EC8929B-924B-4398-ABA4-F9289901080A}" presName="Name0" presStyleCnt="0">
        <dgm:presLayoutVars>
          <dgm:dir/>
          <dgm:resizeHandles val="exact"/>
        </dgm:presLayoutVars>
      </dgm:prSet>
      <dgm:spPr/>
    </dgm:pt>
    <dgm:pt modelId="{23CD945E-2A5E-45F8-9250-A92D87BFD44A}" type="pres">
      <dgm:prSet presAssocID="{6BA76240-F4FE-401F-81F2-9DAEB2F170EF}" presName="parTxOnly" presStyleLbl="node1" presStyleIdx="0" presStyleCnt="5" custScaleY="83888" custLinFactNeighborX="-1468" custLinFactNeighborY="-15628">
        <dgm:presLayoutVars>
          <dgm:bulletEnabled val="1"/>
        </dgm:presLayoutVars>
      </dgm:prSet>
      <dgm:spPr/>
    </dgm:pt>
    <dgm:pt modelId="{2F413D80-532C-4237-A45A-DC654B95AF32}" type="pres">
      <dgm:prSet presAssocID="{B97D8F15-23D3-4008-A486-0B78494344BE}" presName="parSpace" presStyleCnt="0"/>
      <dgm:spPr/>
    </dgm:pt>
    <dgm:pt modelId="{47E6E161-E195-4335-80B1-CA0AC500AA80}" type="pres">
      <dgm:prSet presAssocID="{BDCBC053-CF2A-48B0-9A87-4A998DFFB44A}" presName="parTxOnly" presStyleLbl="node1" presStyleIdx="1" presStyleCnt="5" custScaleY="83888" custLinFactNeighborX="-1468" custLinFactNeighborY="-15628">
        <dgm:presLayoutVars>
          <dgm:bulletEnabled val="1"/>
        </dgm:presLayoutVars>
      </dgm:prSet>
      <dgm:spPr/>
    </dgm:pt>
    <dgm:pt modelId="{ACE3AFC3-AF1A-4E27-916E-14AB3070895F}" type="pres">
      <dgm:prSet presAssocID="{C0960889-07CA-47C6-B889-26070D9C6967}" presName="parSpace" presStyleCnt="0"/>
      <dgm:spPr/>
    </dgm:pt>
    <dgm:pt modelId="{39BF60FB-5718-4F75-B996-BD4411405DA0}" type="pres">
      <dgm:prSet presAssocID="{F8B5BC37-0A48-4F62-9280-A56E8EFFA079}" presName="parTxOnly" presStyleLbl="node1" presStyleIdx="2" presStyleCnt="5" custScaleY="83888" custLinFactNeighborX="-1468" custLinFactNeighborY="-15628">
        <dgm:presLayoutVars>
          <dgm:bulletEnabled val="1"/>
        </dgm:presLayoutVars>
      </dgm:prSet>
      <dgm:spPr/>
    </dgm:pt>
    <dgm:pt modelId="{BC230CF3-3081-4C92-A9E3-C387A87E78D8}" type="pres">
      <dgm:prSet presAssocID="{008EDE88-00C7-4348-80F5-12F36B758511}" presName="parSpace" presStyleCnt="0"/>
      <dgm:spPr/>
    </dgm:pt>
    <dgm:pt modelId="{D6FFD484-F7D2-4041-9B04-D84D5B80691E}" type="pres">
      <dgm:prSet presAssocID="{9A32692F-B5AE-4736-9137-DD7E6E9DAA48}" presName="parTxOnly" presStyleLbl="node1" presStyleIdx="3" presStyleCnt="5" custScaleY="83888" custLinFactNeighborX="-1468" custLinFactNeighborY="-15628">
        <dgm:presLayoutVars>
          <dgm:bulletEnabled val="1"/>
        </dgm:presLayoutVars>
      </dgm:prSet>
      <dgm:spPr/>
    </dgm:pt>
    <dgm:pt modelId="{A025EA63-3F92-4990-8484-B3C7ED8D28A4}" type="pres">
      <dgm:prSet presAssocID="{90676191-6077-4B49-8893-050CEFB0539A}" presName="parSpace" presStyleCnt="0"/>
      <dgm:spPr/>
    </dgm:pt>
    <dgm:pt modelId="{437393B6-CDFE-4344-83DD-6B1415D4AE58}" type="pres">
      <dgm:prSet presAssocID="{74D4D573-1EE4-4EB1-A119-DA129D9A0E9F}" presName="parTxOnly" presStyleLbl="node1" presStyleIdx="4" presStyleCnt="5" custScaleY="83888" custLinFactNeighborX="-1468" custLinFactNeighborY="-15628">
        <dgm:presLayoutVars>
          <dgm:bulletEnabled val="1"/>
        </dgm:presLayoutVars>
      </dgm:prSet>
      <dgm:spPr/>
    </dgm:pt>
  </dgm:ptLst>
  <dgm:cxnLst>
    <dgm:cxn modelId="{62519307-7D22-4D8E-96BE-1B22A91DC076}" srcId="{5EC8929B-924B-4398-ABA4-F9289901080A}" destId="{F8B5BC37-0A48-4F62-9280-A56E8EFFA079}" srcOrd="2" destOrd="0" parTransId="{23E8FDA2-64FE-42D0-9F74-1B32327427A7}" sibTransId="{008EDE88-00C7-4348-80F5-12F36B758511}"/>
    <dgm:cxn modelId="{87E4F90E-E391-4433-94FB-1C038B08A023}" type="presOf" srcId="{74D4D573-1EE4-4EB1-A119-DA129D9A0E9F}" destId="{437393B6-CDFE-4344-83DD-6B1415D4AE58}" srcOrd="0" destOrd="0" presId="urn:microsoft.com/office/officeart/2005/8/layout/hChevron3"/>
    <dgm:cxn modelId="{92D7961C-8626-44DF-95A5-6B13351974F2}" type="presOf" srcId="{5EC8929B-924B-4398-ABA4-F9289901080A}" destId="{21E294B8-3D24-45D2-A41B-45A60009D3FF}" srcOrd="0" destOrd="0" presId="urn:microsoft.com/office/officeart/2005/8/layout/hChevron3"/>
    <dgm:cxn modelId="{BA435C29-C375-4CAC-88F3-5B0991A5B751}" type="presOf" srcId="{BDCBC053-CF2A-48B0-9A87-4A998DFFB44A}" destId="{47E6E161-E195-4335-80B1-CA0AC500AA80}" srcOrd="0" destOrd="0" presId="urn:microsoft.com/office/officeart/2005/8/layout/hChevron3"/>
    <dgm:cxn modelId="{AB67BB85-BEA5-460F-846D-CF1E6F145295}" type="presOf" srcId="{9A32692F-B5AE-4736-9137-DD7E6E9DAA48}" destId="{D6FFD484-F7D2-4041-9B04-D84D5B80691E}" srcOrd="0" destOrd="0" presId="urn:microsoft.com/office/officeart/2005/8/layout/hChevron3"/>
    <dgm:cxn modelId="{7F3AF586-60DF-4B9D-9610-8C8210917903}" srcId="{5EC8929B-924B-4398-ABA4-F9289901080A}" destId="{74D4D573-1EE4-4EB1-A119-DA129D9A0E9F}" srcOrd="4" destOrd="0" parTransId="{AB2BC083-061D-40E8-8105-ABA4FFF60DEF}" sibTransId="{AECEFB3E-7709-4BC7-B478-D81678AA8FFF}"/>
    <dgm:cxn modelId="{09FE388B-1583-44A0-AB53-33B6E9B32546}" srcId="{5EC8929B-924B-4398-ABA4-F9289901080A}" destId="{BDCBC053-CF2A-48B0-9A87-4A998DFFB44A}" srcOrd="1" destOrd="0" parTransId="{0A9915ED-A160-42AB-83CC-3893065655A9}" sibTransId="{C0960889-07CA-47C6-B889-26070D9C6967}"/>
    <dgm:cxn modelId="{A6D956D0-4FA2-49D1-9C3D-F4E222E1663E}" type="presOf" srcId="{F8B5BC37-0A48-4F62-9280-A56E8EFFA079}" destId="{39BF60FB-5718-4F75-B996-BD4411405DA0}" srcOrd="0" destOrd="0" presId="urn:microsoft.com/office/officeart/2005/8/layout/hChevron3"/>
    <dgm:cxn modelId="{35293DE9-7EFD-43A1-8394-EBF21EC20B76}" srcId="{5EC8929B-924B-4398-ABA4-F9289901080A}" destId="{9A32692F-B5AE-4736-9137-DD7E6E9DAA48}" srcOrd="3" destOrd="0" parTransId="{4EB5B6C1-A1F6-4E13-80D8-CC6F62C55A56}" sibTransId="{90676191-6077-4B49-8893-050CEFB0539A}"/>
    <dgm:cxn modelId="{68A6BCEE-5D6A-4300-A1E9-2DF88A22E37E}" srcId="{5EC8929B-924B-4398-ABA4-F9289901080A}" destId="{6BA76240-F4FE-401F-81F2-9DAEB2F170EF}" srcOrd="0" destOrd="0" parTransId="{B4A32DE6-5258-40CF-ABAE-220DC81E331F}" sibTransId="{B97D8F15-23D3-4008-A486-0B78494344BE}"/>
    <dgm:cxn modelId="{3AE730F4-7113-4B83-8224-AA8201848A55}" type="presOf" srcId="{6BA76240-F4FE-401F-81F2-9DAEB2F170EF}" destId="{23CD945E-2A5E-45F8-9250-A92D87BFD44A}" srcOrd="0" destOrd="0" presId="urn:microsoft.com/office/officeart/2005/8/layout/hChevron3"/>
    <dgm:cxn modelId="{905D5D93-2692-4E7E-B6C8-C9F756A58868}" type="presParOf" srcId="{21E294B8-3D24-45D2-A41B-45A60009D3FF}" destId="{23CD945E-2A5E-45F8-9250-A92D87BFD44A}" srcOrd="0" destOrd="0" presId="urn:microsoft.com/office/officeart/2005/8/layout/hChevron3"/>
    <dgm:cxn modelId="{68DAE0FB-3AAC-4267-8FDF-3834DB95DC59}" type="presParOf" srcId="{21E294B8-3D24-45D2-A41B-45A60009D3FF}" destId="{2F413D80-532C-4237-A45A-DC654B95AF32}" srcOrd="1" destOrd="0" presId="urn:microsoft.com/office/officeart/2005/8/layout/hChevron3"/>
    <dgm:cxn modelId="{073309B3-8BD7-4672-BED3-0C6F3C83F123}" type="presParOf" srcId="{21E294B8-3D24-45D2-A41B-45A60009D3FF}" destId="{47E6E161-E195-4335-80B1-CA0AC500AA80}" srcOrd="2" destOrd="0" presId="urn:microsoft.com/office/officeart/2005/8/layout/hChevron3"/>
    <dgm:cxn modelId="{8C8852C3-D972-4A5D-B604-B5DC833D3773}" type="presParOf" srcId="{21E294B8-3D24-45D2-A41B-45A60009D3FF}" destId="{ACE3AFC3-AF1A-4E27-916E-14AB3070895F}" srcOrd="3" destOrd="0" presId="urn:microsoft.com/office/officeart/2005/8/layout/hChevron3"/>
    <dgm:cxn modelId="{D36131EE-BC8A-4E50-A9A6-8AC0A6F20216}" type="presParOf" srcId="{21E294B8-3D24-45D2-A41B-45A60009D3FF}" destId="{39BF60FB-5718-4F75-B996-BD4411405DA0}" srcOrd="4" destOrd="0" presId="urn:microsoft.com/office/officeart/2005/8/layout/hChevron3"/>
    <dgm:cxn modelId="{ACF1625B-E457-4776-8CD6-D80096453060}" type="presParOf" srcId="{21E294B8-3D24-45D2-A41B-45A60009D3FF}" destId="{BC230CF3-3081-4C92-A9E3-C387A87E78D8}" srcOrd="5" destOrd="0" presId="urn:microsoft.com/office/officeart/2005/8/layout/hChevron3"/>
    <dgm:cxn modelId="{80AD6FF5-CA5A-4BB7-A41E-6BED5C9D969C}" type="presParOf" srcId="{21E294B8-3D24-45D2-A41B-45A60009D3FF}" destId="{D6FFD484-F7D2-4041-9B04-D84D5B80691E}" srcOrd="6" destOrd="0" presId="urn:microsoft.com/office/officeart/2005/8/layout/hChevron3"/>
    <dgm:cxn modelId="{807B4C3F-85D9-46D9-9787-8176497236AA}" type="presParOf" srcId="{21E294B8-3D24-45D2-A41B-45A60009D3FF}" destId="{A025EA63-3F92-4990-8484-B3C7ED8D28A4}" srcOrd="7" destOrd="0" presId="urn:microsoft.com/office/officeart/2005/8/layout/hChevron3"/>
    <dgm:cxn modelId="{1346DCE8-4234-4086-A943-C4BD1C17F8F8}" type="presParOf" srcId="{21E294B8-3D24-45D2-A41B-45A60009D3FF}" destId="{437393B6-CDFE-4344-83DD-6B1415D4AE58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FD50FB-FFA0-4D91-9E96-6BADC2671F4E}">
      <dsp:nvSpPr>
        <dsp:cNvPr id="0" name=""/>
        <dsp:cNvSpPr/>
      </dsp:nvSpPr>
      <dsp:spPr>
        <a:xfrm>
          <a:off x="3064853" y="383369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1" kern="1200" dirty="0"/>
            <a:t>중요도</a:t>
          </a:r>
          <a:br>
            <a:rPr lang="en-US" altLang="ko-KR" sz="1200" b="1" kern="1200" dirty="0"/>
          </a:br>
          <a:r>
            <a:rPr lang="ko-KR" altLang="en-US" sz="1200" b="1" kern="1200" dirty="0"/>
            <a:t>영향도</a:t>
          </a:r>
          <a:br>
            <a:rPr lang="en-US" altLang="ko-KR" sz="1200" b="1" kern="1200" dirty="0"/>
          </a:br>
          <a:r>
            <a:rPr lang="ko-KR" altLang="en-US" sz="1200" b="1" kern="1200" dirty="0"/>
            <a:t>평가</a:t>
          </a:r>
        </a:p>
      </dsp:txBody>
      <dsp:txXfrm>
        <a:off x="3064853" y="383369"/>
        <a:ext cx="1006078" cy="1006078"/>
      </dsp:txXfrm>
    </dsp:sp>
    <dsp:sp modelId="{7C7F443E-917B-46A7-9CEF-F29C4D6FC28D}">
      <dsp:nvSpPr>
        <dsp:cNvPr id="0" name=""/>
        <dsp:cNvSpPr/>
      </dsp:nvSpPr>
      <dsp:spPr>
        <a:xfrm>
          <a:off x="450383" y="172275"/>
          <a:ext cx="3771658" cy="3771658"/>
        </a:xfrm>
        <a:prstGeom prst="circularArrow">
          <a:avLst>
            <a:gd name="adj1" fmla="val 5202"/>
            <a:gd name="adj2" fmla="val 336015"/>
            <a:gd name="adj3" fmla="val 21315914"/>
            <a:gd name="adj4" fmla="val 20588147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3D1A7-C78E-417B-BE33-8B09E38B068F}">
      <dsp:nvSpPr>
        <dsp:cNvPr id="0" name=""/>
        <dsp:cNvSpPr/>
      </dsp:nvSpPr>
      <dsp:spPr>
        <a:xfrm>
          <a:off x="3496901" y="1900153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1" kern="1200" dirty="0"/>
            <a:t>환경 분석</a:t>
          </a:r>
        </a:p>
      </dsp:txBody>
      <dsp:txXfrm>
        <a:off x="3496901" y="1900153"/>
        <a:ext cx="1006078" cy="1006078"/>
      </dsp:txXfrm>
    </dsp:sp>
    <dsp:sp modelId="{9C7DE810-97C1-479B-8312-5ECE7E0F3E2F}">
      <dsp:nvSpPr>
        <dsp:cNvPr id="0" name=""/>
        <dsp:cNvSpPr/>
      </dsp:nvSpPr>
      <dsp:spPr>
        <a:xfrm>
          <a:off x="252771" y="196093"/>
          <a:ext cx="3771658" cy="3771658"/>
        </a:xfrm>
        <a:prstGeom prst="circularArrow">
          <a:avLst>
            <a:gd name="adj1" fmla="val 5202"/>
            <a:gd name="adj2" fmla="val 336015"/>
            <a:gd name="adj3" fmla="val 2680079"/>
            <a:gd name="adj4" fmla="val 1234873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FF5D0-27BC-43AB-AEED-FED581AE963C}">
      <dsp:nvSpPr>
        <dsp:cNvPr id="0" name=""/>
        <dsp:cNvSpPr/>
      </dsp:nvSpPr>
      <dsp:spPr>
        <a:xfrm>
          <a:off x="1993887" y="2975657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1" kern="1200" dirty="0"/>
            <a:t>Test </a:t>
          </a:r>
          <a:r>
            <a:rPr lang="ko-KR" altLang="en-US" sz="1200" b="1" kern="1200" dirty="0"/>
            <a:t>계</a:t>
          </a:r>
          <a:br>
            <a:rPr lang="en-US" altLang="ko-KR" sz="1200" b="1" kern="1200" dirty="0"/>
          </a:br>
          <a:r>
            <a:rPr lang="ko-KR" altLang="en-US" sz="1200" b="1" kern="1200" dirty="0"/>
            <a:t>구축 및</a:t>
          </a:r>
          <a:br>
            <a:rPr lang="en-US" altLang="ko-KR" sz="1200" b="1" kern="1200" dirty="0"/>
          </a:br>
          <a:r>
            <a:rPr lang="ko-KR" altLang="en-US" sz="1200" b="1" kern="1200" dirty="0"/>
            <a:t>테스트</a:t>
          </a:r>
        </a:p>
      </dsp:txBody>
      <dsp:txXfrm>
        <a:off x="1993887" y="2975657"/>
        <a:ext cx="1006078" cy="1006078"/>
      </dsp:txXfrm>
    </dsp:sp>
    <dsp:sp modelId="{E5B11CE5-9D3A-474D-927B-98A77709B6B2}">
      <dsp:nvSpPr>
        <dsp:cNvPr id="0" name=""/>
        <dsp:cNvSpPr/>
      </dsp:nvSpPr>
      <dsp:spPr>
        <a:xfrm>
          <a:off x="664644" y="-262873"/>
          <a:ext cx="3771658" cy="3771658"/>
        </a:xfrm>
        <a:prstGeom prst="circularArrow">
          <a:avLst>
            <a:gd name="adj1" fmla="val 5202"/>
            <a:gd name="adj2" fmla="val 336015"/>
            <a:gd name="adj3" fmla="val 7701184"/>
            <a:gd name="adj4" fmla="val 6565705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9232CE-D682-4389-863B-DC397A26A361}">
      <dsp:nvSpPr>
        <dsp:cNvPr id="0" name=""/>
        <dsp:cNvSpPr/>
      </dsp:nvSpPr>
      <dsp:spPr>
        <a:xfrm>
          <a:off x="688588" y="1821491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200" b="1" kern="1200" dirty="0"/>
            <a:t>Production</a:t>
          </a:r>
          <a:endParaRPr lang="ko-KR" altLang="en-US" sz="1200" b="1" kern="1200" dirty="0"/>
        </a:p>
      </dsp:txBody>
      <dsp:txXfrm>
        <a:off x="688588" y="1821491"/>
        <a:ext cx="1006078" cy="1006078"/>
      </dsp:txXfrm>
    </dsp:sp>
    <dsp:sp modelId="{87ACCB7B-D195-4A22-8F02-924B13F85816}">
      <dsp:nvSpPr>
        <dsp:cNvPr id="0" name=""/>
        <dsp:cNvSpPr/>
      </dsp:nvSpPr>
      <dsp:spPr>
        <a:xfrm>
          <a:off x="880444" y="336329"/>
          <a:ext cx="3771658" cy="3771658"/>
        </a:xfrm>
        <a:prstGeom prst="circularArrow">
          <a:avLst>
            <a:gd name="adj1" fmla="val 5202"/>
            <a:gd name="adj2" fmla="val 336015"/>
            <a:gd name="adj3" fmla="val 12427805"/>
            <a:gd name="adj4" fmla="val 11631238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17DC3-AC3F-4D45-B32D-BB6D9F20A000}">
      <dsp:nvSpPr>
        <dsp:cNvPr id="0" name=""/>
        <dsp:cNvSpPr/>
      </dsp:nvSpPr>
      <dsp:spPr>
        <a:xfrm>
          <a:off x="1120639" y="311353"/>
          <a:ext cx="1006078" cy="10060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200" b="1" kern="1200" dirty="0"/>
            <a:t>모니터링</a:t>
          </a:r>
          <a:r>
            <a:rPr lang="en-US" altLang="ko-KR" sz="1200" b="1" kern="1200" dirty="0"/>
            <a:t> </a:t>
          </a:r>
          <a:r>
            <a:rPr lang="ko-KR" altLang="en-US" sz="1200" b="1" kern="1200" dirty="0"/>
            <a:t>및 수정 보완</a:t>
          </a:r>
        </a:p>
      </dsp:txBody>
      <dsp:txXfrm>
        <a:off x="1120639" y="311353"/>
        <a:ext cx="1006078" cy="1006078"/>
      </dsp:txXfrm>
    </dsp:sp>
    <dsp:sp modelId="{1E46CAE8-B71D-4EA9-A86B-EE9F8711BE93}">
      <dsp:nvSpPr>
        <dsp:cNvPr id="0" name=""/>
        <dsp:cNvSpPr/>
      </dsp:nvSpPr>
      <dsp:spPr>
        <a:xfrm>
          <a:off x="210305" y="381519"/>
          <a:ext cx="3771658" cy="3771658"/>
        </a:xfrm>
        <a:prstGeom prst="circularArrow">
          <a:avLst>
            <a:gd name="adj1" fmla="val 5202"/>
            <a:gd name="adj2" fmla="val 336015"/>
            <a:gd name="adj3" fmla="val 18311491"/>
            <a:gd name="adj4" fmla="val 16519000"/>
            <a:gd name="adj5" fmla="val 606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AD0FD-8F47-4AA3-895A-5AE73343844C}">
      <dsp:nvSpPr>
        <dsp:cNvPr id="0" name=""/>
        <dsp:cNvSpPr/>
      </dsp:nvSpPr>
      <dsp:spPr>
        <a:xfrm>
          <a:off x="3691" y="130415"/>
          <a:ext cx="944182" cy="459249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리스크 진단</a:t>
          </a:r>
        </a:p>
      </dsp:txBody>
      <dsp:txXfrm>
        <a:off x="17142" y="143866"/>
        <a:ext cx="917280" cy="432347"/>
      </dsp:txXfrm>
    </dsp:sp>
    <dsp:sp modelId="{75D343F2-764F-4F32-A3F3-5EDCF9618626}">
      <dsp:nvSpPr>
        <dsp:cNvPr id="0" name=""/>
        <dsp:cNvSpPr/>
      </dsp:nvSpPr>
      <dsp:spPr>
        <a:xfrm>
          <a:off x="1042292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b="1" kern="1200" dirty="0">
            <a:solidFill>
              <a:schemeClr val="tx1"/>
            </a:solidFill>
          </a:endParaRPr>
        </a:p>
      </dsp:txBody>
      <dsp:txXfrm>
        <a:off x="1042292" y="289792"/>
        <a:ext cx="140116" cy="140495"/>
      </dsp:txXfrm>
    </dsp:sp>
    <dsp:sp modelId="{46CDDC22-3C57-4C0D-8276-01AEFFD3891A}">
      <dsp:nvSpPr>
        <dsp:cNvPr id="0" name=""/>
        <dsp:cNvSpPr/>
      </dsp:nvSpPr>
      <dsp:spPr>
        <a:xfrm>
          <a:off x="1325546" y="140911"/>
          <a:ext cx="944182" cy="438257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개발계 구축</a:t>
          </a:r>
        </a:p>
      </dsp:txBody>
      <dsp:txXfrm>
        <a:off x="1338382" y="153747"/>
        <a:ext cx="918510" cy="412585"/>
      </dsp:txXfrm>
    </dsp:sp>
    <dsp:sp modelId="{5F4D5416-E7DC-4B78-8381-08FE699B238B}">
      <dsp:nvSpPr>
        <dsp:cNvPr id="0" name=""/>
        <dsp:cNvSpPr/>
      </dsp:nvSpPr>
      <dsp:spPr>
        <a:xfrm>
          <a:off x="2364146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b="1" kern="1200" dirty="0">
            <a:solidFill>
              <a:schemeClr val="tx1"/>
            </a:solidFill>
          </a:endParaRPr>
        </a:p>
      </dsp:txBody>
      <dsp:txXfrm>
        <a:off x="2364146" y="289792"/>
        <a:ext cx="140116" cy="140495"/>
      </dsp:txXfrm>
    </dsp:sp>
    <dsp:sp modelId="{CD2FE471-832A-4C8E-8827-011C5E8F0129}">
      <dsp:nvSpPr>
        <dsp:cNvPr id="0" name=""/>
        <dsp:cNvSpPr/>
      </dsp:nvSpPr>
      <dsp:spPr>
        <a:xfrm>
          <a:off x="2647401" y="139964"/>
          <a:ext cx="944182" cy="44015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Application</a:t>
          </a:r>
          <a:br>
            <a:rPr lang="en-US" altLang="ko-KR" sz="1000" b="1" kern="1200" dirty="0">
              <a:solidFill>
                <a:schemeClr val="tx1"/>
              </a:solidFill>
            </a:rPr>
          </a:br>
          <a:r>
            <a:rPr lang="ko-KR" altLang="en-US" sz="1000" b="1" kern="1200">
              <a:solidFill>
                <a:schemeClr val="tx1"/>
              </a:solidFill>
            </a:rPr>
            <a:t>테스트</a:t>
          </a:r>
        </a:p>
      </dsp:txBody>
      <dsp:txXfrm>
        <a:off x="2660293" y="152856"/>
        <a:ext cx="918398" cy="414367"/>
      </dsp:txXfrm>
    </dsp:sp>
    <dsp:sp modelId="{8C3BBABE-51F9-4C59-9547-313CAA87AEEA}">
      <dsp:nvSpPr>
        <dsp:cNvPr id="0" name=""/>
        <dsp:cNvSpPr/>
      </dsp:nvSpPr>
      <dsp:spPr>
        <a:xfrm>
          <a:off x="3686001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3686001" y="289792"/>
        <a:ext cx="140116" cy="140495"/>
      </dsp:txXfrm>
    </dsp:sp>
    <dsp:sp modelId="{EF893FD3-4E80-4333-A2EA-1F0E3B701632}">
      <dsp:nvSpPr>
        <dsp:cNvPr id="0" name=""/>
        <dsp:cNvSpPr/>
      </dsp:nvSpPr>
      <dsp:spPr>
        <a:xfrm>
          <a:off x="3969256" y="139964"/>
          <a:ext cx="944182" cy="44015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TO-BE </a:t>
          </a:r>
          <a:r>
            <a:rPr lang="ko-KR" altLang="en-US" sz="1000" b="1" kern="1200">
              <a:solidFill>
                <a:schemeClr val="tx1"/>
              </a:solidFill>
            </a:rPr>
            <a:t>구축</a:t>
          </a:r>
        </a:p>
      </dsp:txBody>
      <dsp:txXfrm>
        <a:off x="3982148" y="152856"/>
        <a:ext cx="918398" cy="414367"/>
      </dsp:txXfrm>
    </dsp:sp>
    <dsp:sp modelId="{4576E717-8840-4FBA-93A2-26C7B2222638}">
      <dsp:nvSpPr>
        <dsp:cNvPr id="0" name=""/>
        <dsp:cNvSpPr/>
      </dsp:nvSpPr>
      <dsp:spPr>
        <a:xfrm>
          <a:off x="5007856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5007856" y="289792"/>
        <a:ext cx="140116" cy="140495"/>
      </dsp:txXfrm>
    </dsp:sp>
    <dsp:sp modelId="{C9409E38-85A2-435A-BEC8-37608786A1A1}">
      <dsp:nvSpPr>
        <dsp:cNvPr id="0" name=""/>
        <dsp:cNvSpPr/>
      </dsp:nvSpPr>
      <dsp:spPr>
        <a:xfrm>
          <a:off x="5291111" y="139964"/>
          <a:ext cx="944182" cy="44015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Application</a:t>
          </a:r>
          <a:br>
            <a:rPr lang="en-US" altLang="ko-KR" sz="1000" b="1" kern="1200" dirty="0">
              <a:solidFill>
                <a:schemeClr val="tx1"/>
              </a:solidFill>
            </a:rPr>
          </a:br>
          <a:r>
            <a:rPr lang="ko-KR" altLang="en-US" sz="1000" b="1" kern="1200">
              <a:solidFill>
                <a:schemeClr val="tx1"/>
              </a:solidFill>
            </a:rPr>
            <a:t>테스트</a:t>
          </a:r>
        </a:p>
      </dsp:txBody>
      <dsp:txXfrm>
        <a:off x="5304003" y="152856"/>
        <a:ext cx="918398" cy="414367"/>
      </dsp:txXfrm>
    </dsp:sp>
    <dsp:sp modelId="{84719D8C-3E4D-4A29-AA98-64CF8DAE86FA}">
      <dsp:nvSpPr>
        <dsp:cNvPr id="0" name=""/>
        <dsp:cNvSpPr/>
      </dsp:nvSpPr>
      <dsp:spPr>
        <a:xfrm>
          <a:off x="6329711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6329711" y="289792"/>
        <a:ext cx="140116" cy="140495"/>
      </dsp:txXfrm>
    </dsp:sp>
    <dsp:sp modelId="{94081662-8179-4646-874C-0C442DC11ED0}">
      <dsp:nvSpPr>
        <dsp:cNvPr id="0" name=""/>
        <dsp:cNvSpPr/>
      </dsp:nvSpPr>
      <dsp:spPr>
        <a:xfrm>
          <a:off x="6612966" y="139964"/>
          <a:ext cx="944182" cy="44015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서비스 오픈</a:t>
          </a:r>
        </a:p>
      </dsp:txBody>
      <dsp:txXfrm>
        <a:off x="6625858" y="152856"/>
        <a:ext cx="918398" cy="4143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AD0FD-8F47-4AA3-895A-5AE73343844C}">
      <dsp:nvSpPr>
        <dsp:cNvPr id="0" name=""/>
        <dsp:cNvSpPr/>
      </dsp:nvSpPr>
      <dsp:spPr>
        <a:xfrm>
          <a:off x="3691" y="125013"/>
          <a:ext cx="944182" cy="470052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리스크 진단</a:t>
          </a:r>
        </a:p>
      </dsp:txBody>
      <dsp:txXfrm>
        <a:off x="17458" y="138780"/>
        <a:ext cx="916648" cy="442518"/>
      </dsp:txXfrm>
    </dsp:sp>
    <dsp:sp modelId="{75D343F2-764F-4F32-A3F3-5EDCF9618626}">
      <dsp:nvSpPr>
        <dsp:cNvPr id="0" name=""/>
        <dsp:cNvSpPr/>
      </dsp:nvSpPr>
      <dsp:spPr>
        <a:xfrm>
          <a:off x="1042292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b="1" kern="1200" dirty="0">
            <a:solidFill>
              <a:schemeClr val="tx1"/>
            </a:solidFill>
          </a:endParaRPr>
        </a:p>
      </dsp:txBody>
      <dsp:txXfrm>
        <a:off x="1042292" y="289792"/>
        <a:ext cx="140116" cy="140495"/>
      </dsp:txXfrm>
    </dsp:sp>
    <dsp:sp modelId="{46CDDC22-3C57-4C0D-8276-01AEFFD3891A}">
      <dsp:nvSpPr>
        <dsp:cNvPr id="0" name=""/>
        <dsp:cNvSpPr/>
      </dsp:nvSpPr>
      <dsp:spPr>
        <a:xfrm>
          <a:off x="1325546" y="119733"/>
          <a:ext cx="944182" cy="480613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개발계 구축</a:t>
          </a:r>
        </a:p>
      </dsp:txBody>
      <dsp:txXfrm>
        <a:off x="1339623" y="133810"/>
        <a:ext cx="916028" cy="452459"/>
      </dsp:txXfrm>
    </dsp:sp>
    <dsp:sp modelId="{5F4D5416-E7DC-4B78-8381-08FE699B238B}">
      <dsp:nvSpPr>
        <dsp:cNvPr id="0" name=""/>
        <dsp:cNvSpPr/>
      </dsp:nvSpPr>
      <dsp:spPr>
        <a:xfrm>
          <a:off x="2364146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b="1" kern="1200" dirty="0">
            <a:solidFill>
              <a:schemeClr val="tx1"/>
            </a:solidFill>
          </a:endParaRPr>
        </a:p>
      </dsp:txBody>
      <dsp:txXfrm>
        <a:off x="2364146" y="289792"/>
        <a:ext cx="140116" cy="140495"/>
      </dsp:txXfrm>
    </dsp:sp>
    <dsp:sp modelId="{CD2FE471-832A-4C8E-8827-011C5E8F0129}">
      <dsp:nvSpPr>
        <dsp:cNvPr id="0" name=""/>
        <dsp:cNvSpPr/>
      </dsp:nvSpPr>
      <dsp:spPr>
        <a:xfrm>
          <a:off x="2647401" y="115394"/>
          <a:ext cx="944182" cy="489291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Application</a:t>
          </a:r>
          <a:br>
            <a:rPr lang="en-US" altLang="ko-KR" sz="1000" b="1" kern="1200" dirty="0">
              <a:solidFill>
                <a:schemeClr val="tx1"/>
              </a:solidFill>
            </a:rPr>
          </a:br>
          <a:r>
            <a:rPr lang="ko-KR" altLang="en-US" sz="1000" b="1" kern="1200">
              <a:solidFill>
                <a:schemeClr val="tx1"/>
              </a:solidFill>
            </a:rPr>
            <a:t>테스트</a:t>
          </a:r>
        </a:p>
      </dsp:txBody>
      <dsp:txXfrm>
        <a:off x="2661732" y="129725"/>
        <a:ext cx="915520" cy="460629"/>
      </dsp:txXfrm>
    </dsp:sp>
    <dsp:sp modelId="{8C3BBABE-51F9-4C59-9547-313CAA87AEEA}">
      <dsp:nvSpPr>
        <dsp:cNvPr id="0" name=""/>
        <dsp:cNvSpPr/>
      </dsp:nvSpPr>
      <dsp:spPr>
        <a:xfrm>
          <a:off x="3686001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3686001" y="289792"/>
        <a:ext cx="140116" cy="140495"/>
      </dsp:txXfrm>
    </dsp:sp>
    <dsp:sp modelId="{EF893FD3-4E80-4333-A2EA-1F0E3B701632}">
      <dsp:nvSpPr>
        <dsp:cNvPr id="0" name=""/>
        <dsp:cNvSpPr/>
      </dsp:nvSpPr>
      <dsp:spPr>
        <a:xfrm>
          <a:off x="3969256" y="115394"/>
          <a:ext cx="944182" cy="489291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TO-BE </a:t>
          </a:r>
          <a:r>
            <a:rPr lang="ko-KR" altLang="en-US" sz="1000" b="1" kern="1200">
              <a:solidFill>
                <a:schemeClr val="tx1"/>
              </a:solidFill>
            </a:rPr>
            <a:t>구축</a:t>
          </a:r>
        </a:p>
      </dsp:txBody>
      <dsp:txXfrm>
        <a:off x="3983587" y="129725"/>
        <a:ext cx="915520" cy="460629"/>
      </dsp:txXfrm>
    </dsp:sp>
    <dsp:sp modelId="{4576E717-8840-4FBA-93A2-26C7B2222638}">
      <dsp:nvSpPr>
        <dsp:cNvPr id="0" name=""/>
        <dsp:cNvSpPr/>
      </dsp:nvSpPr>
      <dsp:spPr>
        <a:xfrm>
          <a:off x="5007856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5007856" y="289792"/>
        <a:ext cx="140116" cy="140495"/>
      </dsp:txXfrm>
    </dsp:sp>
    <dsp:sp modelId="{C9409E38-85A2-435A-BEC8-37608786A1A1}">
      <dsp:nvSpPr>
        <dsp:cNvPr id="0" name=""/>
        <dsp:cNvSpPr/>
      </dsp:nvSpPr>
      <dsp:spPr>
        <a:xfrm>
          <a:off x="5291111" y="115394"/>
          <a:ext cx="944182" cy="489291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Application</a:t>
          </a:r>
          <a:br>
            <a:rPr lang="en-US" altLang="ko-KR" sz="1000" b="1" kern="1200" dirty="0">
              <a:solidFill>
                <a:schemeClr val="tx1"/>
              </a:solidFill>
            </a:rPr>
          </a:br>
          <a:r>
            <a:rPr lang="ko-KR" altLang="en-US" sz="1000" b="1" kern="1200">
              <a:solidFill>
                <a:schemeClr val="tx1"/>
              </a:solidFill>
            </a:rPr>
            <a:t>테스트</a:t>
          </a:r>
        </a:p>
      </dsp:txBody>
      <dsp:txXfrm>
        <a:off x="5305442" y="129725"/>
        <a:ext cx="915520" cy="460629"/>
      </dsp:txXfrm>
    </dsp:sp>
    <dsp:sp modelId="{84719D8C-3E4D-4A29-AA98-64CF8DAE86FA}">
      <dsp:nvSpPr>
        <dsp:cNvPr id="0" name=""/>
        <dsp:cNvSpPr/>
      </dsp:nvSpPr>
      <dsp:spPr>
        <a:xfrm>
          <a:off x="6329711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6329711" y="289792"/>
        <a:ext cx="140116" cy="140495"/>
      </dsp:txXfrm>
    </dsp:sp>
    <dsp:sp modelId="{94081662-8179-4646-874C-0C442DC11ED0}">
      <dsp:nvSpPr>
        <dsp:cNvPr id="0" name=""/>
        <dsp:cNvSpPr/>
      </dsp:nvSpPr>
      <dsp:spPr>
        <a:xfrm>
          <a:off x="6612966" y="115394"/>
          <a:ext cx="944182" cy="489291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서비스 오픈</a:t>
          </a:r>
        </a:p>
      </dsp:txBody>
      <dsp:txXfrm>
        <a:off x="6627297" y="129725"/>
        <a:ext cx="915520" cy="4606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0AD0FD-8F47-4AA3-895A-5AE73343844C}">
      <dsp:nvSpPr>
        <dsp:cNvPr id="0" name=""/>
        <dsp:cNvSpPr/>
      </dsp:nvSpPr>
      <dsp:spPr>
        <a:xfrm>
          <a:off x="3691" y="139867"/>
          <a:ext cx="944182" cy="440345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리스크 진단</a:t>
          </a:r>
        </a:p>
      </dsp:txBody>
      <dsp:txXfrm>
        <a:off x="16588" y="152764"/>
        <a:ext cx="918388" cy="414551"/>
      </dsp:txXfrm>
    </dsp:sp>
    <dsp:sp modelId="{75D343F2-764F-4F32-A3F3-5EDCF9618626}">
      <dsp:nvSpPr>
        <dsp:cNvPr id="0" name=""/>
        <dsp:cNvSpPr/>
      </dsp:nvSpPr>
      <dsp:spPr>
        <a:xfrm>
          <a:off x="1042292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b="1" kern="1200" dirty="0">
            <a:solidFill>
              <a:schemeClr val="tx1"/>
            </a:solidFill>
          </a:endParaRPr>
        </a:p>
      </dsp:txBody>
      <dsp:txXfrm>
        <a:off x="1042292" y="289792"/>
        <a:ext cx="140116" cy="140495"/>
      </dsp:txXfrm>
    </dsp:sp>
    <dsp:sp modelId="{46CDDC22-3C57-4C0D-8276-01AEFFD3891A}">
      <dsp:nvSpPr>
        <dsp:cNvPr id="0" name=""/>
        <dsp:cNvSpPr/>
      </dsp:nvSpPr>
      <dsp:spPr>
        <a:xfrm>
          <a:off x="1325546" y="149928"/>
          <a:ext cx="944182" cy="420222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개발계 구축</a:t>
          </a:r>
        </a:p>
      </dsp:txBody>
      <dsp:txXfrm>
        <a:off x="1337854" y="162236"/>
        <a:ext cx="919566" cy="395606"/>
      </dsp:txXfrm>
    </dsp:sp>
    <dsp:sp modelId="{5F4D5416-E7DC-4B78-8381-08FE699B238B}">
      <dsp:nvSpPr>
        <dsp:cNvPr id="0" name=""/>
        <dsp:cNvSpPr/>
      </dsp:nvSpPr>
      <dsp:spPr>
        <a:xfrm>
          <a:off x="2364146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000" b="1" kern="1200" dirty="0">
            <a:solidFill>
              <a:schemeClr val="tx1"/>
            </a:solidFill>
          </a:endParaRPr>
        </a:p>
      </dsp:txBody>
      <dsp:txXfrm>
        <a:off x="2364146" y="289792"/>
        <a:ext cx="140116" cy="140495"/>
      </dsp:txXfrm>
    </dsp:sp>
    <dsp:sp modelId="{CD2FE471-832A-4C8E-8827-011C5E8F0129}">
      <dsp:nvSpPr>
        <dsp:cNvPr id="0" name=""/>
        <dsp:cNvSpPr/>
      </dsp:nvSpPr>
      <dsp:spPr>
        <a:xfrm>
          <a:off x="2647401" y="149020"/>
          <a:ext cx="944182" cy="422038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Application</a:t>
          </a:r>
          <a:br>
            <a:rPr lang="en-US" altLang="ko-KR" sz="1000" b="1" kern="1200" dirty="0">
              <a:solidFill>
                <a:schemeClr val="tx1"/>
              </a:solidFill>
            </a:rPr>
          </a:br>
          <a:r>
            <a:rPr lang="ko-KR" altLang="en-US" sz="1000" b="1" kern="1200">
              <a:solidFill>
                <a:schemeClr val="tx1"/>
              </a:solidFill>
            </a:rPr>
            <a:t>테스트</a:t>
          </a:r>
        </a:p>
      </dsp:txBody>
      <dsp:txXfrm>
        <a:off x="2659762" y="161381"/>
        <a:ext cx="919460" cy="397316"/>
      </dsp:txXfrm>
    </dsp:sp>
    <dsp:sp modelId="{8C3BBABE-51F9-4C59-9547-313CAA87AEEA}">
      <dsp:nvSpPr>
        <dsp:cNvPr id="0" name=""/>
        <dsp:cNvSpPr/>
      </dsp:nvSpPr>
      <dsp:spPr>
        <a:xfrm>
          <a:off x="3686001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3686001" y="289792"/>
        <a:ext cx="140116" cy="140495"/>
      </dsp:txXfrm>
    </dsp:sp>
    <dsp:sp modelId="{EF893FD3-4E80-4333-A2EA-1F0E3B701632}">
      <dsp:nvSpPr>
        <dsp:cNvPr id="0" name=""/>
        <dsp:cNvSpPr/>
      </dsp:nvSpPr>
      <dsp:spPr>
        <a:xfrm>
          <a:off x="3969256" y="149020"/>
          <a:ext cx="944182" cy="422038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TO-BE </a:t>
          </a:r>
          <a:r>
            <a:rPr lang="ko-KR" altLang="en-US" sz="1000" b="1" kern="1200">
              <a:solidFill>
                <a:schemeClr val="tx1"/>
              </a:solidFill>
            </a:rPr>
            <a:t>구축</a:t>
          </a:r>
        </a:p>
      </dsp:txBody>
      <dsp:txXfrm>
        <a:off x="3981617" y="161381"/>
        <a:ext cx="919460" cy="397316"/>
      </dsp:txXfrm>
    </dsp:sp>
    <dsp:sp modelId="{4576E717-8840-4FBA-93A2-26C7B2222638}">
      <dsp:nvSpPr>
        <dsp:cNvPr id="0" name=""/>
        <dsp:cNvSpPr/>
      </dsp:nvSpPr>
      <dsp:spPr>
        <a:xfrm>
          <a:off x="5007856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5007856" y="289792"/>
        <a:ext cx="140116" cy="140495"/>
      </dsp:txXfrm>
    </dsp:sp>
    <dsp:sp modelId="{C9409E38-85A2-435A-BEC8-37608786A1A1}">
      <dsp:nvSpPr>
        <dsp:cNvPr id="0" name=""/>
        <dsp:cNvSpPr/>
      </dsp:nvSpPr>
      <dsp:spPr>
        <a:xfrm>
          <a:off x="5291111" y="149020"/>
          <a:ext cx="944182" cy="422038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000" b="1" kern="1200" dirty="0">
              <a:solidFill>
                <a:schemeClr val="tx1"/>
              </a:solidFill>
            </a:rPr>
            <a:t>Application</a:t>
          </a:r>
          <a:br>
            <a:rPr lang="en-US" altLang="ko-KR" sz="1000" b="1" kern="1200" dirty="0">
              <a:solidFill>
                <a:schemeClr val="tx1"/>
              </a:solidFill>
            </a:rPr>
          </a:br>
          <a:r>
            <a:rPr lang="ko-KR" altLang="en-US" sz="1000" b="1" kern="1200">
              <a:solidFill>
                <a:schemeClr val="tx1"/>
              </a:solidFill>
            </a:rPr>
            <a:t>테스트</a:t>
          </a:r>
        </a:p>
      </dsp:txBody>
      <dsp:txXfrm>
        <a:off x="5303472" y="161381"/>
        <a:ext cx="919460" cy="397316"/>
      </dsp:txXfrm>
    </dsp:sp>
    <dsp:sp modelId="{84719D8C-3E4D-4A29-AA98-64CF8DAE86FA}">
      <dsp:nvSpPr>
        <dsp:cNvPr id="0" name=""/>
        <dsp:cNvSpPr/>
      </dsp:nvSpPr>
      <dsp:spPr>
        <a:xfrm>
          <a:off x="6329711" y="242961"/>
          <a:ext cx="200166" cy="23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b="1" kern="1200" dirty="0">
            <a:solidFill>
              <a:schemeClr val="tx1"/>
            </a:solidFill>
          </a:endParaRPr>
        </a:p>
      </dsp:txBody>
      <dsp:txXfrm>
        <a:off x="6329711" y="289792"/>
        <a:ext cx="140116" cy="140495"/>
      </dsp:txXfrm>
    </dsp:sp>
    <dsp:sp modelId="{94081662-8179-4646-874C-0C442DC11ED0}">
      <dsp:nvSpPr>
        <dsp:cNvPr id="0" name=""/>
        <dsp:cNvSpPr/>
      </dsp:nvSpPr>
      <dsp:spPr>
        <a:xfrm>
          <a:off x="6612966" y="149020"/>
          <a:ext cx="944182" cy="422038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b="1" kern="1200" dirty="0">
              <a:solidFill>
                <a:schemeClr val="tx1"/>
              </a:solidFill>
            </a:rPr>
            <a:t>서비스 오픈</a:t>
          </a:r>
        </a:p>
      </dsp:txBody>
      <dsp:txXfrm>
        <a:off x="6625327" y="161381"/>
        <a:ext cx="919460" cy="3973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CD945E-2A5E-45F8-9250-A92D87BFD44A}">
      <dsp:nvSpPr>
        <dsp:cNvPr id="0" name=""/>
        <dsp:cNvSpPr/>
      </dsp:nvSpPr>
      <dsp:spPr>
        <a:xfrm>
          <a:off x="0" y="0"/>
          <a:ext cx="1688901" cy="566714"/>
        </a:xfrm>
        <a:prstGeom prst="homePlat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13335" bIns="2667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교육일정 계획수립</a:t>
          </a:r>
        </a:p>
      </dsp:txBody>
      <dsp:txXfrm>
        <a:off x="0" y="0"/>
        <a:ext cx="1547223" cy="566714"/>
      </dsp:txXfrm>
    </dsp:sp>
    <dsp:sp modelId="{47E6E161-E195-4335-80B1-CA0AC500AA80}">
      <dsp:nvSpPr>
        <dsp:cNvPr id="0" name=""/>
        <dsp:cNvSpPr/>
      </dsp:nvSpPr>
      <dsp:spPr>
        <a:xfrm>
          <a:off x="1347028" y="0"/>
          <a:ext cx="1688901" cy="566714"/>
        </a:xfrm>
        <a:prstGeom prst="chevron">
          <a:avLst/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shade val="51000"/>
                <a:satMod val="130000"/>
              </a:schemeClr>
            </a:gs>
            <a:gs pos="80000">
              <a:schemeClr val="accent5">
                <a:hueOff val="-2483469"/>
                <a:satOff val="9953"/>
                <a:lumOff val="2157"/>
                <a:alphaOff val="0"/>
                <a:shade val="93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교육대상자 선정</a:t>
          </a:r>
        </a:p>
      </dsp:txBody>
      <dsp:txXfrm>
        <a:off x="1630385" y="0"/>
        <a:ext cx="1122187" cy="566714"/>
      </dsp:txXfrm>
    </dsp:sp>
    <dsp:sp modelId="{39BF60FB-5718-4F75-B996-BD4411405DA0}">
      <dsp:nvSpPr>
        <dsp:cNvPr id="0" name=""/>
        <dsp:cNvSpPr/>
      </dsp:nvSpPr>
      <dsp:spPr>
        <a:xfrm>
          <a:off x="2698149" y="0"/>
          <a:ext cx="1688901" cy="566714"/>
        </a:xfrm>
        <a:prstGeom prst="chevron">
          <a:avLst/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shade val="51000"/>
                <a:satMod val="130000"/>
              </a:schemeClr>
            </a:gs>
            <a:gs pos="80000">
              <a:schemeClr val="accent5">
                <a:hueOff val="-4966938"/>
                <a:satOff val="19906"/>
                <a:lumOff val="4314"/>
                <a:alphaOff val="0"/>
                <a:shade val="93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교육훈련 환경구축</a:t>
          </a:r>
        </a:p>
      </dsp:txBody>
      <dsp:txXfrm>
        <a:off x="2981506" y="0"/>
        <a:ext cx="1122187" cy="566714"/>
      </dsp:txXfrm>
    </dsp:sp>
    <dsp:sp modelId="{D6FFD484-F7D2-4041-9B04-D84D5B80691E}">
      <dsp:nvSpPr>
        <dsp:cNvPr id="0" name=""/>
        <dsp:cNvSpPr/>
      </dsp:nvSpPr>
      <dsp:spPr>
        <a:xfrm>
          <a:off x="4049270" y="0"/>
          <a:ext cx="1688901" cy="566714"/>
        </a:xfrm>
        <a:prstGeom prst="chevron">
          <a:avLst/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shade val="51000"/>
                <a:satMod val="130000"/>
              </a:schemeClr>
            </a:gs>
            <a:gs pos="80000">
              <a:schemeClr val="accent5">
                <a:hueOff val="-7450407"/>
                <a:satOff val="29858"/>
                <a:lumOff val="6471"/>
                <a:alphaOff val="0"/>
                <a:shade val="93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교육실시</a:t>
          </a:r>
        </a:p>
      </dsp:txBody>
      <dsp:txXfrm>
        <a:off x="4332627" y="0"/>
        <a:ext cx="1122187" cy="566714"/>
      </dsp:txXfrm>
    </dsp:sp>
    <dsp:sp modelId="{437393B6-CDFE-4344-83DD-6B1415D4AE58}">
      <dsp:nvSpPr>
        <dsp:cNvPr id="0" name=""/>
        <dsp:cNvSpPr/>
      </dsp:nvSpPr>
      <dsp:spPr>
        <a:xfrm>
          <a:off x="5400391" y="0"/>
          <a:ext cx="1688901" cy="566714"/>
        </a:xfrm>
        <a:prstGeom prst="chevron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shade val="51000"/>
                <a:satMod val="130000"/>
              </a:schemeClr>
            </a:gs>
            <a:gs pos="80000">
              <a:schemeClr val="accent5">
                <a:hueOff val="-9933876"/>
                <a:satOff val="39811"/>
                <a:lumOff val="8628"/>
                <a:alphaOff val="0"/>
                <a:shade val="93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0005" tIns="26670" rIns="13335" bIns="26670" numCol="1" spcCol="1270" anchor="ctr" anchorCtr="0">
          <a:noAutofit/>
        </a:bodyPr>
        <a:lstStyle/>
        <a:p>
          <a:pPr marL="0" lvl="0" indent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000" kern="1200" dirty="0">
              <a:ln w="3175">
                <a:noFill/>
              </a:ln>
              <a:solidFill>
                <a:srgbClr val="FFFFFF"/>
              </a:solidFill>
              <a:effectLst>
                <a:glow rad="228600">
                  <a:schemeClr val="tx1">
                    <a:lumMod val="75000"/>
                    <a:lumOff val="25000"/>
                    <a:alpha val="76000"/>
                  </a:schemeClr>
                </a:glow>
              </a:effectLst>
              <a:latin typeface="맑은 고딕" panose="020B0503020000020004" pitchFamily="50" charset="-127"/>
              <a:ea typeface="맑은 고딕" panose="020B0503020000020004" pitchFamily="50" charset="-127"/>
            </a:rPr>
            <a:t>교육이후</a:t>
          </a:r>
          <a:endParaRPr lang="en-US" altLang="ko-KR" sz="1000" kern="1200" dirty="0">
            <a:ln w="3175">
              <a:noFill/>
            </a:ln>
            <a:solidFill>
              <a:srgbClr val="FFFFFF"/>
            </a:solidFill>
            <a:effectLst>
              <a:glow rad="228600">
                <a:schemeClr val="tx1">
                  <a:lumMod val="75000"/>
                  <a:lumOff val="25000"/>
                  <a:alpha val="76000"/>
                </a:schemeClr>
              </a:glow>
            </a:effectLst>
            <a:latin typeface="맑은 고딕" panose="020B0503020000020004" pitchFamily="50" charset="-127"/>
            <a:ea typeface="맑은 고딕" panose="020B0503020000020004" pitchFamily="50" charset="-127"/>
          </a:endParaRPr>
        </a:p>
      </dsp:txBody>
      <dsp:txXfrm>
        <a:off x="5683748" y="0"/>
        <a:ext cx="1122187" cy="566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CD55A8A-C9FB-425E-BBE2-3B9235B78695}" type="datetimeFigureOut">
              <a:rPr lang="ko-KR" altLang="en-US"/>
              <a:pPr>
                <a:defRPr/>
              </a:pPr>
              <a:t>2026-10-28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99BFB82-6743-43F4-BB51-AFECF5AC57A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3437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CE50973-8C91-4C51-83FA-CF7FFB322FD6}" type="datetimeFigureOut">
              <a:rPr lang="ko-KR" altLang="en-US"/>
              <a:pPr>
                <a:defRPr/>
              </a:pPr>
              <a:t>2026-10-28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3BCD8257-C2C7-4DE7-A570-F96415752EF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460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샘플 데이터 안내: 본 제안서의 고객사(한빛푸드/한빛정보통신)와 제안사(주식회사 아르케온클라우드)는 가상 회사이며, 투입 인력·인력 현황은 인력관리 샘플(CI팀) 데이터를 기준으로 작성되었습니다. 회사 주소·전화·사업자번호 등은 가상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CD8257-C2C7-4DE7-A570-F96415752EFC}" type="slidenum">
              <a:rPr lang="ko-KR" altLang="en-US"/>
              <a:pPr>
                <a:defRPr/>
              </a:pPr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416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982510C1-A4F6-48E1-88E2-62FB1B4C5FBA}" type="slidenum">
              <a:rPr lang="ko-KR" altLang="en-US" smtClean="0">
                <a:solidFill>
                  <a:srgbClr val="000000"/>
                </a:solidFill>
              </a:rPr>
              <a:pPr/>
              <a:t>2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950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CD8257-C2C7-4DE7-A570-F96415752EFC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6215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CD8257-C2C7-4DE7-A570-F96415752EFC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7334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CD8257-C2C7-4DE7-A570-F96415752EFC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830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982510C1-A4F6-48E1-88E2-62FB1B4C5FBA}" type="slidenum">
              <a:rPr lang="ko-KR" altLang="en-US" smtClean="0">
                <a:solidFill>
                  <a:srgbClr val="000000"/>
                </a:solidFill>
              </a:rPr>
              <a:pPr/>
              <a:t>7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9502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CD8257-C2C7-4DE7-A570-F96415752EFC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4620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982510C1-A4F6-48E1-88E2-62FB1B4C5FBA}" type="slidenum">
              <a:rPr lang="ko-KR" altLang="en-US" smtClean="0">
                <a:solidFill>
                  <a:srgbClr val="000000"/>
                </a:solidFill>
              </a:rPr>
              <a:pPr/>
              <a:t>15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399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16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359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17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22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18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852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19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3585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20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80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21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329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22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283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27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21F872F1-B4EB-4EF9-B06A-8E70F96F8E9B}" type="slidenum">
              <a:rPr lang="ko-KR" altLang="en-US" smtClean="0">
                <a:solidFill>
                  <a:srgbClr val="000000"/>
                </a:solidFill>
              </a:rPr>
              <a:pPr/>
              <a:t>23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1677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982510C1-A4F6-48E1-88E2-62FB1B4C5FBA}" type="slidenum">
              <a:rPr lang="ko-KR" altLang="en-US" smtClean="0">
                <a:solidFill>
                  <a:srgbClr val="000000"/>
                </a:solidFill>
              </a:rPr>
              <a:pPr/>
              <a:t>24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6746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6076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26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353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27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0555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28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7442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29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4615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30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175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31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3344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32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0975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33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0945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34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158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35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9377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36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9590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7475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20226C5-CBFA-43B4-BC8C-1C422CFCDC2C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37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8965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809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2305CD5-D545-452F-A7CF-50E15B253BC1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39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8545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809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2305CD5-D545-452F-A7CF-50E15B253BC1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40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276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150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fld id="{982510C1-A4F6-48E1-88E2-62FB1B4C5FBA}" type="slidenum">
              <a:rPr lang="ko-KR" altLang="en-US" smtClean="0">
                <a:solidFill>
                  <a:srgbClr val="000000"/>
                </a:solidFill>
              </a:rPr>
              <a:pPr/>
              <a:t>41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4155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82948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B0B8F52-18CF-4FB5-8DF0-58BF7C05F7B3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44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633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809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2305CD5-D545-452F-A7CF-50E15B253BC1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45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6275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809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2305CD5-D545-452F-A7CF-50E15B253BC1}" type="slidenum">
              <a:rPr lang="ko-KR" altLang="en-US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46</a:t>
            </a:fld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23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6350" y="3108325"/>
            <a:ext cx="9150350" cy="404813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-6350" y="0"/>
            <a:ext cx="9150350" cy="3417888"/>
          </a:xfrm>
          <a:prstGeom prst="rect">
            <a:avLst/>
          </a:prstGeom>
          <a:solidFill>
            <a:srgbClr val="B62448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6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453188"/>
            <a:ext cx="103346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63769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13506" y="2171616"/>
            <a:ext cx="8362950" cy="124834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323851" y="3572622"/>
            <a:ext cx="7272338" cy="1152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85501" y="6256998"/>
            <a:ext cx="1440119" cy="5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674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6350" y="1727200"/>
            <a:ext cx="9150350" cy="404813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-6350" y="0"/>
            <a:ext cx="9150350" cy="2060575"/>
          </a:xfrm>
          <a:prstGeom prst="rect">
            <a:avLst/>
          </a:prstGeom>
          <a:solidFill>
            <a:srgbClr val="B62448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6" name="세로 제목 1"/>
          <p:cNvSpPr txBox="1">
            <a:spLocks/>
          </p:cNvSpPr>
          <p:nvPr/>
        </p:nvSpPr>
        <p:spPr>
          <a:xfrm>
            <a:off x="312738" y="1393825"/>
            <a:ext cx="8362950" cy="7921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200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dirty="0">
                <a:solidFill>
                  <a:prstClr val="white"/>
                </a:solidFill>
              </a:rPr>
              <a:t>목 차</a:t>
            </a:r>
            <a:endParaRPr dirty="0">
              <a:solidFill>
                <a:prstClr val="white"/>
              </a:solidFill>
              <a:ea typeface="맑은 고딕"/>
            </a:endParaRPr>
          </a:p>
        </p:txBody>
      </p:sp>
      <p:pic>
        <p:nvPicPr>
          <p:cNvPr id="7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453188"/>
            <a:ext cx="103346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63769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312739" y="2184973"/>
            <a:ext cx="3827214" cy="3529013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4283968" y="2204247"/>
            <a:ext cx="3827214" cy="3529013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85501" y="6256998"/>
            <a:ext cx="1440119" cy="5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45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-6350" y="1727200"/>
            <a:ext cx="9150350" cy="404813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-6350" y="0"/>
            <a:ext cx="9150350" cy="2060575"/>
          </a:xfrm>
          <a:prstGeom prst="rect">
            <a:avLst/>
          </a:prstGeom>
          <a:solidFill>
            <a:srgbClr val="B62448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5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453188"/>
            <a:ext cx="103346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63769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6902" y="1211384"/>
            <a:ext cx="8229600" cy="1143000"/>
          </a:xfrm>
        </p:spPr>
        <p:txBody>
          <a:bodyPr rtlCol="0">
            <a:normAutofit/>
          </a:bodyPr>
          <a:lstStyle>
            <a:lvl1pPr algn="l">
              <a:defRPr lang="ko-KR" altLang="en-US" sz="2500" b="1"/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85501" y="6256998"/>
            <a:ext cx="1440119" cy="5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2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>
            <a:spLocks noChangeArrowheads="1"/>
          </p:cNvSpPr>
          <p:nvPr/>
        </p:nvSpPr>
        <p:spPr bwMode="auto">
          <a:xfrm>
            <a:off x="-6350" y="504825"/>
            <a:ext cx="915987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200" b="1" dirty="0">
              <a:solidFill>
                <a:srgbClr val="FFFFFF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-14288" y="6665913"/>
            <a:ext cx="9158288" cy="20161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127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83039" y="486882"/>
            <a:ext cx="7772400" cy="36004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ko-KR" altLang="en-US" dirty="0"/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4754" y="999396"/>
            <a:ext cx="6400800" cy="4320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346645" y="1541556"/>
            <a:ext cx="6121400" cy="2873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Tx/>
              <a:buNone/>
              <a:defRPr sz="15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2072" indent="0" algn="l">
              <a:lnSpc>
                <a:spcPct val="120000"/>
              </a:lnSpc>
              <a:buFontTx/>
              <a:buNone/>
              <a:defRPr sz="1400"/>
            </a:lvl2pPr>
            <a:lvl3pPr marL="182558" indent="0">
              <a:lnSpc>
                <a:spcPct val="120000"/>
              </a:lnSpc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449251" indent="-182558">
              <a:lnSpc>
                <a:spcPct val="120000"/>
              </a:lnSpc>
              <a:buFont typeface="Wingdings" pitchFamily="2" charset="2"/>
              <a:buChar char="l"/>
              <a:defRPr sz="1200" b="1">
                <a:solidFill>
                  <a:schemeClr val="bg1">
                    <a:lumMod val="50000"/>
                  </a:schemeClr>
                </a:solidFill>
              </a:defRPr>
            </a:lvl4pPr>
            <a:lvl5pPr marL="625459" indent="-123822">
              <a:lnSpc>
                <a:spcPct val="120000"/>
              </a:lnSpc>
              <a:buFont typeface="Wingdings" pitchFamily="2" charset="2"/>
              <a:buChar char="§"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4"/>
          </p:nvPr>
        </p:nvSpPr>
        <p:spPr>
          <a:xfrm>
            <a:off x="4330700" y="6583363"/>
            <a:ext cx="48418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392537-1D6E-4860-9BFD-C3A22EF96687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5"/>
          </p:nvPr>
        </p:nvSpPr>
        <p:spPr>
          <a:xfrm>
            <a:off x="-6350" y="6583363"/>
            <a:ext cx="2895600" cy="365125"/>
          </a:xfrm>
        </p:spPr>
        <p:txBody>
          <a:bodyPr/>
          <a:lstStyle>
            <a:lvl1pPr algn="l">
              <a:defRPr sz="1000" b="1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7734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-6350" y="1727200"/>
            <a:ext cx="9150350" cy="404813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-6350" y="0"/>
            <a:ext cx="9150350" cy="2060575"/>
          </a:xfrm>
          <a:prstGeom prst="rect">
            <a:avLst/>
          </a:prstGeom>
          <a:solidFill>
            <a:srgbClr val="B62448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5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385520"/>
            <a:ext cx="103346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6309320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6902" y="1211384"/>
            <a:ext cx="8229600" cy="1143000"/>
          </a:xfrm>
        </p:spPr>
        <p:txBody>
          <a:bodyPr rtlCol="0">
            <a:normAutofit/>
          </a:bodyPr>
          <a:lstStyle>
            <a:lvl1pPr algn="l">
              <a:defRPr lang="ko-KR" altLang="en-US" sz="2500" b="1"/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85501" y="6093296"/>
            <a:ext cx="1440119" cy="5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/>
        </p:nvSpPr>
        <p:spPr>
          <a:xfrm>
            <a:off x="-6032" y="3107753"/>
            <a:ext cx="9150033" cy="404664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19" name="직사각형 18"/>
          <p:cNvSpPr/>
          <p:nvPr/>
        </p:nvSpPr>
        <p:spPr>
          <a:xfrm>
            <a:off x="-6029" y="7"/>
            <a:ext cx="9150032" cy="3417951"/>
          </a:xfrm>
          <a:prstGeom prst="rect">
            <a:avLst/>
          </a:prstGeom>
          <a:solidFill>
            <a:srgbClr val="B62448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13507" y="2171619"/>
            <a:ext cx="8362950" cy="1248345"/>
          </a:xfrm>
        </p:spPr>
        <p:txBody>
          <a:bodyPr vert="horz"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323851" y="3572622"/>
            <a:ext cx="7272338" cy="1152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72" y="6385629"/>
            <a:ext cx="1033314" cy="16372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502" y="6309320"/>
            <a:ext cx="1749704" cy="38408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85501" y="6093296"/>
            <a:ext cx="1440119" cy="50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1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>
            <a:spLocks noChangeArrowheads="1"/>
          </p:cNvSpPr>
          <p:nvPr/>
        </p:nvSpPr>
        <p:spPr bwMode="auto">
          <a:xfrm>
            <a:off x="-6350" y="504825"/>
            <a:ext cx="915987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200" b="1" dirty="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83039" y="486882"/>
            <a:ext cx="7772400" cy="36004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ko-KR" alt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4754" y="999396"/>
            <a:ext cx="6400800" cy="4320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346645" y="1541556"/>
            <a:ext cx="6121400" cy="2873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Tx/>
              <a:buNone/>
              <a:defRPr sz="15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2072" indent="0" algn="l">
              <a:lnSpc>
                <a:spcPct val="120000"/>
              </a:lnSpc>
              <a:buFontTx/>
              <a:buNone/>
              <a:defRPr sz="1400"/>
            </a:lvl2pPr>
            <a:lvl3pPr marL="182558" indent="0">
              <a:lnSpc>
                <a:spcPct val="120000"/>
              </a:lnSpc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449251" indent="-182558">
              <a:lnSpc>
                <a:spcPct val="120000"/>
              </a:lnSpc>
              <a:buFont typeface="Wingdings" pitchFamily="2" charset="2"/>
              <a:buChar char="l"/>
              <a:defRPr sz="1200" b="1">
                <a:solidFill>
                  <a:schemeClr val="bg1">
                    <a:lumMod val="50000"/>
                  </a:schemeClr>
                </a:solidFill>
              </a:defRPr>
            </a:lvl4pPr>
            <a:lvl5pPr marL="625459" indent="-123822">
              <a:lnSpc>
                <a:spcPct val="120000"/>
              </a:lnSpc>
              <a:buFont typeface="Wingdings" pitchFamily="2" charset="2"/>
              <a:buChar char="§"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4"/>
          </p:nvPr>
        </p:nvSpPr>
        <p:spPr>
          <a:xfrm>
            <a:off x="8369300" y="6584950"/>
            <a:ext cx="75565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F103F-D3B6-41B7-ACDE-FE88EFA04BF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5"/>
          </p:nvPr>
        </p:nvSpPr>
        <p:spPr>
          <a:xfrm>
            <a:off x="-6350" y="6583363"/>
            <a:ext cx="2895600" cy="365125"/>
          </a:xfrm>
        </p:spPr>
        <p:txBody>
          <a:bodyPr/>
          <a:lstStyle>
            <a:lvl1pPr algn="l">
              <a:defRPr sz="1000" b="1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1860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>
            <a:spLocks noChangeArrowheads="1"/>
          </p:cNvSpPr>
          <p:nvPr/>
        </p:nvSpPr>
        <p:spPr bwMode="auto">
          <a:xfrm>
            <a:off x="-6350" y="504825"/>
            <a:ext cx="915987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defRPr/>
            </a:pPr>
            <a:endParaRPr lang="ko-KR" altLang="en-US" sz="2200" b="1" dirty="0">
              <a:solidFill>
                <a:srgbClr val="FFFFFF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83039" y="486882"/>
            <a:ext cx="7772400" cy="36004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lang="ko-KR" alt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304754" y="999396"/>
            <a:ext cx="6400800" cy="43204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1"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346645" y="1541556"/>
            <a:ext cx="6121400" cy="2873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Tx/>
              <a:buNone/>
              <a:defRPr sz="15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2072" indent="0" algn="l">
              <a:lnSpc>
                <a:spcPct val="120000"/>
              </a:lnSpc>
              <a:buFontTx/>
              <a:buNone/>
              <a:defRPr sz="1400"/>
            </a:lvl2pPr>
            <a:lvl3pPr marL="182558" indent="0">
              <a:lnSpc>
                <a:spcPct val="120000"/>
              </a:lnSpc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 marL="449251" indent="-182558">
              <a:lnSpc>
                <a:spcPct val="120000"/>
              </a:lnSpc>
              <a:buFont typeface="Wingdings" pitchFamily="2" charset="2"/>
              <a:buChar char="l"/>
              <a:defRPr sz="1200" b="1">
                <a:solidFill>
                  <a:schemeClr val="bg1">
                    <a:lumMod val="50000"/>
                  </a:schemeClr>
                </a:solidFill>
              </a:defRPr>
            </a:lvl4pPr>
            <a:lvl5pPr marL="625459" indent="-123822">
              <a:lnSpc>
                <a:spcPct val="120000"/>
              </a:lnSpc>
              <a:buFont typeface="Wingdings" pitchFamily="2" charset="2"/>
              <a:buChar char="§"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4"/>
          </p:nvPr>
        </p:nvSpPr>
        <p:spPr>
          <a:xfrm>
            <a:off x="8369300" y="6584950"/>
            <a:ext cx="75565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7ED88-B6DD-4308-AABC-62BAE5989880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5"/>
          </p:nvPr>
        </p:nvSpPr>
        <p:spPr>
          <a:xfrm>
            <a:off x="-6350" y="6583363"/>
            <a:ext cx="2895600" cy="365125"/>
          </a:xfrm>
        </p:spPr>
        <p:txBody>
          <a:bodyPr/>
          <a:lstStyle>
            <a:lvl1pPr algn="l">
              <a:defRPr sz="1000" b="1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pPr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15745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6350" y="3108325"/>
            <a:ext cx="9150350" cy="404813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-6350" y="0"/>
            <a:ext cx="9150350" cy="3417888"/>
          </a:xfrm>
          <a:prstGeom prst="rect">
            <a:avLst/>
          </a:prstGeom>
          <a:solidFill>
            <a:srgbClr val="00A4EF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6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453188"/>
            <a:ext cx="103346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63769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13506" y="2171616"/>
            <a:ext cx="8362950" cy="124834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323851" y="3572622"/>
            <a:ext cx="7272338" cy="11525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3524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-6350" y="1727200"/>
            <a:ext cx="9150350" cy="404813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-6350" y="0"/>
            <a:ext cx="9150350" cy="2060575"/>
          </a:xfrm>
          <a:prstGeom prst="rect">
            <a:avLst/>
          </a:prstGeom>
          <a:solidFill>
            <a:srgbClr val="00A4EF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6" name="세로 제목 1"/>
          <p:cNvSpPr txBox="1">
            <a:spLocks/>
          </p:cNvSpPr>
          <p:nvPr/>
        </p:nvSpPr>
        <p:spPr>
          <a:xfrm>
            <a:off x="312738" y="1393825"/>
            <a:ext cx="8362950" cy="7921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3200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solidFill>
                  <a:prstClr val="white"/>
                </a:solidFill>
              </a:rPr>
              <a:t>Contents</a:t>
            </a:r>
            <a:endParaRPr dirty="0">
              <a:solidFill>
                <a:prstClr val="white"/>
              </a:solidFill>
              <a:ea typeface="맑은 고딕" panose="020B0503020000020004" pitchFamily="50" charset="-127"/>
            </a:endParaRPr>
          </a:p>
        </p:txBody>
      </p:sp>
      <p:pic>
        <p:nvPicPr>
          <p:cNvPr id="7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453188"/>
            <a:ext cx="103346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63769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312739" y="2184973"/>
            <a:ext cx="3827214" cy="3529013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4283968" y="2204247"/>
            <a:ext cx="3827214" cy="3529013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73569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-6350" y="1727200"/>
            <a:ext cx="9150350" cy="404813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-6350" y="0"/>
            <a:ext cx="9150350" cy="2060575"/>
          </a:xfrm>
          <a:prstGeom prst="rect">
            <a:avLst/>
          </a:prstGeom>
          <a:solidFill>
            <a:srgbClr val="00A4EF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pic>
        <p:nvPicPr>
          <p:cNvPr id="5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6453188"/>
            <a:ext cx="1033463" cy="16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13" y="63769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6902" y="1211384"/>
            <a:ext cx="8229600" cy="1143000"/>
          </a:xfrm>
        </p:spPr>
        <p:txBody>
          <a:bodyPr rtlCol="0">
            <a:normAutofit/>
          </a:bodyPr>
          <a:lstStyle>
            <a:lvl1pPr algn="l">
              <a:defRPr lang="ko-KR" altLang="en-US" sz="2500" b="1"/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23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:\TechData\이미지\TechDat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483350"/>
            <a:ext cx="1169988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43528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4906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TechData\이미지\TechData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396875"/>
            <a:ext cx="1169988" cy="1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435280" cy="634082"/>
          </a:xfrm>
        </p:spPr>
        <p:txBody>
          <a:bodyPr>
            <a:normAutofit/>
          </a:bodyPr>
          <a:lstStyle>
            <a:lvl1pPr algn="l">
              <a:defRPr sz="3200" b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179388" y="981075"/>
            <a:ext cx="8785225" cy="5327650"/>
          </a:xfrm>
        </p:spPr>
        <p:txBody>
          <a:bodyPr>
            <a:normAutofit/>
          </a:bodyPr>
          <a:lstStyle>
            <a:lvl1pPr marL="342900" indent="-342900">
              <a:lnSpc>
                <a:spcPct val="150000"/>
              </a:lnSpc>
              <a:buFont typeface="Wingdings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742950" indent="-285750">
              <a:lnSpc>
                <a:spcPct val="150000"/>
              </a:lnSpc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2pPr>
            <a:lvl3pPr marL="1143000" indent="-228600">
              <a:lnSpc>
                <a:spcPct val="150000"/>
              </a:lnSpc>
              <a:buFont typeface="Arial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 marL="1600200" indent="-228600">
              <a:lnSpc>
                <a:spcPct val="150000"/>
              </a:lnSpc>
              <a:buFont typeface="Wingdings" pitchFamily="2" charset="2"/>
              <a:buChar char="v"/>
              <a:defRPr sz="1200">
                <a:solidFill>
                  <a:schemeClr val="tx1"/>
                </a:solidFill>
              </a:defRPr>
            </a:lvl4pPr>
            <a:lvl5pPr marL="2057400" indent="-228600">
              <a:lnSpc>
                <a:spcPct val="150000"/>
              </a:lnSpc>
              <a:buFont typeface="Wingdings" pitchFamily="2" charset="2"/>
              <a:buChar char="ü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4"/>
          </p:nvPr>
        </p:nvSpPr>
        <p:spPr>
          <a:xfrm>
            <a:off x="3505200" y="6448425"/>
            <a:ext cx="2133600" cy="365125"/>
          </a:xfrm>
        </p:spPr>
        <p:txBody>
          <a:bodyPr/>
          <a:lstStyle>
            <a:lvl1pPr algn="ctr">
              <a:defRPr sz="1000"/>
            </a:lvl1pPr>
          </a:lstStyle>
          <a:p>
            <a:pPr>
              <a:defRPr/>
            </a:pPr>
            <a:fld id="{071C2408-4BB4-4A93-840F-64A4BEC521A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50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323850" y="63087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lang="en-US" altLang="ko-KR" sz="1200" kern="1200">
                <a:solidFill>
                  <a:prstClr val="white">
                    <a:lumMod val="50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99968914-27DA-4FC3-B805-2B942F4EE580}" type="datetime1">
              <a:rPr lang="ko-KR" altLang="en-US"/>
              <a:pPr>
                <a:defRPr/>
              </a:pPr>
              <a:t>2026-10-28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8BAC55B-C71F-491E-8700-055BDB9E57DD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1030" name="텍스트 개체 틀 10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5" r:id="rId1"/>
    <p:sldLayoutId id="2147484036" r:id="rId2"/>
    <p:sldLayoutId id="2147484037" r:id="rId3"/>
  </p:sldLayoutIdLst>
  <p:hf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lang="ko-KR" altLang="en-US"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defRPr lang="ko-KR" altLang="en-US" sz="1500" b="1" kern="1200">
          <a:solidFill>
            <a:srgbClr val="404040"/>
          </a:solidFill>
          <a:latin typeface="+mn-lt"/>
          <a:ea typeface="+mn-ea"/>
          <a:cs typeface="+mn-cs"/>
        </a:defRPr>
      </a:lvl1pPr>
      <a:lvl2pPr marL="90488" indent="173038" algn="l" defTabSz="912813" rtl="0" eaLnBrk="0" fontAlgn="base" latinLnBrk="1" hangingPunct="0">
        <a:spcBef>
          <a:spcPct val="20000"/>
        </a:spcBef>
        <a:spcAft>
          <a:spcPct val="0"/>
        </a:spcAft>
        <a:buFont typeface="맑은 고딕" panose="020B0503020000020004" pitchFamily="50" charset="-127"/>
        <a:buAutoNum type="arabicPeriod"/>
        <a:tabLst>
          <a:tab pos="355600" algn="l"/>
        </a:tabLst>
        <a:defRPr lang="ko-KR" altLang="en-US"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265113" indent="88900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200" kern="1200">
          <a:solidFill>
            <a:srgbClr val="7F7F7F"/>
          </a:solidFill>
          <a:latin typeface="+mn-lt"/>
          <a:ea typeface="+mn-ea"/>
          <a:cs typeface="+mn-cs"/>
        </a:defRPr>
      </a:lvl3pPr>
      <a:lvl4pPr marL="514350" indent="-15716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200" b="1" kern="1200">
          <a:solidFill>
            <a:srgbClr val="7F7F7F"/>
          </a:solidFill>
          <a:latin typeface="+mn-lt"/>
          <a:ea typeface="+mn-ea"/>
          <a:cs typeface="+mn-cs"/>
        </a:defRPr>
      </a:lvl4pPr>
      <a:lvl5pPr marL="655638" indent="-115888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›"/>
        <a:defRPr lang="ko-KR" altLang="en-US" sz="1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-6350" y="504825"/>
            <a:ext cx="9159875" cy="403225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2051" name="제목 개체 틀 1"/>
          <p:cNvSpPr>
            <a:spLocks noGrp="1"/>
          </p:cNvSpPr>
          <p:nvPr>
            <p:ph type="title"/>
          </p:nvPr>
        </p:nvSpPr>
        <p:spPr bwMode="auto">
          <a:xfrm>
            <a:off x="260350" y="485775"/>
            <a:ext cx="82296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2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82575" y="1052513"/>
            <a:ext cx="86804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-7938" y="0"/>
            <a:ext cx="9158288" cy="504825"/>
          </a:xfrm>
          <a:prstGeom prst="rect">
            <a:avLst/>
          </a:prstGeom>
          <a:solidFill>
            <a:srgbClr val="B62448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-14288" y="6665913"/>
            <a:ext cx="9158288" cy="201612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dist="12700" dir="162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2250" y="658336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lang="ko-KR" altLang="en-US" sz="1000" b="1">
                <a:solidFill>
                  <a:prstClr val="black">
                    <a:tint val="75000"/>
                  </a:prstClr>
                </a:solidFill>
                <a:latin typeface="+mn-lt"/>
                <a:ea typeface="맑은 고딕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596188" y="6583363"/>
            <a:ext cx="86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311D78A-BF28-493F-A2BC-6CF3BB8F8E87}" type="datetime1">
              <a:rPr lang="ko-KR" altLang="en-US"/>
              <a:pPr>
                <a:defRPr/>
              </a:pPr>
              <a:t>2026-10-28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32813" y="6600825"/>
            <a:ext cx="4937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72BD488A-E226-4A6B-9149-AA6A2D4273AC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pic>
        <p:nvPicPr>
          <p:cNvPr id="2058" name="그림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93675"/>
            <a:ext cx="1033463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9" name="그림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1158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46" r:id="rId2"/>
    <p:sldLayoutId id="2147484047" r:id="rId3"/>
  </p:sldLayoutIdLst>
  <p:hf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lang="ko-KR" altLang="en-US" sz="2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500" b="1" kern="1200">
          <a:solidFill>
            <a:srgbClr val="404040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200" kern="1200">
          <a:solidFill>
            <a:srgbClr val="7F7F7F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200" b="1" kern="1200">
          <a:solidFill>
            <a:srgbClr val="7F7F7F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lang="ko-KR" altLang="en-US" sz="1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-6350" y="504825"/>
            <a:ext cx="9159875" cy="403225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3075" name="제목 개체 틀 1"/>
          <p:cNvSpPr>
            <a:spLocks noGrp="1"/>
          </p:cNvSpPr>
          <p:nvPr>
            <p:ph type="title"/>
          </p:nvPr>
        </p:nvSpPr>
        <p:spPr bwMode="auto">
          <a:xfrm>
            <a:off x="260350" y="485775"/>
            <a:ext cx="82296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6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82575" y="1052513"/>
            <a:ext cx="86804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-7938" y="0"/>
            <a:ext cx="9158288" cy="504825"/>
          </a:xfrm>
          <a:prstGeom prst="rect">
            <a:avLst/>
          </a:prstGeom>
          <a:solidFill>
            <a:srgbClr val="FFB90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2250" y="658336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lang="ko-KR" altLang="en-US" sz="1000" b="1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596188" y="6583363"/>
            <a:ext cx="86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D9E8CD19-A0CD-4D22-8D6A-0D54470CA1AD}" type="datetime1">
              <a:rPr lang="ko-KR" altLang="en-US"/>
              <a:pPr>
                <a:defRPr/>
              </a:pPr>
              <a:t>2026-10-28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32813" y="6600825"/>
            <a:ext cx="4937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4818279B-FFA8-4852-9D70-0EEB79BF2491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pic>
        <p:nvPicPr>
          <p:cNvPr id="3081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93675"/>
            <a:ext cx="1033463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그림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1158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</p:sldLayoutIdLst>
  <p:hf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lang="ko-KR" altLang="en-US" sz="2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500" b="1" kern="1200">
          <a:solidFill>
            <a:srgbClr val="404040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200" kern="1200">
          <a:solidFill>
            <a:srgbClr val="7F7F7F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200" b="1" kern="1200">
          <a:solidFill>
            <a:srgbClr val="7F7F7F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lang="ko-KR" altLang="en-US" sz="1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-6350" y="504825"/>
            <a:ext cx="9159875" cy="403225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4099" name="제목 개체 틀 1"/>
          <p:cNvSpPr>
            <a:spLocks noGrp="1"/>
          </p:cNvSpPr>
          <p:nvPr>
            <p:ph type="title"/>
          </p:nvPr>
        </p:nvSpPr>
        <p:spPr bwMode="auto">
          <a:xfrm>
            <a:off x="260350" y="485775"/>
            <a:ext cx="82296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4100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82575" y="1052513"/>
            <a:ext cx="86804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-7938" y="0"/>
            <a:ext cx="9158288" cy="504825"/>
          </a:xfrm>
          <a:prstGeom prst="rect">
            <a:avLst/>
          </a:prstGeom>
          <a:solidFill>
            <a:srgbClr val="00A4EF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22250" y="658336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 lang="ko-KR" altLang="en-US" sz="1000" b="1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596188" y="6583363"/>
            <a:ext cx="86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890B44-15CA-4650-9FAD-1B541A8EBFE7}" type="datetime1">
              <a:rPr lang="ko-KR" altLang="en-US"/>
              <a:pPr>
                <a:defRPr/>
              </a:pPr>
              <a:t>2026-10-28</a:t>
            </a:fld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532813" y="6600825"/>
            <a:ext cx="4937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rgbClr val="595959"/>
                </a:solidFill>
              </a:defRPr>
            </a:lvl1pPr>
          </a:lstStyle>
          <a:p>
            <a:pPr>
              <a:defRPr/>
            </a:pPr>
            <a:fld id="{32EB917F-C176-403E-A820-75A12E9CCA8F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pic>
        <p:nvPicPr>
          <p:cNvPr id="4105" name="그림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93675"/>
            <a:ext cx="1033463" cy="16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그림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3" y="115888"/>
            <a:ext cx="17494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</p:sldLayoutIdLst>
  <p:hf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lang="ko-KR" altLang="en-US" sz="2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2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500" b="1" kern="1200">
          <a:solidFill>
            <a:srgbClr val="404040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200" kern="1200">
          <a:solidFill>
            <a:srgbClr val="7F7F7F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200" b="1" kern="1200">
          <a:solidFill>
            <a:srgbClr val="7F7F7F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lang="ko-KR" altLang="en-US" sz="1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2"/>
          </p:nvPr>
        </p:nvSpPr>
        <p:spPr>
          <a:xfrm>
            <a:off x="323850" y="630872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lang="en-US" altLang="ko-KR" sz="1200" kern="1200">
                <a:solidFill>
                  <a:prstClr val="white">
                    <a:lumMod val="50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32CF08A-B2FE-4E30-993C-2ECEE00B40C6}" type="datetime1">
              <a:rPr lang="ko-KR" altLang="en-US"/>
              <a:pPr>
                <a:defRPr/>
              </a:pPr>
              <a:t>2026-10-28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041ABDA-90C1-46E3-A3B8-7296F3E4D77C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sp>
        <p:nvSpPr>
          <p:cNvPr id="5126" name="텍스트 개체 틀 10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</p:sldLayoutIdLst>
  <p:hf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lang="ko-KR" altLang="en-US" sz="32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2900" indent="-342900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defRPr lang="ko-KR" altLang="en-US" sz="1500" b="1" kern="1200">
          <a:solidFill>
            <a:srgbClr val="404040"/>
          </a:solidFill>
          <a:latin typeface="+mn-lt"/>
          <a:ea typeface="+mn-ea"/>
          <a:cs typeface="+mn-cs"/>
        </a:defRPr>
      </a:lvl1pPr>
      <a:lvl2pPr marL="90488" indent="173038" algn="l" defTabSz="912813" rtl="0" eaLnBrk="0" fontAlgn="base" latinLnBrk="1" hangingPunct="0">
        <a:spcBef>
          <a:spcPct val="20000"/>
        </a:spcBef>
        <a:spcAft>
          <a:spcPct val="0"/>
        </a:spcAft>
        <a:buFont typeface="맑은 고딕" panose="020B0503020000020004" pitchFamily="50" charset="-127"/>
        <a:buAutoNum type="arabicPeriod"/>
        <a:tabLst>
          <a:tab pos="355600" algn="l"/>
        </a:tabLst>
        <a:defRPr lang="ko-KR" altLang="en-US"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265113" indent="88900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lang="ko-KR" altLang="en-US" sz="1200" kern="1200">
          <a:solidFill>
            <a:srgbClr val="7F7F7F"/>
          </a:solidFill>
          <a:latin typeface="+mn-lt"/>
          <a:ea typeface="+mn-ea"/>
          <a:cs typeface="+mn-cs"/>
        </a:defRPr>
      </a:lvl3pPr>
      <a:lvl4pPr marL="514350" indent="-15716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lang="ko-KR" altLang="en-US" sz="1200" b="1" kern="1200">
          <a:solidFill>
            <a:srgbClr val="7F7F7F"/>
          </a:solidFill>
          <a:latin typeface="+mn-lt"/>
          <a:ea typeface="+mn-ea"/>
          <a:cs typeface="+mn-cs"/>
        </a:defRPr>
      </a:lvl4pPr>
      <a:lvl5pPr marL="655638" indent="-115888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›"/>
        <a:defRPr lang="ko-KR" altLang="en-US" sz="1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orient="vert"/>
          </p:nvPr>
        </p:nvSpPr>
        <p:spPr>
          <a:xfrm>
            <a:off x="0" y="2781300"/>
            <a:ext cx="9144000" cy="647700"/>
          </a:xfrm>
        </p:spPr>
        <p:txBody>
          <a:bodyPr rtlCol="0"/>
          <a:lstStyle/>
          <a:p>
            <a:pPr defTabSz="914377" eaLnBrk="1" fontAlgn="auto" hangingPunct="1">
              <a:spcAft>
                <a:spcPts val="0"/>
              </a:spcAft>
              <a:defRPr/>
            </a:pPr>
            <a:r>
              <a:rPr lang="en-US" altLang="ko-KR" sz="3000" dirty="0">
                <a:latin typeface="+mn-ea"/>
                <a:ea typeface="+mn-ea"/>
                <a:cs typeface="Calibri" pitchFamily="34" charset="0"/>
              </a:rPr>
              <a:t>한빛정보통신</a:t>
            </a:r>
            <a:endParaRPr sz="3000" dirty="0">
              <a:latin typeface="+mn-ea"/>
              <a:ea typeface="+mn-ea"/>
              <a:cs typeface="Calibri" pitchFamily="34" charset="0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0" y="3517106"/>
            <a:ext cx="9144000" cy="6477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377" rtl="0" eaLnBrk="1" latinLnBrk="1" hangingPunct="1">
              <a:spcBef>
                <a:spcPct val="0"/>
              </a:spcBef>
              <a:buNone/>
              <a:defRPr lang="ko-KR" altLang="en-US"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ko-KR" altLang="en-US" sz="3200" dirty="0">
                <a:solidFill>
                  <a:schemeClr val="tx1"/>
                </a:solidFill>
              </a:rPr>
              <a:t>한빛푸드 IT 인프라 효율화 사업</a:t>
            </a:r>
            <a:endParaRPr dirty="0">
              <a:solidFill>
                <a:schemeClr val="tx1"/>
              </a:solidFill>
              <a:latin typeface="+mn-ea"/>
              <a:ea typeface="+mn-ea"/>
              <a:cs typeface="Calibri" pitchFamily="34" charset="0"/>
            </a:endParaRPr>
          </a:p>
        </p:txBody>
      </p:sp>
      <p:sp>
        <p:nvSpPr>
          <p:cNvPr id="19460" name="부제목 3"/>
          <p:cNvSpPr txBox="1">
            <a:spLocks/>
          </p:cNvSpPr>
          <p:nvPr/>
        </p:nvSpPr>
        <p:spPr bwMode="auto">
          <a:xfrm>
            <a:off x="1908175" y="4900613"/>
            <a:ext cx="5143500" cy="97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</a:pPr>
            <a:r>
              <a:rPr kumimoji="1" lang="en-US" altLang="ko-KR" sz="1600" dirty="0"/>
              <a:t>2015. 03</a:t>
            </a:r>
          </a:p>
        </p:txBody>
      </p:sp>
      <p:sp>
        <p:nvSpPr>
          <p:cNvPr id="82562" name="brand_footer">
            <a:extLst>
              <a:ext uri="{FF2B5EF4-FFF2-40B4-BE49-F238E27FC236}">
                <a16:creationId xmlns:a16="http://schemas.microsoft.com/office/drawing/2014/main" id="{5DC54093-62B8-76EB-74C6-9D305DDC04EB}"/>
              </a:ext>
            </a:extLst>
          </p:cNvPr>
          <p:cNvSpPr/>
          <p:nvPr/>
        </p:nvSpPr>
        <p:spPr>
          <a:xfrm>
            <a:off x="270000" y="640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600" name="client_footer">
            <a:extLst>
              <a:ext uri="{FF2B5EF4-FFF2-40B4-BE49-F238E27FC236}">
                <a16:creationId xmlns:a16="http://schemas.microsoft.com/office/drawing/2014/main" id="{E0A26000-E6AA-75A8-02F3-C9EEB20471D9}"/>
              </a:ext>
            </a:extLst>
          </p:cNvPr>
          <p:cNvSpPr/>
          <p:nvPr/>
        </p:nvSpPr>
        <p:spPr>
          <a:xfrm>
            <a:off x="7680000" y="6270000"/>
            <a:ext cx="1440000" cy="47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그룹 1"/>
          <p:cNvGrpSpPr>
            <a:grpSpLocks/>
          </p:cNvGrpSpPr>
          <p:nvPr/>
        </p:nvGrpSpPr>
        <p:grpSpPr bwMode="auto">
          <a:xfrm>
            <a:off x="971550" y="2565400"/>
            <a:ext cx="5926138" cy="506413"/>
            <a:chOff x="3395663" y="1916832"/>
            <a:chExt cx="5926137" cy="506412"/>
          </a:xfrm>
        </p:grpSpPr>
        <p:sp>
          <p:nvSpPr>
            <p:cNvPr id="20503" name="AutoShape 26"/>
            <p:cNvSpPr>
              <a:spLocks noChangeArrowheads="1"/>
            </p:cNvSpPr>
            <p:nvPr/>
          </p:nvSpPr>
          <p:spPr bwMode="auto">
            <a:xfrm>
              <a:off x="3398838" y="1937469"/>
              <a:ext cx="3836318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0504" name="Rectangle 34"/>
            <p:cNvSpPr>
              <a:spLocks noChangeArrowheads="1"/>
            </p:cNvSpPr>
            <p:nvPr/>
          </p:nvSpPr>
          <p:spPr bwMode="auto">
            <a:xfrm>
              <a:off x="4492625" y="1940644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제안개요</a:t>
              </a:r>
            </a:p>
          </p:txBody>
        </p:sp>
        <p:pic>
          <p:nvPicPr>
            <p:cNvPr id="20505" name="Picture 35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1931119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6" name="Rectangle 43"/>
            <p:cNvSpPr>
              <a:spLocks noChangeArrowheads="1"/>
            </p:cNvSpPr>
            <p:nvPr/>
          </p:nvSpPr>
          <p:spPr bwMode="auto">
            <a:xfrm>
              <a:off x="3600450" y="1916832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Ⅰ.</a:t>
              </a:r>
            </a:p>
          </p:txBody>
        </p:sp>
      </p:grpSp>
      <p:grpSp>
        <p:nvGrpSpPr>
          <p:cNvPr id="20483" name="그룹 2"/>
          <p:cNvGrpSpPr>
            <a:grpSpLocks/>
          </p:cNvGrpSpPr>
          <p:nvPr/>
        </p:nvGrpSpPr>
        <p:grpSpPr bwMode="auto">
          <a:xfrm>
            <a:off x="971550" y="3214688"/>
            <a:ext cx="3838575" cy="504825"/>
            <a:chOff x="3395663" y="2564904"/>
            <a:chExt cx="3839493" cy="504825"/>
          </a:xfrm>
        </p:grpSpPr>
        <p:sp>
          <p:nvSpPr>
            <p:cNvPr id="20500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501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2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Ⅱ.</a:t>
              </a:r>
            </a:p>
          </p:txBody>
        </p:sp>
      </p:grpSp>
      <p:grpSp>
        <p:nvGrpSpPr>
          <p:cNvPr id="20484" name="그룹 3"/>
          <p:cNvGrpSpPr>
            <a:grpSpLocks/>
          </p:cNvGrpSpPr>
          <p:nvPr/>
        </p:nvGrpSpPr>
        <p:grpSpPr bwMode="auto">
          <a:xfrm>
            <a:off x="969963" y="3862388"/>
            <a:ext cx="5926137" cy="520700"/>
            <a:chOff x="3391684" y="3212976"/>
            <a:chExt cx="5926138" cy="520700"/>
          </a:xfrm>
        </p:grpSpPr>
        <p:sp>
          <p:nvSpPr>
            <p:cNvPr id="20496" name="AutoShape 27"/>
            <p:cNvSpPr>
              <a:spLocks noChangeArrowheads="1"/>
            </p:cNvSpPr>
            <p:nvPr/>
          </p:nvSpPr>
          <p:spPr bwMode="auto">
            <a:xfrm>
              <a:off x="3391684" y="3216151"/>
              <a:ext cx="3841081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497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1684" y="3212976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8" name="Rectangle 47"/>
            <p:cNvSpPr>
              <a:spLocks noChangeArrowheads="1"/>
            </p:cNvSpPr>
            <p:nvPr/>
          </p:nvSpPr>
          <p:spPr bwMode="auto">
            <a:xfrm>
              <a:off x="4488647" y="3217739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제안내용</a:t>
              </a:r>
            </a:p>
          </p:txBody>
        </p:sp>
        <p:sp>
          <p:nvSpPr>
            <p:cNvPr id="20499" name="Rectangle 43"/>
            <p:cNvSpPr>
              <a:spLocks noChangeArrowheads="1"/>
            </p:cNvSpPr>
            <p:nvPr/>
          </p:nvSpPr>
          <p:spPr bwMode="auto">
            <a:xfrm>
              <a:off x="3607584" y="3228851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Ⅲ.</a:t>
              </a:r>
            </a:p>
          </p:txBody>
        </p:sp>
      </p:grpSp>
      <p:grpSp>
        <p:nvGrpSpPr>
          <p:cNvPr id="20485" name="그룹 4"/>
          <p:cNvGrpSpPr>
            <a:grpSpLocks/>
          </p:cNvGrpSpPr>
          <p:nvPr/>
        </p:nvGrpSpPr>
        <p:grpSpPr bwMode="auto">
          <a:xfrm>
            <a:off x="969963" y="4494213"/>
            <a:ext cx="5926137" cy="506412"/>
            <a:chOff x="3398817" y="3844404"/>
            <a:chExt cx="5926137" cy="506412"/>
          </a:xfrm>
        </p:grpSpPr>
        <p:sp>
          <p:nvSpPr>
            <p:cNvPr id="20492" name="AutoShape 26"/>
            <p:cNvSpPr>
              <a:spLocks noChangeArrowheads="1"/>
            </p:cNvSpPr>
            <p:nvPr/>
          </p:nvSpPr>
          <p:spPr bwMode="auto">
            <a:xfrm>
              <a:off x="3401993" y="3865041"/>
              <a:ext cx="3837905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0493" name="Rectangle 34"/>
            <p:cNvSpPr>
              <a:spLocks noChangeArrowheads="1"/>
            </p:cNvSpPr>
            <p:nvPr/>
          </p:nvSpPr>
          <p:spPr bwMode="auto">
            <a:xfrm>
              <a:off x="4495779" y="3868216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사업관리 및 지원 내용</a:t>
              </a:r>
            </a:p>
          </p:txBody>
        </p:sp>
        <p:pic>
          <p:nvPicPr>
            <p:cNvPr id="20494" name="Picture 35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8817" y="3858691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5" name="Rectangle 43"/>
            <p:cNvSpPr>
              <a:spLocks noChangeArrowheads="1"/>
            </p:cNvSpPr>
            <p:nvPr/>
          </p:nvSpPr>
          <p:spPr bwMode="auto">
            <a:xfrm>
              <a:off x="3603604" y="38444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Ⅳ.</a:t>
              </a:r>
            </a:p>
          </p:txBody>
        </p:sp>
      </p:grpSp>
      <p:grpSp>
        <p:nvGrpSpPr>
          <p:cNvPr id="20486" name="그룹 5"/>
          <p:cNvGrpSpPr>
            <a:grpSpLocks/>
          </p:cNvGrpSpPr>
          <p:nvPr/>
        </p:nvGrpSpPr>
        <p:grpSpPr bwMode="auto">
          <a:xfrm>
            <a:off x="969963" y="5141913"/>
            <a:ext cx="5929312" cy="504825"/>
            <a:chOff x="3398817" y="4492476"/>
            <a:chExt cx="5929312" cy="504825"/>
          </a:xfrm>
        </p:grpSpPr>
        <p:sp>
          <p:nvSpPr>
            <p:cNvPr id="20488" name="AutoShape 27"/>
            <p:cNvSpPr>
              <a:spLocks noChangeArrowheads="1"/>
            </p:cNvSpPr>
            <p:nvPr/>
          </p:nvSpPr>
          <p:spPr bwMode="auto">
            <a:xfrm>
              <a:off x="3398817" y="4500414"/>
              <a:ext cx="3841080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489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8817" y="4497239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0" name="Rectangle 47"/>
            <p:cNvSpPr>
              <a:spLocks noChangeArrowheads="1"/>
            </p:cNvSpPr>
            <p:nvPr/>
          </p:nvSpPr>
          <p:spPr bwMode="auto">
            <a:xfrm>
              <a:off x="4498954" y="4509939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특별 제안</a:t>
              </a:r>
            </a:p>
          </p:txBody>
        </p:sp>
        <p:sp>
          <p:nvSpPr>
            <p:cNvPr id="20491" name="Rectangle 43"/>
            <p:cNvSpPr>
              <a:spLocks noChangeArrowheads="1"/>
            </p:cNvSpPr>
            <p:nvPr/>
          </p:nvSpPr>
          <p:spPr bwMode="auto">
            <a:xfrm>
              <a:off x="3587729" y="4492476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Ⅴ.</a:t>
              </a:r>
            </a:p>
          </p:txBody>
        </p:sp>
      </p:grpSp>
      <p:sp>
        <p:nvSpPr>
          <p:cNvPr id="20487" name="Rectangle 34"/>
          <p:cNvSpPr>
            <a:spLocks noChangeArrowheads="1"/>
          </p:cNvSpPr>
          <p:nvPr/>
        </p:nvSpPr>
        <p:spPr bwMode="auto">
          <a:xfrm>
            <a:off x="2066925" y="3232150"/>
            <a:ext cx="48291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/>
              <a:t>제안업체 일반</a:t>
            </a:r>
          </a:p>
        </p:txBody>
      </p:sp>
      <p:sp>
        <p:nvSpPr>
          <p:cNvPr id="82639" name="brand_footer">
            <a:extLst>
              <a:ext uri="{FF2B5EF4-FFF2-40B4-BE49-F238E27FC236}">
                <a16:creationId xmlns:a16="http://schemas.microsoft.com/office/drawing/2014/main" id="{2CE1CC66-0A00-D9AB-C77C-9DF72C331050}"/>
              </a:ext>
            </a:extLst>
          </p:cNvPr>
          <p:cNvSpPr/>
          <p:nvPr/>
        </p:nvSpPr>
        <p:spPr>
          <a:xfrm>
            <a:off x="270000" y="640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679" name="client_footer">
            <a:extLst>
              <a:ext uri="{FF2B5EF4-FFF2-40B4-BE49-F238E27FC236}">
                <a16:creationId xmlns:a16="http://schemas.microsoft.com/office/drawing/2014/main" id="{BA200C7A-2CD7-F9B6-2B06-A23FB739F7FF}"/>
              </a:ext>
            </a:extLst>
          </p:cNvPr>
          <p:cNvSpPr/>
          <p:nvPr/>
        </p:nvSpPr>
        <p:spPr>
          <a:xfrm>
            <a:off x="7680000" y="6270000"/>
            <a:ext cx="1440000" cy="47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306902" y="1211384"/>
            <a:ext cx="8229600" cy="1143000"/>
          </a:xfrm>
        </p:spPr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제안 개요</a:t>
            </a:r>
          </a:p>
        </p:txBody>
      </p:sp>
      <p:grpSp>
        <p:nvGrpSpPr>
          <p:cNvPr id="4" name="그룹 1"/>
          <p:cNvGrpSpPr>
            <a:grpSpLocks/>
          </p:cNvGrpSpPr>
          <p:nvPr/>
        </p:nvGrpSpPr>
        <p:grpSpPr bwMode="auto">
          <a:xfrm>
            <a:off x="971550" y="2565400"/>
            <a:ext cx="5926138" cy="506413"/>
            <a:chOff x="3395663" y="1916832"/>
            <a:chExt cx="5926137" cy="506412"/>
          </a:xfrm>
        </p:grpSpPr>
        <p:sp>
          <p:nvSpPr>
            <p:cNvPr id="5" name="AutoShape 26"/>
            <p:cNvSpPr>
              <a:spLocks noChangeArrowheads="1"/>
            </p:cNvSpPr>
            <p:nvPr/>
          </p:nvSpPr>
          <p:spPr bwMode="auto">
            <a:xfrm>
              <a:off x="3398838" y="1937469"/>
              <a:ext cx="3836318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6" name="Rectangle 34"/>
            <p:cNvSpPr>
              <a:spLocks noChangeArrowheads="1"/>
            </p:cNvSpPr>
            <p:nvPr/>
          </p:nvSpPr>
          <p:spPr bwMode="auto">
            <a:xfrm>
              <a:off x="4492625" y="1940644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제안 목적</a:t>
              </a:r>
            </a:p>
          </p:txBody>
        </p:sp>
        <p:pic>
          <p:nvPicPr>
            <p:cNvPr id="7" name="Picture 35" descr="num"/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1931119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43"/>
            <p:cNvSpPr>
              <a:spLocks noChangeArrowheads="1"/>
            </p:cNvSpPr>
            <p:nvPr/>
          </p:nvSpPr>
          <p:spPr bwMode="auto">
            <a:xfrm>
              <a:off x="3600450" y="1916832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1.</a:t>
              </a:r>
            </a:p>
          </p:txBody>
        </p:sp>
      </p:grpSp>
      <p:grpSp>
        <p:nvGrpSpPr>
          <p:cNvPr id="9" name="그룹 2"/>
          <p:cNvGrpSpPr>
            <a:grpSpLocks/>
          </p:cNvGrpSpPr>
          <p:nvPr/>
        </p:nvGrpSpPr>
        <p:grpSpPr bwMode="auto">
          <a:xfrm>
            <a:off x="971550" y="3214688"/>
            <a:ext cx="3838575" cy="504825"/>
            <a:chOff x="3395663" y="2564904"/>
            <a:chExt cx="3839493" cy="504825"/>
          </a:xfrm>
        </p:grpSpPr>
        <p:sp>
          <p:nvSpPr>
            <p:cNvPr id="10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11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2.</a:t>
              </a:r>
            </a:p>
          </p:txBody>
        </p:sp>
      </p:grpSp>
      <p:grpSp>
        <p:nvGrpSpPr>
          <p:cNvPr id="13" name="그룹 3"/>
          <p:cNvGrpSpPr>
            <a:grpSpLocks/>
          </p:cNvGrpSpPr>
          <p:nvPr/>
        </p:nvGrpSpPr>
        <p:grpSpPr bwMode="auto">
          <a:xfrm>
            <a:off x="969963" y="3862388"/>
            <a:ext cx="5926137" cy="520700"/>
            <a:chOff x="3391684" y="3212976"/>
            <a:chExt cx="5926138" cy="520700"/>
          </a:xfrm>
        </p:grpSpPr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>
              <a:off x="3391684" y="3216151"/>
              <a:ext cx="3841081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15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1684" y="3212976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47"/>
            <p:cNvSpPr>
              <a:spLocks noChangeArrowheads="1"/>
            </p:cNvSpPr>
            <p:nvPr/>
          </p:nvSpPr>
          <p:spPr bwMode="auto">
            <a:xfrm>
              <a:off x="4488647" y="3217739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제안 특장점</a:t>
              </a: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3607584" y="3228851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3.</a:t>
              </a:r>
            </a:p>
          </p:txBody>
        </p:sp>
      </p:grp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2066925" y="3232150"/>
            <a:ext cx="48291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/>
              <a:t>제안 범위</a:t>
            </a:r>
          </a:p>
        </p:txBody>
      </p:sp>
      <p:sp>
        <p:nvSpPr>
          <p:cNvPr id="82720" name="brand_footer">
            <a:extLst>
              <a:ext uri="{FF2B5EF4-FFF2-40B4-BE49-F238E27FC236}">
                <a16:creationId xmlns:a16="http://schemas.microsoft.com/office/drawing/2014/main" id="{3B436A1B-F374-BAD5-491A-4382C24F9522}"/>
              </a:ext>
            </a:extLst>
          </p:cNvPr>
          <p:cNvSpPr/>
          <p:nvPr/>
        </p:nvSpPr>
        <p:spPr>
          <a:xfrm>
            <a:off x="270000" y="640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762" name="client_footer">
            <a:extLst>
              <a:ext uri="{FF2B5EF4-FFF2-40B4-BE49-F238E27FC236}">
                <a16:creationId xmlns:a16="http://schemas.microsoft.com/office/drawing/2014/main" id="{0A2BA1D2-FA3C-AA1A-E836-E2F44CA9FF68}"/>
              </a:ext>
            </a:extLst>
          </p:cNvPr>
          <p:cNvSpPr/>
          <p:nvPr/>
        </p:nvSpPr>
        <p:spPr>
          <a:xfrm>
            <a:off x="7680000" y="6270000"/>
            <a:ext cx="1440000" cy="47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5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제목 2"/>
          <p:cNvSpPr txBox="1">
            <a:spLocks/>
          </p:cNvSpPr>
          <p:nvPr/>
        </p:nvSpPr>
        <p:spPr bwMode="auto">
          <a:xfrm>
            <a:off x="282575" y="487363"/>
            <a:ext cx="227320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개요</a:t>
            </a:r>
          </a:p>
        </p:txBody>
      </p:sp>
      <p:sp>
        <p:nvSpPr>
          <p:cNvPr id="72" name="제목 2"/>
          <p:cNvSpPr txBox="1">
            <a:spLocks/>
          </p:cNvSpPr>
          <p:nvPr/>
        </p:nvSpPr>
        <p:spPr bwMode="auto">
          <a:xfrm>
            <a:off x="7668344" y="519609"/>
            <a:ext cx="1475656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범위</a:t>
            </a:r>
          </a:p>
        </p:txBody>
      </p:sp>
      <p:sp>
        <p:nvSpPr>
          <p:cNvPr id="74" name="Text Box 93"/>
          <p:cNvSpPr txBox="1">
            <a:spLocks noChangeArrowheads="1"/>
          </p:cNvSpPr>
          <p:nvPr/>
        </p:nvSpPr>
        <p:spPr bwMode="auto">
          <a:xfrm>
            <a:off x="428342" y="950280"/>
            <a:ext cx="8391808" cy="62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</a:pPr>
            <a:r>
              <a:rPr lang="ko-KR" altLang="en-US" b="1" dirty="0">
                <a:gradFill>
                  <a:gsLst>
                    <a:gs pos="100000">
                      <a:schemeClr val="tx1"/>
                    </a:gs>
                    <a:gs pos="100000">
                      <a:srgbClr val="DADAFF"/>
                    </a:gs>
                    <a:gs pos="100000">
                      <a:srgbClr val="9999FF"/>
                    </a:gs>
                  </a:gsLst>
                  <a:lin ang="27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한빛푸드 환경의 이해를 바탕으로 Active Directory 인프라 개선 및 Windows 서버 Migration, 데이터베이스 서버 이관,  이와 관련된 정확하고 신속한 기술 지원 3가지 영역으로 나누어 안정화된 시스템 운영 환경을 업그레이드 합니다.</a:t>
            </a:r>
          </a:p>
        </p:txBody>
      </p:sp>
      <p:grpSp>
        <p:nvGrpSpPr>
          <p:cNvPr id="131" name="그룹 105"/>
          <p:cNvGrpSpPr>
            <a:grpSpLocks/>
          </p:cNvGrpSpPr>
          <p:nvPr/>
        </p:nvGrpSpPr>
        <p:grpSpPr bwMode="auto">
          <a:xfrm>
            <a:off x="381000" y="1844824"/>
            <a:ext cx="8439150" cy="225425"/>
            <a:chOff x="381001" y="2051222"/>
            <a:chExt cx="8439470" cy="225650"/>
          </a:xfrm>
        </p:grpSpPr>
        <p:sp>
          <p:nvSpPr>
            <p:cNvPr id="132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제안 목적 및 범위</a:t>
              </a:r>
            </a:p>
          </p:txBody>
        </p:sp>
        <p:grpSp>
          <p:nvGrpSpPr>
            <p:cNvPr id="133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34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35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36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2" name="Oval 501"/>
          <p:cNvSpPr>
            <a:spLocks noChangeArrowheads="1"/>
          </p:cNvSpPr>
          <p:nvPr/>
        </p:nvSpPr>
        <p:spPr bwMode="auto">
          <a:xfrm>
            <a:off x="2626649" y="2388857"/>
            <a:ext cx="3756025" cy="2103438"/>
          </a:xfrm>
          <a:prstGeom prst="ellipse">
            <a:avLst/>
          </a:prstGeom>
          <a:gradFill rotWithShape="0">
            <a:gsLst>
              <a:gs pos="0">
                <a:srgbClr val="E8F0FE"/>
              </a:gs>
              <a:gs pos="100000">
                <a:srgbClr val="B4CCFC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50000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eaLnBrk="1" latinLnBrk="1" hangingPunct="1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AutoShape 59"/>
          <p:cNvSpPr>
            <a:spLocks noChangeArrowheads="1"/>
          </p:cNvSpPr>
          <p:nvPr/>
        </p:nvSpPr>
        <p:spPr bwMode="auto">
          <a:xfrm rot="10800000" flipV="1">
            <a:off x="2728813" y="2355802"/>
            <a:ext cx="3490913" cy="676001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264D9A"/>
              </a:gs>
              <a:gs pos="100000">
                <a:srgbClr val="5B78B3"/>
              </a:gs>
            </a:gsLst>
            <a:lin ang="5400000" scaled="1"/>
          </a:gradFill>
          <a:ln>
            <a:noFill/>
          </a:ln>
        </p:spPr>
        <p:txBody>
          <a:bodyPr wrap="square" anchor="ctr">
            <a:spAutoFit/>
          </a:bodyPr>
          <a:lstStyle/>
          <a:p>
            <a:pPr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ko-KR" altLang="en-US" sz="1600" b="1" kern="0" dirty="0">
                <a:solidFill>
                  <a:srgbClr val="FFFFFF"/>
                </a:solidFill>
              </a:rPr>
              <a:t>안정적인 인프라 환경과 효율적인 시스템 운영 환경</a:t>
            </a:r>
          </a:p>
        </p:txBody>
      </p:sp>
      <p:sp>
        <p:nvSpPr>
          <p:cNvPr id="14" name="AutoShape 104"/>
          <p:cNvSpPr>
            <a:spLocks noChangeArrowheads="1"/>
          </p:cNvSpPr>
          <p:nvPr/>
        </p:nvSpPr>
        <p:spPr bwMode="auto">
          <a:xfrm flipH="1" flipV="1">
            <a:off x="2329604" y="4101950"/>
            <a:ext cx="4322763" cy="112713"/>
          </a:xfrm>
          <a:custGeom>
            <a:avLst/>
            <a:gdLst>
              <a:gd name="G0" fmla="+- 1226 0 0"/>
              <a:gd name="G1" fmla="+- 21600 0 1226"/>
              <a:gd name="G2" fmla="*/ 1226 1 2"/>
              <a:gd name="G3" fmla="+- 21600 0 G2"/>
              <a:gd name="G4" fmla="+/ 1226 21600 2"/>
              <a:gd name="G5" fmla="+/ G1 0 2"/>
              <a:gd name="G6" fmla="*/ 21600 21600 1226"/>
              <a:gd name="G7" fmla="*/ G6 1 2"/>
              <a:gd name="G8" fmla="+- 21600 0 G7"/>
              <a:gd name="G9" fmla="*/ 21600 1 2"/>
              <a:gd name="G10" fmla="+- 1226 0 G9"/>
              <a:gd name="G11" fmla="?: G10 G8 0"/>
              <a:gd name="G12" fmla="?: G10 G7 21600"/>
              <a:gd name="T0" fmla="*/ 20987 w 21600"/>
              <a:gd name="T1" fmla="*/ 10800 h 21600"/>
              <a:gd name="T2" fmla="*/ 10800 w 21600"/>
              <a:gd name="T3" fmla="*/ 21600 h 21600"/>
              <a:gd name="T4" fmla="*/ 613 w 21600"/>
              <a:gd name="T5" fmla="*/ 10800 h 21600"/>
              <a:gd name="T6" fmla="*/ 10800 w 21600"/>
              <a:gd name="T7" fmla="*/ 0 h 21600"/>
              <a:gd name="T8" fmla="*/ 2413 w 21600"/>
              <a:gd name="T9" fmla="*/ 2413 h 21600"/>
              <a:gd name="T10" fmla="*/ 19187 w 21600"/>
              <a:gd name="T11" fmla="*/ 1918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1226" y="21600"/>
                </a:lnTo>
                <a:lnTo>
                  <a:pt x="20374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chemeClr val="bg1">
                  <a:gamma/>
                  <a:shade val="89804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latinLnBrk="1" hangingPunct="1">
              <a:defRPr/>
            </a:pPr>
            <a:endParaRPr lang="ko-KR" altLang="en-US" dirty="0"/>
          </a:p>
        </p:txBody>
      </p:sp>
      <p:sp>
        <p:nvSpPr>
          <p:cNvPr id="15" name="AutoShape 103"/>
          <p:cNvSpPr>
            <a:spLocks noChangeArrowheads="1"/>
          </p:cNvSpPr>
          <p:nvPr/>
        </p:nvSpPr>
        <p:spPr bwMode="auto">
          <a:xfrm flipH="1" flipV="1">
            <a:off x="2329604" y="4182913"/>
            <a:ext cx="4322763" cy="114300"/>
          </a:xfrm>
          <a:custGeom>
            <a:avLst/>
            <a:gdLst>
              <a:gd name="G0" fmla="+- 1226 0 0"/>
              <a:gd name="G1" fmla="+- 21600 0 1226"/>
              <a:gd name="G2" fmla="*/ 1226 1 2"/>
              <a:gd name="G3" fmla="+- 21600 0 G2"/>
              <a:gd name="G4" fmla="+/ 1226 21600 2"/>
              <a:gd name="G5" fmla="+/ G1 0 2"/>
              <a:gd name="G6" fmla="*/ 21600 21600 1226"/>
              <a:gd name="G7" fmla="*/ G6 1 2"/>
              <a:gd name="G8" fmla="+- 21600 0 G7"/>
              <a:gd name="G9" fmla="*/ 21600 1 2"/>
              <a:gd name="G10" fmla="+- 1226 0 G9"/>
              <a:gd name="G11" fmla="?: G10 G8 0"/>
              <a:gd name="G12" fmla="?: G10 G7 21600"/>
              <a:gd name="T0" fmla="*/ 20987 w 21600"/>
              <a:gd name="T1" fmla="*/ 10800 h 21600"/>
              <a:gd name="T2" fmla="*/ 10800 w 21600"/>
              <a:gd name="T3" fmla="*/ 21600 h 21600"/>
              <a:gd name="T4" fmla="*/ 613 w 21600"/>
              <a:gd name="T5" fmla="*/ 10800 h 21600"/>
              <a:gd name="T6" fmla="*/ 10800 w 21600"/>
              <a:gd name="T7" fmla="*/ 0 h 21600"/>
              <a:gd name="T8" fmla="*/ 2413 w 21600"/>
              <a:gd name="T9" fmla="*/ 2413 h 21600"/>
              <a:gd name="T10" fmla="*/ 19187 w 21600"/>
              <a:gd name="T11" fmla="*/ 1918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1226" y="21600"/>
                </a:lnTo>
                <a:lnTo>
                  <a:pt x="20374" y="21600"/>
                </a:lnTo>
                <a:lnTo>
                  <a:pt x="21600" y="0"/>
                </a:lnTo>
                <a:close/>
              </a:path>
            </a:pathLst>
          </a:custGeom>
          <a:gradFill rotWithShape="0">
            <a:gsLst>
              <a:gs pos="0">
                <a:schemeClr val="bg1">
                  <a:gamma/>
                  <a:shade val="89804"/>
                  <a:invGamma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latinLnBrk="1" hangingPunct="1">
              <a:defRPr/>
            </a:pPr>
            <a:endParaRPr lang="ko-KR" altLang="en-US" dirty="0"/>
          </a:p>
        </p:txBody>
      </p:sp>
      <p:sp>
        <p:nvSpPr>
          <p:cNvPr id="16" name="Freeform 158"/>
          <p:cNvSpPr>
            <a:spLocks/>
          </p:cNvSpPr>
          <p:nvPr/>
        </p:nvSpPr>
        <p:spPr bwMode="auto">
          <a:xfrm>
            <a:off x="2906467" y="3922087"/>
            <a:ext cx="509588" cy="1995743"/>
          </a:xfrm>
          <a:custGeom>
            <a:avLst/>
            <a:gdLst>
              <a:gd name="T0" fmla="*/ 2147483646 w 321"/>
              <a:gd name="T1" fmla="*/ 2147483646 h 1092"/>
              <a:gd name="T2" fmla="*/ 2147483646 w 321"/>
              <a:gd name="T3" fmla="*/ 0 h 1092"/>
              <a:gd name="T4" fmla="*/ 2147483646 w 321"/>
              <a:gd name="T5" fmla="*/ 2147483646 h 1092"/>
              <a:gd name="T6" fmla="*/ 0 w 321"/>
              <a:gd name="T7" fmla="*/ 2147483646 h 1092"/>
              <a:gd name="T8" fmla="*/ 2147483646 w 321"/>
              <a:gd name="T9" fmla="*/ 2147483646 h 1092"/>
              <a:gd name="T10" fmla="*/ 2147483646 w 321"/>
              <a:gd name="T11" fmla="*/ 2147483646 h 10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21" h="1092">
                <a:moveTo>
                  <a:pt x="3" y="249"/>
                </a:moveTo>
                <a:lnTo>
                  <a:pt x="321" y="0"/>
                </a:lnTo>
                <a:lnTo>
                  <a:pt x="310" y="449"/>
                </a:lnTo>
                <a:lnTo>
                  <a:pt x="0" y="1092"/>
                </a:lnTo>
                <a:lnTo>
                  <a:pt x="3" y="1026"/>
                </a:lnTo>
                <a:lnTo>
                  <a:pt x="3" y="249"/>
                </a:lnTo>
                <a:close/>
              </a:path>
            </a:pathLst>
          </a:custGeom>
          <a:gradFill rotWithShape="0">
            <a:gsLst>
              <a:gs pos="0">
                <a:srgbClr val="99C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50000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Freeform 105"/>
          <p:cNvSpPr>
            <a:spLocks/>
          </p:cNvSpPr>
          <p:nvPr/>
        </p:nvSpPr>
        <p:spPr bwMode="auto">
          <a:xfrm>
            <a:off x="650542" y="3949550"/>
            <a:ext cx="2785044" cy="441325"/>
          </a:xfrm>
          <a:custGeom>
            <a:avLst/>
            <a:gdLst>
              <a:gd name="T0" fmla="*/ 0 w 1885"/>
              <a:gd name="T1" fmla="*/ 2147483646 h 180"/>
              <a:gd name="T2" fmla="*/ 2147483646 w 1885"/>
              <a:gd name="T3" fmla="*/ 0 h 180"/>
              <a:gd name="T4" fmla="*/ 2147483646 w 1885"/>
              <a:gd name="T5" fmla="*/ 2147483646 h 180"/>
              <a:gd name="T6" fmla="*/ 2147483646 w 1885"/>
              <a:gd name="T7" fmla="*/ 2147483646 h 180"/>
              <a:gd name="T8" fmla="*/ 0 w 1885"/>
              <a:gd name="T9" fmla="*/ 2147483646 h 1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85" h="180">
                <a:moveTo>
                  <a:pt x="0" y="176"/>
                </a:moveTo>
                <a:lnTo>
                  <a:pt x="437" y="0"/>
                </a:lnTo>
                <a:lnTo>
                  <a:pt x="1885" y="4"/>
                </a:lnTo>
                <a:lnTo>
                  <a:pt x="1505" y="180"/>
                </a:lnTo>
                <a:lnTo>
                  <a:pt x="0" y="176"/>
                </a:lnTo>
                <a:close/>
              </a:path>
            </a:pathLst>
          </a:custGeom>
          <a:gradFill rotWithShape="0">
            <a:gsLst>
              <a:gs pos="0">
                <a:srgbClr val="E9E9E9"/>
              </a:gs>
              <a:gs pos="100000">
                <a:srgbClr val="99CC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50000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Freeform 106"/>
          <p:cNvSpPr>
            <a:spLocks/>
          </p:cNvSpPr>
          <p:nvPr/>
        </p:nvSpPr>
        <p:spPr bwMode="auto">
          <a:xfrm flipH="1">
            <a:off x="5383958" y="3931732"/>
            <a:ext cx="2235200" cy="441325"/>
          </a:xfrm>
          <a:custGeom>
            <a:avLst/>
            <a:gdLst>
              <a:gd name="T0" fmla="*/ 0 w 1885"/>
              <a:gd name="T1" fmla="*/ 2147483646 h 180"/>
              <a:gd name="T2" fmla="*/ 2147483646 w 1885"/>
              <a:gd name="T3" fmla="*/ 0 h 180"/>
              <a:gd name="T4" fmla="*/ 2147483646 w 1885"/>
              <a:gd name="T5" fmla="*/ 2147483646 h 180"/>
              <a:gd name="T6" fmla="*/ 2147483646 w 1885"/>
              <a:gd name="T7" fmla="*/ 2147483646 h 180"/>
              <a:gd name="T8" fmla="*/ 0 w 1885"/>
              <a:gd name="T9" fmla="*/ 2147483646 h 1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85" h="180">
                <a:moveTo>
                  <a:pt x="0" y="176"/>
                </a:moveTo>
                <a:lnTo>
                  <a:pt x="437" y="0"/>
                </a:lnTo>
                <a:lnTo>
                  <a:pt x="1885" y="4"/>
                </a:lnTo>
                <a:lnTo>
                  <a:pt x="1505" y="180"/>
                </a:lnTo>
                <a:lnTo>
                  <a:pt x="0" y="176"/>
                </a:lnTo>
                <a:close/>
              </a:path>
            </a:pathLst>
          </a:custGeom>
          <a:gradFill rotWithShape="0">
            <a:gsLst>
              <a:gs pos="0">
                <a:srgbClr val="7FBFFF"/>
              </a:gs>
              <a:gs pos="100000">
                <a:srgbClr val="E4F1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50000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Freeform 107"/>
          <p:cNvSpPr>
            <a:spLocks/>
          </p:cNvSpPr>
          <p:nvPr/>
        </p:nvSpPr>
        <p:spPr bwMode="auto">
          <a:xfrm>
            <a:off x="5303616" y="3855406"/>
            <a:ext cx="503238" cy="1975106"/>
          </a:xfrm>
          <a:custGeom>
            <a:avLst/>
            <a:gdLst>
              <a:gd name="T0" fmla="*/ 2147483646 w 317"/>
              <a:gd name="T1" fmla="*/ 2147483646 h 1122"/>
              <a:gd name="T2" fmla="*/ 0 w 317"/>
              <a:gd name="T3" fmla="*/ 0 h 1122"/>
              <a:gd name="T4" fmla="*/ 0 w 317"/>
              <a:gd name="T5" fmla="*/ 2147483646 h 1122"/>
              <a:gd name="T6" fmla="*/ 2147483646 w 317"/>
              <a:gd name="T7" fmla="*/ 2147483646 h 1122"/>
              <a:gd name="T8" fmla="*/ 2147483646 w 317"/>
              <a:gd name="T9" fmla="*/ 2147483646 h 11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7" h="1122">
                <a:moveTo>
                  <a:pt x="311" y="267"/>
                </a:moveTo>
                <a:lnTo>
                  <a:pt x="0" y="0"/>
                </a:lnTo>
                <a:lnTo>
                  <a:pt x="0" y="463"/>
                </a:lnTo>
                <a:lnTo>
                  <a:pt x="317" y="1122"/>
                </a:lnTo>
                <a:lnTo>
                  <a:pt x="311" y="267"/>
                </a:lnTo>
                <a:close/>
              </a:path>
            </a:pathLst>
          </a:custGeom>
          <a:gradFill rotWithShape="0">
            <a:gsLst>
              <a:gs pos="0">
                <a:srgbClr val="E0EFFF"/>
              </a:gs>
              <a:gs pos="100000">
                <a:srgbClr val="7FBFFF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50000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Freeform 108"/>
          <p:cNvSpPr>
            <a:spLocks/>
          </p:cNvSpPr>
          <p:nvPr/>
        </p:nvSpPr>
        <p:spPr bwMode="auto">
          <a:xfrm>
            <a:off x="3273658" y="3949550"/>
            <a:ext cx="2183321" cy="441325"/>
          </a:xfrm>
          <a:custGeom>
            <a:avLst/>
            <a:gdLst>
              <a:gd name="T0" fmla="*/ 2147483646 w 1199"/>
              <a:gd name="T1" fmla="*/ 2147483646 h 259"/>
              <a:gd name="T2" fmla="*/ 2147483646 w 1199"/>
              <a:gd name="T3" fmla="*/ 0 h 259"/>
              <a:gd name="T4" fmla="*/ 2147483646 w 1199"/>
              <a:gd name="T5" fmla="*/ 2147483646 h 259"/>
              <a:gd name="T6" fmla="*/ 0 w 1199"/>
              <a:gd name="T7" fmla="*/ 2147483646 h 259"/>
              <a:gd name="T8" fmla="*/ 2147483646 w 1199"/>
              <a:gd name="T9" fmla="*/ 2147483646 h 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99" h="259">
                <a:moveTo>
                  <a:pt x="1199" y="252"/>
                </a:moveTo>
                <a:lnTo>
                  <a:pt x="942" y="0"/>
                </a:lnTo>
                <a:lnTo>
                  <a:pt x="199" y="4"/>
                </a:lnTo>
                <a:lnTo>
                  <a:pt x="0" y="259"/>
                </a:lnTo>
                <a:lnTo>
                  <a:pt x="1199" y="252"/>
                </a:lnTo>
                <a:close/>
              </a:path>
            </a:pathLst>
          </a:custGeom>
          <a:gradFill rotWithShape="0">
            <a:gsLst>
              <a:gs pos="0">
                <a:srgbClr val="E4F1FF"/>
              </a:gs>
              <a:gs pos="100000">
                <a:srgbClr val="7FB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sy="50000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Rectangle 109"/>
          <p:cNvSpPr>
            <a:spLocks noChangeArrowheads="1"/>
          </p:cNvSpPr>
          <p:nvPr/>
        </p:nvSpPr>
        <p:spPr bwMode="auto">
          <a:xfrm flipH="1" flipV="1">
            <a:off x="611560" y="4382938"/>
            <a:ext cx="2288153" cy="1470280"/>
          </a:xfrm>
          <a:prstGeom prst="rect">
            <a:avLst/>
          </a:prstGeom>
          <a:solidFill>
            <a:schemeClr val="bg1"/>
          </a:solidFill>
          <a:ln w="9525">
            <a:solidFill>
              <a:srgbClr val="99CCFF"/>
            </a:solidFill>
            <a:miter lim="800000"/>
            <a:headEnd/>
            <a:tailEnd/>
          </a:ln>
          <a:effectLst>
            <a:prstShdw prst="shdw17" dist="17961" dir="2700000">
              <a:srgbClr val="5C7A99"/>
            </a:prstShdw>
          </a:effectLst>
        </p:spPr>
        <p:txBody>
          <a:bodyPr wrap="square" lIns="127115" tIns="63558" rIns="127115" bIns="63558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eaLnBrk="1" latinLnBrk="1" hangingPunct="1"/>
            <a:endParaRPr lang="ko-KR" altLang="en-US" dirty="0"/>
          </a:p>
        </p:txBody>
      </p:sp>
      <p:sp>
        <p:nvSpPr>
          <p:cNvPr id="22" name="Rectangle 110"/>
          <p:cNvSpPr>
            <a:spLocks noChangeArrowheads="1"/>
          </p:cNvSpPr>
          <p:nvPr/>
        </p:nvSpPr>
        <p:spPr bwMode="auto">
          <a:xfrm flipH="1" flipV="1">
            <a:off x="3273657" y="4368646"/>
            <a:ext cx="2200783" cy="1530614"/>
          </a:xfrm>
          <a:prstGeom prst="rect">
            <a:avLst/>
          </a:prstGeom>
          <a:solidFill>
            <a:schemeClr val="bg1"/>
          </a:solidFill>
          <a:ln w="9525">
            <a:solidFill>
              <a:srgbClr val="99CCFF"/>
            </a:solidFill>
            <a:miter lim="800000"/>
            <a:headEnd/>
            <a:tailEnd/>
          </a:ln>
          <a:effectLst>
            <a:prstShdw prst="shdw17" dist="17961" dir="2700000">
              <a:srgbClr val="5C7A99"/>
            </a:prstShdw>
          </a:effectLst>
        </p:spPr>
        <p:txBody>
          <a:bodyPr wrap="square" lIns="127115" tIns="63558" rIns="127115" bIns="63558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eaLnBrk="1" latinLnBrk="1" hangingPunct="1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Rectangle 111"/>
          <p:cNvSpPr>
            <a:spLocks noChangeArrowheads="1"/>
          </p:cNvSpPr>
          <p:nvPr/>
        </p:nvSpPr>
        <p:spPr bwMode="auto">
          <a:xfrm flipH="1" flipV="1">
            <a:off x="5839529" y="4368649"/>
            <a:ext cx="2260863" cy="1470281"/>
          </a:xfrm>
          <a:prstGeom prst="rect">
            <a:avLst/>
          </a:prstGeom>
          <a:solidFill>
            <a:schemeClr val="bg1"/>
          </a:solidFill>
          <a:ln w="9525">
            <a:solidFill>
              <a:srgbClr val="99CCFF"/>
            </a:solidFill>
            <a:miter lim="800000"/>
            <a:headEnd/>
            <a:tailEnd/>
          </a:ln>
          <a:effectLst>
            <a:prstShdw prst="shdw17" dist="17961" dir="2700000">
              <a:srgbClr val="5C7A99"/>
            </a:prstShdw>
          </a:effectLst>
        </p:spPr>
        <p:txBody>
          <a:bodyPr wrap="square" lIns="127115" tIns="63558" rIns="127115" bIns="63558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eaLnBrk="1" latinLnBrk="1" hangingPunct="1"/>
            <a:endParaRPr lang="ko-KR" altLang="en-US" dirty="0"/>
          </a:p>
        </p:txBody>
      </p:sp>
      <p:sp>
        <p:nvSpPr>
          <p:cNvPr id="24" name="Text Box 74"/>
          <p:cNvSpPr txBox="1">
            <a:spLocks noChangeArrowheads="1"/>
          </p:cNvSpPr>
          <p:nvPr/>
        </p:nvSpPr>
        <p:spPr bwMode="auto">
          <a:xfrm>
            <a:off x="695890" y="4484787"/>
            <a:ext cx="2177902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5250" indent="-952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Active Directory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및 유관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Infra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서비스에 대한 안정적인 이관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내부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Infra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요소를 고려한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Windows Infra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이관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Web Server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의 개발 요소를 고려한 안정적인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IIS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서비스 이관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 Box 81"/>
          <p:cNvSpPr txBox="1">
            <a:spLocks noChangeArrowheads="1"/>
          </p:cNvSpPr>
          <p:nvPr/>
        </p:nvSpPr>
        <p:spPr bwMode="auto">
          <a:xfrm>
            <a:off x="5927113" y="4427282"/>
            <a:ext cx="2148539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5250" indent="-952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KnowHow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Microsoft </a:t>
            </a:r>
          </a:p>
          <a:p>
            <a:pPr marL="0" indent="0" algn="just" eaLnBrk="1" latinLnBrk="1" hangingPunct="1">
              <a:lnSpc>
                <a:spcPct val="130000"/>
              </a:lnSpc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전문 기술 지원 서비스의 기술 지원 및 관리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Microsoft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공인 교육 기관의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KnowHow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로 기술 전수 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just" eaLnBrk="1" latin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안정적인 운영을 위한 사후 관리 지원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26" name="Text Box 87"/>
          <p:cNvSpPr txBox="1">
            <a:spLocks noChangeArrowheads="1"/>
          </p:cNvSpPr>
          <p:nvPr/>
        </p:nvSpPr>
        <p:spPr bwMode="auto">
          <a:xfrm>
            <a:off x="3296789" y="4459624"/>
            <a:ext cx="2155335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95250" indent="-952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SQL Server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서버의 안정적인 이관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정합성 및 무손실을 고려한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Migration</a:t>
            </a:r>
          </a:p>
          <a:p>
            <a:pPr algn="just" eaLnBrk="1" latinLnBrk="1" hangingPunct="1">
              <a:lnSpc>
                <a:spcPct val="130000"/>
              </a:lnSpc>
              <a:buFont typeface="Wingdings" panose="05000000000000000000" pitchFamily="2" charset="2"/>
              <a:buChar char=""/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다양한 경험으로 축적된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Migration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방법론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" name="Group 118"/>
          <p:cNvGrpSpPr>
            <a:grpSpLocks/>
          </p:cNvGrpSpPr>
          <p:nvPr/>
        </p:nvGrpSpPr>
        <p:grpSpPr bwMode="auto">
          <a:xfrm>
            <a:off x="2307726" y="3359128"/>
            <a:ext cx="4603750" cy="512763"/>
            <a:chOff x="525" y="4030"/>
            <a:chExt cx="2723" cy="509"/>
          </a:xfrm>
        </p:grpSpPr>
        <p:sp>
          <p:nvSpPr>
            <p:cNvPr id="28" name="AutoShape 119"/>
            <p:cNvSpPr>
              <a:spLocks noChangeArrowheads="1"/>
            </p:cNvSpPr>
            <p:nvPr/>
          </p:nvSpPr>
          <p:spPr bwMode="auto">
            <a:xfrm flipH="1" flipV="1">
              <a:off x="525" y="4030"/>
              <a:ext cx="2723" cy="441"/>
            </a:xfrm>
            <a:custGeom>
              <a:avLst/>
              <a:gdLst>
                <a:gd name="G0" fmla="+- 5697 0 0"/>
                <a:gd name="G1" fmla="+- 21600 0 5697"/>
                <a:gd name="G2" fmla="*/ 5697 1 2"/>
                <a:gd name="G3" fmla="+- 21600 0 G2"/>
                <a:gd name="G4" fmla="+/ 5697 21600 2"/>
                <a:gd name="G5" fmla="+/ G1 0 2"/>
                <a:gd name="G6" fmla="*/ 21600 21600 5697"/>
                <a:gd name="G7" fmla="*/ G6 1 2"/>
                <a:gd name="G8" fmla="+- 21600 0 G7"/>
                <a:gd name="G9" fmla="*/ 21600 1 2"/>
                <a:gd name="G10" fmla="+- 5697 0 G9"/>
                <a:gd name="G11" fmla="?: G10 G8 0"/>
                <a:gd name="G12" fmla="?: G10 G7 21600"/>
                <a:gd name="T0" fmla="*/ 18751 w 21600"/>
                <a:gd name="T1" fmla="*/ 10800 h 21600"/>
                <a:gd name="T2" fmla="*/ 10800 w 21600"/>
                <a:gd name="T3" fmla="*/ 21600 h 21600"/>
                <a:gd name="T4" fmla="*/ 2849 w 21600"/>
                <a:gd name="T5" fmla="*/ 10800 h 21600"/>
                <a:gd name="T6" fmla="*/ 10800 w 21600"/>
                <a:gd name="T7" fmla="*/ 0 h 21600"/>
                <a:gd name="T8" fmla="*/ 4649 w 21600"/>
                <a:gd name="T9" fmla="*/ 4649 h 21600"/>
                <a:gd name="T10" fmla="*/ 16951 w 21600"/>
                <a:gd name="T11" fmla="*/ 16951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697" y="21600"/>
                  </a:lnTo>
                  <a:lnTo>
                    <a:pt x="15903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ko-KR" altLang="en-US" dirty="0"/>
            </a:p>
          </p:txBody>
        </p:sp>
        <p:sp>
          <p:nvSpPr>
            <p:cNvPr id="29" name="AutoShape 120"/>
            <p:cNvSpPr>
              <a:spLocks noChangeArrowheads="1"/>
            </p:cNvSpPr>
            <p:nvPr/>
          </p:nvSpPr>
          <p:spPr bwMode="auto">
            <a:xfrm flipH="1" flipV="1">
              <a:off x="525" y="4471"/>
              <a:ext cx="2723" cy="68"/>
            </a:xfrm>
            <a:custGeom>
              <a:avLst/>
              <a:gdLst>
                <a:gd name="G0" fmla="+- 1226 0 0"/>
                <a:gd name="G1" fmla="+- 21600 0 1226"/>
                <a:gd name="G2" fmla="*/ 1226 1 2"/>
                <a:gd name="G3" fmla="+- 21600 0 G2"/>
                <a:gd name="G4" fmla="+/ 1226 21600 2"/>
                <a:gd name="G5" fmla="+/ G1 0 2"/>
                <a:gd name="G6" fmla="*/ 21600 21600 1226"/>
                <a:gd name="G7" fmla="*/ G6 1 2"/>
                <a:gd name="G8" fmla="+- 21600 0 G7"/>
                <a:gd name="G9" fmla="*/ 21600 1 2"/>
                <a:gd name="G10" fmla="+- 1226 0 G9"/>
                <a:gd name="G11" fmla="?: G10 G8 0"/>
                <a:gd name="G12" fmla="?: G10 G7 21600"/>
                <a:gd name="T0" fmla="*/ 20987 w 21600"/>
                <a:gd name="T1" fmla="*/ 10800 h 21600"/>
                <a:gd name="T2" fmla="*/ 10800 w 21600"/>
                <a:gd name="T3" fmla="*/ 21600 h 21600"/>
                <a:gd name="T4" fmla="*/ 613 w 21600"/>
                <a:gd name="T5" fmla="*/ 10800 h 21600"/>
                <a:gd name="T6" fmla="*/ 10800 w 21600"/>
                <a:gd name="T7" fmla="*/ 0 h 21600"/>
                <a:gd name="T8" fmla="*/ 2413 w 21600"/>
                <a:gd name="T9" fmla="*/ 2413 h 21600"/>
                <a:gd name="T10" fmla="*/ 19187 w 21600"/>
                <a:gd name="T11" fmla="*/ 1918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1226" y="21600"/>
                  </a:lnTo>
                  <a:lnTo>
                    <a:pt x="20374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9804"/>
                    <a:invGamma/>
                  </a:schemeClr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ko-KR" altLang="en-US" dirty="0"/>
            </a:p>
          </p:txBody>
        </p:sp>
        <p:grpSp>
          <p:nvGrpSpPr>
            <p:cNvPr id="30" name="Group 121"/>
            <p:cNvGrpSpPr>
              <a:grpSpLocks/>
            </p:cNvGrpSpPr>
            <p:nvPr/>
          </p:nvGrpSpPr>
          <p:grpSpPr bwMode="auto">
            <a:xfrm>
              <a:off x="855" y="4032"/>
              <a:ext cx="2104" cy="449"/>
              <a:chOff x="1551" y="3770"/>
              <a:chExt cx="1531" cy="132"/>
            </a:xfrm>
          </p:grpSpPr>
          <p:grpSp>
            <p:nvGrpSpPr>
              <p:cNvPr id="35" name="Group 122"/>
              <p:cNvGrpSpPr>
                <a:grpSpLocks/>
              </p:cNvGrpSpPr>
              <p:nvPr/>
            </p:nvGrpSpPr>
            <p:grpSpPr bwMode="auto">
              <a:xfrm>
                <a:off x="1803" y="3770"/>
                <a:ext cx="483" cy="132"/>
                <a:chOff x="1803" y="3770"/>
                <a:chExt cx="483" cy="132"/>
              </a:xfrm>
            </p:grpSpPr>
            <p:sp>
              <p:nvSpPr>
                <p:cNvPr id="41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1803" y="3776"/>
                  <a:ext cx="285" cy="126"/>
                </a:xfrm>
                <a:prstGeom prst="line">
                  <a:avLst/>
                </a:prstGeom>
                <a:noFill/>
                <a:ln w="12700">
                  <a:solidFill>
                    <a:srgbClr val="A4A4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42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2060" y="3770"/>
                  <a:ext cx="150" cy="132"/>
                </a:xfrm>
                <a:prstGeom prst="line">
                  <a:avLst/>
                </a:prstGeom>
                <a:noFill/>
                <a:ln w="12700">
                  <a:solidFill>
                    <a:srgbClr val="A4A4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  <p:sp>
              <p:nvSpPr>
                <p:cNvPr id="43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2240" y="3776"/>
                  <a:ext cx="46" cy="126"/>
                </a:xfrm>
                <a:prstGeom prst="line">
                  <a:avLst/>
                </a:prstGeom>
                <a:noFill/>
                <a:ln w="12700">
                  <a:solidFill>
                    <a:srgbClr val="A4A4FF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36" name="Line 126"/>
              <p:cNvSpPr>
                <a:spLocks noChangeShapeType="1"/>
              </p:cNvSpPr>
              <p:nvPr/>
            </p:nvSpPr>
            <p:spPr bwMode="auto">
              <a:xfrm>
                <a:off x="2544" y="3776"/>
                <a:ext cx="285" cy="126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37" name="Line 127"/>
              <p:cNvSpPr>
                <a:spLocks noChangeShapeType="1"/>
              </p:cNvSpPr>
              <p:nvPr/>
            </p:nvSpPr>
            <p:spPr bwMode="auto">
              <a:xfrm>
                <a:off x="2422" y="3770"/>
                <a:ext cx="149" cy="132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38" name="Line 128"/>
              <p:cNvSpPr>
                <a:spLocks noChangeShapeType="1"/>
              </p:cNvSpPr>
              <p:nvPr/>
            </p:nvSpPr>
            <p:spPr bwMode="auto">
              <a:xfrm>
                <a:off x="2346" y="3776"/>
                <a:ext cx="46" cy="126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39" name="Line 129"/>
              <p:cNvSpPr>
                <a:spLocks noChangeShapeType="1"/>
              </p:cNvSpPr>
              <p:nvPr/>
            </p:nvSpPr>
            <p:spPr bwMode="auto">
              <a:xfrm flipV="1">
                <a:off x="1551" y="3775"/>
                <a:ext cx="438" cy="127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  <p:sp>
            <p:nvSpPr>
              <p:cNvPr id="40" name="Line 130"/>
              <p:cNvSpPr>
                <a:spLocks noChangeShapeType="1"/>
              </p:cNvSpPr>
              <p:nvPr/>
            </p:nvSpPr>
            <p:spPr bwMode="auto">
              <a:xfrm flipH="1" flipV="1">
                <a:off x="2645" y="3775"/>
                <a:ext cx="437" cy="127"/>
              </a:xfrm>
              <a:prstGeom prst="line">
                <a:avLst/>
              </a:prstGeom>
              <a:noFill/>
              <a:ln w="12700">
                <a:solidFill>
                  <a:srgbClr val="A4A4FF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ko-KR" altLang="en-US" dirty="0"/>
              </a:p>
            </p:txBody>
          </p:sp>
        </p:grpSp>
        <p:sp>
          <p:nvSpPr>
            <p:cNvPr id="31" name="Line 131"/>
            <p:cNvSpPr>
              <a:spLocks noChangeShapeType="1"/>
            </p:cNvSpPr>
            <p:nvPr/>
          </p:nvSpPr>
          <p:spPr bwMode="auto">
            <a:xfrm>
              <a:off x="701" y="4369"/>
              <a:ext cx="2346" cy="4"/>
            </a:xfrm>
            <a:prstGeom prst="line">
              <a:avLst/>
            </a:prstGeom>
            <a:noFill/>
            <a:ln w="12700">
              <a:solidFill>
                <a:srgbClr val="A4A4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32" name="Line 132"/>
            <p:cNvSpPr>
              <a:spLocks noChangeShapeType="1"/>
            </p:cNvSpPr>
            <p:nvPr/>
          </p:nvSpPr>
          <p:spPr bwMode="auto">
            <a:xfrm>
              <a:off x="855" y="4263"/>
              <a:ext cx="2030" cy="4"/>
            </a:xfrm>
            <a:prstGeom prst="line">
              <a:avLst/>
            </a:prstGeom>
            <a:noFill/>
            <a:ln w="9525">
              <a:solidFill>
                <a:srgbClr val="A4A4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33" name="Line 133"/>
            <p:cNvSpPr>
              <a:spLocks noChangeShapeType="1"/>
            </p:cNvSpPr>
            <p:nvPr/>
          </p:nvSpPr>
          <p:spPr bwMode="auto">
            <a:xfrm>
              <a:off x="1013" y="4188"/>
              <a:ext cx="1756" cy="0"/>
            </a:xfrm>
            <a:prstGeom prst="line">
              <a:avLst/>
            </a:prstGeom>
            <a:noFill/>
            <a:ln w="6350">
              <a:solidFill>
                <a:srgbClr val="A4A4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34" name="Line 134"/>
            <p:cNvSpPr>
              <a:spLocks noChangeShapeType="1"/>
            </p:cNvSpPr>
            <p:nvPr/>
          </p:nvSpPr>
          <p:spPr bwMode="auto">
            <a:xfrm>
              <a:off x="1133" y="4113"/>
              <a:ext cx="1513" cy="0"/>
            </a:xfrm>
            <a:prstGeom prst="line">
              <a:avLst/>
            </a:prstGeom>
            <a:noFill/>
            <a:ln w="3175">
              <a:solidFill>
                <a:srgbClr val="A4A4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</p:grpSp>
      <p:grpSp>
        <p:nvGrpSpPr>
          <p:cNvPr id="44" name="Group 36"/>
          <p:cNvGrpSpPr>
            <a:grpSpLocks/>
          </p:cNvGrpSpPr>
          <p:nvPr/>
        </p:nvGrpSpPr>
        <p:grpSpPr bwMode="auto">
          <a:xfrm>
            <a:off x="1158229" y="3649787"/>
            <a:ext cx="1741487" cy="547687"/>
            <a:chOff x="1517" y="736"/>
            <a:chExt cx="2942" cy="446"/>
          </a:xfrm>
        </p:grpSpPr>
        <p:grpSp>
          <p:nvGrpSpPr>
            <p:cNvPr id="45" name="Group 37"/>
            <p:cNvGrpSpPr>
              <a:grpSpLocks/>
            </p:cNvGrpSpPr>
            <p:nvPr/>
          </p:nvGrpSpPr>
          <p:grpSpPr bwMode="auto">
            <a:xfrm>
              <a:off x="1517" y="736"/>
              <a:ext cx="2942" cy="446"/>
              <a:chOff x="1517" y="736"/>
              <a:chExt cx="2640" cy="355"/>
            </a:xfrm>
          </p:grpSpPr>
          <p:sp>
            <p:nvSpPr>
              <p:cNvPr id="47" name="AutoShape 38"/>
              <p:cNvSpPr>
                <a:spLocks noChangeArrowheads="1"/>
              </p:cNvSpPr>
              <p:nvPr/>
            </p:nvSpPr>
            <p:spPr bwMode="auto">
              <a:xfrm>
                <a:off x="1517" y="736"/>
                <a:ext cx="2640" cy="355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EDEDFF"/>
                  </a:gs>
                  <a:gs pos="100000">
                    <a:srgbClr val="D5D5FF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>
                <a:outerShdw dist="35921" dir="2700000" algn="ctr" rotWithShape="0">
                  <a:srgbClr val="80808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 eaLnBrk="1" hangingPunct="1"/>
                <a:endParaRPr lang="ko-KR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8" name="AutoShape 39"/>
              <p:cNvSpPr>
                <a:spLocks noChangeArrowheads="1"/>
              </p:cNvSpPr>
              <p:nvPr/>
            </p:nvSpPr>
            <p:spPr bwMode="auto">
              <a:xfrm>
                <a:off x="1548" y="780"/>
                <a:ext cx="2558" cy="257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algn="ctr">
                  <a:defRPr/>
                </a:pPr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46" name="Text Box 40"/>
            <p:cNvSpPr txBox="1">
              <a:spLocks noChangeArrowheads="1"/>
            </p:cNvSpPr>
            <p:nvPr/>
          </p:nvSpPr>
          <p:spPr bwMode="auto">
            <a:xfrm>
              <a:off x="1587" y="822"/>
              <a:ext cx="2757" cy="3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ko-KR" sz="1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AD/</a:t>
              </a:r>
              <a:r>
                <a:rPr lang="ko-KR" altLang="en-US" sz="1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웹서버</a:t>
              </a:r>
              <a:endParaRPr lang="en-US" altLang="ko-KR" sz="1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마이그레이션</a:t>
              </a:r>
            </a:p>
          </p:txBody>
        </p:sp>
      </p:grpSp>
      <p:grpSp>
        <p:nvGrpSpPr>
          <p:cNvPr id="49" name="Group 36"/>
          <p:cNvGrpSpPr>
            <a:grpSpLocks/>
          </p:cNvGrpSpPr>
          <p:nvPr/>
        </p:nvGrpSpPr>
        <p:grpSpPr bwMode="auto">
          <a:xfrm>
            <a:off x="3464519" y="3649831"/>
            <a:ext cx="1885950" cy="560387"/>
            <a:chOff x="1517" y="736"/>
            <a:chExt cx="2942" cy="446"/>
          </a:xfrm>
        </p:grpSpPr>
        <p:grpSp>
          <p:nvGrpSpPr>
            <p:cNvPr id="50" name="Group 37"/>
            <p:cNvGrpSpPr>
              <a:grpSpLocks/>
            </p:cNvGrpSpPr>
            <p:nvPr/>
          </p:nvGrpSpPr>
          <p:grpSpPr bwMode="auto">
            <a:xfrm>
              <a:off x="1517" y="736"/>
              <a:ext cx="2942" cy="446"/>
              <a:chOff x="1517" y="736"/>
              <a:chExt cx="2640" cy="355"/>
            </a:xfrm>
          </p:grpSpPr>
          <p:sp>
            <p:nvSpPr>
              <p:cNvPr id="52" name="AutoShape 38"/>
              <p:cNvSpPr>
                <a:spLocks noChangeArrowheads="1"/>
              </p:cNvSpPr>
              <p:nvPr/>
            </p:nvSpPr>
            <p:spPr bwMode="auto">
              <a:xfrm>
                <a:off x="1517" y="736"/>
                <a:ext cx="2640" cy="355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EDEDFF"/>
                  </a:gs>
                  <a:gs pos="100000">
                    <a:srgbClr val="D5D5FF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>
                <a:outerShdw dist="35921" dir="2700000" algn="ctr" rotWithShape="0">
                  <a:srgbClr val="80808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 eaLnBrk="1" hangingPunct="1"/>
                <a:endParaRPr lang="ko-KR" altLang="ko-KR" dirty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3" name="AutoShape 39"/>
              <p:cNvSpPr>
                <a:spLocks noChangeArrowheads="1"/>
              </p:cNvSpPr>
              <p:nvPr/>
            </p:nvSpPr>
            <p:spPr bwMode="auto">
              <a:xfrm>
                <a:off x="1548" y="780"/>
                <a:ext cx="2558" cy="257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algn="ctr">
                  <a:defRPr/>
                </a:pPr>
                <a:endParaRPr lang="ko-KR" altLang="en-US" dirty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51" name="Text Box 40"/>
            <p:cNvSpPr txBox="1">
              <a:spLocks noChangeArrowheads="1"/>
            </p:cNvSpPr>
            <p:nvPr/>
          </p:nvSpPr>
          <p:spPr bwMode="auto">
            <a:xfrm>
              <a:off x="1737" y="878"/>
              <a:ext cx="2605" cy="1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altLang="ko-KR" sz="1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SQL Server Migration</a:t>
              </a:r>
              <a:endParaRPr lang="ko-KR" altLang="en-US" sz="1000" dirty="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54" name="Group 36"/>
          <p:cNvGrpSpPr>
            <a:grpSpLocks/>
          </p:cNvGrpSpPr>
          <p:nvPr/>
        </p:nvGrpSpPr>
        <p:grpSpPr bwMode="auto">
          <a:xfrm>
            <a:off x="5823657" y="3645024"/>
            <a:ext cx="1733550" cy="585788"/>
            <a:chOff x="1517" y="736"/>
            <a:chExt cx="2942" cy="446"/>
          </a:xfrm>
        </p:grpSpPr>
        <p:grpSp>
          <p:nvGrpSpPr>
            <p:cNvPr id="55" name="Group 37"/>
            <p:cNvGrpSpPr>
              <a:grpSpLocks/>
            </p:cNvGrpSpPr>
            <p:nvPr/>
          </p:nvGrpSpPr>
          <p:grpSpPr bwMode="auto">
            <a:xfrm>
              <a:off x="1517" y="736"/>
              <a:ext cx="2942" cy="446"/>
              <a:chOff x="1517" y="736"/>
              <a:chExt cx="2640" cy="355"/>
            </a:xfrm>
          </p:grpSpPr>
          <p:sp>
            <p:nvSpPr>
              <p:cNvPr id="57" name="AutoShape 38"/>
              <p:cNvSpPr>
                <a:spLocks noChangeArrowheads="1"/>
              </p:cNvSpPr>
              <p:nvPr/>
            </p:nvSpPr>
            <p:spPr bwMode="auto">
              <a:xfrm>
                <a:off x="1517" y="736"/>
                <a:ext cx="2640" cy="355"/>
              </a:xfrm>
              <a:prstGeom prst="roundRect">
                <a:avLst>
                  <a:gd name="adj" fmla="val 16667"/>
                </a:avLst>
              </a:prstGeom>
              <a:gradFill rotWithShape="0">
                <a:gsLst>
                  <a:gs pos="0">
                    <a:srgbClr val="EDEDFF"/>
                  </a:gs>
                  <a:gs pos="100000">
                    <a:srgbClr val="D5D5FF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>
                <a:outerShdw dist="35921" dir="2700000" algn="ctr" rotWithShape="0">
                  <a:srgbClr val="808080"/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 eaLnBrk="1" hangingPunct="1"/>
                <a:endParaRPr lang="ko-KR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8" name="AutoShape 39"/>
              <p:cNvSpPr>
                <a:spLocks noChangeArrowheads="1"/>
              </p:cNvSpPr>
              <p:nvPr/>
            </p:nvSpPr>
            <p:spPr bwMode="auto">
              <a:xfrm>
                <a:off x="1548" y="780"/>
                <a:ext cx="2558" cy="264"/>
              </a:xfrm>
              <a:prstGeom prst="roundRect">
                <a:avLst>
                  <a:gd name="adj" fmla="val 16667"/>
                </a:avLst>
              </a:pr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prstShdw prst="shdw18" dist="17961" dir="13500000">
                  <a:schemeClr val="bg1">
                    <a:gamma/>
                    <a:shade val="60000"/>
                    <a:invGamma/>
                  </a:schemeClr>
                </a:prstShdw>
              </a:effectLst>
            </p:spPr>
            <p:txBody>
              <a:bodyPr wrap="none" anchor="ctr"/>
              <a:lstStyle/>
              <a:p>
                <a:pPr algn="ctr">
                  <a:defRPr/>
                </a:pPr>
                <a:endParaRPr lang="ko-KR" altLang="en-US" dirty="0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56" name="Text Box 40"/>
            <p:cNvSpPr txBox="1">
              <a:spLocks noChangeArrowheads="1"/>
            </p:cNvSpPr>
            <p:nvPr/>
          </p:nvSpPr>
          <p:spPr bwMode="auto">
            <a:xfrm>
              <a:off x="1587" y="831"/>
              <a:ext cx="2756" cy="2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  <a:effectLst/>
          </p:spPr>
          <p:txBody>
            <a:bodyPr anchor="ctr">
              <a:sp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안정적인 기술 지원</a:t>
              </a:r>
              <a:endParaRPr lang="en-US" altLang="ko-KR" sz="1000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  <a:p>
              <a:pPr algn="ctr">
                <a:lnSpc>
                  <a:spcPct val="90000"/>
                </a:lnSpc>
                <a:defRPr/>
              </a:pPr>
              <a:r>
                <a:rPr lang="ko-KR" altLang="en-US" sz="1000" dirty="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및 사후 관리</a:t>
              </a:r>
              <a:endParaRPr lang="ko-KR" altLang="en-US" sz="1000" dirty="0"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9" name="AutoShape 123"/>
          <p:cNvSpPr>
            <a:spLocks noChangeArrowheads="1"/>
          </p:cNvSpPr>
          <p:nvPr/>
        </p:nvSpPr>
        <p:spPr bwMode="auto">
          <a:xfrm>
            <a:off x="650542" y="5996136"/>
            <a:ext cx="2249174" cy="457200"/>
          </a:xfrm>
          <a:prstGeom prst="bevel">
            <a:avLst>
              <a:gd name="adj" fmla="val 11847"/>
            </a:avLst>
          </a:prstGeom>
          <a:gradFill rotWithShape="0">
            <a:gsLst>
              <a:gs pos="0">
                <a:srgbClr val="9999FF"/>
              </a:gs>
              <a:gs pos="50000">
                <a:srgbClr val="DADAFF"/>
              </a:gs>
              <a:gs pos="100000">
                <a:srgbClr val="9999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체계적인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Migration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AutoShape 123"/>
          <p:cNvSpPr>
            <a:spLocks noChangeArrowheads="1"/>
          </p:cNvSpPr>
          <p:nvPr/>
        </p:nvSpPr>
        <p:spPr bwMode="auto">
          <a:xfrm>
            <a:off x="3273658" y="5996136"/>
            <a:ext cx="2200784" cy="457200"/>
          </a:xfrm>
          <a:prstGeom prst="bevel">
            <a:avLst>
              <a:gd name="adj" fmla="val 11847"/>
            </a:avLst>
          </a:prstGeom>
          <a:gradFill rotWithShape="0">
            <a:gsLst>
              <a:gs pos="0">
                <a:srgbClr val="9999FF"/>
              </a:gs>
              <a:gs pos="50000">
                <a:srgbClr val="DADAFF"/>
              </a:gs>
              <a:gs pos="100000">
                <a:srgbClr val="9999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안정적인 데이터 이관</a:t>
            </a:r>
          </a:p>
        </p:txBody>
      </p:sp>
      <p:sp>
        <p:nvSpPr>
          <p:cNvPr id="61" name="AutoShape 123"/>
          <p:cNvSpPr>
            <a:spLocks noChangeArrowheads="1"/>
          </p:cNvSpPr>
          <p:nvPr/>
        </p:nvSpPr>
        <p:spPr bwMode="auto">
          <a:xfrm>
            <a:off x="5845150" y="5996136"/>
            <a:ext cx="2327250" cy="457200"/>
          </a:xfrm>
          <a:prstGeom prst="bevel">
            <a:avLst>
              <a:gd name="adj" fmla="val 11847"/>
            </a:avLst>
          </a:prstGeom>
          <a:gradFill rotWithShape="0">
            <a:gsLst>
              <a:gs pos="0">
                <a:srgbClr val="9999FF"/>
              </a:gs>
              <a:gs pos="50000">
                <a:srgbClr val="DADAFF"/>
              </a:gs>
              <a:gs pos="100000">
                <a:srgbClr val="9999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ctr" eaLnBrk="1" latinLnBrk="1" hangingPunct="1"/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안정적 시스템 운영</a:t>
            </a:r>
          </a:p>
        </p:txBody>
      </p:sp>
      <p:grpSp>
        <p:nvGrpSpPr>
          <p:cNvPr id="62" name="Group 518"/>
          <p:cNvGrpSpPr>
            <a:grpSpLocks/>
          </p:cNvGrpSpPr>
          <p:nvPr/>
        </p:nvGrpSpPr>
        <p:grpSpPr bwMode="auto">
          <a:xfrm>
            <a:off x="3463079" y="2970190"/>
            <a:ext cx="2011363" cy="583890"/>
            <a:chOff x="2366" y="2992"/>
            <a:chExt cx="721" cy="500"/>
          </a:xfrm>
        </p:grpSpPr>
        <p:sp>
          <p:nvSpPr>
            <p:cNvPr id="63" name="Rectangle 520"/>
            <p:cNvSpPr>
              <a:spLocks noChangeArrowheads="1"/>
            </p:cNvSpPr>
            <p:nvPr/>
          </p:nvSpPr>
          <p:spPr bwMode="auto">
            <a:xfrm>
              <a:off x="2978" y="3146"/>
              <a:ext cx="101" cy="74"/>
            </a:xfrm>
            <a:prstGeom prst="rect">
              <a:avLst/>
            </a:prstGeom>
            <a:solidFill>
              <a:srgbClr val="CF6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763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4" name="Freeform 521"/>
            <p:cNvSpPr>
              <a:spLocks/>
            </p:cNvSpPr>
            <p:nvPr/>
          </p:nvSpPr>
          <p:spPr bwMode="auto">
            <a:xfrm>
              <a:off x="2366" y="3146"/>
              <a:ext cx="107" cy="77"/>
            </a:xfrm>
            <a:custGeom>
              <a:avLst/>
              <a:gdLst>
                <a:gd name="T0" fmla="*/ 0 w 182"/>
                <a:gd name="T1" fmla="*/ 0 h 116"/>
                <a:gd name="T2" fmla="*/ 1 w 182"/>
                <a:gd name="T3" fmla="*/ 0 h 116"/>
                <a:gd name="T4" fmla="*/ 1 w 182"/>
                <a:gd name="T5" fmla="*/ 1 h 116"/>
                <a:gd name="T6" fmla="*/ 0 w 182"/>
                <a:gd name="T7" fmla="*/ 1 h 116"/>
                <a:gd name="T8" fmla="*/ 0 w 182"/>
                <a:gd name="T9" fmla="*/ 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2" h="116">
                  <a:moveTo>
                    <a:pt x="0" y="0"/>
                  </a:moveTo>
                  <a:lnTo>
                    <a:pt x="178" y="0"/>
                  </a:lnTo>
                  <a:lnTo>
                    <a:pt x="182" y="116"/>
                  </a:lnTo>
                  <a:lnTo>
                    <a:pt x="0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F6D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4763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5" name="Freeform 522"/>
            <p:cNvSpPr>
              <a:spLocks/>
            </p:cNvSpPr>
            <p:nvPr/>
          </p:nvSpPr>
          <p:spPr bwMode="auto">
            <a:xfrm>
              <a:off x="2367" y="2992"/>
              <a:ext cx="720" cy="500"/>
            </a:xfrm>
            <a:custGeom>
              <a:avLst/>
              <a:gdLst>
                <a:gd name="T0" fmla="*/ 1 w 1223"/>
                <a:gd name="T1" fmla="*/ 0 h 760"/>
                <a:gd name="T2" fmla="*/ 0 w 1223"/>
                <a:gd name="T3" fmla="*/ 2 h 760"/>
                <a:gd name="T4" fmla="*/ 1 w 1223"/>
                <a:gd name="T5" fmla="*/ 2 h 760"/>
                <a:gd name="T6" fmla="*/ 1 w 1223"/>
                <a:gd name="T7" fmla="*/ 5 h 760"/>
                <a:gd name="T8" fmla="*/ 2 w 1223"/>
                <a:gd name="T9" fmla="*/ 5 h 760"/>
                <a:gd name="T10" fmla="*/ 2 w 1223"/>
                <a:gd name="T11" fmla="*/ 2 h 760"/>
                <a:gd name="T12" fmla="*/ 2 w 1223"/>
                <a:gd name="T13" fmla="*/ 2 h 760"/>
                <a:gd name="T14" fmla="*/ 1 w 1223"/>
                <a:gd name="T15" fmla="*/ 0 h 7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23" h="760">
                  <a:moveTo>
                    <a:pt x="604" y="0"/>
                  </a:moveTo>
                  <a:lnTo>
                    <a:pt x="0" y="236"/>
                  </a:lnTo>
                  <a:lnTo>
                    <a:pt x="175" y="236"/>
                  </a:lnTo>
                  <a:lnTo>
                    <a:pt x="58" y="760"/>
                  </a:lnTo>
                  <a:lnTo>
                    <a:pt x="1165" y="760"/>
                  </a:lnTo>
                  <a:lnTo>
                    <a:pt x="1049" y="236"/>
                  </a:lnTo>
                  <a:lnTo>
                    <a:pt x="1223" y="236"/>
                  </a:lnTo>
                  <a:lnTo>
                    <a:pt x="604" y="0"/>
                  </a:lnTo>
                  <a:close/>
                </a:path>
              </a:pathLst>
            </a:custGeom>
            <a:gradFill rotWithShape="0">
              <a:gsLst>
                <a:gs pos="0">
                  <a:srgbClr val="CF6D9E"/>
                </a:gs>
                <a:gs pos="100000">
                  <a:srgbClr val="F8E9F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4763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66" name="슬라이드 번호 개체 틀 6"/>
          <p:cNvSpPr>
            <a:spLocks noGrp="1"/>
          </p:cNvSpPr>
          <p:nvPr>
            <p:ph type="sldNum" sz="quarter" idx="4294967295"/>
          </p:nvPr>
        </p:nvSpPr>
        <p:spPr>
          <a:xfrm>
            <a:off x="4331072" y="6492875"/>
            <a:ext cx="484589" cy="365125"/>
          </a:xfrm>
          <a:prstGeom prst="rect">
            <a:avLst/>
          </a:prstGeom>
        </p:spPr>
        <p:txBody>
          <a:bodyPr/>
          <a:lstStyle/>
          <a:p>
            <a:fld id="{C7B3D9B3-3845-4DF9-8FC2-571C2953A8D9}" type="slidenum">
              <a:rPr lang="en-US" altLang="ko-KR" smtClean="0">
                <a:solidFill>
                  <a:prstClr val="black">
                    <a:lumMod val="65000"/>
                    <a:lumOff val="35000"/>
                  </a:prstClr>
                </a:solidFill>
                <a:ea typeface="맑은 고딕"/>
              </a:rPr>
              <a:pPr/>
              <a:t>4</a:t>
            </a:fld>
            <a:endParaRPr lang="ko-KR" altLang="en-US" dirty="0">
              <a:solidFill>
                <a:prstClr val="black">
                  <a:lumMod val="65000"/>
                  <a:lumOff val="35000"/>
                </a:prstClr>
              </a:solidFill>
              <a:ea typeface="맑은 고딕"/>
            </a:endParaRPr>
          </a:p>
        </p:txBody>
      </p:sp>
      <p:sp>
        <p:nvSpPr>
          <p:cNvPr id="85538" name="Rectangle 85537">
            <a:extLst>
              <a:ext uri="{FF2B5EF4-FFF2-40B4-BE49-F238E27FC236}">
                <a16:creationId xmlns:a16="http://schemas.microsoft.com/office/drawing/2014/main" id="{0117337F-63B3-B101-0F7F-C311F8E411EB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40" name="Rectangle 85539">
            <a:extLst>
              <a:ext uri="{FF2B5EF4-FFF2-40B4-BE49-F238E27FC236}">
                <a16:creationId xmlns:a16="http://schemas.microsoft.com/office/drawing/2014/main" id="{2C98A57D-C08D-CB60-0B81-F81F6BFE73E1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제목 2"/>
          <p:cNvSpPr txBox="1">
            <a:spLocks/>
          </p:cNvSpPr>
          <p:nvPr/>
        </p:nvSpPr>
        <p:spPr bwMode="auto">
          <a:xfrm>
            <a:off x="282575" y="487363"/>
            <a:ext cx="227320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개요</a:t>
            </a:r>
          </a:p>
        </p:txBody>
      </p:sp>
      <p:sp>
        <p:nvSpPr>
          <p:cNvPr id="72" name="제목 2"/>
          <p:cNvSpPr txBox="1">
            <a:spLocks/>
          </p:cNvSpPr>
          <p:nvPr/>
        </p:nvSpPr>
        <p:spPr bwMode="auto">
          <a:xfrm>
            <a:off x="7668344" y="519609"/>
            <a:ext cx="1475656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범위</a:t>
            </a:r>
          </a:p>
        </p:txBody>
      </p:sp>
      <p:sp>
        <p:nvSpPr>
          <p:cNvPr id="74" name="Text Box 93"/>
          <p:cNvSpPr txBox="1">
            <a:spLocks noChangeArrowheads="1"/>
          </p:cNvSpPr>
          <p:nvPr/>
        </p:nvSpPr>
        <p:spPr bwMode="auto">
          <a:xfrm>
            <a:off x="428342" y="950280"/>
            <a:ext cx="8391808" cy="6202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</a:pPr>
            <a:r>
              <a:rPr lang="ko-KR" altLang="en-US" b="1" dirty="0">
                <a:gradFill>
                  <a:gsLst>
                    <a:gs pos="100000">
                      <a:schemeClr val="tx1"/>
                    </a:gs>
                    <a:gs pos="100000">
                      <a:srgbClr val="DADAFF"/>
                    </a:gs>
                    <a:gs pos="100000">
                      <a:srgbClr val="9999FF"/>
                    </a:gs>
                  </a:gsLst>
                  <a:lin ang="27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한빛푸드 환경의 이해를 바탕으로 Windows 서버 및 데이터베이스 서버 이관 2가지 영역으로 나누어 안정화된 시스템 운영 환경을 업그레이드 합니다.</a:t>
            </a:r>
          </a:p>
        </p:txBody>
      </p:sp>
      <p:grpSp>
        <p:nvGrpSpPr>
          <p:cNvPr id="131" name="그룹 105"/>
          <p:cNvGrpSpPr>
            <a:grpSpLocks/>
          </p:cNvGrpSpPr>
          <p:nvPr/>
        </p:nvGrpSpPr>
        <p:grpSpPr bwMode="auto">
          <a:xfrm>
            <a:off x="381000" y="1844824"/>
            <a:ext cx="8439150" cy="225425"/>
            <a:chOff x="381001" y="2051222"/>
            <a:chExt cx="8439470" cy="225650"/>
          </a:xfrm>
        </p:grpSpPr>
        <p:sp>
          <p:nvSpPr>
            <p:cNvPr id="132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제안 범위</a:t>
              </a:r>
            </a:p>
          </p:txBody>
        </p:sp>
        <p:grpSp>
          <p:nvGrpSpPr>
            <p:cNvPr id="133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34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35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36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" name="모서리가 둥근 직사각형 1"/>
          <p:cNvSpPr/>
          <p:nvPr/>
        </p:nvSpPr>
        <p:spPr>
          <a:xfrm>
            <a:off x="539552" y="2564904"/>
            <a:ext cx="2071804" cy="43204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Active Directory Migration 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539552" y="3356992"/>
            <a:ext cx="2071804" cy="43204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IIS Migration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539552" y="4149080"/>
            <a:ext cx="2071804" cy="43204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SQL Server Migration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520029" y="4941168"/>
            <a:ext cx="2071804" cy="43204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통합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>
                <a:solidFill>
                  <a:schemeClr val="tx1"/>
                </a:solidFill>
              </a:rPr>
              <a:t>운영 서버 구축</a:t>
            </a:r>
          </a:p>
        </p:txBody>
      </p:sp>
      <p:sp>
        <p:nvSpPr>
          <p:cNvPr id="70" name="모서리가 둥근 직사각형 69"/>
          <p:cNvSpPr/>
          <p:nvPr/>
        </p:nvSpPr>
        <p:spPr>
          <a:xfrm>
            <a:off x="539552" y="5733256"/>
            <a:ext cx="2071804" cy="432048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 dirty="0">
                <a:solidFill>
                  <a:schemeClr val="tx1"/>
                </a:solidFill>
              </a:rPr>
              <a:t>VM Migration</a:t>
            </a:r>
            <a:endParaRPr lang="ko-KR" altLang="en-US" sz="1200" b="1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65457" y="2566645"/>
            <a:ext cx="5983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기존</a:t>
            </a:r>
            <a:r>
              <a:rPr lang="en-US" altLang="ko-KR" sz="1200" b="1" dirty="0"/>
              <a:t> </a:t>
            </a:r>
            <a:r>
              <a:rPr lang="ko-KR" altLang="en-US" sz="1200" b="1"/>
              <a:t>운영 중인 </a:t>
            </a:r>
            <a:r>
              <a:rPr lang="en-US" altLang="ko-KR" sz="1200" b="1" dirty="0"/>
              <a:t>AD</a:t>
            </a:r>
            <a:r>
              <a:rPr lang="ko-KR" altLang="en-US" sz="1200" b="1"/>
              <a:t>의 </a:t>
            </a:r>
            <a:r>
              <a:rPr lang="en-US" altLang="ko-KR" sz="1200" b="1" dirty="0"/>
              <a:t>Migration </a:t>
            </a:r>
            <a:r>
              <a:rPr lang="ko-KR" altLang="en-US" sz="1200" b="1"/>
              <a:t>및 운영 고도화</a:t>
            </a:r>
            <a:endParaRPr lang="en-US" altLang="ko-KR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안정적인 </a:t>
            </a:r>
            <a:r>
              <a:rPr lang="en-US" altLang="ko-KR" sz="1200" b="1" dirty="0"/>
              <a:t>AD </a:t>
            </a:r>
            <a:r>
              <a:rPr lang="ko-KR" altLang="en-US" sz="1200" b="1"/>
              <a:t>운영 아키텍처 제공</a:t>
            </a:r>
            <a:endParaRPr lang="en-US" altLang="ko-KR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DNS , </a:t>
            </a:r>
            <a:r>
              <a:rPr lang="ko-KR" altLang="en-US" sz="1200" b="1"/>
              <a:t>인증서 등의 유관 서비스에 대한 재설계 및 안정적 이관</a:t>
            </a:r>
            <a:endParaRPr lang="ko-KR" altLang="en-US" sz="1200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2771800" y="3356992"/>
            <a:ext cx="5983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IIS 6</a:t>
            </a:r>
            <a:r>
              <a:rPr lang="ko-KR" altLang="en-US" sz="1200" b="1"/>
              <a:t>기반의 운영 환경을 </a:t>
            </a:r>
            <a:r>
              <a:rPr lang="en-US" altLang="ko-KR" sz="1200" b="1" dirty="0"/>
              <a:t>IIS 8 </a:t>
            </a:r>
            <a:r>
              <a:rPr lang="ko-KR" altLang="en-US" sz="1200" b="1"/>
              <a:t>기반으로 </a:t>
            </a:r>
            <a:r>
              <a:rPr lang="en-US" altLang="ko-KR" sz="1200" b="1" dirty="0"/>
              <a:t>Migration </a:t>
            </a:r>
            <a:r>
              <a:rPr lang="ko-KR" altLang="en-US" sz="1200" b="1"/>
              <a:t>및 운영 환경 이관</a:t>
            </a:r>
            <a:endParaRPr lang="en-US" altLang="ko-KR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웹 서버 운영 환경 이관 및 유관 정보 개발 파트에 제공 하여 정확한 </a:t>
            </a:r>
            <a:r>
              <a:rPr lang="en-US" altLang="ko-KR" sz="1200" b="1" dirty="0"/>
              <a:t>Migration </a:t>
            </a:r>
            <a:r>
              <a:rPr lang="ko-KR" altLang="en-US" sz="1200" b="1"/>
              <a:t>협업 및 관련 개발 정보 제공</a:t>
            </a:r>
            <a:endParaRPr lang="ko-KR" altLang="en-US" sz="1200" b="1" dirty="0"/>
          </a:p>
        </p:txBody>
      </p:sp>
      <p:sp>
        <p:nvSpPr>
          <p:cNvPr id="75" name="TextBox 74"/>
          <p:cNvSpPr txBox="1"/>
          <p:nvPr/>
        </p:nvSpPr>
        <p:spPr>
          <a:xfrm>
            <a:off x="2778143" y="4149080"/>
            <a:ext cx="5983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MSSQL 2005 </a:t>
            </a:r>
            <a:r>
              <a:rPr lang="ko-KR" altLang="en-US" sz="1200" b="1"/>
              <a:t>기반의 데이터를 안정성</a:t>
            </a:r>
            <a:r>
              <a:rPr lang="en-US" altLang="ko-KR" sz="1200" b="1" dirty="0"/>
              <a:t>, </a:t>
            </a:r>
            <a:r>
              <a:rPr lang="ko-KR" altLang="en-US" sz="1200" b="1"/>
              <a:t>정합성을 고려한 이관</a:t>
            </a:r>
            <a:endParaRPr lang="en-US" altLang="ko-KR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MSSQL 2000, 2005</a:t>
            </a:r>
            <a:r>
              <a:rPr lang="ko-KR" altLang="en-US" sz="1200" b="1"/>
              <a:t>기반의 </a:t>
            </a:r>
            <a:r>
              <a:rPr lang="en-US" altLang="ko-KR" sz="1200" b="1" dirty="0"/>
              <a:t>DB</a:t>
            </a:r>
            <a:r>
              <a:rPr lang="ko-KR" altLang="en-US" sz="1200" b="1"/>
              <a:t>를 </a:t>
            </a:r>
            <a:r>
              <a:rPr lang="en-US" altLang="ko-KR" sz="1200" b="1" dirty="0"/>
              <a:t>MSSQL 2014</a:t>
            </a:r>
            <a:r>
              <a:rPr lang="ko-KR" altLang="en-US" sz="1200" b="1"/>
              <a:t>로의 </a:t>
            </a:r>
            <a:r>
              <a:rPr lang="en-US" altLang="ko-KR" sz="1200" b="1" dirty="0"/>
              <a:t>DB  </a:t>
            </a:r>
            <a:r>
              <a:rPr lang="ko-KR" altLang="en-US" sz="1200" b="1"/>
              <a:t>통합 이관</a:t>
            </a:r>
            <a:endParaRPr lang="en-US" altLang="ko-KR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안정적인 운영을 위한 성능 안정화 지원</a:t>
            </a:r>
            <a:r>
              <a:rPr lang="en-US" altLang="ko-KR" sz="1200" b="1" dirty="0"/>
              <a:t> (</a:t>
            </a:r>
            <a:r>
              <a:rPr lang="ko-KR" altLang="en-US" sz="1200" b="1"/>
              <a:t>성능 진단</a:t>
            </a:r>
            <a:r>
              <a:rPr lang="en-US" altLang="ko-KR" sz="1200" b="1" dirty="0"/>
              <a:t>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84486" y="4941168"/>
            <a:ext cx="5983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통합 운영 서버 </a:t>
            </a:r>
            <a:r>
              <a:rPr lang="en-US" altLang="ko-KR" sz="1200" b="1" dirty="0"/>
              <a:t>2</a:t>
            </a:r>
            <a:r>
              <a:rPr lang="ko-KR" altLang="en-US" sz="1200" b="1"/>
              <a:t>식을 성능 기반의 안정적인 운영 환경 구축</a:t>
            </a:r>
            <a:endParaRPr lang="en-US" altLang="ko-KR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향후 운영 환경을 고려한 통합 운영 서버 구축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90829" y="5733256"/>
            <a:ext cx="5983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Windows</a:t>
            </a:r>
            <a:r>
              <a:rPr lang="ko-KR" altLang="en-US" sz="1200" b="1"/>
              <a:t> </a:t>
            </a:r>
            <a:r>
              <a:rPr lang="en-US" altLang="ko-KR" sz="1200" b="1" dirty="0"/>
              <a:t>2003</a:t>
            </a:r>
            <a:r>
              <a:rPr lang="ko-KR" altLang="en-US" sz="1200" b="1"/>
              <a:t>기반의 가상 머신을 최신의 </a:t>
            </a:r>
            <a:r>
              <a:rPr lang="en-US" altLang="ko-KR" sz="1200" b="1" dirty="0"/>
              <a:t>OS </a:t>
            </a:r>
            <a:r>
              <a:rPr lang="ko-KR" altLang="en-US" sz="1200" b="1"/>
              <a:t>기반으로 </a:t>
            </a:r>
            <a:r>
              <a:rPr lang="en-US" altLang="ko-KR" sz="1200" b="1" dirty="0"/>
              <a:t>Migration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200" b="1" dirty="0"/>
              <a:t>기존 운영 중인 </a:t>
            </a:r>
            <a:r>
              <a:rPr lang="en-US" altLang="ko-KR" sz="1200" b="1" dirty="0"/>
              <a:t>Vmware</a:t>
            </a:r>
            <a:r>
              <a:rPr lang="ko-KR" altLang="en-US" sz="1200" b="1"/>
              <a:t>기반의 </a:t>
            </a:r>
            <a:r>
              <a:rPr lang="en-US" altLang="ko-KR" sz="1200" b="1" dirty="0"/>
              <a:t>Windows 2003 </a:t>
            </a:r>
            <a:r>
              <a:rPr lang="ko-KR" altLang="en-US" sz="1200" b="1"/>
              <a:t>가상 머신 이관</a:t>
            </a:r>
            <a:endParaRPr lang="en-US" altLang="ko-KR" sz="1200" b="1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b="1" dirty="0"/>
              <a:t>VM</a:t>
            </a:r>
            <a:r>
              <a:rPr lang="ko-KR" altLang="en-US" sz="1200" b="1"/>
              <a:t>서버의 </a:t>
            </a:r>
            <a:r>
              <a:rPr lang="en-US" altLang="ko-KR" sz="1200" b="1" dirty="0"/>
              <a:t>Role</a:t>
            </a:r>
            <a:r>
              <a:rPr lang="ko-KR" altLang="en-US" sz="1200" b="1"/>
              <a:t>에 따른 </a:t>
            </a:r>
            <a:r>
              <a:rPr lang="en-US" altLang="ko-KR" sz="1200" b="1" dirty="0"/>
              <a:t>Infra </a:t>
            </a:r>
            <a:r>
              <a:rPr lang="ko-KR" altLang="en-US" sz="1200" b="1"/>
              <a:t>환경 개선 제공</a:t>
            </a:r>
            <a:endParaRPr lang="ko-KR" altLang="en-US" sz="1200" b="1" dirty="0"/>
          </a:p>
        </p:txBody>
      </p:sp>
      <p:sp>
        <p:nvSpPr>
          <p:cNvPr id="85543" name="Rectangle 85542">
            <a:extLst>
              <a:ext uri="{FF2B5EF4-FFF2-40B4-BE49-F238E27FC236}">
                <a16:creationId xmlns:a16="http://schemas.microsoft.com/office/drawing/2014/main" id="{27EA8AE3-C4E3-644E-4EFA-3D03D5E135EE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47" name="Rectangle 85546">
            <a:extLst>
              <a:ext uri="{FF2B5EF4-FFF2-40B4-BE49-F238E27FC236}">
                <a16:creationId xmlns:a16="http://schemas.microsoft.com/office/drawing/2014/main" id="{11B60B7E-5B4D-1EF9-2B7B-D94CE71B170B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00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제목 2"/>
          <p:cNvSpPr txBox="1">
            <a:spLocks/>
          </p:cNvSpPr>
          <p:nvPr/>
        </p:nvSpPr>
        <p:spPr bwMode="auto">
          <a:xfrm>
            <a:off x="282575" y="487363"/>
            <a:ext cx="227320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개요</a:t>
            </a:r>
          </a:p>
        </p:txBody>
      </p:sp>
      <p:sp>
        <p:nvSpPr>
          <p:cNvPr id="72" name="제목 2"/>
          <p:cNvSpPr txBox="1">
            <a:spLocks/>
          </p:cNvSpPr>
          <p:nvPr/>
        </p:nvSpPr>
        <p:spPr bwMode="auto">
          <a:xfrm>
            <a:off x="7452319" y="519609"/>
            <a:ext cx="16916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3.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제안의 특장점</a:t>
            </a:r>
          </a:p>
        </p:txBody>
      </p:sp>
      <p:sp>
        <p:nvSpPr>
          <p:cNvPr id="74" name="Text Box 93"/>
          <p:cNvSpPr txBox="1">
            <a:spLocks noChangeArrowheads="1"/>
          </p:cNvSpPr>
          <p:nvPr/>
        </p:nvSpPr>
        <p:spPr bwMode="auto">
          <a:xfrm>
            <a:off x="428342" y="950280"/>
            <a:ext cx="8391808" cy="1114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</a:pP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rgbClr val="DADAFF"/>
                    </a:gs>
                    <a:gs pos="100000">
                      <a:srgbClr val="9999FF"/>
                    </a:gs>
                  </a:gsLst>
                  <a:lin ang="27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본 제안을 통해 제안사는 한빛푸드의 AD, Windows OS, 웹서버 및 데이타베이스 고도화 사업의 성공적인 수행과 향후 안정적인 운영을 위해 분야별 전문 인력 구성, 체계적인 사업관리 및 프로젝트 관리, 적정한 도구의 사용 측면으로 나누어 그 특징을 제시합니다.</a:t>
            </a:r>
            <a:endParaRPr lang="en-US" altLang="ko-KR" dirty="0">
              <a:gradFill>
                <a:gsLst>
                  <a:gs pos="100000">
                    <a:schemeClr val="tx1"/>
                  </a:gs>
                  <a:gs pos="100000">
                    <a:srgbClr val="DADAFF"/>
                  </a:gs>
                  <a:gs pos="100000">
                    <a:srgbClr val="9999FF"/>
                  </a:gs>
                </a:gsLst>
                <a:lin ang="2700000" scaled="1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1" name="그룹 105"/>
          <p:cNvGrpSpPr>
            <a:grpSpLocks/>
          </p:cNvGrpSpPr>
          <p:nvPr/>
        </p:nvGrpSpPr>
        <p:grpSpPr bwMode="auto">
          <a:xfrm>
            <a:off x="381000" y="1844824"/>
            <a:ext cx="8439150" cy="225425"/>
            <a:chOff x="381001" y="2051222"/>
            <a:chExt cx="8439470" cy="225650"/>
          </a:xfrm>
        </p:grpSpPr>
        <p:sp>
          <p:nvSpPr>
            <p:cNvPr id="132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제안 특장점</a:t>
              </a:r>
            </a:p>
          </p:txBody>
        </p:sp>
        <p:grpSp>
          <p:nvGrpSpPr>
            <p:cNvPr id="133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34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35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36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grpSp>
        <p:nvGrpSpPr>
          <p:cNvPr id="2" name="그룹 1"/>
          <p:cNvGrpSpPr/>
          <p:nvPr/>
        </p:nvGrpSpPr>
        <p:grpSpPr>
          <a:xfrm>
            <a:off x="428342" y="2276872"/>
            <a:ext cx="8391808" cy="4136733"/>
            <a:chOff x="285750" y="3265488"/>
            <a:chExt cx="6154738" cy="5791200"/>
          </a:xfrm>
        </p:grpSpPr>
        <p:sp>
          <p:nvSpPr>
            <p:cNvPr id="11" name="Text Box 131"/>
            <p:cNvSpPr txBox="1">
              <a:spLocks noChangeArrowheads="1"/>
            </p:cNvSpPr>
            <p:nvPr/>
          </p:nvSpPr>
          <p:spPr bwMode="auto">
            <a:xfrm>
              <a:off x="1136650" y="3265488"/>
              <a:ext cx="3155950" cy="292100"/>
            </a:xfrm>
            <a:prstGeom prst="rect">
              <a:avLst/>
            </a:prstGeom>
            <a:gradFill rotWithShape="0">
              <a:gsLst>
                <a:gs pos="0">
                  <a:srgbClr val="ADDAF1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사업에 대한 철저한 사전 분석</a:t>
              </a:r>
            </a:p>
          </p:txBody>
        </p:sp>
        <p:sp>
          <p:nvSpPr>
            <p:cNvPr id="12" name="Text Box 132"/>
            <p:cNvSpPr txBox="1">
              <a:spLocks noChangeArrowheads="1"/>
            </p:cNvSpPr>
            <p:nvPr/>
          </p:nvSpPr>
          <p:spPr bwMode="auto">
            <a:xfrm>
              <a:off x="2247900" y="4362450"/>
              <a:ext cx="4046538" cy="276225"/>
            </a:xfrm>
            <a:prstGeom prst="rect">
              <a:avLst/>
            </a:prstGeom>
            <a:gradFill rotWithShape="0">
              <a:gsLst>
                <a:gs pos="0">
                  <a:srgbClr val="ADDAF1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전문 분야별 사업 수행 경험 있는 인력 구성</a:t>
              </a:r>
            </a:p>
          </p:txBody>
        </p:sp>
        <p:sp>
          <p:nvSpPr>
            <p:cNvPr id="13" name="Text Box 133"/>
            <p:cNvSpPr txBox="1">
              <a:spLocks noChangeArrowheads="1"/>
            </p:cNvSpPr>
            <p:nvPr/>
          </p:nvSpPr>
          <p:spPr bwMode="auto">
            <a:xfrm>
              <a:off x="3108325" y="5614988"/>
              <a:ext cx="2774950" cy="273050"/>
            </a:xfrm>
            <a:prstGeom prst="rect">
              <a:avLst/>
            </a:prstGeom>
            <a:gradFill rotWithShape="0">
              <a:gsLst>
                <a:gs pos="0">
                  <a:srgbClr val="ADDAF1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체계적인 사업관리</a:t>
              </a:r>
            </a:p>
          </p:txBody>
        </p:sp>
        <p:sp>
          <p:nvSpPr>
            <p:cNvPr id="14" name="Text Box 134"/>
            <p:cNvSpPr txBox="1">
              <a:spLocks noChangeArrowheads="1"/>
            </p:cNvSpPr>
            <p:nvPr/>
          </p:nvSpPr>
          <p:spPr bwMode="auto">
            <a:xfrm>
              <a:off x="3922713" y="6986588"/>
              <a:ext cx="2393950" cy="280987"/>
            </a:xfrm>
            <a:prstGeom prst="rect">
              <a:avLst/>
            </a:prstGeom>
            <a:gradFill rotWithShape="0">
              <a:gsLst>
                <a:gs pos="0">
                  <a:srgbClr val="ADDAF1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검증된 이관 가이드 제공</a:t>
              </a:r>
            </a:p>
          </p:txBody>
        </p:sp>
        <p:sp>
          <p:nvSpPr>
            <p:cNvPr id="15" name="Freeform 136"/>
            <p:cNvSpPr>
              <a:spLocks/>
            </p:cNvSpPr>
            <p:nvPr/>
          </p:nvSpPr>
          <p:spPr bwMode="auto">
            <a:xfrm>
              <a:off x="774700" y="3378200"/>
              <a:ext cx="349250" cy="2370138"/>
            </a:xfrm>
            <a:custGeom>
              <a:avLst/>
              <a:gdLst>
                <a:gd name="T0" fmla="*/ 0 w 96"/>
                <a:gd name="T1" fmla="*/ 2147483646 h 288"/>
                <a:gd name="T2" fmla="*/ 0 w 96"/>
                <a:gd name="T3" fmla="*/ 0 h 288"/>
                <a:gd name="T4" fmla="*/ 2147483646 w 96"/>
                <a:gd name="T5" fmla="*/ 0 h 288"/>
                <a:gd name="T6" fmla="*/ 0 60000 65536"/>
                <a:gd name="T7" fmla="*/ 0 60000 65536"/>
                <a:gd name="T8" fmla="*/ 0 60000 65536"/>
                <a:gd name="T9" fmla="*/ 0 w 96"/>
                <a:gd name="T10" fmla="*/ 0 h 288"/>
                <a:gd name="T11" fmla="*/ 96 w 9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288">
                  <a:moveTo>
                    <a:pt x="0" y="288"/>
                  </a:moveTo>
                  <a:lnTo>
                    <a:pt x="0" y="0"/>
                  </a:lnTo>
                  <a:lnTo>
                    <a:pt x="96" y="0"/>
                  </a:lnTo>
                </a:path>
              </a:pathLst>
            </a:custGeom>
            <a:noFill/>
            <a:ln w="9525">
              <a:solidFill>
                <a:srgbClr val="0099CC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16" name="Text Box 138"/>
            <p:cNvSpPr txBox="1">
              <a:spLocks noChangeArrowheads="1"/>
            </p:cNvSpPr>
            <p:nvPr/>
          </p:nvSpPr>
          <p:spPr bwMode="auto">
            <a:xfrm>
              <a:off x="3116263" y="5899150"/>
              <a:ext cx="3165475" cy="766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marL="95250" indent="-952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명확한 목표 및 효율적 사업관리</a:t>
              </a:r>
              <a:endPara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buFontTx/>
                <a:buChar char="•"/>
              </a:pP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고객과 사업자간 원활한 상호협력 및 의사소통을 통한 철저한 협업 체계 구축</a:t>
              </a:r>
              <a:endPara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hangingPunct="1">
                <a:buFontTx/>
                <a:buChar char="•"/>
              </a:pP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합리적인 운영으로 납기 준수</a:t>
              </a:r>
              <a:endPara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 Box 139"/>
            <p:cNvSpPr txBox="1">
              <a:spLocks noChangeArrowheads="1"/>
            </p:cNvSpPr>
            <p:nvPr/>
          </p:nvSpPr>
          <p:spPr bwMode="auto">
            <a:xfrm>
              <a:off x="3898900" y="7256463"/>
              <a:ext cx="2541588" cy="444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marL="101600" indent="-101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다수의 </a:t>
              </a:r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EOS </a:t>
              </a:r>
              <a:r>
                <a: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경험에서 축적된 이관 가이드 제공</a:t>
              </a:r>
              <a:endPara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Arc 140"/>
            <p:cNvSpPr>
              <a:spLocks/>
            </p:cNvSpPr>
            <p:nvPr/>
          </p:nvSpPr>
          <p:spPr bwMode="auto">
            <a:xfrm>
              <a:off x="447675" y="5640388"/>
              <a:ext cx="3198813" cy="3416300"/>
            </a:xfrm>
            <a:custGeom>
              <a:avLst/>
              <a:gdLst>
                <a:gd name="T0" fmla="*/ 0 w 21599"/>
                <a:gd name="T1" fmla="*/ 0 h 21600"/>
                <a:gd name="T2" fmla="*/ 2147483646 w 21599"/>
                <a:gd name="T3" fmla="*/ 2147483646 h 21600"/>
                <a:gd name="T4" fmla="*/ 0 w 21599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-1" y="0"/>
                  </a:moveTo>
                  <a:cubicBezTo>
                    <a:pt x="11861" y="0"/>
                    <a:pt x="21503" y="9564"/>
                    <a:pt x="21599" y="2142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61" y="0"/>
                    <a:pt x="21503" y="9564"/>
                    <a:pt x="21599" y="2142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19" name="Arc 141"/>
            <p:cNvSpPr>
              <a:spLocks/>
            </p:cNvSpPr>
            <p:nvPr/>
          </p:nvSpPr>
          <p:spPr bwMode="auto">
            <a:xfrm>
              <a:off x="490538" y="5567363"/>
              <a:ext cx="3197225" cy="3417887"/>
            </a:xfrm>
            <a:custGeom>
              <a:avLst/>
              <a:gdLst>
                <a:gd name="T0" fmla="*/ 0 w 21599"/>
                <a:gd name="T1" fmla="*/ 0 h 21600"/>
                <a:gd name="T2" fmla="*/ 2147483646 w 21599"/>
                <a:gd name="T3" fmla="*/ 2147483646 h 21600"/>
                <a:gd name="T4" fmla="*/ 0 w 21599"/>
                <a:gd name="T5" fmla="*/ 2147483646 h 21600"/>
                <a:gd name="T6" fmla="*/ 0 60000 65536"/>
                <a:gd name="T7" fmla="*/ 0 60000 65536"/>
                <a:gd name="T8" fmla="*/ 0 60000 65536"/>
                <a:gd name="T9" fmla="*/ 0 w 21599"/>
                <a:gd name="T10" fmla="*/ 0 h 21600"/>
                <a:gd name="T11" fmla="*/ 21599 w 215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9" h="21600" fill="none" extrusionOk="0">
                  <a:moveTo>
                    <a:pt x="-1" y="0"/>
                  </a:moveTo>
                  <a:cubicBezTo>
                    <a:pt x="11861" y="0"/>
                    <a:pt x="21503" y="9564"/>
                    <a:pt x="21599" y="2142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61" y="0"/>
                    <a:pt x="21503" y="9564"/>
                    <a:pt x="21599" y="2142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20" name="Oval 142"/>
            <p:cNvSpPr>
              <a:spLocks noChangeArrowheads="1"/>
            </p:cNvSpPr>
            <p:nvPr/>
          </p:nvSpPr>
          <p:spPr bwMode="auto">
            <a:xfrm>
              <a:off x="627063" y="5435600"/>
              <a:ext cx="258762" cy="255588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99CC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Oval 143"/>
            <p:cNvSpPr>
              <a:spLocks noChangeArrowheads="1"/>
            </p:cNvSpPr>
            <p:nvPr/>
          </p:nvSpPr>
          <p:spPr bwMode="auto">
            <a:xfrm>
              <a:off x="1700213" y="5765800"/>
              <a:ext cx="257175" cy="252413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99CC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Freeform 144"/>
            <p:cNvSpPr>
              <a:spLocks/>
            </p:cNvSpPr>
            <p:nvPr/>
          </p:nvSpPr>
          <p:spPr bwMode="auto">
            <a:xfrm>
              <a:off x="1863725" y="4506913"/>
              <a:ext cx="341313" cy="1276350"/>
            </a:xfrm>
            <a:custGeom>
              <a:avLst/>
              <a:gdLst>
                <a:gd name="T0" fmla="*/ 0 w 96"/>
                <a:gd name="T1" fmla="*/ 2147483646 h 288"/>
                <a:gd name="T2" fmla="*/ 0 w 96"/>
                <a:gd name="T3" fmla="*/ 0 h 288"/>
                <a:gd name="T4" fmla="*/ 2147483646 w 96"/>
                <a:gd name="T5" fmla="*/ 0 h 288"/>
                <a:gd name="T6" fmla="*/ 0 60000 65536"/>
                <a:gd name="T7" fmla="*/ 0 60000 65536"/>
                <a:gd name="T8" fmla="*/ 0 60000 65536"/>
                <a:gd name="T9" fmla="*/ 0 w 96"/>
                <a:gd name="T10" fmla="*/ 0 h 288"/>
                <a:gd name="T11" fmla="*/ 96 w 9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288">
                  <a:moveTo>
                    <a:pt x="0" y="288"/>
                  </a:moveTo>
                  <a:lnTo>
                    <a:pt x="0" y="0"/>
                  </a:lnTo>
                  <a:lnTo>
                    <a:pt x="96" y="0"/>
                  </a:lnTo>
                </a:path>
              </a:pathLst>
            </a:custGeom>
            <a:noFill/>
            <a:ln w="9525">
              <a:solidFill>
                <a:srgbClr val="0099CC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grpSp>
          <p:nvGrpSpPr>
            <p:cNvPr id="23" name="Group 145"/>
            <p:cNvGrpSpPr>
              <a:grpSpLocks/>
            </p:cNvGrpSpPr>
            <p:nvPr/>
          </p:nvGrpSpPr>
          <p:grpSpPr bwMode="auto">
            <a:xfrm>
              <a:off x="285750" y="6340475"/>
              <a:ext cx="2836863" cy="2716213"/>
              <a:chOff x="336" y="4032"/>
              <a:chExt cx="1679" cy="1584"/>
            </a:xfrm>
          </p:grpSpPr>
          <p:sp>
            <p:nvSpPr>
              <p:cNvPr id="24" name="Rectangle 146"/>
              <p:cNvSpPr>
                <a:spLocks noChangeArrowheads="1"/>
              </p:cNvSpPr>
              <p:nvPr/>
            </p:nvSpPr>
            <p:spPr bwMode="auto">
              <a:xfrm>
                <a:off x="487" y="4379"/>
                <a:ext cx="1068" cy="4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eaLnBrk="1" hangingPunct="1"/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25" name="Group 147"/>
              <p:cNvGrpSpPr>
                <a:grpSpLocks/>
              </p:cNvGrpSpPr>
              <p:nvPr/>
            </p:nvGrpSpPr>
            <p:grpSpPr bwMode="auto">
              <a:xfrm>
                <a:off x="336" y="4032"/>
                <a:ext cx="1679" cy="1584"/>
                <a:chOff x="336" y="1536"/>
                <a:chExt cx="1148" cy="1042"/>
              </a:xfrm>
            </p:grpSpPr>
            <p:sp>
              <p:nvSpPr>
                <p:cNvPr id="29" name="Freeform 148"/>
                <p:cNvSpPr>
                  <a:spLocks/>
                </p:cNvSpPr>
                <p:nvPr/>
              </p:nvSpPr>
              <p:spPr bwMode="auto">
                <a:xfrm>
                  <a:off x="338" y="1652"/>
                  <a:ext cx="331" cy="734"/>
                </a:xfrm>
                <a:custGeom>
                  <a:avLst/>
                  <a:gdLst>
                    <a:gd name="T0" fmla="*/ 0 w 746"/>
                    <a:gd name="T1" fmla="*/ 0 h 1847"/>
                    <a:gd name="T2" fmla="*/ 0 w 746"/>
                    <a:gd name="T3" fmla="*/ 0 h 1847"/>
                    <a:gd name="T4" fmla="*/ 0 w 746"/>
                    <a:gd name="T5" fmla="*/ 0 h 1847"/>
                    <a:gd name="T6" fmla="*/ 0 w 746"/>
                    <a:gd name="T7" fmla="*/ 0 h 1847"/>
                    <a:gd name="T8" fmla="*/ 0 w 746"/>
                    <a:gd name="T9" fmla="*/ 0 h 1847"/>
                    <a:gd name="T10" fmla="*/ 0 w 746"/>
                    <a:gd name="T11" fmla="*/ 0 h 1847"/>
                    <a:gd name="T12" fmla="*/ 0 w 746"/>
                    <a:gd name="T13" fmla="*/ 0 h 1847"/>
                    <a:gd name="T14" fmla="*/ 0 w 746"/>
                    <a:gd name="T15" fmla="*/ 0 h 1847"/>
                    <a:gd name="T16" fmla="*/ 0 w 746"/>
                    <a:gd name="T17" fmla="*/ 0 h 1847"/>
                    <a:gd name="T18" fmla="*/ 0 w 746"/>
                    <a:gd name="T19" fmla="*/ 0 h 1847"/>
                    <a:gd name="T20" fmla="*/ 0 w 746"/>
                    <a:gd name="T21" fmla="*/ 0 h 1847"/>
                    <a:gd name="T22" fmla="*/ 0 w 746"/>
                    <a:gd name="T23" fmla="*/ 0 h 1847"/>
                    <a:gd name="T24" fmla="*/ 0 w 746"/>
                    <a:gd name="T25" fmla="*/ 0 h 1847"/>
                    <a:gd name="T26" fmla="*/ 0 w 746"/>
                    <a:gd name="T27" fmla="*/ 0 h 1847"/>
                    <a:gd name="T28" fmla="*/ 0 w 746"/>
                    <a:gd name="T29" fmla="*/ 0 h 1847"/>
                    <a:gd name="T30" fmla="*/ 0 w 746"/>
                    <a:gd name="T31" fmla="*/ 0 h 1847"/>
                    <a:gd name="T32" fmla="*/ 0 w 746"/>
                    <a:gd name="T33" fmla="*/ 0 h 1847"/>
                    <a:gd name="T34" fmla="*/ 0 w 746"/>
                    <a:gd name="T35" fmla="*/ 0 h 1847"/>
                    <a:gd name="T36" fmla="*/ 0 w 746"/>
                    <a:gd name="T37" fmla="*/ 0 h 1847"/>
                    <a:gd name="T38" fmla="*/ 0 w 746"/>
                    <a:gd name="T39" fmla="*/ 0 h 1847"/>
                    <a:gd name="T40" fmla="*/ 0 w 746"/>
                    <a:gd name="T41" fmla="*/ 0 h 1847"/>
                    <a:gd name="T42" fmla="*/ 0 w 746"/>
                    <a:gd name="T43" fmla="*/ 0 h 1847"/>
                    <a:gd name="T44" fmla="*/ 0 w 746"/>
                    <a:gd name="T45" fmla="*/ 0 h 1847"/>
                    <a:gd name="T46" fmla="*/ 0 w 746"/>
                    <a:gd name="T47" fmla="*/ 0 h 1847"/>
                    <a:gd name="T48" fmla="*/ 0 w 746"/>
                    <a:gd name="T49" fmla="*/ 0 h 1847"/>
                    <a:gd name="T50" fmla="*/ 0 w 746"/>
                    <a:gd name="T51" fmla="*/ 0 h 1847"/>
                    <a:gd name="T52" fmla="*/ 0 w 746"/>
                    <a:gd name="T53" fmla="*/ 0 h 1847"/>
                    <a:gd name="T54" fmla="*/ 0 w 746"/>
                    <a:gd name="T55" fmla="*/ 0 h 1847"/>
                    <a:gd name="T56" fmla="*/ 0 w 746"/>
                    <a:gd name="T57" fmla="*/ 0 h 1847"/>
                    <a:gd name="T58" fmla="*/ 0 w 746"/>
                    <a:gd name="T59" fmla="*/ 0 h 1847"/>
                    <a:gd name="T60" fmla="*/ 0 w 746"/>
                    <a:gd name="T61" fmla="*/ 0 h 1847"/>
                    <a:gd name="T62" fmla="*/ 0 w 746"/>
                    <a:gd name="T63" fmla="*/ 0 h 1847"/>
                    <a:gd name="T64" fmla="*/ 0 w 746"/>
                    <a:gd name="T65" fmla="*/ 0 h 1847"/>
                    <a:gd name="T66" fmla="*/ 0 w 746"/>
                    <a:gd name="T67" fmla="*/ 0 h 1847"/>
                    <a:gd name="T68" fmla="*/ 0 w 746"/>
                    <a:gd name="T69" fmla="*/ 0 h 1847"/>
                    <a:gd name="T70" fmla="*/ 0 w 746"/>
                    <a:gd name="T71" fmla="*/ 0 h 1847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46"/>
                    <a:gd name="T109" fmla="*/ 0 h 1847"/>
                    <a:gd name="T110" fmla="*/ 746 w 746"/>
                    <a:gd name="T111" fmla="*/ 1847 h 1847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46" h="1847">
                      <a:moveTo>
                        <a:pt x="746" y="233"/>
                      </a:moveTo>
                      <a:lnTo>
                        <a:pt x="522" y="0"/>
                      </a:lnTo>
                      <a:lnTo>
                        <a:pt x="469" y="38"/>
                      </a:lnTo>
                      <a:lnTo>
                        <a:pt x="412" y="90"/>
                      </a:lnTo>
                      <a:lnTo>
                        <a:pt x="349" y="153"/>
                      </a:lnTo>
                      <a:lnTo>
                        <a:pt x="287" y="230"/>
                      </a:lnTo>
                      <a:lnTo>
                        <a:pt x="222" y="315"/>
                      </a:lnTo>
                      <a:lnTo>
                        <a:pt x="162" y="410"/>
                      </a:lnTo>
                      <a:lnTo>
                        <a:pt x="110" y="517"/>
                      </a:lnTo>
                      <a:lnTo>
                        <a:pt x="65" y="632"/>
                      </a:lnTo>
                      <a:lnTo>
                        <a:pt x="30" y="757"/>
                      </a:lnTo>
                      <a:lnTo>
                        <a:pt x="7" y="891"/>
                      </a:lnTo>
                      <a:lnTo>
                        <a:pt x="0" y="1031"/>
                      </a:lnTo>
                      <a:lnTo>
                        <a:pt x="12" y="1183"/>
                      </a:lnTo>
                      <a:lnTo>
                        <a:pt x="42" y="1338"/>
                      </a:lnTo>
                      <a:lnTo>
                        <a:pt x="100" y="1503"/>
                      </a:lnTo>
                      <a:lnTo>
                        <a:pt x="180" y="1670"/>
                      </a:lnTo>
                      <a:lnTo>
                        <a:pt x="289" y="1847"/>
                      </a:lnTo>
                      <a:lnTo>
                        <a:pt x="539" y="1642"/>
                      </a:lnTo>
                      <a:lnTo>
                        <a:pt x="467" y="1535"/>
                      </a:lnTo>
                      <a:lnTo>
                        <a:pt x="409" y="1428"/>
                      </a:lnTo>
                      <a:lnTo>
                        <a:pt x="367" y="1325"/>
                      </a:lnTo>
                      <a:lnTo>
                        <a:pt x="337" y="1223"/>
                      </a:lnTo>
                      <a:lnTo>
                        <a:pt x="319" y="1123"/>
                      </a:lnTo>
                      <a:lnTo>
                        <a:pt x="314" y="1026"/>
                      </a:lnTo>
                      <a:lnTo>
                        <a:pt x="319" y="934"/>
                      </a:lnTo>
                      <a:lnTo>
                        <a:pt x="337" y="841"/>
                      </a:lnTo>
                      <a:lnTo>
                        <a:pt x="359" y="752"/>
                      </a:lnTo>
                      <a:lnTo>
                        <a:pt x="394" y="667"/>
                      </a:lnTo>
                      <a:lnTo>
                        <a:pt x="437" y="584"/>
                      </a:lnTo>
                      <a:lnTo>
                        <a:pt x="487" y="507"/>
                      </a:lnTo>
                      <a:lnTo>
                        <a:pt x="544" y="432"/>
                      </a:lnTo>
                      <a:lnTo>
                        <a:pt x="606" y="362"/>
                      </a:lnTo>
                      <a:lnTo>
                        <a:pt x="674" y="295"/>
                      </a:lnTo>
                      <a:lnTo>
                        <a:pt x="746" y="233"/>
                      </a:lnTo>
                      <a:close/>
                    </a:path>
                  </a:pathLst>
                </a:custGeom>
                <a:solidFill>
                  <a:srgbClr val="A1B5C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0" name="Freeform 149"/>
                <p:cNvSpPr>
                  <a:spLocks/>
                </p:cNvSpPr>
                <p:nvPr/>
              </p:nvSpPr>
              <p:spPr bwMode="auto">
                <a:xfrm>
                  <a:off x="338" y="1551"/>
                  <a:ext cx="1146" cy="1027"/>
                </a:xfrm>
                <a:custGeom>
                  <a:avLst/>
                  <a:gdLst>
                    <a:gd name="T0" fmla="*/ 0 w 2583"/>
                    <a:gd name="T1" fmla="*/ 0 h 2585"/>
                    <a:gd name="T2" fmla="*/ 0 w 2583"/>
                    <a:gd name="T3" fmla="*/ 0 h 2585"/>
                    <a:gd name="T4" fmla="*/ 0 w 2583"/>
                    <a:gd name="T5" fmla="*/ 0 h 2585"/>
                    <a:gd name="T6" fmla="*/ 0 w 2583"/>
                    <a:gd name="T7" fmla="*/ 0 h 2585"/>
                    <a:gd name="T8" fmla="*/ 0 w 2583"/>
                    <a:gd name="T9" fmla="*/ 0 h 2585"/>
                    <a:gd name="T10" fmla="*/ 0 w 2583"/>
                    <a:gd name="T11" fmla="*/ 0 h 2585"/>
                    <a:gd name="T12" fmla="*/ 0 w 2583"/>
                    <a:gd name="T13" fmla="*/ 0 h 2585"/>
                    <a:gd name="T14" fmla="*/ 0 w 2583"/>
                    <a:gd name="T15" fmla="*/ 0 h 2585"/>
                    <a:gd name="T16" fmla="*/ 0 w 2583"/>
                    <a:gd name="T17" fmla="*/ 0 h 2585"/>
                    <a:gd name="T18" fmla="*/ 0 w 2583"/>
                    <a:gd name="T19" fmla="*/ 0 h 2585"/>
                    <a:gd name="T20" fmla="*/ 0 w 2583"/>
                    <a:gd name="T21" fmla="*/ 0 h 2585"/>
                    <a:gd name="T22" fmla="*/ 0 w 2583"/>
                    <a:gd name="T23" fmla="*/ 0 h 2585"/>
                    <a:gd name="T24" fmla="*/ 0 w 2583"/>
                    <a:gd name="T25" fmla="*/ 0 h 2585"/>
                    <a:gd name="T26" fmla="*/ 0 w 2583"/>
                    <a:gd name="T27" fmla="*/ 0 h 2585"/>
                    <a:gd name="T28" fmla="*/ 0 w 2583"/>
                    <a:gd name="T29" fmla="*/ 0 h 2585"/>
                    <a:gd name="T30" fmla="*/ 0 w 2583"/>
                    <a:gd name="T31" fmla="*/ 0 h 2585"/>
                    <a:gd name="T32" fmla="*/ 0 w 2583"/>
                    <a:gd name="T33" fmla="*/ 0 h 2585"/>
                    <a:gd name="T34" fmla="*/ 0 w 2583"/>
                    <a:gd name="T35" fmla="*/ 0 h 2585"/>
                    <a:gd name="T36" fmla="*/ 0 w 2583"/>
                    <a:gd name="T37" fmla="*/ 0 h 2585"/>
                    <a:gd name="T38" fmla="*/ 0 w 2583"/>
                    <a:gd name="T39" fmla="*/ 0 h 2585"/>
                    <a:gd name="T40" fmla="*/ 0 w 2583"/>
                    <a:gd name="T41" fmla="*/ 0 h 2585"/>
                    <a:gd name="T42" fmla="*/ 0 w 2583"/>
                    <a:gd name="T43" fmla="*/ 0 h 2585"/>
                    <a:gd name="T44" fmla="*/ 0 w 2583"/>
                    <a:gd name="T45" fmla="*/ 0 h 2585"/>
                    <a:gd name="T46" fmla="*/ 0 w 2583"/>
                    <a:gd name="T47" fmla="*/ 0 h 2585"/>
                    <a:gd name="T48" fmla="*/ 0 w 2583"/>
                    <a:gd name="T49" fmla="*/ 0 h 2585"/>
                    <a:gd name="T50" fmla="*/ 0 w 2583"/>
                    <a:gd name="T51" fmla="*/ 0 h 2585"/>
                    <a:gd name="T52" fmla="*/ 0 w 2583"/>
                    <a:gd name="T53" fmla="*/ 0 h 2585"/>
                    <a:gd name="T54" fmla="*/ 0 w 2583"/>
                    <a:gd name="T55" fmla="*/ 0 h 2585"/>
                    <a:gd name="T56" fmla="*/ 0 w 2583"/>
                    <a:gd name="T57" fmla="*/ 0 h 2585"/>
                    <a:gd name="T58" fmla="*/ 0 w 2583"/>
                    <a:gd name="T59" fmla="*/ 0 h 2585"/>
                    <a:gd name="T60" fmla="*/ 0 w 2583"/>
                    <a:gd name="T61" fmla="*/ 0 h 2585"/>
                    <a:gd name="T62" fmla="*/ 0 w 2583"/>
                    <a:gd name="T63" fmla="*/ 0 h 2585"/>
                    <a:gd name="T64" fmla="*/ 0 w 2583"/>
                    <a:gd name="T65" fmla="*/ 0 h 2585"/>
                    <a:gd name="T66" fmla="*/ 0 w 2583"/>
                    <a:gd name="T67" fmla="*/ 0 h 2585"/>
                    <a:gd name="T68" fmla="*/ 0 w 2583"/>
                    <a:gd name="T69" fmla="*/ 0 h 2585"/>
                    <a:gd name="T70" fmla="*/ 0 w 2583"/>
                    <a:gd name="T71" fmla="*/ 0 h 2585"/>
                    <a:gd name="T72" fmla="*/ 0 w 2583"/>
                    <a:gd name="T73" fmla="*/ 0 h 2585"/>
                    <a:gd name="T74" fmla="*/ 0 w 2583"/>
                    <a:gd name="T75" fmla="*/ 0 h 2585"/>
                    <a:gd name="T76" fmla="*/ 0 w 2583"/>
                    <a:gd name="T77" fmla="*/ 0 h 2585"/>
                    <a:gd name="T78" fmla="*/ 0 w 2583"/>
                    <a:gd name="T79" fmla="*/ 0 h 2585"/>
                    <a:gd name="T80" fmla="*/ 0 w 2583"/>
                    <a:gd name="T81" fmla="*/ 0 h 2585"/>
                    <a:gd name="T82" fmla="*/ 0 w 2583"/>
                    <a:gd name="T83" fmla="*/ 0 h 2585"/>
                    <a:gd name="T84" fmla="*/ 0 w 2583"/>
                    <a:gd name="T85" fmla="*/ 0 h 2585"/>
                    <a:gd name="T86" fmla="*/ 0 w 2583"/>
                    <a:gd name="T87" fmla="*/ 0 h 2585"/>
                    <a:gd name="T88" fmla="*/ 0 w 2583"/>
                    <a:gd name="T89" fmla="*/ 0 h 2585"/>
                    <a:gd name="T90" fmla="*/ 0 w 2583"/>
                    <a:gd name="T91" fmla="*/ 0 h 2585"/>
                    <a:gd name="T92" fmla="*/ 0 w 2583"/>
                    <a:gd name="T93" fmla="*/ 0 h 2585"/>
                    <a:gd name="T94" fmla="*/ 0 w 2583"/>
                    <a:gd name="T95" fmla="*/ 0 h 2585"/>
                    <a:gd name="T96" fmla="*/ 0 w 2583"/>
                    <a:gd name="T97" fmla="*/ 0 h 2585"/>
                    <a:gd name="T98" fmla="*/ 0 w 2583"/>
                    <a:gd name="T99" fmla="*/ 0 h 2585"/>
                    <a:gd name="T100" fmla="*/ 0 w 2583"/>
                    <a:gd name="T101" fmla="*/ 0 h 2585"/>
                    <a:gd name="T102" fmla="*/ 0 w 2583"/>
                    <a:gd name="T103" fmla="*/ 0 h 2585"/>
                    <a:gd name="T104" fmla="*/ 0 w 2583"/>
                    <a:gd name="T105" fmla="*/ 0 h 2585"/>
                    <a:gd name="T106" fmla="*/ 0 w 2583"/>
                    <a:gd name="T107" fmla="*/ 0 h 2585"/>
                    <a:gd name="T108" fmla="*/ 0 w 2583"/>
                    <a:gd name="T109" fmla="*/ 0 h 2585"/>
                    <a:gd name="T110" fmla="*/ 0 w 2583"/>
                    <a:gd name="T111" fmla="*/ 0 h 2585"/>
                    <a:gd name="T112" fmla="*/ 0 w 2583"/>
                    <a:gd name="T113" fmla="*/ 0 h 2585"/>
                    <a:gd name="T114" fmla="*/ 0 w 2583"/>
                    <a:gd name="T115" fmla="*/ 0 h 2585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2583"/>
                    <a:gd name="T175" fmla="*/ 0 h 2585"/>
                    <a:gd name="T176" fmla="*/ 2583 w 2583"/>
                    <a:gd name="T177" fmla="*/ 2585 h 2585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2583" h="2585">
                      <a:moveTo>
                        <a:pt x="1290" y="2585"/>
                      </a:moveTo>
                      <a:lnTo>
                        <a:pt x="1158" y="2578"/>
                      </a:lnTo>
                      <a:lnTo>
                        <a:pt x="1031" y="2558"/>
                      </a:lnTo>
                      <a:lnTo>
                        <a:pt x="906" y="2525"/>
                      </a:lnTo>
                      <a:lnTo>
                        <a:pt x="789" y="2483"/>
                      </a:lnTo>
                      <a:lnTo>
                        <a:pt x="674" y="2428"/>
                      </a:lnTo>
                      <a:lnTo>
                        <a:pt x="566" y="2363"/>
                      </a:lnTo>
                      <a:lnTo>
                        <a:pt x="469" y="2288"/>
                      </a:lnTo>
                      <a:lnTo>
                        <a:pt x="377" y="2206"/>
                      </a:lnTo>
                      <a:lnTo>
                        <a:pt x="292" y="2113"/>
                      </a:lnTo>
                      <a:lnTo>
                        <a:pt x="220" y="2014"/>
                      </a:lnTo>
                      <a:lnTo>
                        <a:pt x="152" y="1906"/>
                      </a:lnTo>
                      <a:lnTo>
                        <a:pt x="100" y="1797"/>
                      </a:lnTo>
                      <a:lnTo>
                        <a:pt x="57" y="1677"/>
                      </a:lnTo>
                      <a:lnTo>
                        <a:pt x="25" y="1552"/>
                      </a:lnTo>
                      <a:lnTo>
                        <a:pt x="5" y="1422"/>
                      </a:lnTo>
                      <a:lnTo>
                        <a:pt x="0" y="1293"/>
                      </a:lnTo>
                      <a:lnTo>
                        <a:pt x="5" y="1160"/>
                      </a:lnTo>
                      <a:lnTo>
                        <a:pt x="25" y="1030"/>
                      </a:lnTo>
                      <a:lnTo>
                        <a:pt x="57" y="906"/>
                      </a:lnTo>
                      <a:lnTo>
                        <a:pt x="100" y="788"/>
                      </a:lnTo>
                      <a:lnTo>
                        <a:pt x="152" y="676"/>
                      </a:lnTo>
                      <a:lnTo>
                        <a:pt x="220" y="569"/>
                      </a:lnTo>
                      <a:lnTo>
                        <a:pt x="292" y="469"/>
                      </a:lnTo>
                      <a:lnTo>
                        <a:pt x="377" y="379"/>
                      </a:lnTo>
                      <a:lnTo>
                        <a:pt x="469" y="292"/>
                      </a:lnTo>
                      <a:lnTo>
                        <a:pt x="566" y="219"/>
                      </a:lnTo>
                      <a:lnTo>
                        <a:pt x="674" y="155"/>
                      </a:lnTo>
                      <a:lnTo>
                        <a:pt x="789" y="100"/>
                      </a:lnTo>
                      <a:lnTo>
                        <a:pt x="906" y="57"/>
                      </a:lnTo>
                      <a:lnTo>
                        <a:pt x="1031" y="25"/>
                      </a:lnTo>
                      <a:lnTo>
                        <a:pt x="1158" y="5"/>
                      </a:lnTo>
                      <a:lnTo>
                        <a:pt x="1290" y="0"/>
                      </a:lnTo>
                      <a:lnTo>
                        <a:pt x="1423" y="5"/>
                      </a:lnTo>
                      <a:lnTo>
                        <a:pt x="1550" y="25"/>
                      </a:lnTo>
                      <a:lnTo>
                        <a:pt x="1675" y="57"/>
                      </a:lnTo>
                      <a:lnTo>
                        <a:pt x="1794" y="105"/>
                      </a:lnTo>
                      <a:lnTo>
                        <a:pt x="1907" y="160"/>
                      </a:lnTo>
                      <a:lnTo>
                        <a:pt x="2012" y="229"/>
                      </a:lnTo>
                      <a:lnTo>
                        <a:pt x="2111" y="304"/>
                      </a:lnTo>
                      <a:lnTo>
                        <a:pt x="2206" y="392"/>
                      </a:lnTo>
                      <a:lnTo>
                        <a:pt x="2289" y="484"/>
                      </a:lnTo>
                      <a:lnTo>
                        <a:pt x="2363" y="584"/>
                      </a:lnTo>
                      <a:lnTo>
                        <a:pt x="2426" y="691"/>
                      </a:lnTo>
                      <a:lnTo>
                        <a:pt x="2481" y="803"/>
                      </a:lnTo>
                      <a:lnTo>
                        <a:pt x="2523" y="921"/>
                      </a:lnTo>
                      <a:lnTo>
                        <a:pt x="2558" y="1040"/>
                      </a:lnTo>
                      <a:lnTo>
                        <a:pt x="2576" y="1165"/>
                      </a:lnTo>
                      <a:lnTo>
                        <a:pt x="2583" y="1293"/>
                      </a:lnTo>
                      <a:lnTo>
                        <a:pt x="2581" y="1295"/>
                      </a:lnTo>
                      <a:lnTo>
                        <a:pt x="2578" y="1297"/>
                      </a:lnTo>
                      <a:lnTo>
                        <a:pt x="2571" y="1300"/>
                      </a:lnTo>
                      <a:lnTo>
                        <a:pt x="2563" y="1302"/>
                      </a:lnTo>
                      <a:lnTo>
                        <a:pt x="2553" y="1302"/>
                      </a:lnTo>
                      <a:lnTo>
                        <a:pt x="2543" y="1305"/>
                      </a:lnTo>
                      <a:lnTo>
                        <a:pt x="2533" y="1305"/>
                      </a:lnTo>
                      <a:lnTo>
                        <a:pt x="2521" y="1307"/>
                      </a:lnTo>
                      <a:lnTo>
                        <a:pt x="2511" y="1307"/>
                      </a:lnTo>
                      <a:lnTo>
                        <a:pt x="2498" y="1307"/>
                      </a:lnTo>
                      <a:lnTo>
                        <a:pt x="2488" y="1307"/>
                      </a:lnTo>
                      <a:lnTo>
                        <a:pt x="2478" y="1307"/>
                      </a:lnTo>
                      <a:lnTo>
                        <a:pt x="2471" y="1307"/>
                      </a:lnTo>
                      <a:lnTo>
                        <a:pt x="2466" y="1307"/>
                      </a:lnTo>
                      <a:lnTo>
                        <a:pt x="2461" y="1307"/>
                      </a:lnTo>
                      <a:lnTo>
                        <a:pt x="2371" y="1293"/>
                      </a:lnTo>
                      <a:lnTo>
                        <a:pt x="2358" y="1228"/>
                      </a:lnTo>
                      <a:lnTo>
                        <a:pt x="2338" y="1158"/>
                      </a:lnTo>
                      <a:lnTo>
                        <a:pt x="2306" y="1083"/>
                      </a:lnTo>
                      <a:lnTo>
                        <a:pt x="2266" y="1003"/>
                      </a:lnTo>
                      <a:lnTo>
                        <a:pt x="2216" y="923"/>
                      </a:lnTo>
                      <a:lnTo>
                        <a:pt x="2159" y="841"/>
                      </a:lnTo>
                      <a:lnTo>
                        <a:pt x="2094" y="761"/>
                      </a:lnTo>
                      <a:lnTo>
                        <a:pt x="2024" y="686"/>
                      </a:lnTo>
                      <a:lnTo>
                        <a:pt x="1944" y="611"/>
                      </a:lnTo>
                      <a:lnTo>
                        <a:pt x="1862" y="541"/>
                      </a:lnTo>
                      <a:lnTo>
                        <a:pt x="1772" y="479"/>
                      </a:lnTo>
                      <a:lnTo>
                        <a:pt x="1682" y="427"/>
                      </a:lnTo>
                      <a:lnTo>
                        <a:pt x="1587" y="382"/>
                      </a:lnTo>
                      <a:lnTo>
                        <a:pt x="1490" y="349"/>
                      </a:lnTo>
                      <a:lnTo>
                        <a:pt x="1390" y="329"/>
                      </a:lnTo>
                      <a:lnTo>
                        <a:pt x="1290" y="322"/>
                      </a:lnTo>
                      <a:lnTo>
                        <a:pt x="1190" y="327"/>
                      </a:lnTo>
                      <a:lnTo>
                        <a:pt x="1096" y="339"/>
                      </a:lnTo>
                      <a:lnTo>
                        <a:pt x="1001" y="364"/>
                      </a:lnTo>
                      <a:lnTo>
                        <a:pt x="913" y="397"/>
                      </a:lnTo>
                      <a:lnTo>
                        <a:pt x="829" y="439"/>
                      </a:lnTo>
                      <a:lnTo>
                        <a:pt x="749" y="487"/>
                      </a:lnTo>
                      <a:lnTo>
                        <a:pt x="674" y="544"/>
                      </a:lnTo>
                      <a:lnTo>
                        <a:pt x="606" y="606"/>
                      </a:lnTo>
                      <a:lnTo>
                        <a:pt x="544" y="676"/>
                      </a:lnTo>
                      <a:lnTo>
                        <a:pt x="487" y="749"/>
                      </a:lnTo>
                      <a:lnTo>
                        <a:pt x="439" y="828"/>
                      </a:lnTo>
                      <a:lnTo>
                        <a:pt x="399" y="916"/>
                      </a:lnTo>
                      <a:lnTo>
                        <a:pt x="367" y="1003"/>
                      </a:lnTo>
                      <a:lnTo>
                        <a:pt x="342" y="1098"/>
                      </a:lnTo>
                      <a:lnTo>
                        <a:pt x="327" y="1193"/>
                      </a:lnTo>
                      <a:lnTo>
                        <a:pt x="324" y="1293"/>
                      </a:lnTo>
                      <a:lnTo>
                        <a:pt x="327" y="1390"/>
                      </a:lnTo>
                      <a:lnTo>
                        <a:pt x="342" y="1487"/>
                      </a:lnTo>
                      <a:lnTo>
                        <a:pt x="367" y="1579"/>
                      </a:lnTo>
                      <a:lnTo>
                        <a:pt x="399" y="1669"/>
                      </a:lnTo>
                      <a:lnTo>
                        <a:pt x="439" y="1754"/>
                      </a:lnTo>
                      <a:lnTo>
                        <a:pt x="487" y="1834"/>
                      </a:lnTo>
                      <a:lnTo>
                        <a:pt x="544" y="1906"/>
                      </a:lnTo>
                      <a:lnTo>
                        <a:pt x="606" y="1976"/>
                      </a:lnTo>
                      <a:lnTo>
                        <a:pt x="674" y="2039"/>
                      </a:lnTo>
                      <a:lnTo>
                        <a:pt x="749" y="2094"/>
                      </a:lnTo>
                      <a:lnTo>
                        <a:pt x="829" y="2141"/>
                      </a:lnTo>
                      <a:lnTo>
                        <a:pt x="913" y="2183"/>
                      </a:lnTo>
                      <a:lnTo>
                        <a:pt x="1001" y="2216"/>
                      </a:lnTo>
                      <a:lnTo>
                        <a:pt x="1096" y="2241"/>
                      </a:lnTo>
                      <a:lnTo>
                        <a:pt x="1190" y="2256"/>
                      </a:lnTo>
                      <a:lnTo>
                        <a:pt x="1290" y="2261"/>
                      </a:lnTo>
                      <a:lnTo>
                        <a:pt x="1290" y="2585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7E9F7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1" name="Freeform 150"/>
                <p:cNvSpPr>
                  <a:spLocks/>
                </p:cNvSpPr>
                <p:nvPr/>
              </p:nvSpPr>
              <p:spPr bwMode="auto">
                <a:xfrm>
                  <a:off x="352" y="1552"/>
                  <a:ext cx="702" cy="432"/>
                </a:xfrm>
                <a:custGeom>
                  <a:avLst/>
                  <a:gdLst>
                    <a:gd name="T0" fmla="*/ 0 w 1580"/>
                    <a:gd name="T1" fmla="*/ 0 h 1088"/>
                    <a:gd name="T2" fmla="*/ 0 w 1580"/>
                    <a:gd name="T3" fmla="*/ 0 h 1088"/>
                    <a:gd name="T4" fmla="*/ 0 w 1580"/>
                    <a:gd name="T5" fmla="*/ 0 h 1088"/>
                    <a:gd name="T6" fmla="*/ 0 w 1580"/>
                    <a:gd name="T7" fmla="*/ 0 h 1088"/>
                    <a:gd name="T8" fmla="*/ 0 w 1580"/>
                    <a:gd name="T9" fmla="*/ 0 h 1088"/>
                    <a:gd name="T10" fmla="*/ 0 w 1580"/>
                    <a:gd name="T11" fmla="*/ 0 h 1088"/>
                    <a:gd name="T12" fmla="*/ 0 w 1580"/>
                    <a:gd name="T13" fmla="*/ 0 h 1088"/>
                    <a:gd name="T14" fmla="*/ 0 w 1580"/>
                    <a:gd name="T15" fmla="*/ 0 h 1088"/>
                    <a:gd name="T16" fmla="*/ 0 w 1580"/>
                    <a:gd name="T17" fmla="*/ 0 h 1088"/>
                    <a:gd name="T18" fmla="*/ 0 w 1580"/>
                    <a:gd name="T19" fmla="*/ 0 h 1088"/>
                    <a:gd name="T20" fmla="*/ 0 w 1580"/>
                    <a:gd name="T21" fmla="*/ 0 h 1088"/>
                    <a:gd name="T22" fmla="*/ 0 w 1580"/>
                    <a:gd name="T23" fmla="*/ 0 h 1088"/>
                    <a:gd name="T24" fmla="*/ 0 w 1580"/>
                    <a:gd name="T25" fmla="*/ 0 h 1088"/>
                    <a:gd name="T26" fmla="*/ 0 w 1580"/>
                    <a:gd name="T27" fmla="*/ 0 h 1088"/>
                    <a:gd name="T28" fmla="*/ 0 w 1580"/>
                    <a:gd name="T29" fmla="*/ 0 h 1088"/>
                    <a:gd name="T30" fmla="*/ 0 w 1580"/>
                    <a:gd name="T31" fmla="*/ 0 h 1088"/>
                    <a:gd name="T32" fmla="*/ 0 w 1580"/>
                    <a:gd name="T33" fmla="*/ 0 h 1088"/>
                    <a:gd name="T34" fmla="*/ 0 w 1580"/>
                    <a:gd name="T35" fmla="*/ 0 h 1088"/>
                    <a:gd name="T36" fmla="*/ 0 w 1580"/>
                    <a:gd name="T37" fmla="*/ 0 h 1088"/>
                    <a:gd name="T38" fmla="*/ 0 w 1580"/>
                    <a:gd name="T39" fmla="*/ 0 h 1088"/>
                    <a:gd name="T40" fmla="*/ 0 w 1580"/>
                    <a:gd name="T41" fmla="*/ 0 h 1088"/>
                    <a:gd name="T42" fmla="*/ 0 w 1580"/>
                    <a:gd name="T43" fmla="*/ 0 h 1088"/>
                    <a:gd name="T44" fmla="*/ 0 w 1580"/>
                    <a:gd name="T45" fmla="*/ 0 h 1088"/>
                    <a:gd name="T46" fmla="*/ 0 w 1580"/>
                    <a:gd name="T47" fmla="*/ 0 h 1088"/>
                    <a:gd name="T48" fmla="*/ 0 w 1580"/>
                    <a:gd name="T49" fmla="*/ 0 h 1088"/>
                    <a:gd name="T50" fmla="*/ 0 w 1580"/>
                    <a:gd name="T51" fmla="*/ 0 h 1088"/>
                    <a:gd name="T52" fmla="*/ 0 w 1580"/>
                    <a:gd name="T53" fmla="*/ 0 h 1088"/>
                    <a:gd name="T54" fmla="*/ 0 w 1580"/>
                    <a:gd name="T55" fmla="*/ 0 h 1088"/>
                    <a:gd name="T56" fmla="*/ 0 w 1580"/>
                    <a:gd name="T57" fmla="*/ 0 h 1088"/>
                    <a:gd name="T58" fmla="*/ 0 w 1580"/>
                    <a:gd name="T59" fmla="*/ 0 h 1088"/>
                    <a:gd name="T60" fmla="*/ 0 w 1580"/>
                    <a:gd name="T61" fmla="*/ 0 h 1088"/>
                    <a:gd name="T62" fmla="*/ 0 w 1580"/>
                    <a:gd name="T63" fmla="*/ 0 h 1088"/>
                    <a:gd name="T64" fmla="*/ 0 w 1580"/>
                    <a:gd name="T65" fmla="*/ 0 h 1088"/>
                    <a:gd name="T66" fmla="*/ 0 w 1580"/>
                    <a:gd name="T67" fmla="*/ 0 h 1088"/>
                    <a:gd name="T68" fmla="*/ 0 w 1580"/>
                    <a:gd name="T69" fmla="*/ 0 h 1088"/>
                    <a:gd name="T70" fmla="*/ 0 w 1580"/>
                    <a:gd name="T71" fmla="*/ 0 h 1088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580"/>
                    <a:gd name="T109" fmla="*/ 0 h 1088"/>
                    <a:gd name="T110" fmla="*/ 1580 w 1580"/>
                    <a:gd name="T111" fmla="*/ 1088 h 1088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580" h="1088">
                      <a:moveTo>
                        <a:pt x="1540" y="360"/>
                      </a:moveTo>
                      <a:lnTo>
                        <a:pt x="1580" y="38"/>
                      </a:lnTo>
                      <a:lnTo>
                        <a:pt x="1515" y="23"/>
                      </a:lnTo>
                      <a:lnTo>
                        <a:pt x="1440" y="10"/>
                      </a:lnTo>
                      <a:lnTo>
                        <a:pt x="1351" y="3"/>
                      </a:lnTo>
                      <a:lnTo>
                        <a:pt x="1253" y="0"/>
                      </a:lnTo>
                      <a:lnTo>
                        <a:pt x="1146" y="3"/>
                      </a:lnTo>
                      <a:lnTo>
                        <a:pt x="1034" y="18"/>
                      </a:lnTo>
                      <a:lnTo>
                        <a:pt x="916" y="43"/>
                      </a:lnTo>
                      <a:lnTo>
                        <a:pt x="799" y="83"/>
                      </a:lnTo>
                      <a:lnTo>
                        <a:pt x="679" y="133"/>
                      </a:lnTo>
                      <a:lnTo>
                        <a:pt x="562" y="200"/>
                      </a:lnTo>
                      <a:lnTo>
                        <a:pt x="450" y="285"/>
                      </a:lnTo>
                      <a:lnTo>
                        <a:pt x="340" y="390"/>
                      </a:lnTo>
                      <a:lnTo>
                        <a:pt x="240" y="512"/>
                      </a:lnTo>
                      <a:lnTo>
                        <a:pt x="148" y="659"/>
                      </a:lnTo>
                      <a:lnTo>
                        <a:pt x="65" y="826"/>
                      </a:lnTo>
                      <a:lnTo>
                        <a:pt x="0" y="1023"/>
                      </a:lnTo>
                      <a:lnTo>
                        <a:pt x="317" y="1088"/>
                      </a:lnTo>
                      <a:lnTo>
                        <a:pt x="352" y="964"/>
                      </a:lnTo>
                      <a:lnTo>
                        <a:pt x="400" y="854"/>
                      </a:lnTo>
                      <a:lnTo>
                        <a:pt x="452" y="754"/>
                      </a:lnTo>
                      <a:lnTo>
                        <a:pt x="512" y="667"/>
                      </a:lnTo>
                      <a:lnTo>
                        <a:pt x="577" y="589"/>
                      </a:lnTo>
                      <a:lnTo>
                        <a:pt x="649" y="524"/>
                      </a:lnTo>
                      <a:lnTo>
                        <a:pt x="727" y="470"/>
                      </a:lnTo>
                      <a:lnTo>
                        <a:pt x="809" y="425"/>
                      </a:lnTo>
                      <a:lnTo>
                        <a:pt x="891" y="387"/>
                      </a:lnTo>
                      <a:lnTo>
                        <a:pt x="981" y="362"/>
                      </a:lnTo>
                      <a:lnTo>
                        <a:pt x="1071" y="342"/>
                      </a:lnTo>
                      <a:lnTo>
                        <a:pt x="1163" y="332"/>
                      </a:lnTo>
                      <a:lnTo>
                        <a:pt x="1256" y="327"/>
                      </a:lnTo>
                      <a:lnTo>
                        <a:pt x="1351" y="332"/>
                      </a:lnTo>
                      <a:lnTo>
                        <a:pt x="1445" y="342"/>
                      </a:lnTo>
                      <a:lnTo>
                        <a:pt x="1540" y="360"/>
                      </a:lnTo>
                      <a:close/>
                    </a:path>
                  </a:pathLst>
                </a:custGeom>
                <a:solidFill>
                  <a:srgbClr val="E9D1E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2" name="Freeform 151"/>
                <p:cNvSpPr>
                  <a:spLocks/>
                </p:cNvSpPr>
                <p:nvPr/>
              </p:nvSpPr>
              <p:spPr bwMode="auto">
                <a:xfrm>
                  <a:off x="336" y="2030"/>
                  <a:ext cx="573" cy="545"/>
                </a:xfrm>
                <a:custGeom>
                  <a:avLst/>
                  <a:gdLst>
                    <a:gd name="T0" fmla="*/ 0 w 1290"/>
                    <a:gd name="T1" fmla="*/ 0 h 1373"/>
                    <a:gd name="T2" fmla="*/ 0 w 1290"/>
                    <a:gd name="T3" fmla="*/ 0 h 1373"/>
                    <a:gd name="T4" fmla="*/ 0 w 1290"/>
                    <a:gd name="T5" fmla="*/ 0 h 1373"/>
                    <a:gd name="T6" fmla="*/ 0 w 1290"/>
                    <a:gd name="T7" fmla="*/ 0 h 1373"/>
                    <a:gd name="T8" fmla="*/ 0 w 1290"/>
                    <a:gd name="T9" fmla="*/ 0 h 1373"/>
                    <a:gd name="T10" fmla="*/ 0 w 1290"/>
                    <a:gd name="T11" fmla="*/ 0 h 1373"/>
                    <a:gd name="T12" fmla="*/ 0 w 1290"/>
                    <a:gd name="T13" fmla="*/ 0 h 1373"/>
                    <a:gd name="T14" fmla="*/ 0 w 1290"/>
                    <a:gd name="T15" fmla="*/ 0 h 1373"/>
                    <a:gd name="T16" fmla="*/ 0 w 1290"/>
                    <a:gd name="T17" fmla="*/ 0 h 1373"/>
                    <a:gd name="T18" fmla="*/ 0 w 1290"/>
                    <a:gd name="T19" fmla="*/ 0 h 1373"/>
                    <a:gd name="T20" fmla="*/ 0 w 1290"/>
                    <a:gd name="T21" fmla="*/ 0 h 1373"/>
                    <a:gd name="T22" fmla="*/ 0 w 1290"/>
                    <a:gd name="T23" fmla="*/ 0 h 1373"/>
                    <a:gd name="T24" fmla="*/ 0 w 1290"/>
                    <a:gd name="T25" fmla="*/ 0 h 1373"/>
                    <a:gd name="T26" fmla="*/ 0 w 1290"/>
                    <a:gd name="T27" fmla="*/ 0 h 1373"/>
                    <a:gd name="T28" fmla="*/ 0 w 1290"/>
                    <a:gd name="T29" fmla="*/ 0 h 1373"/>
                    <a:gd name="T30" fmla="*/ 0 w 1290"/>
                    <a:gd name="T31" fmla="*/ 0 h 1373"/>
                    <a:gd name="T32" fmla="*/ 0 w 1290"/>
                    <a:gd name="T33" fmla="*/ 0 h 1373"/>
                    <a:gd name="T34" fmla="*/ 0 w 1290"/>
                    <a:gd name="T35" fmla="*/ 0 h 1373"/>
                    <a:gd name="T36" fmla="*/ 0 w 1290"/>
                    <a:gd name="T37" fmla="*/ 0 h 1373"/>
                    <a:gd name="T38" fmla="*/ 0 w 1290"/>
                    <a:gd name="T39" fmla="*/ 0 h 1373"/>
                    <a:gd name="T40" fmla="*/ 0 w 1290"/>
                    <a:gd name="T41" fmla="*/ 0 h 1373"/>
                    <a:gd name="T42" fmla="*/ 0 w 1290"/>
                    <a:gd name="T43" fmla="*/ 0 h 1373"/>
                    <a:gd name="T44" fmla="*/ 0 w 1290"/>
                    <a:gd name="T45" fmla="*/ 0 h 1373"/>
                    <a:gd name="T46" fmla="*/ 0 w 1290"/>
                    <a:gd name="T47" fmla="*/ 0 h 1373"/>
                    <a:gd name="T48" fmla="*/ 0 w 1290"/>
                    <a:gd name="T49" fmla="*/ 0 h 1373"/>
                    <a:gd name="T50" fmla="*/ 0 w 1290"/>
                    <a:gd name="T51" fmla="*/ 0 h 1373"/>
                    <a:gd name="T52" fmla="*/ 0 w 1290"/>
                    <a:gd name="T53" fmla="*/ 0 h 1373"/>
                    <a:gd name="T54" fmla="*/ 0 w 1290"/>
                    <a:gd name="T55" fmla="*/ 0 h 1373"/>
                    <a:gd name="T56" fmla="*/ 0 w 1290"/>
                    <a:gd name="T57" fmla="*/ 0 h 1373"/>
                    <a:gd name="T58" fmla="*/ 0 w 1290"/>
                    <a:gd name="T59" fmla="*/ 0 h 1373"/>
                    <a:gd name="T60" fmla="*/ 0 w 1290"/>
                    <a:gd name="T61" fmla="*/ 0 h 1373"/>
                    <a:gd name="T62" fmla="*/ 0 w 1290"/>
                    <a:gd name="T63" fmla="*/ 0 h 1373"/>
                    <a:gd name="T64" fmla="*/ 0 w 1290"/>
                    <a:gd name="T65" fmla="*/ 0 h 1373"/>
                    <a:gd name="T66" fmla="*/ 0 w 1290"/>
                    <a:gd name="T67" fmla="*/ 0 h 1373"/>
                    <a:gd name="T68" fmla="*/ 0 w 1290"/>
                    <a:gd name="T69" fmla="*/ 0 h 1373"/>
                    <a:gd name="T70" fmla="*/ 0 w 1290"/>
                    <a:gd name="T71" fmla="*/ 0 h 137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290"/>
                    <a:gd name="T109" fmla="*/ 0 h 1373"/>
                    <a:gd name="T110" fmla="*/ 1290 w 1290"/>
                    <a:gd name="T111" fmla="*/ 1373 h 1373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290" h="1373">
                      <a:moveTo>
                        <a:pt x="327" y="0"/>
                      </a:moveTo>
                      <a:lnTo>
                        <a:pt x="5" y="30"/>
                      </a:lnTo>
                      <a:lnTo>
                        <a:pt x="0" y="92"/>
                      </a:lnTo>
                      <a:lnTo>
                        <a:pt x="5" y="170"/>
                      </a:lnTo>
                      <a:lnTo>
                        <a:pt x="15" y="260"/>
                      </a:lnTo>
                      <a:lnTo>
                        <a:pt x="32" y="357"/>
                      </a:lnTo>
                      <a:lnTo>
                        <a:pt x="60" y="457"/>
                      </a:lnTo>
                      <a:lnTo>
                        <a:pt x="97" y="567"/>
                      </a:lnTo>
                      <a:lnTo>
                        <a:pt x="145" y="674"/>
                      </a:lnTo>
                      <a:lnTo>
                        <a:pt x="207" y="784"/>
                      </a:lnTo>
                      <a:lnTo>
                        <a:pt x="282" y="889"/>
                      </a:lnTo>
                      <a:lnTo>
                        <a:pt x="372" y="988"/>
                      </a:lnTo>
                      <a:lnTo>
                        <a:pt x="477" y="1083"/>
                      </a:lnTo>
                      <a:lnTo>
                        <a:pt x="601" y="1168"/>
                      </a:lnTo>
                      <a:lnTo>
                        <a:pt x="741" y="1240"/>
                      </a:lnTo>
                      <a:lnTo>
                        <a:pt x="903" y="1303"/>
                      </a:lnTo>
                      <a:lnTo>
                        <a:pt x="1086" y="1345"/>
                      </a:lnTo>
                      <a:lnTo>
                        <a:pt x="1290" y="1373"/>
                      </a:lnTo>
                      <a:lnTo>
                        <a:pt x="1290" y="1051"/>
                      </a:lnTo>
                      <a:lnTo>
                        <a:pt x="1160" y="1038"/>
                      </a:lnTo>
                      <a:lnTo>
                        <a:pt x="1043" y="1016"/>
                      </a:lnTo>
                      <a:lnTo>
                        <a:pt x="936" y="983"/>
                      </a:lnTo>
                      <a:lnTo>
                        <a:pt x="839" y="943"/>
                      </a:lnTo>
                      <a:lnTo>
                        <a:pt x="749" y="893"/>
                      </a:lnTo>
                      <a:lnTo>
                        <a:pt x="671" y="836"/>
                      </a:lnTo>
                      <a:lnTo>
                        <a:pt x="601" y="774"/>
                      </a:lnTo>
                      <a:lnTo>
                        <a:pt x="539" y="704"/>
                      </a:lnTo>
                      <a:lnTo>
                        <a:pt x="487" y="626"/>
                      </a:lnTo>
                      <a:lnTo>
                        <a:pt x="442" y="547"/>
                      </a:lnTo>
                      <a:lnTo>
                        <a:pt x="404" y="462"/>
                      </a:lnTo>
                      <a:lnTo>
                        <a:pt x="377" y="374"/>
                      </a:lnTo>
                      <a:lnTo>
                        <a:pt x="354" y="282"/>
                      </a:lnTo>
                      <a:lnTo>
                        <a:pt x="337" y="190"/>
                      </a:lnTo>
                      <a:lnTo>
                        <a:pt x="329" y="95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rgbClr val="D19B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3" name="Freeform 152"/>
                <p:cNvSpPr>
                  <a:spLocks/>
                </p:cNvSpPr>
                <p:nvPr/>
              </p:nvSpPr>
              <p:spPr bwMode="auto">
                <a:xfrm>
                  <a:off x="456" y="2297"/>
                  <a:ext cx="455" cy="280"/>
                </a:xfrm>
                <a:custGeom>
                  <a:avLst/>
                  <a:gdLst>
                    <a:gd name="T0" fmla="*/ 0 w 1029"/>
                    <a:gd name="T1" fmla="*/ 0 h 704"/>
                    <a:gd name="T2" fmla="*/ 0 w 1029"/>
                    <a:gd name="T3" fmla="*/ 0 h 704"/>
                    <a:gd name="T4" fmla="*/ 0 w 1029"/>
                    <a:gd name="T5" fmla="*/ 0 h 704"/>
                    <a:gd name="T6" fmla="*/ 0 w 1029"/>
                    <a:gd name="T7" fmla="*/ 0 h 704"/>
                    <a:gd name="T8" fmla="*/ 0 w 1029"/>
                    <a:gd name="T9" fmla="*/ 0 h 704"/>
                    <a:gd name="T10" fmla="*/ 0 w 1029"/>
                    <a:gd name="T11" fmla="*/ 0 h 704"/>
                    <a:gd name="T12" fmla="*/ 0 w 1029"/>
                    <a:gd name="T13" fmla="*/ 0 h 704"/>
                    <a:gd name="T14" fmla="*/ 0 w 1029"/>
                    <a:gd name="T15" fmla="*/ 0 h 704"/>
                    <a:gd name="T16" fmla="*/ 0 w 1029"/>
                    <a:gd name="T17" fmla="*/ 0 h 704"/>
                    <a:gd name="T18" fmla="*/ 0 w 1029"/>
                    <a:gd name="T19" fmla="*/ 0 h 704"/>
                    <a:gd name="T20" fmla="*/ 0 w 1029"/>
                    <a:gd name="T21" fmla="*/ 0 h 704"/>
                    <a:gd name="T22" fmla="*/ 0 w 1029"/>
                    <a:gd name="T23" fmla="*/ 0 h 704"/>
                    <a:gd name="T24" fmla="*/ 0 w 1029"/>
                    <a:gd name="T25" fmla="*/ 0 h 704"/>
                    <a:gd name="T26" fmla="*/ 0 w 1029"/>
                    <a:gd name="T27" fmla="*/ 0 h 704"/>
                    <a:gd name="T28" fmla="*/ 0 w 1029"/>
                    <a:gd name="T29" fmla="*/ 0 h 704"/>
                    <a:gd name="T30" fmla="*/ 0 w 1029"/>
                    <a:gd name="T31" fmla="*/ 0 h 704"/>
                    <a:gd name="T32" fmla="*/ 0 w 1029"/>
                    <a:gd name="T33" fmla="*/ 0 h 704"/>
                    <a:gd name="T34" fmla="*/ 0 w 1029"/>
                    <a:gd name="T35" fmla="*/ 0 h 704"/>
                    <a:gd name="T36" fmla="*/ 0 w 1029"/>
                    <a:gd name="T37" fmla="*/ 0 h 704"/>
                    <a:gd name="T38" fmla="*/ 0 w 1029"/>
                    <a:gd name="T39" fmla="*/ 0 h 704"/>
                    <a:gd name="T40" fmla="*/ 0 w 1029"/>
                    <a:gd name="T41" fmla="*/ 0 h 704"/>
                    <a:gd name="T42" fmla="*/ 0 w 1029"/>
                    <a:gd name="T43" fmla="*/ 0 h 704"/>
                    <a:gd name="T44" fmla="*/ 0 w 1029"/>
                    <a:gd name="T45" fmla="*/ 0 h 704"/>
                    <a:gd name="T46" fmla="*/ 0 w 1029"/>
                    <a:gd name="T47" fmla="*/ 0 h 704"/>
                    <a:gd name="T48" fmla="*/ 0 w 1029"/>
                    <a:gd name="T49" fmla="*/ 0 h 704"/>
                    <a:gd name="T50" fmla="*/ 0 w 1029"/>
                    <a:gd name="T51" fmla="*/ 0 h 704"/>
                    <a:gd name="T52" fmla="*/ 0 w 1029"/>
                    <a:gd name="T53" fmla="*/ 0 h 704"/>
                    <a:gd name="T54" fmla="*/ 0 w 1029"/>
                    <a:gd name="T55" fmla="*/ 0 h 704"/>
                    <a:gd name="T56" fmla="*/ 0 w 1029"/>
                    <a:gd name="T57" fmla="*/ 0 h 704"/>
                    <a:gd name="T58" fmla="*/ 0 w 1029"/>
                    <a:gd name="T59" fmla="*/ 0 h 704"/>
                    <a:gd name="T60" fmla="*/ 0 w 1029"/>
                    <a:gd name="T61" fmla="*/ 0 h 704"/>
                    <a:gd name="T62" fmla="*/ 0 w 1029"/>
                    <a:gd name="T63" fmla="*/ 0 h 704"/>
                    <a:gd name="T64" fmla="*/ 0 w 1029"/>
                    <a:gd name="T65" fmla="*/ 0 h 704"/>
                    <a:gd name="T66" fmla="*/ 0 w 1029"/>
                    <a:gd name="T67" fmla="*/ 0 h 704"/>
                    <a:gd name="T68" fmla="*/ 0 w 1029"/>
                    <a:gd name="T69" fmla="*/ 0 h 704"/>
                    <a:gd name="T70" fmla="*/ 0 w 1029"/>
                    <a:gd name="T71" fmla="*/ 0 h 704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1029"/>
                    <a:gd name="T109" fmla="*/ 0 h 704"/>
                    <a:gd name="T110" fmla="*/ 1029 w 1029"/>
                    <a:gd name="T111" fmla="*/ 704 h 704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1029" h="704">
                      <a:moveTo>
                        <a:pt x="250" y="0"/>
                      </a:moveTo>
                      <a:lnTo>
                        <a:pt x="0" y="202"/>
                      </a:lnTo>
                      <a:lnTo>
                        <a:pt x="23" y="227"/>
                      </a:lnTo>
                      <a:lnTo>
                        <a:pt x="53" y="259"/>
                      </a:lnTo>
                      <a:lnTo>
                        <a:pt x="85" y="294"/>
                      </a:lnTo>
                      <a:lnTo>
                        <a:pt x="125" y="334"/>
                      </a:lnTo>
                      <a:lnTo>
                        <a:pt x="170" y="374"/>
                      </a:lnTo>
                      <a:lnTo>
                        <a:pt x="218" y="417"/>
                      </a:lnTo>
                      <a:lnTo>
                        <a:pt x="273" y="459"/>
                      </a:lnTo>
                      <a:lnTo>
                        <a:pt x="332" y="501"/>
                      </a:lnTo>
                      <a:lnTo>
                        <a:pt x="397" y="541"/>
                      </a:lnTo>
                      <a:lnTo>
                        <a:pt x="470" y="581"/>
                      </a:lnTo>
                      <a:lnTo>
                        <a:pt x="547" y="614"/>
                      </a:lnTo>
                      <a:lnTo>
                        <a:pt x="629" y="646"/>
                      </a:lnTo>
                      <a:lnTo>
                        <a:pt x="719" y="669"/>
                      </a:lnTo>
                      <a:lnTo>
                        <a:pt x="817" y="689"/>
                      </a:lnTo>
                      <a:lnTo>
                        <a:pt x="919" y="699"/>
                      </a:lnTo>
                      <a:lnTo>
                        <a:pt x="1029" y="704"/>
                      </a:lnTo>
                      <a:lnTo>
                        <a:pt x="1026" y="382"/>
                      </a:lnTo>
                      <a:lnTo>
                        <a:pt x="944" y="374"/>
                      </a:lnTo>
                      <a:lnTo>
                        <a:pt x="867" y="364"/>
                      </a:lnTo>
                      <a:lnTo>
                        <a:pt x="797" y="352"/>
                      </a:lnTo>
                      <a:lnTo>
                        <a:pt x="734" y="337"/>
                      </a:lnTo>
                      <a:lnTo>
                        <a:pt x="674" y="317"/>
                      </a:lnTo>
                      <a:lnTo>
                        <a:pt x="622" y="294"/>
                      </a:lnTo>
                      <a:lnTo>
                        <a:pt x="575" y="272"/>
                      </a:lnTo>
                      <a:lnTo>
                        <a:pt x="530" y="247"/>
                      </a:lnTo>
                      <a:lnTo>
                        <a:pt x="490" y="219"/>
                      </a:lnTo>
                      <a:lnTo>
                        <a:pt x="450" y="190"/>
                      </a:lnTo>
                      <a:lnTo>
                        <a:pt x="412" y="160"/>
                      </a:lnTo>
                      <a:lnTo>
                        <a:pt x="380" y="127"/>
                      </a:lnTo>
                      <a:lnTo>
                        <a:pt x="345" y="95"/>
                      </a:lnTo>
                      <a:lnTo>
                        <a:pt x="312" y="65"/>
                      </a:lnTo>
                      <a:lnTo>
                        <a:pt x="282" y="32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A86285"/>
                    </a:gs>
                    <a:gs pos="100000">
                      <a:srgbClr val="FFFFFF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4" name="Freeform 153"/>
                <p:cNvSpPr>
                  <a:spLocks/>
                </p:cNvSpPr>
                <p:nvPr/>
              </p:nvSpPr>
              <p:spPr bwMode="auto">
                <a:xfrm>
                  <a:off x="411" y="1621"/>
                  <a:ext cx="1001" cy="899"/>
                </a:xfrm>
                <a:custGeom>
                  <a:avLst/>
                  <a:gdLst>
                    <a:gd name="T0" fmla="*/ 0 w 2256"/>
                    <a:gd name="T1" fmla="*/ 0 h 2261"/>
                    <a:gd name="T2" fmla="*/ 0 w 2256"/>
                    <a:gd name="T3" fmla="*/ 0 h 2261"/>
                    <a:gd name="T4" fmla="*/ 0 w 2256"/>
                    <a:gd name="T5" fmla="*/ 0 h 2261"/>
                    <a:gd name="T6" fmla="*/ 0 w 2256"/>
                    <a:gd name="T7" fmla="*/ 0 h 2261"/>
                    <a:gd name="T8" fmla="*/ 0 w 2256"/>
                    <a:gd name="T9" fmla="*/ 0 h 2261"/>
                    <a:gd name="T10" fmla="*/ 0 w 2256"/>
                    <a:gd name="T11" fmla="*/ 0 h 2261"/>
                    <a:gd name="T12" fmla="*/ 0 w 2256"/>
                    <a:gd name="T13" fmla="*/ 0 h 2261"/>
                    <a:gd name="T14" fmla="*/ 0 w 2256"/>
                    <a:gd name="T15" fmla="*/ 0 h 2261"/>
                    <a:gd name="T16" fmla="*/ 0 w 2256"/>
                    <a:gd name="T17" fmla="*/ 0 h 2261"/>
                    <a:gd name="T18" fmla="*/ 0 w 2256"/>
                    <a:gd name="T19" fmla="*/ 0 h 2261"/>
                    <a:gd name="T20" fmla="*/ 0 w 2256"/>
                    <a:gd name="T21" fmla="*/ 0 h 2261"/>
                    <a:gd name="T22" fmla="*/ 0 w 2256"/>
                    <a:gd name="T23" fmla="*/ 0 h 2261"/>
                    <a:gd name="T24" fmla="*/ 0 w 2256"/>
                    <a:gd name="T25" fmla="*/ 0 h 2261"/>
                    <a:gd name="T26" fmla="*/ 0 w 2256"/>
                    <a:gd name="T27" fmla="*/ 0 h 2261"/>
                    <a:gd name="T28" fmla="*/ 0 w 2256"/>
                    <a:gd name="T29" fmla="*/ 0 h 2261"/>
                    <a:gd name="T30" fmla="*/ 0 w 2256"/>
                    <a:gd name="T31" fmla="*/ 0 h 2261"/>
                    <a:gd name="T32" fmla="*/ 0 w 2256"/>
                    <a:gd name="T33" fmla="*/ 0 h 2261"/>
                    <a:gd name="T34" fmla="*/ 0 w 2256"/>
                    <a:gd name="T35" fmla="*/ 0 h 2261"/>
                    <a:gd name="T36" fmla="*/ 0 w 2256"/>
                    <a:gd name="T37" fmla="*/ 0 h 2261"/>
                    <a:gd name="T38" fmla="*/ 0 w 2256"/>
                    <a:gd name="T39" fmla="*/ 0 h 2261"/>
                    <a:gd name="T40" fmla="*/ 0 w 2256"/>
                    <a:gd name="T41" fmla="*/ 0 h 2261"/>
                    <a:gd name="T42" fmla="*/ 0 w 2256"/>
                    <a:gd name="T43" fmla="*/ 0 h 2261"/>
                    <a:gd name="T44" fmla="*/ 0 w 2256"/>
                    <a:gd name="T45" fmla="*/ 0 h 2261"/>
                    <a:gd name="T46" fmla="*/ 0 w 2256"/>
                    <a:gd name="T47" fmla="*/ 0 h 2261"/>
                    <a:gd name="T48" fmla="*/ 0 w 2256"/>
                    <a:gd name="T49" fmla="*/ 0 h 2261"/>
                    <a:gd name="T50" fmla="*/ 0 w 2256"/>
                    <a:gd name="T51" fmla="*/ 0 h 2261"/>
                    <a:gd name="T52" fmla="*/ 0 w 2256"/>
                    <a:gd name="T53" fmla="*/ 0 h 2261"/>
                    <a:gd name="T54" fmla="*/ 0 w 2256"/>
                    <a:gd name="T55" fmla="*/ 0 h 2261"/>
                    <a:gd name="T56" fmla="*/ 0 w 2256"/>
                    <a:gd name="T57" fmla="*/ 0 h 2261"/>
                    <a:gd name="T58" fmla="*/ 0 w 2256"/>
                    <a:gd name="T59" fmla="*/ 0 h 2261"/>
                    <a:gd name="T60" fmla="*/ 0 w 2256"/>
                    <a:gd name="T61" fmla="*/ 0 h 2261"/>
                    <a:gd name="T62" fmla="*/ 0 w 2256"/>
                    <a:gd name="T63" fmla="*/ 0 h 2261"/>
                    <a:gd name="T64" fmla="*/ 0 w 2256"/>
                    <a:gd name="T65" fmla="*/ 0 h 226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2256"/>
                    <a:gd name="T100" fmla="*/ 0 h 2261"/>
                    <a:gd name="T101" fmla="*/ 2256 w 2256"/>
                    <a:gd name="T102" fmla="*/ 2261 h 226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2256" h="2261">
                      <a:moveTo>
                        <a:pt x="1125" y="2261"/>
                      </a:moveTo>
                      <a:lnTo>
                        <a:pt x="1240" y="2253"/>
                      </a:lnTo>
                      <a:lnTo>
                        <a:pt x="1352" y="2236"/>
                      </a:lnTo>
                      <a:lnTo>
                        <a:pt x="1460" y="2208"/>
                      </a:lnTo>
                      <a:lnTo>
                        <a:pt x="1565" y="2169"/>
                      </a:lnTo>
                      <a:lnTo>
                        <a:pt x="1662" y="2121"/>
                      </a:lnTo>
                      <a:lnTo>
                        <a:pt x="1754" y="2064"/>
                      </a:lnTo>
                      <a:lnTo>
                        <a:pt x="1842" y="2001"/>
                      </a:lnTo>
                      <a:lnTo>
                        <a:pt x="1924" y="1929"/>
                      </a:lnTo>
                      <a:lnTo>
                        <a:pt x="1996" y="1847"/>
                      </a:lnTo>
                      <a:lnTo>
                        <a:pt x="2061" y="1759"/>
                      </a:lnTo>
                      <a:lnTo>
                        <a:pt x="2116" y="1667"/>
                      </a:lnTo>
                      <a:lnTo>
                        <a:pt x="2166" y="1570"/>
                      </a:lnTo>
                      <a:lnTo>
                        <a:pt x="2203" y="1465"/>
                      </a:lnTo>
                      <a:lnTo>
                        <a:pt x="2231" y="1358"/>
                      </a:lnTo>
                      <a:lnTo>
                        <a:pt x="2248" y="1245"/>
                      </a:lnTo>
                      <a:lnTo>
                        <a:pt x="2256" y="1130"/>
                      </a:lnTo>
                      <a:lnTo>
                        <a:pt x="2248" y="1016"/>
                      </a:lnTo>
                      <a:lnTo>
                        <a:pt x="2231" y="903"/>
                      </a:lnTo>
                      <a:lnTo>
                        <a:pt x="2203" y="794"/>
                      </a:lnTo>
                      <a:lnTo>
                        <a:pt x="2166" y="691"/>
                      </a:lnTo>
                      <a:lnTo>
                        <a:pt x="2116" y="591"/>
                      </a:lnTo>
                      <a:lnTo>
                        <a:pt x="2061" y="499"/>
                      </a:lnTo>
                      <a:lnTo>
                        <a:pt x="1996" y="412"/>
                      </a:lnTo>
                      <a:lnTo>
                        <a:pt x="1924" y="332"/>
                      </a:lnTo>
                      <a:lnTo>
                        <a:pt x="1842" y="257"/>
                      </a:lnTo>
                      <a:lnTo>
                        <a:pt x="1754" y="192"/>
                      </a:lnTo>
                      <a:lnTo>
                        <a:pt x="1662" y="137"/>
                      </a:lnTo>
                      <a:lnTo>
                        <a:pt x="1565" y="90"/>
                      </a:lnTo>
                      <a:lnTo>
                        <a:pt x="1460" y="50"/>
                      </a:lnTo>
                      <a:lnTo>
                        <a:pt x="1352" y="25"/>
                      </a:lnTo>
                      <a:lnTo>
                        <a:pt x="1240" y="5"/>
                      </a:lnTo>
                      <a:lnTo>
                        <a:pt x="1125" y="0"/>
                      </a:lnTo>
                      <a:lnTo>
                        <a:pt x="1010" y="5"/>
                      </a:lnTo>
                      <a:lnTo>
                        <a:pt x="898" y="25"/>
                      </a:lnTo>
                      <a:lnTo>
                        <a:pt x="791" y="50"/>
                      </a:lnTo>
                      <a:lnTo>
                        <a:pt x="688" y="90"/>
                      </a:lnTo>
                      <a:lnTo>
                        <a:pt x="589" y="137"/>
                      </a:lnTo>
                      <a:lnTo>
                        <a:pt x="496" y="192"/>
                      </a:lnTo>
                      <a:lnTo>
                        <a:pt x="409" y="257"/>
                      </a:lnTo>
                      <a:lnTo>
                        <a:pt x="329" y="332"/>
                      </a:lnTo>
                      <a:lnTo>
                        <a:pt x="254" y="412"/>
                      </a:lnTo>
                      <a:lnTo>
                        <a:pt x="192" y="499"/>
                      </a:lnTo>
                      <a:lnTo>
                        <a:pt x="134" y="591"/>
                      </a:lnTo>
                      <a:lnTo>
                        <a:pt x="87" y="691"/>
                      </a:lnTo>
                      <a:lnTo>
                        <a:pt x="50" y="794"/>
                      </a:lnTo>
                      <a:lnTo>
                        <a:pt x="22" y="903"/>
                      </a:lnTo>
                      <a:lnTo>
                        <a:pt x="5" y="1016"/>
                      </a:lnTo>
                      <a:lnTo>
                        <a:pt x="0" y="1130"/>
                      </a:lnTo>
                      <a:lnTo>
                        <a:pt x="5" y="1245"/>
                      </a:lnTo>
                      <a:lnTo>
                        <a:pt x="22" y="1358"/>
                      </a:lnTo>
                      <a:lnTo>
                        <a:pt x="50" y="1465"/>
                      </a:lnTo>
                      <a:lnTo>
                        <a:pt x="87" y="1570"/>
                      </a:lnTo>
                      <a:lnTo>
                        <a:pt x="134" y="1667"/>
                      </a:lnTo>
                      <a:lnTo>
                        <a:pt x="192" y="1759"/>
                      </a:lnTo>
                      <a:lnTo>
                        <a:pt x="254" y="1847"/>
                      </a:lnTo>
                      <a:lnTo>
                        <a:pt x="329" y="1929"/>
                      </a:lnTo>
                      <a:lnTo>
                        <a:pt x="409" y="2001"/>
                      </a:lnTo>
                      <a:lnTo>
                        <a:pt x="496" y="2064"/>
                      </a:lnTo>
                      <a:lnTo>
                        <a:pt x="589" y="2121"/>
                      </a:lnTo>
                      <a:lnTo>
                        <a:pt x="688" y="2169"/>
                      </a:lnTo>
                      <a:lnTo>
                        <a:pt x="791" y="2208"/>
                      </a:lnTo>
                      <a:lnTo>
                        <a:pt x="898" y="2236"/>
                      </a:lnTo>
                      <a:lnTo>
                        <a:pt x="1010" y="2253"/>
                      </a:lnTo>
                      <a:lnTo>
                        <a:pt x="1125" y="2261"/>
                      </a:lnTo>
                      <a:close/>
                    </a:path>
                  </a:pathLst>
                </a:custGeom>
                <a:solidFill>
                  <a:srgbClr val="C4AED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35" name="Freeform 154"/>
                <p:cNvSpPr>
                  <a:spLocks/>
                </p:cNvSpPr>
                <p:nvPr/>
              </p:nvSpPr>
              <p:spPr bwMode="auto">
                <a:xfrm>
                  <a:off x="459" y="1665"/>
                  <a:ext cx="905" cy="811"/>
                </a:xfrm>
                <a:custGeom>
                  <a:avLst/>
                  <a:gdLst>
                    <a:gd name="T0" fmla="*/ 0 w 2039"/>
                    <a:gd name="T1" fmla="*/ 0 h 2041"/>
                    <a:gd name="T2" fmla="*/ 0 w 2039"/>
                    <a:gd name="T3" fmla="*/ 0 h 2041"/>
                    <a:gd name="T4" fmla="*/ 0 w 2039"/>
                    <a:gd name="T5" fmla="*/ 0 h 2041"/>
                    <a:gd name="T6" fmla="*/ 0 w 2039"/>
                    <a:gd name="T7" fmla="*/ 0 h 2041"/>
                    <a:gd name="T8" fmla="*/ 0 w 2039"/>
                    <a:gd name="T9" fmla="*/ 0 h 2041"/>
                    <a:gd name="T10" fmla="*/ 0 w 2039"/>
                    <a:gd name="T11" fmla="*/ 0 h 2041"/>
                    <a:gd name="T12" fmla="*/ 0 w 2039"/>
                    <a:gd name="T13" fmla="*/ 0 h 2041"/>
                    <a:gd name="T14" fmla="*/ 0 w 2039"/>
                    <a:gd name="T15" fmla="*/ 0 h 2041"/>
                    <a:gd name="T16" fmla="*/ 0 w 2039"/>
                    <a:gd name="T17" fmla="*/ 0 h 2041"/>
                    <a:gd name="T18" fmla="*/ 0 w 2039"/>
                    <a:gd name="T19" fmla="*/ 0 h 2041"/>
                    <a:gd name="T20" fmla="*/ 0 w 2039"/>
                    <a:gd name="T21" fmla="*/ 0 h 2041"/>
                    <a:gd name="T22" fmla="*/ 0 w 2039"/>
                    <a:gd name="T23" fmla="*/ 0 h 2041"/>
                    <a:gd name="T24" fmla="*/ 0 w 2039"/>
                    <a:gd name="T25" fmla="*/ 0 h 2041"/>
                    <a:gd name="T26" fmla="*/ 0 w 2039"/>
                    <a:gd name="T27" fmla="*/ 0 h 2041"/>
                    <a:gd name="T28" fmla="*/ 0 w 2039"/>
                    <a:gd name="T29" fmla="*/ 0 h 2041"/>
                    <a:gd name="T30" fmla="*/ 0 w 2039"/>
                    <a:gd name="T31" fmla="*/ 0 h 2041"/>
                    <a:gd name="T32" fmla="*/ 0 w 2039"/>
                    <a:gd name="T33" fmla="*/ 0 h 2041"/>
                    <a:gd name="T34" fmla="*/ 0 w 2039"/>
                    <a:gd name="T35" fmla="*/ 0 h 2041"/>
                    <a:gd name="T36" fmla="*/ 0 w 2039"/>
                    <a:gd name="T37" fmla="*/ 0 h 2041"/>
                    <a:gd name="T38" fmla="*/ 0 w 2039"/>
                    <a:gd name="T39" fmla="*/ 0 h 2041"/>
                    <a:gd name="T40" fmla="*/ 0 w 2039"/>
                    <a:gd name="T41" fmla="*/ 0 h 2041"/>
                    <a:gd name="T42" fmla="*/ 0 w 2039"/>
                    <a:gd name="T43" fmla="*/ 0 h 2041"/>
                    <a:gd name="T44" fmla="*/ 0 w 2039"/>
                    <a:gd name="T45" fmla="*/ 0 h 2041"/>
                    <a:gd name="T46" fmla="*/ 0 w 2039"/>
                    <a:gd name="T47" fmla="*/ 0 h 2041"/>
                    <a:gd name="T48" fmla="*/ 0 w 2039"/>
                    <a:gd name="T49" fmla="*/ 0 h 2041"/>
                    <a:gd name="T50" fmla="*/ 0 w 2039"/>
                    <a:gd name="T51" fmla="*/ 0 h 2041"/>
                    <a:gd name="T52" fmla="*/ 0 w 2039"/>
                    <a:gd name="T53" fmla="*/ 0 h 2041"/>
                    <a:gd name="T54" fmla="*/ 0 w 2039"/>
                    <a:gd name="T55" fmla="*/ 0 h 2041"/>
                    <a:gd name="T56" fmla="*/ 0 w 2039"/>
                    <a:gd name="T57" fmla="*/ 0 h 2041"/>
                    <a:gd name="T58" fmla="*/ 0 w 2039"/>
                    <a:gd name="T59" fmla="*/ 0 h 2041"/>
                    <a:gd name="T60" fmla="*/ 0 w 2039"/>
                    <a:gd name="T61" fmla="*/ 0 h 2041"/>
                    <a:gd name="T62" fmla="*/ 0 w 2039"/>
                    <a:gd name="T63" fmla="*/ 0 h 2041"/>
                    <a:gd name="T64" fmla="*/ 0 w 2039"/>
                    <a:gd name="T65" fmla="*/ 0 h 204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2039"/>
                    <a:gd name="T100" fmla="*/ 0 h 2041"/>
                    <a:gd name="T101" fmla="*/ 2039 w 2039"/>
                    <a:gd name="T102" fmla="*/ 2041 h 2041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2039" h="2041">
                      <a:moveTo>
                        <a:pt x="1018" y="2041"/>
                      </a:moveTo>
                      <a:lnTo>
                        <a:pt x="1123" y="2034"/>
                      </a:lnTo>
                      <a:lnTo>
                        <a:pt x="1223" y="2019"/>
                      </a:lnTo>
                      <a:lnTo>
                        <a:pt x="1320" y="1994"/>
                      </a:lnTo>
                      <a:lnTo>
                        <a:pt x="1415" y="1959"/>
                      </a:lnTo>
                      <a:lnTo>
                        <a:pt x="1502" y="1916"/>
                      </a:lnTo>
                      <a:lnTo>
                        <a:pt x="1587" y="1864"/>
                      </a:lnTo>
                      <a:lnTo>
                        <a:pt x="1667" y="1804"/>
                      </a:lnTo>
                      <a:lnTo>
                        <a:pt x="1740" y="1739"/>
                      </a:lnTo>
                      <a:lnTo>
                        <a:pt x="1804" y="1667"/>
                      </a:lnTo>
                      <a:lnTo>
                        <a:pt x="1862" y="1589"/>
                      </a:lnTo>
                      <a:lnTo>
                        <a:pt x="1914" y="1505"/>
                      </a:lnTo>
                      <a:lnTo>
                        <a:pt x="1957" y="1417"/>
                      </a:lnTo>
                      <a:lnTo>
                        <a:pt x="1992" y="1322"/>
                      </a:lnTo>
                      <a:lnTo>
                        <a:pt x="2017" y="1225"/>
                      </a:lnTo>
                      <a:lnTo>
                        <a:pt x="2034" y="1125"/>
                      </a:lnTo>
                      <a:lnTo>
                        <a:pt x="2039" y="1020"/>
                      </a:lnTo>
                      <a:lnTo>
                        <a:pt x="2034" y="916"/>
                      </a:lnTo>
                      <a:lnTo>
                        <a:pt x="2017" y="816"/>
                      </a:lnTo>
                      <a:lnTo>
                        <a:pt x="1992" y="716"/>
                      </a:lnTo>
                      <a:lnTo>
                        <a:pt x="1957" y="624"/>
                      </a:lnTo>
                      <a:lnTo>
                        <a:pt x="1914" y="534"/>
                      </a:lnTo>
                      <a:lnTo>
                        <a:pt x="1862" y="449"/>
                      </a:lnTo>
                      <a:lnTo>
                        <a:pt x="1804" y="369"/>
                      </a:lnTo>
                      <a:lnTo>
                        <a:pt x="1740" y="299"/>
                      </a:lnTo>
                      <a:lnTo>
                        <a:pt x="1667" y="232"/>
                      </a:lnTo>
                      <a:lnTo>
                        <a:pt x="1587" y="172"/>
                      </a:lnTo>
                      <a:lnTo>
                        <a:pt x="1502" y="122"/>
                      </a:lnTo>
                      <a:lnTo>
                        <a:pt x="1415" y="80"/>
                      </a:lnTo>
                      <a:lnTo>
                        <a:pt x="1320" y="45"/>
                      </a:lnTo>
                      <a:lnTo>
                        <a:pt x="1223" y="20"/>
                      </a:lnTo>
                      <a:lnTo>
                        <a:pt x="1123" y="5"/>
                      </a:lnTo>
                      <a:lnTo>
                        <a:pt x="1018" y="0"/>
                      </a:lnTo>
                      <a:lnTo>
                        <a:pt x="913" y="5"/>
                      </a:lnTo>
                      <a:lnTo>
                        <a:pt x="814" y="20"/>
                      </a:lnTo>
                      <a:lnTo>
                        <a:pt x="716" y="45"/>
                      </a:lnTo>
                      <a:lnTo>
                        <a:pt x="624" y="80"/>
                      </a:lnTo>
                      <a:lnTo>
                        <a:pt x="534" y="122"/>
                      </a:lnTo>
                      <a:lnTo>
                        <a:pt x="449" y="172"/>
                      </a:lnTo>
                      <a:lnTo>
                        <a:pt x="372" y="232"/>
                      </a:lnTo>
                      <a:lnTo>
                        <a:pt x="299" y="299"/>
                      </a:lnTo>
                      <a:lnTo>
                        <a:pt x="232" y="369"/>
                      </a:lnTo>
                      <a:lnTo>
                        <a:pt x="175" y="449"/>
                      </a:lnTo>
                      <a:lnTo>
                        <a:pt x="122" y="534"/>
                      </a:lnTo>
                      <a:lnTo>
                        <a:pt x="80" y="624"/>
                      </a:lnTo>
                      <a:lnTo>
                        <a:pt x="45" y="716"/>
                      </a:lnTo>
                      <a:lnTo>
                        <a:pt x="20" y="816"/>
                      </a:lnTo>
                      <a:lnTo>
                        <a:pt x="5" y="916"/>
                      </a:lnTo>
                      <a:lnTo>
                        <a:pt x="0" y="1020"/>
                      </a:lnTo>
                      <a:lnTo>
                        <a:pt x="5" y="1125"/>
                      </a:lnTo>
                      <a:lnTo>
                        <a:pt x="20" y="1225"/>
                      </a:lnTo>
                      <a:lnTo>
                        <a:pt x="45" y="1322"/>
                      </a:lnTo>
                      <a:lnTo>
                        <a:pt x="80" y="1417"/>
                      </a:lnTo>
                      <a:lnTo>
                        <a:pt x="122" y="1505"/>
                      </a:lnTo>
                      <a:lnTo>
                        <a:pt x="175" y="1589"/>
                      </a:lnTo>
                      <a:lnTo>
                        <a:pt x="232" y="1667"/>
                      </a:lnTo>
                      <a:lnTo>
                        <a:pt x="299" y="1739"/>
                      </a:lnTo>
                      <a:lnTo>
                        <a:pt x="372" y="1804"/>
                      </a:lnTo>
                      <a:lnTo>
                        <a:pt x="449" y="1864"/>
                      </a:lnTo>
                      <a:lnTo>
                        <a:pt x="534" y="1916"/>
                      </a:lnTo>
                      <a:lnTo>
                        <a:pt x="624" y="1959"/>
                      </a:lnTo>
                      <a:lnTo>
                        <a:pt x="716" y="1994"/>
                      </a:lnTo>
                      <a:lnTo>
                        <a:pt x="814" y="2019"/>
                      </a:lnTo>
                      <a:lnTo>
                        <a:pt x="913" y="2034"/>
                      </a:lnTo>
                      <a:lnTo>
                        <a:pt x="1018" y="20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ko-KR" altLang="en-US" dirty="0"/>
                </a:p>
              </p:txBody>
            </p:sp>
            <p:grpSp>
              <p:nvGrpSpPr>
                <p:cNvPr id="36" name="Group 155"/>
                <p:cNvGrpSpPr>
                  <a:grpSpLocks/>
                </p:cNvGrpSpPr>
                <p:nvPr/>
              </p:nvGrpSpPr>
              <p:grpSpPr bwMode="auto">
                <a:xfrm>
                  <a:off x="370" y="1536"/>
                  <a:ext cx="1091" cy="973"/>
                  <a:chOff x="422" y="3423"/>
                  <a:chExt cx="1091" cy="973"/>
                </a:xfrm>
              </p:grpSpPr>
              <p:pic>
                <p:nvPicPr>
                  <p:cNvPr id="42" name="Picture 156" descr="큰공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lum bright="12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22" y="3696"/>
                    <a:ext cx="121" cy="1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3" name="Picture 157" descr="큰공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lum bright="12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24" y="4267"/>
                    <a:ext cx="121" cy="1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4" name="Picture 158" descr="큰공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lum bright="12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301" y="4272"/>
                    <a:ext cx="121" cy="1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5" name="Picture 159" descr="큰공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lum bright="12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392" y="3706"/>
                    <a:ext cx="121" cy="1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6" name="Picture 160" descr="큰공"/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lum bright="12000"/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920" y="3423"/>
                    <a:ext cx="121" cy="12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37" name="Line 161"/>
                <p:cNvSpPr>
                  <a:spLocks noChangeShapeType="1"/>
                </p:cNvSpPr>
                <p:nvPr/>
              </p:nvSpPr>
              <p:spPr bwMode="auto">
                <a:xfrm>
                  <a:off x="926" y="1560"/>
                  <a:ext cx="0" cy="64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01453" tIns="50726" rIns="101453" bIns="50726" anchor="ctr">
                  <a:spAutoFit/>
                </a:bodyPr>
                <a:lstStyle/>
                <a:p>
                  <a:endParaRPr lang="ko-KR" altLang="en-US" dirty="0"/>
                </a:p>
              </p:txBody>
            </p:sp>
            <p:sp>
              <p:nvSpPr>
                <p:cNvPr id="38" name="Line 162"/>
                <p:cNvSpPr>
                  <a:spLocks noChangeShapeType="1"/>
                </p:cNvSpPr>
                <p:nvPr/>
              </p:nvSpPr>
              <p:spPr bwMode="auto">
                <a:xfrm>
                  <a:off x="389" y="1856"/>
                  <a:ext cx="72" cy="38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101453" tIns="50726" rIns="101453" bIns="50726" anchor="ctr">
                  <a:spAutoFit/>
                </a:bodyPr>
                <a:lstStyle/>
                <a:p>
                  <a:endParaRPr lang="ko-KR" altLang="en-US" dirty="0"/>
                </a:p>
              </p:txBody>
            </p:sp>
            <p:sp>
              <p:nvSpPr>
                <p:cNvPr id="39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1369" y="1859"/>
                  <a:ext cx="61" cy="40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01453" tIns="50726" rIns="101453" bIns="50726" anchor="ctr">
                  <a:spAutoFit/>
                </a:bodyPr>
                <a:lstStyle/>
                <a:p>
                  <a:endParaRPr lang="ko-KR" altLang="en-US" dirty="0"/>
                </a:p>
              </p:txBody>
            </p:sp>
            <p:sp>
              <p:nvSpPr>
                <p:cNvPr id="40" name="Line 164"/>
                <p:cNvSpPr>
                  <a:spLocks noChangeShapeType="1"/>
                </p:cNvSpPr>
                <p:nvPr/>
              </p:nvSpPr>
              <p:spPr bwMode="auto">
                <a:xfrm flipH="1">
                  <a:off x="601" y="2407"/>
                  <a:ext cx="60" cy="67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101453" tIns="50726" rIns="101453" bIns="50726" anchor="ctr">
                  <a:spAutoFit/>
                </a:bodyPr>
                <a:lstStyle/>
                <a:p>
                  <a:endParaRPr lang="ko-KR" altLang="en-US" dirty="0"/>
                </a:p>
              </p:txBody>
            </p:sp>
            <p:sp>
              <p:nvSpPr>
                <p:cNvPr id="41" name="Line 165"/>
                <p:cNvSpPr>
                  <a:spLocks noChangeShapeType="1"/>
                </p:cNvSpPr>
                <p:nvPr/>
              </p:nvSpPr>
              <p:spPr bwMode="auto">
                <a:xfrm>
                  <a:off x="1278" y="2416"/>
                  <a:ext cx="63" cy="61"/>
                </a:xfrm>
                <a:prstGeom prst="line">
                  <a:avLst/>
                </a:prstGeom>
                <a:noFill/>
                <a:ln w="12700" cap="rnd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lIns="101453" tIns="50726" rIns="101453" bIns="50726" anchor="ctr">
                  <a:spAutoFit/>
                </a:bodyPr>
                <a:lstStyle/>
                <a:p>
                  <a:endParaRPr lang="ko-KR" altLang="en-US" dirty="0"/>
                </a:p>
              </p:txBody>
            </p:sp>
          </p:grpSp>
          <p:sp>
            <p:nvSpPr>
              <p:cNvPr id="26" name="Rectangle 166"/>
              <p:cNvSpPr>
                <a:spLocks noChangeArrowheads="1"/>
              </p:cNvSpPr>
              <p:nvPr/>
            </p:nvSpPr>
            <p:spPr bwMode="auto">
              <a:xfrm>
                <a:off x="481" y="4375"/>
                <a:ext cx="1418" cy="7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 eaLnBrk="1" hangingPunct="1"/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각 분야 별 전문지식을 보유한 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algn="ctr" eaLnBrk="1" hangingPunct="1"/>
                <a:r>
                  <a: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인력 배치 및 사업수행 능력과 성공에 대한 의지를 확보한 최적의 사업수행</a:t>
                </a:r>
              </a:p>
            </p:txBody>
          </p:sp>
          <p:pic>
            <p:nvPicPr>
              <p:cNvPr id="27" name="Picture 167" descr="js0a0090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6" y="4984"/>
                <a:ext cx="373" cy="4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" name="Picture 168" descr="jm3a0036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4" y="5008"/>
                <a:ext cx="418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7" name="Oval 169"/>
            <p:cNvSpPr>
              <a:spLocks noChangeArrowheads="1"/>
            </p:cNvSpPr>
            <p:nvPr/>
          </p:nvSpPr>
          <p:spPr bwMode="auto">
            <a:xfrm>
              <a:off x="2708275" y="6635750"/>
              <a:ext cx="257175" cy="25400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99CC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8" name="Freeform 170"/>
            <p:cNvSpPr>
              <a:spLocks/>
            </p:cNvSpPr>
            <p:nvPr/>
          </p:nvSpPr>
          <p:spPr bwMode="auto">
            <a:xfrm>
              <a:off x="2863850" y="5768975"/>
              <a:ext cx="244475" cy="877888"/>
            </a:xfrm>
            <a:custGeom>
              <a:avLst/>
              <a:gdLst>
                <a:gd name="T0" fmla="*/ 0 w 96"/>
                <a:gd name="T1" fmla="*/ 2147483646 h 288"/>
                <a:gd name="T2" fmla="*/ 0 w 96"/>
                <a:gd name="T3" fmla="*/ 0 h 288"/>
                <a:gd name="T4" fmla="*/ 2147483646 w 96"/>
                <a:gd name="T5" fmla="*/ 0 h 288"/>
                <a:gd name="T6" fmla="*/ 0 60000 65536"/>
                <a:gd name="T7" fmla="*/ 0 60000 65536"/>
                <a:gd name="T8" fmla="*/ 0 60000 65536"/>
                <a:gd name="T9" fmla="*/ 0 w 96"/>
                <a:gd name="T10" fmla="*/ 0 h 288"/>
                <a:gd name="T11" fmla="*/ 96 w 9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288">
                  <a:moveTo>
                    <a:pt x="0" y="288"/>
                  </a:moveTo>
                  <a:lnTo>
                    <a:pt x="0" y="0"/>
                  </a:lnTo>
                  <a:lnTo>
                    <a:pt x="96" y="0"/>
                  </a:lnTo>
                </a:path>
              </a:pathLst>
            </a:custGeom>
            <a:noFill/>
            <a:ln w="9525">
              <a:solidFill>
                <a:srgbClr val="0099CC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49" name="Oval 171"/>
            <p:cNvSpPr>
              <a:spLocks noChangeArrowheads="1"/>
            </p:cNvSpPr>
            <p:nvPr/>
          </p:nvSpPr>
          <p:spPr bwMode="auto">
            <a:xfrm>
              <a:off x="3500438" y="8083550"/>
              <a:ext cx="257175" cy="254000"/>
            </a:xfrm>
            <a:prstGeom prst="ellipse">
              <a:avLst/>
            </a:prstGeom>
            <a:gradFill rotWithShape="0">
              <a:gsLst>
                <a:gs pos="0">
                  <a:schemeClr val="bg1"/>
                </a:gs>
                <a:gs pos="100000">
                  <a:srgbClr val="00CC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99CC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Freeform 172"/>
            <p:cNvSpPr>
              <a:spLocks/>
            </p:cNvSpPr>
            <p:nvPr/>
          </p:nvSpPr>
          <p:spPr bwMode="auto">
            <a:xfrm>
              <a:off x="3625850" y="7150100"/>
              <a:ext cx="273050" cy="954088"/>
            </a:xfrm>
            <a:custGeom>
              <a:avLst/>
              <a:gdLst>
                <a:gd name="T0" fmla="*/ 0 w 96"/>
                <a:gd name="T1" fmla="*/ 2147483646 h 288"/>
                <a:gd name="T2" fmla="*/ 0 w 96"/>
                <a:gd name="T3" fmla="*/ 0 h 288"/>
                <a:gd name="T4" fmla="*/ 2147483646 w 96"/>
                <a:gd name="T5" fmla="*/ 0 h 288"/>
                <a:gd name="T6" fmla="*/ 0 60000 65536"/>
                <a:gd name="T7" fmla="*/ 0 60000 65536"/>
                <a:gd name="T8" fmla="*/ 0 60000 65536"/>
                <a:gd name="T9" fmla="*/ 0 w 96"/>
                <a:gd name="T10" fmla="*/ 0 h 288"/>
                <a:gd name="T11" fmla="*/ 96 w 9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288">
                  <a:moveTo>
                    <a:pt x="0" y="288"/>
                  </a:moveTo>
                  <a:lnTo>
                    <a:pt x="0" y="0"/>
                  </a:lnTo>
                  <a:lnTo>
                    <a:pt x="96" y="0"/>
                  </a:lnTo>
                </a:path>
              </a:pathLst>
            </a:custGeom>
            <a:noFill/>
            <a:ln w="9525">
              <a:solidFill>
                <a:srgbClr val="0099CC"/>
              </a:solidFill>
              <a:round/>
              <a:headEnd/>
              <a:tailEnd type="oval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ko-KR" altLang="en-US" dirty="0"/>
            </a:p>
          </p:txBody>
        </p:sp>
        <p:sp>
          <p:nvSpPr>
            <p:cNvPr id="51" name="Text Box 138"/>
            <p:cNvSpPr txBox="1">
              <a:spLocks noChangeArrowheads="1"/>
            </p:cNvSpPr>
            <p:nvPr/>
          </p:nvSpPr>
          <p:spPr bwMode="auto">
            <a:xfrm>
              <a:off x="1123950" y="3557588"/>
              <a:ext cx="4052888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marL="95250" indent="-952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buFontTx/>
                <a:buChar char="•"/>
              </a:pPr>
              <a:r>
                <a:rPr lang="ko-KR" altLang="en-US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유사 사업 수행 경험을 통한 사업에 대한 철저한 사전분석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eaLnBrk="1" hangingPunct="1">
                <a:buFontTx/>
                <a:buChar char="•"/>
              </a:pPr>
              <a:r>
                <a:rPr lang="ko-KR" altLang="en-US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사전분석을 토대로 해당 기관 조기 적용 추진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2" name="Text Box 138"/>
            <p:cNvSpPr txBox="1">
              <a:spLocks noChangeArrowheads="1"/>
            </p:cNvSpPr>
            <p:nvPr/>
          </p:nvSpPr>
          <p:spPr bwMode="auto">
            <a:xfrm>
              <a:off x="2255838" y="4640263"/>
              <a:ext cx="4052887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 marL="95250" indent="-952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buFontTx/>
                <a:buChar char="•"/>
                <a:defRPr/>
              </a:pPr>
              <a:r>
                <a:rPr lang="ko-KR" altLang="en-US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유사 사업의 시스템 설계</a:t>
              </a: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개발</a:t>
              </a: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구축을 담당한 인력을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0" indent="0" eaLnBrk="1" hangingPunct="1">
                <a:defRPr/>
              </a:pPr>
              <a:r>
                <a:rPr lang="ko-KR" altLang="en-US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본 사업에 투입하여</a:t>
              </a: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lang="ko-KR" altLang="en-US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시행착오 등을 미연에 방지하고</a:t>
              </a: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,  </a:t>
              </a:r>
            </a:p>
            <a:p>
              <a:pPr marL="0" indent="0" eaLnBrk="1" hangingPunct="1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lang="ko-KR" altLang="en-US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최적의 시스템을 구현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85552" name="Rectangle 85551">
            <a:extLst>
              <a:ext uri="{FF2B5EF4-FFF2-40B4-BE49-F238E27FC236}">
                <a16:creationId xmlns:a16="http://schemas.microsoft.com/office/drawing/2014/main" id="{B3DD8DFB-17E0-6E4A-E9B1-0E403381F56A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58" name="Rectangle 85557">
            <a:extLst>
              <a:ext uri="{FF2B5EF4-FFF2-40B4-BE49-F238E27FC236}">
                <a16:creationId xmlns:a16="http://schemas.microsoft.com/office/drawing/2014/main" id="{67285066-C3E8-B29F-F951-A4165D10CC2B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그룹 1"/>
          <p:cNvGrpSpPr>
            <a:grpSpLocks/>
          </p:cNvGrpSpPr>
          <p:nvPr/>
        </p:nvGrpSpPr>
        <p:grpSpPr bwMode="auto">
          <a:xfrm>
            <a:off x="971550" y="2565400"/>
            <a:ext cx="5926138" cy="506413"/>
            <a:chOff x="3395663" y="1916832"/>
            <a:chExt cx="5926137" cy="506412"/>
          </a:xfrm>
        </p:grpSpPr>
        <p:sp>
          <p:nvSpPr>
            <p:cNvPr id="20503" name="AutoShape 26"/>
            <p:cNvSpPr>
              <a:spLocks noChangeArrowheads="1"/>
            </p:cNvSpPr>
            <p:nvPr/>
          </p:nvSpPr>
          <p:spPr bwMode="auto">
            <a:xfrm>
              <a:off x="3398838" y="1937469"/>
              <a:ext cx="3836318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20504" name="Rectangle 34"/>
            <p:cNvSpPr>
              <a:spLocks noChangeArrowheads="1"/>
            </p:cNvSpPr>
            <p:nvPr/>
          </p:nvSpPr>
          <p:spPr bwMode="auto">
            <a:xfrm>
              <a:off x="4492625" y="1940644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일반현황</a:t>
              </a:r>
            </a:p>
          </p:txBody>
        </p:sp>
        <p:pic>
          <p:nvPicPr>
            <p:cNvPr id="20505" name="Picture 35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1931119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6" name="Rectangle 43"/>
            <p:cNvSpPr>
              <a:spLocks noChangeArrowheads="1"/>
            </p:cNvSpPr>
            <p:nvPr/>
          </p:nvSpPr>
          <p:spPr bwMode="auto">
            <a:xfrm>
              <a:off x="3600450" y="1916832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1.</a:t>
              </a:r>
            </a:p>
          </p:txBody>
        </p:sp>
      </p:grpSp>
      <p:grpSp>
        <p:nvGrpSpPr>
          <p:cNvPr id="20483" name="그룹 2"/>
          <p:cNvGrpSpPr>
            <a:grpSpLocks/>
          </p:cNvGrpSpPr>
          <p:nvPr/>
        </p:nvGrpSpPr>
        <p:grpSpPr bwMode="auto">
          <a:xfrm>
            <a:off x="971550" y="3214688"/>
            <a:ext cx="3838575" cy="504825"/>
            <a:chOff x="3395663" y="2564904"/>
            <a:chExt cx="3839493" cy="504825"/>
          </a:xfrm>
        </p:grpSpPr>
        <p:sp>
          <p:nvSpPr>
            <p:cNvPr id="20500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501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2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2.</a:t>
              </a:r>
            </a:p>
          </p:txBody>
        </p:sp>
      </p:grpSp>
      <p:grpSp>
        <p:nvGrpSpPr>
          <p:cNvPr id="20484" name="그룹 3"/>
          <p:cNvGrpSpPr>
            <a:grpSpLocks/>
          </p:cNvGrpSpPr>
          <p:nvPr/>
        </p:nvGrpSpPr>
        <p:grpSpPr bwMode="auto">
          <a:xfrm>
            <a:off x="969963" y="3862388"/>
            <a:ext cx="5926137" cy="520700"/>
            <a:chOff x="3391684" y="3212976"/>
            <a:chExt cx="5926138" cy="520700"/>
          </a:xfrm>
        </p:grpSpPr>
        <p:sp>
          <p:nvSpPr>
            <p:cNvPr id="20496" name="AutoShape 27"/>
            <p:cNvSpPr>
              <a:spLocks noChangeArrowheads="1"/>
            </p:cNvSpPr>
            <p:nvPr/>
          </p:nvSpPr>
          <p:spPr bwMode="auto">
            <a:xfrm>
              <a:off x="3391684" y="3216151"/>
              <a:ext cx="3841081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497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1684" y="3212976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98" name="Rectangle 47"/>
            <p:cNvSpPr>
              <a:spLocks noChangeArrowheads="1"/>
            </p:cNvSpPr>
            <p:nvPr/>
          </p:nvSpPr>
          <p:spPr bwMode="auto">
            <a:xfrm>
              <a:off x="4488647" y="3217739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주요 사업 내용</a:t>
              </a:r>
            </a:p>
          </p:txBody>
        </p:sp>
        <p:sp>
          <p:nvSpPr>
            <p:cNvPr id="20499" name="Rectangle 43"/>
            <p:cNvSpPr>
              <a:spLocks noChangeArrowheads="1"/>
            </p:cNvSpPr>
            <p:nvPr/>
          </p:nvSpPr>
          <p:spPr bwMode="auto">
            <a:xfrm>
              <a:off x="3607584" y="3228851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3.</a:t>
              </a:r>
            </a:p>
          </p:txBody>
        </p:sp>
      </p:grpSp>
      <p:sp>
        <p:nvSpPr>
          <p:cNvPr id="20487" name="Rectangle 34"/>
          <p:cNvSpPr>
            <a:spLocks noChangeArrowheads="1"/>
          </p:cNvSpPr>
          <p:nvPr/>
        </p:nvSpPr>
        <p:spPr bwMode="auto">
          <a:xfrm>
            <a:off x="2066925" y="3232150"/>
            <a:ext cx="48291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/>
              <a:t>조직 및 인원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제안 업체 일반</a:t>
            </a:r>
          </a:p>
        </p:txBody>
      </p:sp>
      <p:grpSp>
        <p:nvGrpSpPr>
          <p:cNvPr id="18" name="그룹 3"/>
          <p:cNvGrpSpPr>
            <a:grpSpLocks/>
          </p:cNvGrpSpPr>
          <p:nvPr/>
        </p:nvGrpSpPr>
        <p:grpSpPr bwMode="auto">
          <a:xfrm>
            <a:off x="969963" y="4500563"/>
            <a:ext cx="5926137" cy="520700"/>
            <a:chOff x="3391684" y="3212976"/>
            <a:chExt cx="5926138" cy="520700"/>
          </a:xfrm>
        </p:grpSpPr>
        <p:sp>
          <p:nvSpPr>
            <p:cNvPr id="19" name="AutoShape 27"/>
            <p:cNvSpPr>
              <a:spLocks noChangeArrowheads="1"/>
            </p:cNvSpPr>
            <p:nvPr/>
          </p:nvSpPr>
          <p:spPr bwMode="auto">
            <a:xfrm>
              <a:off x="3391684" y="3216151"/>
              <a:ext cx="3841081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1684" y="3212976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4488647" y="3217739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/>
                <a:t>주요 사업 실적</a:t>
              </a:r>
            </a:p>
          </p:txBody>
        </p:sp>
        <p:sp>
          <p:nvSpPr>
            <p:cNvPr id="22" name="Rectangle 43"/>
            <p:cNvSpPr>
              <a:spLocks noChangeArrowheads="1"/>
            </p:cNvSpPr>
            <p:nvPr/>
          </p:nvSpPr>
          <p:spPr bwMode="auto">
            <a:xfrm>
              <a:off x="3607584" y="3228851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4.</a:t>
              </a:r>
            </a:p>
          </p:txBody>
        </p:sp>
      </p:grpSp>
      <p:sp>
        <p:nvSpPr>
          <p:cNvPr id="82805" name="brand_footer">
            <a:extLst>
              <a:ext uri="{FF2B5EF4-FFF2-40B4-BE49-F238E27FC236}">
                <a16:creationId xmlns:a16="http://schemas.microsoft.com/office/drawing/2014/main" id="{E959BDCD-A586-7E75-C753-C60852624140}"/>
              </a:ext>
            </a:extLst>
          </p:cNvPr>
          <p:cNvSpPr/>
          <p:nvPr/>
        </p:nvSpPr>
        <p:spPr>
          <a:xfrm>
            <a:off x="270000" y="640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849" name="client_footer">
            <a:extLst>
              <a:ext uri="{FF2B5EF4-FFF2-40B4-BE49-F238E27FC236}">
                <a16:creationId xmlns:a16="http://schemas.microsoft.com/office/drawing/2014/main" id="{2789A520-0E40-FD03-47BB-1394CD1500B8}"/>
              </a:ext>
            </a:extLst>
          </p:cNvPr>
          <p:cNvSpPr/>
          <p:nvPr/>
        </p:nvSpPr>
        <p:spPr>
          <a:xfrm>
            <a:off x="7680000" y="6270000"/>
            <a:ext cx="1440000" cy="47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1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4"/>
          </p:nvPr>
        </p:nvSpPr>
        <p:spPr>
          <a:xfrm>
            <a:off x="6423819" y="4621399"/>
            <a:ext cx="484188" cy="365125"/>
          </a:xfrm>
        </p:spPr>
        <p:txBody>
          <a:bodyPr/>
          <a:lstStyle/>
          <a:p>
            <a:pPr>
              <a:defRPr/>
            </a:pPr>
            <a:fld id="{7E392537-1D6E-4860-9BFD-C3A22EF96687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14" name="Text Box 487"/>
          <p:cNvSpPr txBox="1">
            <a:spLocks noChangeArrowheads="1"/>
          </p:cNvSpPr>
          <p:nvPr/>
        </p:nvSpPr>
        <p:spPr bwMode="auto">
          <a:xfrm>
            <a:off x="266127" y="990526"/>
            <a:ext cx="8554346" cy="83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sz="1350">
                <a:gradFill>
                  <a:gsLst>
                    <a:gs pos="0">
                      <a:srgbClr val="E4E4E4"/>
                    </a:gs>
                    <a:gs pos="0">
                      <a:schemeClr val="tx1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제안사는 Microsoft 기업부문 파트너로 출발하여, 현재 클라우드 인프라 컨설팅·구축, Azure 이관 및 매니지드 클라우드 운영 사업으로 사업 분야를 확장해 나가며 작지만 강한 기업, Small Champion으로 성장하고 있습니다.</a:t>
            </a:r>
            <a:endParaRPr lang="en-US" altLang="ko-KR" sz="1350">
              <a:gradFill>
                <a:gsLst>
                  <a:gs pos="0">
                    <a:srgbClr val="E4E4E4"/>
                  </a:gs>
                  <a:gs pos="0">
                    <a:schemeClr val="tx1"/>
                  </a:gs>
                </a:gsLst>
                <a:lin ang="5400000" scaled="1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0475" y="3950614"/>
            <a:ext cx="1242648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dirty="0">
                <a:gradFill flip="none" rotWithShape="1">
                  <a:gsLst>
                    <a:gs pos="0">
                      <a:schemeClr val="bg1">
                        <a:lumMod val="65000"/>
                        <a:shade val="30000"/>
                        <a:satMod val="115000"/>
                      </a:schemeClr>
                    </a:gs>
                    <a:gs pos="5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  <a:latin typeface="+mn-lt"/>
                <a:ea typeface="+mn-ea"/>
              </a:rPr>
              <a:t>2013년
1800억 매출
클라우드사업본부 
엔지니어 40명 </a:t>
            </a:r>
            <a:endParaRPr lang="ko-KR" altLang="en-US" sz="1200" b="1" dirty="0">
              <a:gradFill flip="none" rotWithShape="1">
                <a:gsLst>
                  <a:gs pos="0">
                    <a:schemeClr val="bg1">
                      <a:lumMod val="65000"/>
                      <a:shade val="30000"/>
                      <a:satMod val="115000"/>
                    </a:schemeClr>
                  </a:gs>
                  <a:gs pos="5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  <a:latin typeface="+mn-lt"/>
              <a:ea typeface="+mn-ea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1979117" y="2114476"/>
            <a:ext cx="595" cy="4194249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제목 2"/>
          <p:cNvSpPr txBox="1">
            <a:spLocks/>
          </p:cNvSpPr>
          <p:nvPr/>
        </p:nvSpPr>
        <p:spPr bwMode="auto">
          <a:xfrm>
            <a:off x="282575" y="487363"/>
            <a:ext cx="234520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업체 일반</a:t>
            </a:r>
          </a:p>
        </p:txBody>
      </p:sp>
      <p:sp>
        <p:nvSpPr>
          <p:cNvPr id="32" name="제목 2"/>
          <p:cNvSpPr>
            <a:spLocks noGrp="1"/>
          </p:cNvSpPr>
          <p:nvPr>
            <p:ph type="ctrTitle"/>
          </p:nvPr>
        </p:nvSpPr>
        <p:spPr>
          <a:xfrm>
            <a:off x="7668344" y="519609"/>
            <a:ext cx="1475656" cy="358775"/>
          </a:xfrm>
        </p:spPr>
        <p:txBody>
          <a:bodyPr/>
          <a:lstStyle/>
          <a:p>
            <a:pPr eaLnBrk="1" hangingPunct="1"/>
            <a:r>
              <a:rPr 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일반현황</a:t>
            </a:r>
            <a:endParaRPr sz="1600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33" name="그룹 52"/>
          <p:cNvGrpSpPr>
            <a:grpSpLocks/>
          </p:cNvGrpSpPr>
          <p:nvPr/>
        </p:nvGrpSpPr>
        <p:grpSpPr bwMode="auto">
          <a:xfrm>
            <a:off x="391464" y="2569065"/>
            <a:ext cx="1140669" cy="1053772"/>
            <a:chOff x="395536" y="3124190"/>
            <a:chExt cx="1152128" cy="1152128"/>
          </a:xfrm>
        </p:grpSpPr>
        <p:sp>
          <p:nvSpPr>
            <p:cNvPr id="34" name="타원 33"/>
            <p:cNvSpPr/>
            <p:nvPr/>
          </p:nvSpPr>
          <p:spPr>
            <a:xfrm>
              <a:off x="395536" y="3124190"/>
              <a:ext cx="1152128" cy="1152128"/>
            </a:xfrm>
            <a:prstGeom prst="ellipse">
              <a:avLst/>
            </a:prstGeom>
            <a:solidFill>
              <a:srgbClr val="6F84B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35" name="타원 34"/>
            <p:cNvSpPr/>
            <p:nvPr/>
          </p:nvSpPr>
          <p:spPr>
            <a:xfrm>
              <a:off x="531972" y="3255114"/>
              <a:ext cx="876728" cy="877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pic>
          <p:nvPicPr>
            <p:cNvPr id="36" name="Picture 2" descr="D:\TechData\이미지\TechData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745" y="3644176"/>
              <a:ext cx="709710" cy="112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그룹 105"/>
          <p:cNvGrpSpPr>
            <a:grpSpLocks/>
          </p:cNvGrpSpPr>
          <p:nvPr/>
        </p:nvGrpSpPr>
        <p:grpSpPr bwMode="auto">
          <a:xfrm>
            <a:off x="2523698" y="1828378"/>
            <a:ext cx="5936734" cy="225425"/>
            <a:chOff x="381001" y="2051222"/>
            <a:chExt cx="8439470" cy="225650"/>
          </a:xfrm>
        </p:grpSpPr>
        <p:sp>
          <p:nvSpPr>
            <p:cNvPr id="30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개요</a:t>
              </a:r>
            </a:p>
          </p:txBody>
        </p:sp>
        <p:grpSp>
          <p:nvGrpSpPr>
            <p:cNvPr id="37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3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3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40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grpSp>
        <p:nvGrpSpPr>
          <p:cNvPr id="42" name="그룹 105"/>
          <p:cNvGrpSpPr>
            <a:grpSpLocks/>
          </p:cNvGrpSpPr>
          <p:nvPr/>
        </p:nvGrpSpPr>
        <p:grpSpPr bwMode="auto">
          <a:xfrm>
            <a:off x="2555776" y="4283695"/>
            <a:ext cx="5936734" cy="225425"/>
            <a:chOff x="381001" y="2051222"/>
            <a:chExt cx="8439470" cy="225650"/>
          </a:xfrm>
        </p:grpSpPr>
        <p:sp>
          <p:nvSpPr>
            <p:cNvPr id="43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지사</a:t>
              </a:r>
            </a:p>
          </p:txBody>
        </p:sp>
        <p:grpSp>
          <p:nvGrpSpPr>
            <p:cNvPr id="44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45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46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47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B48950-3FD2-461C-99B0-381D69F142C1}"/>
              </a:ext>
            </a:extLst>
          </p:cNvPr>
          <p:cNvGraphicFramePr>
            <a:graphicFrameLocks noGrp="1"/>
          </p:cNvGraphicFramePr>
          <p:nvPr/>
        </p:nvGraphicFramePr>
        <p:xfrm>
          <a:off x="2564607" y="4620256"/>
          <a:ext cx="6096000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63677314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22727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회 사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㈜ 아르케온클라우드 부산지사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1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설립일자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2009년 5월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08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대표전화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051-000-0200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98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회사주소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부산광역시 해운대구 센텀중앙로 00 (가상 주소)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73734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CC7BA0-9883-42C9-A52F-BD0121909A92}"/>
              </a:ext>
            </a:extLst>
          </p:cNvPr>
          <p:cNvGraphicFramePr>
            <a:graphicFrameLocks noGrp="1"/>
          </p:cNvGraphicFramePr>
          <p:nvPr/>
        </p:nvGraphicFramePr>
        <p:xfrm>
          <a:off x="2564607" y="5579976"/>
          <a:ext cx="6096000" cy="91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57347249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695650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회 사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㈜ 아르케온클라우드 기술연구소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3466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설립일자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2005년 3월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88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대표전화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02-555-0300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950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회사주소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경기도 성남시 분당구 판교역로 000 (가상 주소)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77652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1E9423-8C62-4C53-BF06-EB2E9393914E}"/>
              </a:ext>
            </a:extLst>
          </p:cNvPr>
          <p:cNvGraphicFramePr>
            <a:graphicFrameLocks noGrp="1"/>
          </p:cNvGraphicFramePr>
          <p:nvPr/>
        </p:nvGraphicFramePr>
        <p:xfrm>
          <a:off x="2540794" y="2103542"/>
          <a:ext cx="6096000" cy="1645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75907667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858418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6012447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084597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회 사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㈜ 아르케온클라우드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사업자번호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</a:rPr>
                        <a:t>123-45-67890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270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대표이사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한도경, 류지섭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설립일자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1998년 5월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00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사업분야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클라우드 구축·이관, 매니지드 운영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직 원 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약 260명 (2014.07)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24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대표전화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02-555-0100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팩스번호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02-555-0101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847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회사주소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서울 강남구 테헤란로 427 (가상)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홈페이지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archeoncloud.example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138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매 출 액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178,129,314,600원 (2013)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자 본 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990,000,000원 (2013)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171539"/>
                  </a:ext>
                </a:extLst>
              </a:tr>
            </a:tbl>
          </a:graphicData>
        </a:graphic>
      </p:graphicFrame>
      <p:sp>
        <p:nvSpPr>
          <p:cNvPr id="85533" name="Oval 85532">
            <a:extLst>
              <a:ext uri="{FF2B5EF4-FFF2-40B4-BE49-F238E27FC236}">
                <a16:creationId xmlns:a16="http://schemas.microsoft.com/office/drawing/2014/main" id="{BE4FE766-9B15-8E00-780C-5D2FB0C52F4D}"/>
              </a:ext>
            </a:extLst>
          </p:cNvPr>
          <p:cNvSpPr/>
          <p:nvPr/>
        </p:nvSpPr>
        <p:spPr>
          <a:xfrm>
            <a:off x="535000" y="2690000"/>
            <a:ext cx="870000" cy="805000"/>
          </a:xfrm>
          <a:prstGeom prst="ellipse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b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</a:t>
            </a:r>
          </a:p>
          <a:p>
            <a:pPr algn="ctr">
              <a:buNone/>
            </a:pPr>
            <a:r>
              <a:rPr lang="en-US" sz="1000" b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Cloud</a:t>
            </a:r>
            <a:endParaRPr lang="en-US"/>
          </a:p>
        </p:txBody>
      </p:sp>
      <p:sp>
        <p:nvSpPr>
          <p:cNvPr id="85565" name="Rectangle 85564">
            <a:extLst>
              <a:ext uri="{FF2B5EF4-FFF2-40B4-BE49-F238E27FC236}">
                <a16:creationId xmlns:a16="http://schemas.microsoft.com/office/drawing/2014/main" id="{D58D757C-5A80-6A02-FC95-554A0524E7CE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73" name="Rectangle 85572">
            <a:extLst>
              <a:ext uri="{FF2B5EF4-FFF2-40B4-BE49-F238E27FC236}">
                <a16:creationId xmlns:a16="http://schemas.microsoft.com/office/drawing/2014/main" id="{B1512FA5-5996-6A2D-5666-E35DA4FC475D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7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직선 연결선 23"/>
          <p:cNvCxnSpPr/>
          <p:nvPr/>
        </p:nvCxnSpPr>
        <p:spPr>
          <a:xfrm>
            <a:off x="1944427" y="2074749"/>
            <a:ext cx="595" cy="4194249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제목 2"/>
          <p:cNvSpPr txBox="1">
            <a:spLocks/>
          </p:cNvSpPr>
          <p:nvPr/>
        </p:nvSpPr>
        <p:spPr bwMode="auto">
          <a:xfrm>
            <a:off x="7668344" y="519609"/>
            <a:ext cx="1475656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일반현황</a:t>
            </a:r>
          </a:p>
        </p:txBody>
      </p:sp>
      <p:grpSp>
        <p:nvGrpSpPr>
          <p:cNvPr id="31" name="그룹 52"/>
          <p:cNvGrpSpPr>
            <a:grpSpLocks/>
          </p:cNvGrpSpPr>
          <p:nvPr/>
        </p:nvGrpSpPr>
        <p:grpSpPr bwMode="auto">
          <a:xfrm>
            <a:off x="391464" y="2569065"/>
            <a:ext cx="1140669" cy="1053772"/>
            <a:chOff x="395536" y="3124190"/>
            <a:chExt cx="1152128" cy="1152128"/>
          </a:xfrm>
        </p:grpSpPr>
        <p:sp>
          <p:nvSpPr>
            <p:cNvPr id="32" name="타원 31"/>
            <p:cNvSpPr/>
            <p:nvPr/>
          </p:nvSpPr>
          <p:spPr>
            <a:xfrm>
              <a:off x="395536" y="3124190"/>
              <a:ext cx="1152128" cy="1152128"/>
            </a:xfrm>
            <a:prstGeom prst="ellipse">
              <a:avLst/>
            </a:prstGeom>
            <a:solidFill>
              <a:srgbClr val="6F84B7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33" name="타원 32"/>
            <p:cNvSpPr/>
            <p:nvPr/>
          </p:nvSpPr>
          <p:spPr>
            <a:xfrm>
              <a:off x="531972" y="3255114"/>
              <a:ext cx="876728" cy="87718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pic>
          <p:nvPicPr>
            <p:cNvPr id="34" name="Picture 2" descr="D:\TechData\이미지\TechData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6745" y="3644176"/>
              <a:ext cx="709710" cy="1121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" name="그룹 105"/>
          <p:cNvGrpSpPr>
            <a:grpSpLocks/>
          </p:cNvGrpSpPr>
          <p:nvPr/>
        </p:nvGrpSpPr>
        <p:grpSpPr bwMode="auto">
          <a:xfrm>
            <a:off x="2411760" y="980728"/>
            <a:ext cx="5936734" cy="225425"/>
            <a:chOff x="381001" y="2051222"/>
            <a:chExt cx="8439470" cy="225650"/>
          </a:xfrm>
        </p:grpSpPr>
        <p:sp>
          <p:nvSpPr>
            <p:cNvPr id="29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연혁</a:t>
              </a:r>
            </a:p>
          </p:txBody>
        </p:sp>
        <p:grpSp>
          <p:nvGrpSpPr>
            <p:cNvPr id="30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35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36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37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grpSp>
        <p:nvGrpSpPr>
          <p:cNvPr id="38" name="그룹 105"/>
          <p:cNvGrpSpPr>
            <a:grpSpLocks/>
          </p:cNvGrpSpPr>
          <p:nvPr/>
        </p:nvGrpSpPr>
        <p:grpSpPr bwMode="auto">
          <a:xfrm>
            <a:off x="2411760" y="4589366"/>
            <a:ext cx="5936734" cy="225425"/>
            <a:chOff x="381001" y="2051222"/>
            <a:chExt cx="8439470" cy="225650"/>
          </a:xfrm>
        </p:grpSpPr>
        <p:sp>
          <p:nvSpPr>
            <p:cNvPr id="39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수상이력</a:t>
              </a:r>
            </a:p>
          </p:txBody>
        </p:sp>
        <p:grpSp>
          <p:nvGrpSpPr>
            <p:cNvPr id="40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41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42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43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5" name="제목 2"/>
          <p:cNvSpPr txBox="1">
            <a:spLocks/>
          </p:cNvSpPr>
          <p:nvPr/>
        </p:nvSpPr>
        <p:spPr bwMode="auto">
          <a:xfrm>
            <a:off x="282575" y="487363"/>
            <a:ext cx="234520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업체 일반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56BDFE-0A3B-486C-9C8E-8EAA94EE644C}"/>
              </a:ext>
            </a:extLst>
          </p:cNvPr>
          <p:cNvGraphicFramePr>
            <a:graphicFrameLocks noGrp="1"/>
          </p:cNvGraphicFramePr>
          <p:nvPr/>
        </p:nvGraphicFramePr>
        <p:xfrm>
          <a:off x="2420591" y="1242762"/>
          <a:ext cx="6096000" cy="2194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425719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49156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연도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주요 연혁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003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Cloud Infrastructure(CI)팀 20명 체제 확대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38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클라우드사업본부 신설 (AX·MW·CI 3개 전문팀)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29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매니지드 클라우드 서비스 개시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813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매출 1,000억 달성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132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㈜ 아르케온클라우드 부산지사 설립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1664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㈜ 아르케온클라우드 기술연구소 설립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201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벤처기업 인가 (기술평가기업)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840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1998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㈜ 아르케온클라우드 설립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17923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3C6E65-E0C5-4977-AEB1-A21419936097}"/>
              </a:ext>
            </a:extLst>
          </p:cNvPr>
          <p:cNvGraphicFramePr>
            <a:graphicFrameLocks noGrp="1"/>
          </p:cNvGraphicFramePr>
          <p:nvPr/>
        </p:nvGraphicFramePr>
        <p:xfrm>
          <a:off x="2430264" y="4884965"/>
          <a:ext cx="6096000" cy="1219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39946230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7243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연도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수상 이력 (샘플)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F8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441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클라우드 이관 우수 파트너상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491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우수 IT 서비스 기업 선정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897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올해의 클라우드 파트너상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794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유망 중소기업 선정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99257"/>
                  </a:ext>
                </a:extLst>
              </a:tr>
            </a:tbl>
          </a:graphicData>
        </a:graphic>
      </p:graphicFrame>
      <p:sp>
        <p:nvSpPr>
          <p:cNvPr id="85537" name="Oval 85536">
            <a:extLst>
              <a:ext uri="{FF2B5EF4-FFF2-40B4-BE49-F238E27FC236}">
                <a16:creationId xmlns:a16="http://schemas.microsoft.com/office/drawing/2014/main" id="{212E2635-CC17-49FC-F1EA-A8E4452F2942}"/>
              </a:ext>
            </a:extLst>
          </p:cNvPr>
          <p:cNvSpPr/>
          <p:nvPr/>
        </p:nvSpPr>
        <p:spPr>
          <a:xfrm>
            <a:off x="535000" y="2690000"/>
            <a:ext cx="870000" cy="805000"/>
          </a:xfrm>
          <a:prstGeom prst="ellipse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000" b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</a:t>
            </a:r>
          </a:p>
          <a:p>
            <a:pPr algn="ctr">
              <a:buNone/>
            </a:pPr>
            <a:r>
              <a:rPr lang="en-US" sz="1000" b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Cloud</a:t>
            </a:r>
            <a:endParaRPr lang="en-US"/>
          </a:p>
        </p:txBody>
      </p:sp>
      <p:sp>
        <p:nvSpPr>
          <p:cNvPr id="85582" name="Rectangle 85581">
            <a:extLst>
              <a:ext uri="{FF2B5EF4-FFF2-40B4-BE49-F238E27FC236}">
                <a16:creationId xmlns:a16="http://schemas.microsoft.com/office/drawing/2014/main" id="{9C82A37D-DA11-FDBB-25EE-E43633DFA5EB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592" name="Rectangle 85591">
            <a:extLst>
              <a:ext uri="{FF2B5EF4-FFF2-40B4-BE49-F238E27FC236}">
                <a16:creationId xmlns:a16="http://schemas.microsoft.com/office/drawing/2014/main" id="{F3FA58C6-32AD-DC99-0011-D7679D749819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39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roup 3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805883"/>
              </p:ext>
            </p:extLst>
          </p:nvPr>
        </p:nvGraphicFramePr>
        <p:xfrm>
          <a:off x="548789" y="1728599"/>
          <a:ext cx="5823412" cy="4797443"/>
        </p:xfrm>
        <a:graphic>
          <a:graphicData uri="http://schemas.openxmlformats.org/drawingml/2006/table">
            <a:tbl>
              <a:tblPr/>
              <a:tblGrid>
                <a:gridCol w="1006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6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976">
                <a:tc gridSpan="6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 현황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812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 분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2013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43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총자산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51,818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69,017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85,134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자기자본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14,195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17,386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20,458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유동부채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37,218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51,382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64,546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고정부채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유동자산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38,255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53,512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65,676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당기 순이익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2,815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4,297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4,057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976">
                <a:tc row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부문별 매출액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상품매출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104,627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131,502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163,514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976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OTF" pitchFamily="34" charset="-127"/>
                        <a:ea typeface="나눔고딕OTF" pitchFamily="34" charset="-127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C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DC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용역매출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4,781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9,338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gradFill>
                            <a:gsLst>
                              <a:gs pos="100000">
                                <a:schemeClr val="tx2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14,598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976">
                <a:tc v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나눔고딕OTF" pitchFamily="34" charset="-127"/>
                        <a:ea typeface="나눔고딕OTF" pitchFamily="34" charset="-127"/>
                        <a:cs typeface="+mn-cs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DC5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C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FEAF5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계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109,407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140,865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178,129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자기자본비율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자기자본순이익율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유동비율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7976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부채비율</a:t>
                      </a:r>
                    </a:p>
                  </a:txBody>
                  <a:tcPr marL="89979" marR="89979" marT="46807" marB="4680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92075" marR="0" lvl="0" indent="-92075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9979" marR="89979" marT="46807" marB="46807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8" name="Rectangle 249"/>
          <p:cNvSpPr>
            <a:spLocks noChangeArrowheads="1"/>
          </p:cNvSpPr>
          <p:nvPr/>
        </p:nvSpPr>
        <p:spPr bwMode="auto">
          <a:xfrm>
            <a:off x="5555729" y="1794565"/>
            <a:ext cx="683350" cy="21748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단위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: </a:t>
            </a:r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rPr>
              <a:t>백만원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708129" y="1700808"/>
            <a:ext cx="1803745" cy="4825238"/>
            <a:chOff x="6708129" y="1700808"/>
            <a:chExt cx="1803745" cy="5652628"/>
          </a:xfrm>
        </p:grpSpPr>
        <p:sp>
          <p:nvSpPr>
            <p:cNvPr id="11" name="직사각형 10"/>
            <p:cNvSpPr/>
            <p:nvPr/>
          </p:nvSpPr>
          <p:spPr>
            <a:xfrm>
              <a:off x="6708129" y="1700808"/>
              <a:ext cx="1784779" cy="18362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85000"/>
                </a:schemeClr>
              </a:solidFill>
            </a:ln>
            <a:effectLst>
              <a:outerShdw dist="254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6763604" y="1733369"/>
              <a:ext cx="1689931" cy="297744"/>
            </a:xfrm>
            <a:prstGeom prst="roundRect">
              <a:avLst/>
            </a:prstGeom>
            <a:solidFill>
              <a:srgbClr val="0057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매출액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727095" y="5517232"/>
              <a:ext cx="1784779" cy="18362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85000"/>
                </a:schemeClr>
              </a:solidFill>
            </a:ln>
            <a:effectLst>
              <a:outerShdw dist="254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모서리가 둥근 직사각형 13"/>
            <p:cNvSpPr/>
            <p:nvPr/>
          </p:nvSpPr>
          <p:spPr>
            <a:xfrm>
              <a:off x="6782570" y="5549793"/>
              <a:ext cx="1689931" cy="297744"/>
            </a:xfrm>
            <a:prstGeom prst="roundRect">
              <a:avLst/>
            </a:prstGeom>
            <a:solidFill>
              <a:srgbClr val="5B9BC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유동비율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716616" y="3612463"/>
              <a:ext cx="1784779" cy="1836204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16200000" scaled="1"/>
              <a:tileRect/>
            </a:gradFill>
            <a:ln w="3175">
              <a:solidFill>
                <a:schemeClr val="bg1">
                  <a:lumMod val="85000"/>
                </a:schemeClr>
              </a:solidFill>
            </a:ln>
            <a:effectLst>
              <a:outerShdw dist="25400" dir="2700000" algn="t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6772091" y="3645024"/>
              <a:ext cx="1689931" cy="297744"/>
            </a:xfrm>
            <a:prstGeom prst="roundRect">
              <a:avLst/>
            </a:prstGeom>
            <a:solidFill>
              <a:srgbClr val="0057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자기자본비율</a:t>
              </a:r>
              <a:endPara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Rectangle 39"/>
            <p:cNvSpPr>
              <a:spLocks noChangeArrowheads="1"/>
            </p:cNvSpPr>
            <p:nvPr/>
          </p:nvSpPr>
          <p:spPr bwMode="auto">
            <a:xfrm flipH="1">
              <a:off x="7590826" y="5573938"/>
              <a:ext cx="45719" cy="184150"/>
            </a:xfrm>
            <a:prstGeom prst="rect">
              <a:avLst/>
            </a:prstGeom>
            <a:noFill/>
            <a:ln w="25400" algn="ctr">
              <a:noFill/>
              <a:miter lim="800000"/>
              <a:headEnd/>
              <a:tailEnd/>
            </a:ln>
            <a:effectLst>
              <a:prstShdw prst="shdw17" dist="17961" dir="2700000">
                <a:srgbClr val="848F90">
                  <a:alpha val="50000"/>
                </a:srgbClr>
              </a:prstShdw>
            </a:effectLst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ko-KR" sz="1200" kern="0" dirty="0">
                <a:solidFill>
                  <a:sysClr val="windowText" lastClr="00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20" name="TextBox 18"/>
            <p:cNvSpPr txBox="1">
              <a:spLocks noChangeArrowheads="1"/>
            </p:cNvSpPr>
            <p:nvPr/>
          </p:nvSpPr>
          <p:spPr bwMode="auto">
            <a:xfrm>
              <a:off x="6992720" y="7130990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2011</a:t>
              </a:r>
            </a:p>
          </p:txBody>
        </p:sp>
        <p:sp>
          <p:nvSpPr>
            <p:cNvPr id="21" name="TextBox 19"/>
            <p:cNvSpPr txBox="1">
              <a:spLocks noChangeArrowheads="1"/>
            </p:cNvSpPr>
            <p:nvPr/>
          </p:nvSpPr>
          <p:spPr bwMode="auto">
            <a:xfrm>
              <a:off x="7509452" y="7132578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2012</a:t>
              </a:r>
            </a:p>
          </p:txBody>
        </p:sp>
        <p:sp>
          <p:nvSpPr>
            <p:cNvPr id="22" name="TextBox 21"/>
            <p:cNvSpPr txBox="1">
              <a:spLocks noChangeArrowheads="1"/>
            </p:cNvSpPr>
            <p:nvPr/>
          </p:nvSpPr>
          <p:spPr bwMode="auto">
            <a:xfrm>
              <a:off x="7070079" y="5226221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2011</a:t>
              </a:r>
            </a:p>
          </p:txBody>
        </p:sp>
        <p:sp>
          <p:nvSpPr>
            <p:cNvPr id="23" name="TextBox 22"/>
            <p:cNvSpPr txBox="1">
              <a:spLocks noChangeArrowheads="1"/>
            </p:cNvSpPr>
            <p:nvPr/>
          </p:nvSpPr>
          <p:spPr bwMode="auto">
            <a:xfrm>
              <a:off x="7555854" y="5227809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2012</a:t>
              </a:r>
            </a:p>
          </p:txBody>
        </p:sp>
        <p:sp>
          <p:nvSpPr>
            <p:cNvPr id="24" name="Line 350"/>
            <p:cNvSpPr>
              <a:spLocks noChangeShapeType="1"/>
            </p:cNvSpPr>
            <p:nvPr/>
          </p:nvSpPr>
          <p:spPr bwMode="auto">
            <a:xfrm flipV="1">
              <a:off x="6833590" y="6020267"/>
              <a:ext cx="0" cy="1039813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stealth" w="med" len="med"/>
            </a:ln>
          </p:spPr>
          <p:txBody>
            <a:bodyPr anchor="ctr"/>
            <a:lstStyle/>
            <a:p>
              <a:pPr algn="l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31" name="Line 351"/>
            <p:cNvSpPr>
              <a:spLocks noChangeShapeType="1"/>
            </p:cNvSpPr>
            <p:nvPr/>
          </p:nvSpPr>
          <p:spPr bwMode="auto">
            <a:xfrm>
              <a:off x="6833590" y="7069607"/>
              <a:ext cx="1506043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 type="stealth" w="med" len="med"/>
            </a:ln>
          </p:spPr>
          <p:txBody>
            <a:bodyPr anchor="ctr"/>
            <a:lstStyle/>
            <a:p>
              <a:pPr algn="l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kern="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32" name="Line 352"/>
            <p:cNvSpPr>
              <a:spLocks noChangeShapeType="1"/>
            </p:cNvSpPr>
            <p:nvPr/>
          </p:nvSpPr>
          <p:spPr bwMode="auto">
            <a:xfrm>
              <a:off x="6870467" y="5158488"/>
              <a:ext cx="1506006" cy="0"/>
            </a:xfrm>
            <a:prstGeom prst="line">
              <a:avLst/>
            </a:prstGeom>
            <a:noFill/>
            <a:ln w="19050">
              <a:solidFill>
                <a:srgbClr val="1F4085"/>
              </a:solidFill>
              <a:round/>
              <a:headEnd/>
              <a:tailEnd type="stealth" w="med" len="med"/>
            </a:ln>
          </p:spPr>
          <p:txBody>
            <a:bodyPr anchor="ctr"/>
            <a:lstStyle/>
            <a:p>
              <a:pPr algn="l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kern="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33" name="Line 353"/>
            <p:cNvSpPr>
              <a:spLocks noChangeShapeType="1"/>
            </p:cNvSpPr>
            <p:nvPr/>
          </p:nvSpPr>
          <p:spPr bwMode="auto">
            <a:xfrm flipV="1">
              <a:off x="6870467" y="4115498"/>
              <a:ext cx="0" cy="1039813"/>
            </a:xfrm>
            <a:prstGeom prst="line">
              <a:avLst/>
            </a:prstGeom>
            <a:noFill/>
            <a:ln w="19050">
              <a:solidFill>
                <a:srgbClr val="1F4085"/>
              </a:solidFill>
              <a:round/>
              <a:headEnd/>
              <a:tailEnd type="stealth" w="med" len="med"/>
            </a:ln>
          </p:spPr>
          <p:txBody>
            <a:bodyPr anchor="ctr"/>
            <a:lstStyle/>
            <a:p>
              <a:pPr algn="l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34" name="TextBox 18"/>
            <p:cNvSpPr txBox="1">
              <a:spLocks noChangeArrowheads="1"/>
            </p:cNvSpPr>
            <p:nvPr/>
          </p:nvSpPr>
          <p:spPr bwMode="auto">
            <a:xfrm>
              <a:off x="6979391" y="3314566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2011</a:t>
              </a:r>
            </a:p>
          </p:txBody>
        </p:sp>
        <p:sp>
          <p:nvSpPr>
            <p:cNvPr id="38" name="TextBox 19"/>
            <p:cNvSpPr txBox="1">
              <a:spLocks noChangeArrowheads="1"/>
            </p:cNvSpPr>
            <p:nvPr/>
          </p:nvSpPr>
          <p:spPr bwMode="auto">
            <a:xfrm>
              <a:off x="7501679" y="3316154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2012</a:t>
              </a:r>
            </a:p>
          </p:txBody>
        </p:sp>
        <p:sp>
          <p:nvSpPr>
            <p:cNvPr id="39" name="Line 367"/>
            <p:cNvSpPr>
              <a:spLocks noChangeShapeType="1"/>
            </p:cNvSpPr>
            <p:nvPr/>
          </p:nvSpPr>
          <p:spPr bwMode="auto">
            <a:xfrm flipV="1">
              <a:off x="6867297" y="2203843"/>
              <a:ext cx="0" cy="1039813"/>
            </a:xfrm>
            <a:prstGeom prst="line">
              <a:avLst/>
            </a:prstGeom>
            <a:noFill/>
            <a:ln w="19050">
              <a:solidFill>
                <a:srgbClr val="1F4085"/>
              </a:solidFill>
              <a:round/>
              <a:headEnd/>
              <a:tailEnd type="stealth" w="med" len="med"/>
            </a:ln>
          </p:spPr>
          <p:txBody>
            <a:bodyPr anchor="ctr"/>
            <a:lstStyle/>
            <a:p>
              <a:pPr algn="l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kern="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40" name="Line 368"/>
            <p:cNvSpPr>
              <a:spLocks noChangeShapeType="1"/>
            </p:cNvSpPr>
            <p:nvPr/>
          </p:nvSpPr>
          <p:spPr bwMode="auto">
            <a:xfrm>
              <a:off x="6867297" y="3253183"/>
              <a:ext cx="1464754" cy="0"/>
            </a:xfrm>
            <a:prstGeom prst="line">
              <a:avLst/>
            </a:prstGeom>
            <a:noFill/>
            <a:ln w="19050">
              <a:solidFill>
                <a:srgbClr val="1F4085"/>
              </a:solidFill>
              <a:round/>
              <a:headEnd/>
              <a:tailEnd type="stealth" w="med" len="med"/>
            </a:ln>
          </p:spPr>
          <p:txBody>
            <a:bodyPr anchor="ctr"/>
            <a:lstStyle/>
            <a:p>
              <a:pPr algn="l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800" kern="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41" name="Text Box 369"/>
            <p:cNvSpPr txBox="1">
              <a:spLocks noChangeArrowheads="1"/>
            </p:cNvSpPr>
            <p:nvPr/>
          </p:nvSpPr>
          <p:spPr bwMode="auto">
            <a:xfrm>
              <a:off x="8065071" y="2054497"/>
              <a:ext cx="365057" cy="144221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kern="0" dirty="0"/>
                <a:t>단위</a:t>
              </a:r>
              <a:r>
                <a:rPr kumimoji="0" lang="en-US" altLang="ko-KR" sz="800" kern="0" dirty="0"/>
                <a:t>:</a:t>
              </a:r>
              <a:r>
                <a:rPr kumimoji="0" lang="ko-KR" altLang="en-US" sz="800" kern="0" dirty="0"/>
                <a:t>억</a:t>
              </a:r>
            </a:p>
          </p:txBody>
        </p:sp>
        <p:sp>
          <p:nvSpPr>
            <p:cNvPr id="42" name="AutoShape 370"/>
            <p:cNvSpPr>
              <a:spLocks noChangeArrowheads="1"/>
            </p:cNvSpPr>
            <p:nvPr/>
          </p:nvSpPr>
          <p:spPr bwMode="auto">
            <a:xfrm>
              <a:off x="7014856" y="2627708"/>
              <a:ext cx="179512" cy="576262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19B2FF"/>
                </a:gs>
                <a:gs pos="100000">
                  <a:srgbClr val="9FDAFF"/>
                </a:gs>
              </a:gsLst>
              <a:lin ang="5400000" scaled="1"/>
            </a:gradFill>
            <a:ln w="9525" algn="ctr">
              <a:solidFill>
                <a:srgbClr val="B9E4FF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43" name="Text Box 371"/>
            <p:cNvSpPr txBox="1">
              <a:spLocks noChangeArrowheads="1"/>
            </p:cNvSpPr>
            <p:nvPr/>
          </p:nvSpPr>
          <p:spPr bwMode="auto">
            <a:xfrm>
              <a:off x="7982170" y="2294500"/>
              <a:ext cx="325463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1781</a:t>
              </a:r>
            </a:p>
          </p:txBody>
        </p:sp>
        <p:sp>
          <p:nvSpPr>
            <p:cNvPr id="44" name="Text Box 374"/>
            <p:cNvSpPr txBox="1">
              <a:spLocks noChangeArrowheads="1"/>
            </p:cNvSpPr>
            <p:nvPr/>
          </p:nvSpPr>
          <p:spPr bwMode="auto">
            <a:xfrm>
              <a:off x="7975962" y="6413871"/>
              <a:ext cx="379575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102%</a:t>
              </a:r>
            </a:p>
          </p:txBody>
        </p:sp>
        <p:sp>
          <p:nvSpPr>
            <p:cNvPr id="45" name="AutoShape 375"/>
            <p:cNvSpPr>
              <a:spLocks noChangeArrowheads="1"/>
            </p:cNvSpPr>
            <p:nvPr/>
          </p:nvSpPr>
          <p:spPr bwMode="auto">
            <a:xfrm>
              <a:off x="7058346" y="6526046"/>
              <a:ext cx="179512" cy="489744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00CC66"/>
                </a:gs>
                <a:gs pos="100000">
                  <a:srgbClr val="99CC00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46" name="AutoShape 376"/>
            <p:cNvSpPr>
              <a:spLocks noChangeArrowheads="1"/>
            </p:cNvSpPr>
            <p:nvPr/>
          </p:nvSpPr>
          <p:spPr bwMode="auto">
            <a:xfrm>
              <a:off x="7619485" y="4506532"/>
              <a:ext cx="191579" cy="609092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19B2FF"/>
                </a:gs>
                <a:gs pos="100000">
                  <a:srgbClr val="9FDAFF"/>
                </a:gs>
              </a:gsLst>
              <a:lin ang="5400000" scaled="1"/>
            </a:gradFill>
            <a:ln w="9525" algn="ctr">
              <a:solidFill>
                <a:srgbClr val="B9E4FF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47" name="Text Box 377"/>
            <p:cNvSpPr txBox="1">
              <a:spLocks noChangeArrowheads="1"/>
            </p:cNvSpPr>
            <p:nvPr/>
          </p:nvSpPr>
          <p:spPr bwMode="auto">
            <a:xfrm>
              <a:off x="8057821" y="4368033"/>
              <a:ext cx="318652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24%</a:t>
              </a:r>
            </a:p>
          </p:txBody>
        </p:sp>
        <p:sp>
          <p:nvSpPr>
            <p:cNvPr id="48" name="AutoShape 370"/>
            <p:cNvSpPr>
              <a:spLocks noChangeArrowheads="1"/>
            </p:cNvSpPr>
            <p:nvPr/>
          </p:nvSpPr>
          <p:spPr bwMode="auto">
            <a:xfrm>
              <a:off x="7527301" y="2532458"/>
              <a:ext cx="179512" cy="671512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19B2FF"/>
                </a:gs>
                <a:gs pos="100000">
                  <a:srgbClr val="9FDAFF"/>
                </a:gs>
              </a:gsLst>
              <a:lin ang="5400000" scaled="1"/>
            </a:gradFill>
            <a:ln w="9525" algn="ctr">
              <a:solidFill>
                <a:srgbClr val="B9E4FF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49" name="Text Box 371"/>
            <p:cNvSpPr txBox="1">
              <a:spLocks noChangeArrowheads="1"/>
            </p:cNvSpPr>
            <p:nvPr/>
          </p:nvSpPr>
          <p:spPr bwMode="auto">
            <a:xfrm>
              <a:off x="6991550" y="2463208"/>
              <a:ext cx="325463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1094</a:t>
              </a:r>
            </a:p>
          </p:txBody>
        </p:sp>
        <p:sp>
          <p:nvSpPr>
            <p:cNvPr id="50" name="Text Box 377"/>
            <p:cNvSpPr txBox="1">
              <a:spLocks noChangeArrowheads="1"/>
            </p:cNvSpPr>
            <p:nvPr/>
          </p:nvSpPr>
          <p:spPr bwMode="auto">
            <a:xfrm>
              <a:off x="7120459" y="4299265"/>
              <a:ext cx="318652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27%</a:t>
              </a:r>
            </a:p>
          </p:txBody>
        </p:sp>
        <p:sp>
          <p:nvSpPr>
            <p:cNvPr id="51" name="Text Box 374"/>
            <p:cNvSpPr txBox="1">
              <a:spLocks noChangeArrowheads="1"/>
            </p:cNvSpPr>
            <p:nvPr/>
          </p:nvSpPr>
          <p:spPr bwMode="auto">
            <a:xfrm>
              <a:off x="7010315" y="6344622"/>
              <a:ext cx="379575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103%</a:t>
              </a:r>
            </a:p>
          </p:txBody>
        </p:sp>
        <p:sp>
          <p:nvSpPr>
            <p:cNvPr id="52" name="AutoShape 375"/>
            <p:cNvSpPr>
              <a:spLocks noChangeArrowheads="1"/>
            </p:cNvSpPr>
            <p:nvPr/>
          </p:nvSpPr>
          <p:spPr bwMode="auto">
            <a:xfrm>
              <a:off x="7556853" y="6374089"/>
              <a:ext cx="179511" cy="635000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00CC66"/>
                </a:gs>
                <a:gs pos="100000">
                  <a:srgbClr val="99CC00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54" name="TextBox 19"/>
            <p:cNvSpPr txBox="1">
              <a:spLocks noChangeArrowheads="1"/>
            </p:cNvSpPr>
            <p:nvPr/>
          </p:nvSpPr>
          <p:spPr bwMode="auto">
            <a:xfrm>
              <a:off x="7974754" y="3316154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2013</a:t>
              </a:r>
            </a:p>
          </p:txBody>
        </p:sp>
        <p:sp>
          <p:nvSpPr>
            <p:cNvPr id="55" name="AutoShape 370"/>
            <p:cNvSpPr>
              <a:spLocks noChangeArrowheads="1"/>
            </p:cNvSpPr>
            <p:nvPr/>
          </p:nvSpPr>
          <p:spPr bwMode="auto">
            <a:xfrm>
              <a:off x="8011190" y="2439997"/>
              <a:ext cx="156884" cy="763974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19B2FF"/>
                </a:gs>
                <a:gs pos="100000">
                  <a:srgbClr val="9FDAFF"/>
                </a:gs>
              </a:gsLst>
              <a:lin ang="5400000" scaled="1"/>
            </a:gradFill>
            <a:ln w="9525" algn="ctr">
              <a:solidFill>
                <a:srgbClr val="B9E4FF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56" name="TextBox 19"/>
            <p:cNvSpPr txBox="1">
              <a:spLocks noChangeArrowheads="1"/>
            </p:cNvSpPr>
            <p:nvPr/>
          </p:nvSpPr>
          <p:spPr bwMode="auto">
            <a:xfrm>
              <a:off x="8031739" y="7132578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2013</a:t>
              </a:r>
            </a:p>
          </p:txBody>
        </p:sp>
        <p:sp>
          <p:nvSpPr>
            <p:cNvPr id="57" name="Text Box 374"/>
            <p:cNvSpPr txBox="1">
              <a:spLocks noChangeArrowheads="1"/>
            </p:cNvSpPr>
            <p:nvPr/>
          </p:nvSpPr>
          <p:spPr bwMode="auto">
            <a:xfrm>
              <a:off x="7500854" y="6243292"/>
              <a:ext cx="379575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104%</a:t>
              </a:r>
            </a:p>
          </p:txBody>
        </p:sp>
        <p:sp>
          <p:nvSpPr>
            <p:cNvPr id="58" name="TextBox 57"/>
            <p:cNvSpPr txBox="1">
              <a:spLocks noChangeArrowheads="1"/>
            </p:cNvSpPr>
            <p:nvPr/>
          </p:nvSpPr>
          <p:spPr bwMode="auto">
            <a:xfrm>
              <a:off x="8030516" y="5227809"/>
              <a:ext cx="268089" cy="1231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eaLnBrk="0" fontAlgn="auto" latinLnBrk="0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2013</a:t>
              </a:r>
            </a:p>
          </p:txBody>
        </p:sp>
        <p:sp>
          <p:nvSpPr>
            <p:cNvPr id="59" name="AutoShape 376"/>
            <p:cNvSpPr>
              <a:spLocks noChangeArrowheads="1"/>
            </p:cNvSpPr>
            <p:nvPr/>
          </p:nvSpPr>
          <p:spPr bwMode="auto">
            <a:xfrm>
              <a:off x="8062600" y="4517137"/>
              <a:ext cx="171969" cy="598487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19B2FF"/>
                </a:gs>
                <a:gs pos="100000">
                  <a:srgbClr val="9FDAFF"/>
                </a:gs>
              </a:gsLst>
              <a:lin ang="5400000" scaled="1"/>
            </a:gradFill>
            <a:ln w="9525" algn="ctr">
              <a:solidFill>
                <a:srgbClr val="B9E4FF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600" b="1" kern="0" dirty="0">
                  <a:latin typeface="Rix모던고딕 B" panose="02020603020101020101" pitchFamily="18" charset="-127"/>
                  <a:ea typeface="Rix모던고딕 B" panose="02020603020101020101" pitchFamily="18" charset="-127"/>
                  <a:cs typeface="Arial" charset="0"/>
                </a:rPr>
                <a:t> </a:t>
              </a: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60" name="Text Box 377"/>
            <p:cNvSpPr txBox="1">
              <a:spLocks noChangeArrowheads="1"/>
            </p:cNvSpPr>
            <p:nvPr/>
          </p:nvSpPr>
          <p:spPr bwMode="auto">
            <a:xfrm>
              <a:off x="7612850" y="4314504"/>
              <a:ext cx="318652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25%</a:t>
              </a:r>
            </a:p>
          </p:txBody>
        </p:sp>
        <p:sp>
          <p:nvSpPr>
            <p:cNvPr id="61" name="Text Box 371"/>
            <p:cNvSpPr txBox="1">
              <a:spLocks noChangeArrowheads="1"/>
            </p:cNvSpPr>
            <p:nvPr/>
          </p:nvSpPr>
          <p:spPr bwMode="auto">
            <a:xfrm>
              <a:off x="7521698" y="2357619"/>
              <a:ext cx="325463" cy="138499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square" lIns="0" tIns="0" rIns="0" bIns="0" anchor="ctr">
              <a:sp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kern="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1408</a:t>
              </a:r>
            </a:p>
          </p:txBody>
        </p:sp>
        <p:sp>
          <p:nvSpPr>
            <p:cNvPr id="62" name="AutoShape 375"/>
            <p:cNvSpPr>
              <a:spLocks noChangeArrowheads="1"/>
            </p:cNvSpPr>
            <p:nvPr/>
          </p:nvSpPr>
          <p:spPr bwMode="auto">
            <a:xfrm>
              <a:off x="8023198" y="6593514"/>
              <a:ext cx="179512" cy="422276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00CC66"/>
                </a:gs>
                <a:gs pos="100000">
                  <a:srgbClr val="99CC00"/>
                </a:gs>
              </a:gsLst>
              <a:lin ang="5400000" scaled="1"/>
            </a:gradFill>
            <a:ln w="9525" algn="ctr">
              <a:solidFill>
                <a:srgbClr val="99CC00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  <p:sp>
          <p:nvSpPr>
            <p:cNvPr id="63" name="AutoShape 376"/>
            <p:cNvSpPr>
              <a:spLocks noChangeArrowheads="1"/>
            </p:cNvSpPr>
            <p:nvPr/>
          </p:nvSpPr>
          <p:spPr bwMode="auto">
            <a:xfrm>
              <a:off x="7131273" y="4464716"/>
              <a:ext cx="191579" cy="646305"/>
            </a:xfrm>
            <a:prstGeom prst="cube">
              <a:avLst>
                <a:gd name="adj" fmla="val 16796"/>
              </a:avLst>
            </a:prstGeom>
            <a:gradFill rotWithShape="1">
              <a:gsLst>
                <a:gs pos="0">
                  <a:srgbClr val="19B2FF"/>
                </a:gs>
                <a:gs pos="100000">
                  <a:srgbClr val="9FDAFF"/>
                </a:gs>
              </a:gsLst>
              <a:lin ang="5400000" scaled="1"/>
            </a:gradFill>
            <a:ln w="9525" algn="ctr">
              <a:solidFill>
                <a:srgbClr val="B9E4FF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DDDDDD"/>
              </a:outerShdw>
            </a:effectLst>
          </p:spPr>
          <p:txBody>
            <a:bodyPr wrap="none" lIns="91426" tIns="45714" rIns="91426" bIns="45714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kern="0" dirty="0">
                <a:latin typeface="Rix모던고딕 B" panose="02020603020101020101" pitchFamily="18" charset="-127"/>
                <a:ea typeface="Rix모던고딕 B" panose="02020603020101020101" pitchFamily="18" charset="-127"/>
                <a:cs typeface="Arial" charset="0"/>
              </a:endParaRPr>
            </a:p>
          </p:txBody>
        </p:sp>
      </p:grpSp>
      <p:grpSp>
        <p:nvGrpSpPr>
          <p:cNvPr id="65" name="그룹 105"/>
          <p:cNvGrpSpPr>
            <a:grpSpLocks/>
          </p:cNvGrpSpPr>
          <p:nvPr/>
        </p:nvGrpSpPr>
        <p:grpSpPr bwMode="auto">
          <a:xfrm>
            <a:off x="381000" y="1196752"/>
            <a:ext cx="8439150" cy="225425"/>
            <a:chOff x="381001" y="2051222"/>
            <a:chExt cx="8439470" cy="225650"/>
          </a:xfrm>
        </p:grpSpPr>
        <p:sp>
          <p:nvSpPr>
            <p:cNvPr id="66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자본금 및 매출현황</a:t>
              </a:r>
            </a:p>
          </p:txBody>
        </p:sp>
        <p:grpSp>
          <p:nvGrpSpPr>
            <p:cNvPr id="67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6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6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0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72" name="제목 2"/>
          <p:cNvSpPr txBox="1">
            <a:spLocks/>
          </p:cNvSpPr>
          <p:nvPr/>
        </p:nvSpPr>
        <p:spPr bwMode="auto">
          <a:xfrm>
            <a:off x="7668344" y="519609"/>
            <a:ext cx="1475656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일반현황</a:t>
            </a:r>
          </a:p>
        </p:txBody>
      </p:sp>
      <p:sp>
        <p:nvSpPr>
          <p:cNvPr id="73" name="제목 2"/>
          <p:cNvSpPr txBox="1">
            <a:spLocks/>
          </p:cNvSpPr>
          <p:nvPr/>
        </p:nvSpPr>
        <p:spPr bwMode="auto">
          <a:xfrm>
            <a:off x="282575" y="487363"/>
            <a:ext cx="234520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업체 일반</a:t>
            </a:r>
          </a:p>
        </p:txBody>
      </p:sp>
      <p:sp>
        <p:nvSpPr>
          <p:cNvPr id="85603" name="Rectangle 85602">
            <a:extLst>
              <a:ext uri="{FF2B5EF4-FFF2-40B4-BE49-F238E27FC236}">
                <a16:creationId xmlns:a16="http://schemas.microsoft.com/office/drawing/2014/main" id="{52F0F86D-C39C-395C-973B-D60690D689FF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615" name="Rectangle 85614">
            <a:extLst>
              <a:ext uri="{FF2B5EF4-FFF2-40B4-BE49-F238E27FC236}">
                <a16:creationId xmlns:a16="http://schemas.microsoft.com/office/drawing/2014/main" id="{AE3AC9F4-FBF7-10DF-7944-7ABF2385E0EB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60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487"/>
          <p:cNvSpPr txBox="1">
            <a:spLocks noChangeArrowheads="1"/>
          </p:cNvSpPr>
          <p:nvPr/>
        </p:nvSpPr>
        <p:spPr bwMode="auto">
          <a:xfrm>
            <a:off x="229394" y="980728"/>
            <a:ext cx="8914606" cy="140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ko-KR" altLang="en-US" dirty="0">
                <a:gradFill>
                  <a:gsLst>
                    <a:gs pos="0">
                      <a:srgbClr val="E4E4E4"/>
                    </a:gs>
                    <a:gs pos="0">
                      <a:schemeClr val="tx1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제안사의 조직은 경영지원본부, 영업본부, 클라우드사업본부로 구성되어 있으며, 클라우드사업본부는 AX·MW·CI 3개 전문팀(총 40명)으로 운영됩니다. 본 사업은 Cloud Infrastructure(CI)팀이 전담 수행합니다.</a:t>
            </a:r>
            <a:endParaRPr lang="en-US" altLang="ko-KR" dirty="0">
              <a:gradFill>
                <a:gsLst>
                  <a:gs pos="0">
                    <a:srgbClr val="E4E4E4"/>
                  </a:gs>
                  <a:gs pos="0">
                    <a:schemeClr val="tx1"/>
                  </a:gs>
                </a:gsLst>
                <a:lin ang="5400000" scaled="1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제목 2"/>
          <p:cNvSpPr txBox="1">
            <a:spLocks/>
          </p:cNvSpPr>
          <p:nvPr/>
        </p:nvSpPr>
        <p:spPr bwMode="auto">
          <a:xfrm>
            <a:off x="7596335" y="519609"/>
            <a:ext cx="154766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조직 및 인원</a:t>
            </a:r>
          </a:p>
        </p:txBody>
      </p:sp>
      <p:grpSp>
        <p:nvGrpSpPr>
          <p:cNvPr id="21" name="그룹 105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2"/>
            <a:chExt cx="8439470" cy="225650"/>
          </a:xfrm>
        </p:grpSpPr>
        <p:sp>
          <p:nvSpPr>
            <p:cNvPr id="22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제안사 조직</a:t>
              </a:r>
            </a:p>
          </p:txBody>
        </p:sp>
        <p:grpSp>
          <p:nvGrpSpPr>
            <p:cNvPr id="23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24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5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6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4" name="제목 2"/>
          <p:cNvSpPr txBox="1">
            <a:spLocks/>
          </p:cNvSpPr>
          <p:nvPr/>
        </p:nvSpPr>
        <p:spPr bwMode="auto">
          <a:xfrm>
            <a:off x="282575" y="487363"/>
            <a:ext cx="234520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업체 일반</a:t>
            </a:r>
          </a:p>
        </p:txBody>
      </p:sp>
      <p:sp>
        <p:nvSpPr>
          <p:cNvPr id="81936" name="Rectangle 81935">
            <a:extLst>
              <a:ext uri="{FF2B5EF4-FFF2-40B4-BE49-F238E27FC236}">
                <a16:creationId xmlns:a16="http://schemas.microsoft.com/office/drawing/2014/main" id="{E23F1401-5B4B-7C14-72E9-CA4C6C3F4D6A}"/>
              </a:ext>
            </a:extLst>
          </p:cNvPr>
          <p:cNvSpPr/>
          <p:nvPr/>
        </p:nvSpPr>
        <p:spPr>
          <a:xfrm>
            <a:off x="3222000" y="2560000"/>
            <a:ext cx="2700000" cy="4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effectLst/>
              </a:rPr>
              <a:t>㈜ 아르케온클라우드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1944" name="Rectangle 81943">
            <a:extLst>
              <a:ext uri="{FF2B5EF4-FFF2-40B4-BE49-F238E27FC236}">
                <a16:creationId xmlns:a16="http://schemas.microsoft.com/office/drawing/2014/main" id="{79665E6E-2DB9-DBC8-D9B9-24F3FA0C6926}"/>
              </a:ext>
            </a:extLst>
          </p:cNvPr>
          <p:cNvSpPr/>
          <p:nvPr/>
        </p:nvSpPr>
        <p:spPr>
          <a:xfrm>
            <a:off x="4562475" y="3020000"/>
            <a:ext cx="19050" cy="23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53" name="Rectangle 81952">
            <a:extLst>
              <a:ext uri="{FF2B5EF4-FFF2-40B4-BE49-F238E27FC236}">
                <a16:creationId xmlns:a16="http://schemas.microsoft.com/office/drawing/2014/main" id="{91A7D60F-E57A-FBE5-E052-6B9440E33A99}"/>
              </a:ext>
            </a:extLst>
          </p:cNvPr>
          <p:cNvSpPr/>
          <p:nvPr/>
        </p:nvSpPr>
        <p:spPr>
          <a:xfrm>
            <a:off x="1700000" y="3250000"/>
            <a:ext cx="5763050" cy="1905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63" name="Rectangle 81962">
            <a:extLst>
              <a:ext uri="{FF2B5EF4-FFF2-40B4-BE49-F238E27FC236}">
                <a16:creationId xmlns:a16="http://schemas.microsoft.com/office/drawing/2014/main" id="{1A7C1881-FB0C-D58E-ADF0-6AEEBF33B239}"/>
              </a:ext>
            </a:extLst>
          </p:cNvPr>
          <p:cNvSpPr/>
          <p:nvPr/>
        </p:nvSpPr>
        <p:spPr>
          <a:xfrm>
            <a:off x="1690475" y="3250000"/>
            <a:ext cx="19050" cy="23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74" name="Rectangle 81973">
            <a:extLst>
              <a:ext uri="{FF2B5EF4-FFF2-40B4-BE49-F238E27FC236}">
                <a16:creationId xmlns:a16="http://schemas.microsoft.com/office/drawing/2014/main" id="{558E7D31-CD02-A1AC-0869-A79DC4109638}"/>
              </a:ext>
            </a:extLst>
          </p:cNvPr>
          <p:cNvSpPr/>
          <p:nvPr/>
        </p:nvSpPr>
        <p:spPr>
          <a:xfrm>
            <a:off x="450000" y="3480000"/>
            <a:ext cx="2500000" cy="420000"/>
          </a:xfrm>
          <a:prstGeom prst="rect">
            <a:avLst/>
          </a:prstGeom>
          <a:solidFill>
            <a:srgbClr val="4454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</a:rPr>
              <a:t>경영지원본부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1986" name="Rectangle 81985">
            <a:extLst>
              <a:ext uri="{FF2B5EF4-FFF2-40B4-BE49-F238E27FC236}">
                <a16:creationId xmlns:a16="http://schemas.microsoft.com/office/drawing/2014/main" id="{AD01872B-0CF8-3DBA-826C-697C0361F621}"/>
              </a:ext>
            </a:extLst>
          </p:cNvPr>
          <p:cNvSpPr/>
          <p:nvPr/>
        </p:nvSpPr>
        <p:spPr>
          <a:xfrm>
            <a:off x="4562475" y="3250000"/>
            <a:ext cx="19050" cy="23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99" name="Rectangle 81998">
            <a:extLst>
              <a:ext uri="{FF2B5EF4-FFF2-40B4-BE49-F238E27FC236}">
                <a16:creationId xmlns:a16="http://schemas.microsoft.com/office/drawing/2014/main" id="{F78D7646-5D30-1DCE-F917-3C309AE9126B}"/>
              </a:ext>
            </a:extLst>
          </p:cNvPr>
          <p:cNvSpPr/>
          <p:nvPr/>
        </p:nvSpPr>
        <p:spPr>
          <a:xfrm>
            <a:off x="3322000" y="3480000"/>
            <a:ext cx="2500000" cy="420000"/>
          </a:xfrm>
          <a:prstGeom prst="rect">
            <a:avLst/>
          </a:prstGeom>
          <a:solidFill>
            <a:srgbClr val="4454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</a:rPr>
              <a:t>영업본부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013" name="Rectangle 82012">
            <a:extLst>
              <a:ext uri="{FF2B5EF4-FFF2-40B4-BE49-F238E27FC236}">
                <a16:creationId xmlns:a16="http://schemas.microsoft.com/office/drawing/2014/main" id="{E79BFC54-6333-01C5-CA3F-61021BF4A59A}"/>
              </a:ext>
            </a:extLst>
          </p:cNvPr>
          <p:cNvSpPr/>
          <p:nvPr/>
        </p:nvSpPr>
        <p:spPr>
          <a:xfrm>
            <a:off x="7434475" y="3250000"/>
            <a:ext cx="19050" cy="23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28" name="Rectangle 82027">
            <a:extLst>
              <a:ext uri="{FF2B5EF4-FFF2-40B4-BE49-F238E27FC236}">
                <a16:creationId xmlns:a16="http://schemas.microsoft.com/office/drawing/2014/main" id="{A565B56E-B62E-6498-431C-AAE94FDCB970}"/>
              </a:ext>
            </a:extLst>
          </p:cNvPr>
          <p:cNvSpPr/>
          <p:nvPr/>
        </p:nvSpPr>
        <p:spPr>
          <a:xfrm>
            <a:off x="6194000" y="3480000"/>
            <a:ext cx="2500000" cy="420000"/>
          </a:xfrm>
          <a:prstGeom prst="rect">
            <a:avLst/>
          </a:prstGeom>
          <a:solidFill>
            <a:srgbClr val="4454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</a:rPr>
              <a:t>클라우드사업본부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044" name="Rectangle 82043">
            <a:extLst>
              <a:ext uri="{FF2B5EF4-FFF2-40B4-BE49-F238E27FC236}">
                <a16:creationId xmlns:a16="http://schemas.microsoft.com/office/drawing/2014/main" id="{E2FCFA64-AEE4-B047-EA8D-C71C91DB4426}"/>
              </a:ext>
            </a:extLst>
          </p:cNvPr>
          <p:cNvSpPr/>
          <p:nvPr/>
        </p:nvSpPr>
        <p:spPr>
          <a:xfrm>
            <a:off x="450000" y="4020000"/>
            <a:ext cx="2500000" cy="56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경영기획팀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전략·재무·인사</a:t>
            </a:r>
            <a:endParaRPr lang="en-US"/>
          </a:p>
        </p:txBody>
      </p:sp>
      <p:sp>
        <p:nvSpPr>
          <p:cNvPr id="82061" name="Rectangle 82060">
            <a:extLst>
              <a:ext uri="{FF2B5EF4-FFF2-40B4-BE49-F238E27FC236}">
                <a16:creationId xmlns:a16="http://schemas.microsoft.com/office/drawing/2014/main" id="{84053F67-7D0D-1E75-9D19-8530A2B9D0CF}"/>
              </a:ext>
            </a:extLst>
          </p:cNvPr>
          <p:cNvSpPr/>
          <p:nvPr/>
        </p:nvSpPr>
        <p:spPr>
          <a:xfrm>
            <a:off x="450000" y="4660000"/>
            <a:ext cx="2500000" cy="56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구매·계약팀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계약·라이선스 관리</a:t>
            </a:r>
            <a:endParaRPr lang="en-US"/>
          </a:p>
        </p:txBody>
      </p:sp>
      <p:sp>
        <p:nvSpPr>
          <p:cNvPr id="82079" name="Rectangle 82078">
            <a:extLst>
              <a:ext uri="{FF2B5EF4-FFF2-40B4-BE49-F238E27FC236}">
                <a16:creationId xmlns:a16="http://schemas.microsoft.com/office/drawing/2014/main" id="{3CD4C48C-377D-A67E-AEE2-833D5510F36A}"/>
              </a:ext>
            </a:extLst>
          </p:cNvPr>
          <p:cNvSpPr/>
          <p:nvPr/>
        </p:nvSpPr>
        <p:spPr>
          <a:xfrm>
            <a:off x="3322000" y="4020000"/>
            <a:ext cx="2500000" cy="56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기업영업팀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민간 기업 고객</a:t>
            </a:r>
            <a:endParaRPr lang="en-US"/>
          </a:p>
        </p:txBody>
      </p:sp>
      <p:sp>
        <p:nvSpPr>
          <p:cNvPr id="82098" name="Rectangle 82097">
            <a:extLst>
              <a:ext uri="{FF2B5EF4-FFF2-40B4-BE49-F238E27FC236}">
                <a16:creationId xmlns:a16="http://schemas.microsoft.com/office/drawing/2014/main" id="{50872A6F-2628-979E-18E2-EE278ACE916E}"/>
              </a:ext>
            </a:extLst>
          </p:cNvPr>
          <p:cNvSpPr/>
          <p:nvPr/>
        </p:nvSpPr>
        <p:spPr>
          <a:xfrm>
            <a:off x="3322000" y="4660000"/>
            <a:ext cx="2500000" cy="56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공공영업팀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공공·교육 고객</a:t>
            </a:r>
            <a:endParaRPr lang="en-US"/>
          </a:p>
        </p:txBody>
      </p:sp>
      <p:sp>
        <p:nvSpPr>
          <p:cNvPr id="82118" name="Rectangle 82117">
            <a:extLst>
              <a:ext uri="{FF2B5EF4-FFF2-40B4-BE49-F238E27FC236}">
                <a16:creationId xmlns:a16="http://schemas.microsoft.com/office/drawing/2014/main" id="{1A100C2F-03CE-418C-CC25-2E31B7A89B63}"/>
              </a:ext>
            </a:extLst>
          </p:cNvPr>
          <p:cNvSpPr/>
          <p:nvPr/>
        </p:nvSpPr>
        <p:spPr>
          <a:xfrm>
            <a:off x="6194000" y="4020000"/>
            <a:ext cx="2500000" cy="56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AX팀 (5명)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AI Transformation</a:t>
            </a:r>
            <a:endParaRPr lang="en-US"/>
          </a:p>
        </p:txBody>
      </p:sp>
      <p:sp>
        <p:nvSpPr>
          <p:cNvPr id="82139" name="Rectangle 82138">
            <a:extLst>
              <a:ext uri="{FF2B5EF4-FFF2-40B4-BE49-F238E27FC236}">
                <a16:creationId xmlns:a16="http://schemas.microsoft.com/office/drawing/2014/main" id="{700056A9-1E86-2758-430B-7D3D603C07D7}"/>
              </a:ext>
            </a:extLst>
          </p:cNvPr>
          <p:cNvSpPr/>
          <p:nvPr/>
        </p:nvSpPr>
        <p:spPr>
          <a:xfrm>
            <a:off x="6194000" y="4660000"/>
            <a:ext cx="2500000" cy="56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MW팀 (15명)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Modern Workplace</a:t>
            </a:r>
            <a:endParaRPr lang="en-US"/>
          </a:p>
        </p:txBody>
      </p:sp>
      <p:sp>
        <p:nvSpPr>
          <p:cNvPr id="82161" name="Rectangle 82160">
            <a:extLst>
              <a:ext uri="{FF2B5EF4-FFF2-40B4-BE49-F238E27FC236}">
                <a16:creationId xmlns:a16="http://schemas.microsoft.com/office/drawing/2014/main" id="{F0BE662F-8826-6816-2103-D76FDE1C41A1}"/>
              </a:ext>
            </a:extLst>
          </p:cNvPr>
          <p:cNvSpPr/>
          <p:nvPr/>
        </p:nvSpPr>
        <p:spPr>
          <a:xfrm>
            <a:off x="6194000" y="5300000"/>
            <a:ext cx="2500000" cy="560000"/>
          </a:xfrm>
          <a:prstGeom prst="rect">
            <a:avLst/>
          </a:prstGeom>
          <a:solidFill>
            <a:srgbClr val="F2F2F2"/>
          </a:solidFill>
          <a:ln w="25400">
            <a:solidFill>
              <a:srgbClr val="B62448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B62448"/>
                </a:solidFill>
                <a:effectLst/>
              </a:rPr>
              <a:t>CI팀 (20명) ★ 본 사업 수행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Cloud Infrastructure</a:t>
            </a:r>
            <a:endParaRPr lang="en-US"/>
          </a:p>
        </p:txBody>
      </p:sp>
      <p:sp>
        <p:nvSpPr>
          <p:cNvPr id="82184" name="Rectangle 82183">
            <a:extLst>
              <a:ext uri="{FF2B5EF4-FFF2-40B4-BE49-F238E27FC236}">
                <a16:creationId xmlns:a16="http://schemas.microsoft.com/office/drawing/2014/main" id="{AB3E16EF-9CAA-CE10-5127-3CDFA10592B3}"/>
              </a:ext>
            </a:extLst>
          </p:cNvPr>
          <p:cNvSpPr/>
          <p:nvPr/>
        </p:nvSpPr>
        <p:spPr>
          <a:xfrm>
            <a:off x="560000" y="6000000"/>
            <a:ext cx="8000000" cy="4008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595959"/>
                </a:solidFill>
                <a:effectLst/>
              </a:rPr>
              <a:t>※ 클라우드사업본부 팀별 인원은 인력관리 샘플 데이터 기준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5628" name="Rectangle 85627">
            <a:extLst>
              <a:ext uri="{FF2B5EF4-FFF2-40B4-BE49-F238E27FC236}">
                <a16:creationId xmlns:a16="http://schemas.microsoft.com/office/drawing/2014/main" id="{711FCD7E-657C-007A-6200-F0E26D5FEB09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642" name="Rectangle 85641">
            <a:extLst>
              <a:ext uri="{FF2B5EF4-FFF2-40B4-BE49-F238E27FC236}">
                <a16:creationId xmlns:a16="http://schemas.microsoft.com/office/drawing/2014/main" id="{5BBB28E5-C60E-8760-64F2-7BFCB3EE88DE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220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05"/>
          <p:cNvGrpSpPr>
            <a:grpSpLocks/>
          </p:cNvGrpSpPr>
          <p:nvPr/>
        </p:nvGrpSpPr>
        <p:grpSpPr bwMode="auto">
          <a:xfrm>
            <a:off x="381000" y="1412776"/>
            <a:ext cx="8439150" cy="225425"/>
            <a:chOff x="381001" y="2051222"/>
            <a:chExt cx="8439470" cy="225650"/>
          </a:xfrm>
        </p:grpSpPr>
        <p:sp>
          <p:nvSpPr>
            <p:cNvPr id="20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기술인원 및 현황</a:t>
              </a:r>
            </a:p>
          </p:txBody>
        </p:sp>
        <p:grpSp>
          <p:nvGrpSpPr>
            <p:cNvPr id="21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22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3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4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5" name="제목 2"/>
          <p:cNvSpPr txBox="1">
            <a:spLocks/>
          </p:cNvSpPr>
          <p:nvPr/>
        </p:nvSpPr>
        <p:spPr bwMode="auto">
          <a:xfrm>
            <a:off x="7596335" y="519609"/>
            <a:ext cx="154766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조직 및 인원</a:t>
            </a:r>
          </a:p>
        </p:txBody>
      </p:sp>
      <p:sp>
        <p:nvSpPr>
          <p:cNvPr id="16" name="제목 2"/>
          <p:cNvSpPr txBox="1">
            <a:spLocks/>
          </p:cNvSpPr>
          <p:nvPr/>
        </p:nvSpPr>
        <p:spPr bwMode="auto">
          <a:xfrm>
            <a:off x="282575" y="487363"/>
            <a:ext cx="234520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업체 일반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67D5B7-222B-47EE-A9BA-48BC7B3283F3}"/>
              </a:ext>
            </a:extLst>
          </p:cNvPr>
          <p:cNvGraphicFramePr>
            <a:graphicFrameLocks noGrp="1"/>
          </p:cNvGraphicFramePr>
          <p:nvPr/>
        </p:nvGraphicFramePr>
        <p:xfrm>
          <a:off x="553401" y="1900000"/>
          <a:ext cx="6096000" cy="548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6126652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290626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9725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34575544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18755170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5043265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구분 (CI팀)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특급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고급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중급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초급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effectLst/>
                        </a:rPr>
                        <a:t>총계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08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인원수(명)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20명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24910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9346E3-FEBB-4E09-A9C2-64652A703DBB}"/>
              </a:ext>
            </a:extLst>
          </p:cNvPr>
          <p:cNvGraphicFramePr>
            <a:graphicFrameLocks noGrp="1"/>
          </p:cNvGraphicFramePr>
          <p:nvPr/>
        </p:nvGraphicFramePr>
        <p:xfrm>
          <a:off x="611560" y="2600000"/>
          <a:ext cx="6096000" cy="39319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60067551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084183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984990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645052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자격증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Full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보유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233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AZ-305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Solutions Architect Expert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인프라·아키텍처 설계 전문가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3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60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AZ-104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Administrator Associate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리소스·ID·스토리지·네트워크 운영 관리자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9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436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AZ-700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Network Engineer Associate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하이브리드 연결·라우팅·DNS 등 네트워크 설계·구현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3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430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AZ-400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DevOps Engineer Expert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CI/CD 파이프라인·IaC 기반 배포 자동화 전문가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144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AZ-500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Security Engineer Associate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클라우드 보안 정책·접근 통제 구현 전문가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167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DP-300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Azure Database Administrator Associate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관리형 데이터베이스 구성·성능·백업 관리자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1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073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국가기술자격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정보처리·정보통신·정보보안 (산업)기사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정보처리기사 6, 정보처리산업기사 5, 정보통신기사 5, 정보통신산업기사 2, 정보보안기사 1, 정보보안산업기사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20 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613739"/>
                  </a:ext>
                </a:extLst>
              </a:tr>
            </a:tbl>
          </a:graphicData>
        </a:graphic>
      </p:graphicFrame>
      <p:sp>
        <p:nvSpPr>
          <p:cNvPr id="82210" name="Rectangle 82209">
            <a:extLst>
              <a:ext uri="{FF2B5EF4-FFF2-40B4-BE49-F238E27FC236}">
                <a16:creationId xmlns:a16="http://schemas.microsoft.com/office/drawing/2014/main" id="{F1041158-3C9C-F8B4-9B78-6333202062A6}"/>
              </a:ext>
            </a:extLst>
          </p:cNvPr>
          <p:cNvSpPr/>
          <p:nvPr/>
        </p:nvSpPr>
        <p:spPr>
          <a:xfrm>
            <a:off x="611560" y="6300000"/>
            <a:ext cx="7859600" cy="3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595959"/>
                </a:solidFill>
                <a:effectLst/>
              </a:rPr>
              <a:t>※ 인력관리 샘플 CI팀 20명 기준 (1인 1개 Microsoft 자격 + 1개 국가기술자격 보유)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5657" name="Rectangle 85656">
            <a:extLst>
              <a:ext uri="{FF2B5EF4-FFF2-40B4-BE49-F238E27FC236}">
                <a16:creationId xmlns:a16="http://schemas.microsoft.com/office/drawing/2014/main" id="{1E3578F3-1A2A-B503-871E-281CE81733C1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673" name="Rectangle 85672">
            <a:extLst>
              <a:ext uri="{FF2B5EF4-FFF2-40B4-BE49-F238E27FC236}">
                <a16:creationId xmlns:a16="http://schemas.microsoft.com/office/drawing/2014/main" id="{D9479A9D-67D5-63A0-E808-90B47E950C77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151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/>
          <p:cNvSpPr/>
          <p:nvPr/>
        </p:nvSpPr>
        <p:spPr>
          <a:xfrm>
            <a:off x="2281736" y="1781312"/>
            <a:ext cx="6399607" cy="1103313"/>
          </a:xfrm>
          <a:prstGeom prst="roundRect">
            <a:avLst>
              <a:gd name="adj" fmla="val 647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맑은 고딕" panose="020B0503020000020004" pitchFamily="50" charset="-127"/>
            </a:endParaRPr>
          </a:p>
        </p:txBody>
      </p:sp>
      <p:grpSp>
        <p:nvGrpSpPr>
          <p:cNvPr id="16" name="그룹 58"/>
          <p:cNvGrpSpPr>
            <a:grpSpLocks/>
          </p:cNvGrpSpPr>
          <p:nvPr/>
        </p:nvGrpSpPr>
        <p:grpSpPr bwMode="auto">
          <a:xfrm>
            <a:off x="567127" y="1622726"/>
            <a:ext cx="1474055" cy="1261899"/>
            <a:chOff x="144637" y="827992"/>
            <a:chExt cx="1535418" cy="1535418"/>
          </a:xfrm>
        </p:grpSpPr>
        <p:sp>
          <p:nvSpPr>
            <p:cNvPr id="17" name="타원 16"/>
            <p:cNvSpPr/>
            <p:nvPr/>
          </p:nvSpPr>
          <p:spPr>
            <a:xfrm>
              <a:off x="144637" y="827992"/>
              <a:ext cx="1535418" cy="1535418"/>
            </a:xfrm>
            <a:prstGeom prst="ellipse">
              <a:avLst/>
            </a:prstGeom>
            <a:solidFill>
              <a:srgbClr val="C89F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232683" y="914486"/>
              <a:ext cx="1362430" cy="13624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solidFill>
                  <a:prstClr val="white"/>
                </a:solidFill>
                <a:latin typeface="맑은 고딕" panose="020B0503020000020004" pitchFamily="50" charset="-127"/>
              </a:endParaRPr>
            </a:p>
          </p:txBody>
        </p:sp>
        <p:pic>
          <p:nvPicPr>
            <p:cNvPr id="19" name="Picture 2" descr="http://www.innovativearchitects.com/images/partner_logo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578" y="1348131"/>
              <a:ext cx="972639" cy="513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TextBox 19"/>
          <p:cNvSpPr txBox="1"/>
          <p:nvPr/>
        </p:nvSpPr>
        <p:spPr>
          <a:xfrm>
            <a:off x="2381749" y="1873387"/>
            <a:ext cx="6054466" cy="9233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900" b="1" dirty="0">
                <a:gradFill>
                  <a:gsLst>
                    <a:gs pos="100000">
                      <a:schemeClr val="tx1"/>
                    </a:gs>
                    <a:gs pos="100000">
                      <a:srgbClr val="FFFFFF"/>
                    </a:gs>
                  </a:gsLst>
                  <a:lin ang="540000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아르케온클라우드는 MPN(Microsoft Partner Network) Competency 중  총 8개의 분야에서 최상위 등급인 Gold Competency를 획득하였습니다. 
이는 아르케온클라우드가 전세계 Microsoft 파트너 중에서 최상위에 속하는 전문성과 기술력을 보유하고 있음을 입증합니다.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5220549"/>
              </p:ext>
            </p:extLst>
          </p:nvPr>
        </p:nvGraphicFramePr>
        <p:xfrm>
          <a:off x="452562" y="3029577"/>
          <a:ext cx="8228781" cy="32260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9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9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91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Desktop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OS, Microsoft Office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제품군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Windows Internet Explorer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MDOP(Microsoft Desktop Optimization Pack)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 판매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및 지원 분야의 선두주자입니다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데이터플랫폼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Microsoft SQL Server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관리 소프트웨어를 비롯한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Microsoft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기술을 기반으로 데이터베이스 어플리케이션과 솔루션을 개발하여 더 적은 자원으로 더 많은 작업을 수행하는 데 도움을 드립니다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전문성을 보유한 파트너는 소프트웨어 및 기술 교육 프로그램을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Microsoft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고객에게 제공하는 데 있어서 선도적인 역할을 하고 있습니다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메시징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Microsoft Exchange Server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및 지원을 하며 고객이 클라우드로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Exchange Online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경험해 볼 수 있게 할 뿐만 아니라 보관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보안 및 음성 메일에 대한 전문성을 강조합니다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1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서버플랫폼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역량을 보유한 파트너는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Windows Server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체제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Windows Server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어플리케이션 및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Microsoft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서버 인프라를 전문적으로 디자인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배포 및 지원하며</a:t>
                      </a:r>
                      <a:r>
                        <a:rPr lang="en-US" altLang="ko-KR" sz="9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다양한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목표를 달성하는 데 도움을 줄 수 있습니다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5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소프트웨어 </a:t>
                      </a:r>
                      <a:endParaRPr lang="en-US" altLang="ko-KR" sz="1000" b="1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자산관리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전문성을 보유한 파트너는 소프트웨어 자산 및 라이선스 관리 서비스를 소규모 기업에서 대기업에 이르는 모든 규모의 조직에 제공합니다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0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볼륨라이선스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</a:t>
                      </a:r>
                      <a:r>
                        <a:rPr lang="ko-KR" altLang="en-US" sz="9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파트너는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Microsoft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볼륨 라이선싱 솔루션 및 서비스를 제공합니다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또한 라이선싱 결정에 도움을 줄 수 있을 뿐만 아니라 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 </a:t>
                      </a:r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투자에서 최대한의 수익을 얻도록 도와드립니다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및 </a:t>
                      </a:r>
                      <a:endParaRPr lang="en-US" altLang="ko-KR" sz="1000" b="1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가상화</a:t>
                      </a:r>
                    </a:p>
                  </a:txBody>
                  <a:tcPr marT="45718" marB="4571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 성능이 입증된 데이터센터 가상화 및 관리 솔루션은 신뢰성과 경제성을 동시에 갖춘 기술 플랫폼을 제공해 데이터센터 운영 방식을 개선하고 신뢰성 높은 서비스를 제공하며 비용을 줄일 수 있도록 도와줍니다</a:t>
                      </a:r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8" marB="45718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제목 2"/>
          <p:cNvSpPr txBox="1">
            <a:spLocks/>
          </p:cNvSpPr>
          <p:nvPr/>
        </p:nvSpPr>
        <p:spPr bwMode="auto">
          <a:xfrm>
            <a:off x="7380311" y="519609"/>
            <a:ext cx="176368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3.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주요 사업 내용</a:t>
            </a:r>
          </a:p>
        </p:txBody>
      </p:sp>
      <p:grpSp>
        <p:nvGrpSpPr>
          <p:cNvPr id="24" name="그룹 105"/>
          <p:cNvGrpSpPr>
            <a:grpSpLocks/>
          </p:cNvGrpSpPr>
          <p:nvPr/>
        </p:nvGrpSpPr>
        <p:grpSpPr bwMode="auto">
          <a:xfrm>
            <a:off x="381000" y="1196752"/>
            <a:ext cx="8439150" cy="225425"/>
            <a:chOff x="381001" y="2051222"/>
            <a:chExt cx="8439470" cy="225650"/>
          </a:xfrm>
        </p:grpSpPr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Microsoft MPN Competency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26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27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8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9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31" name="제목 2"/>
          <p:cNvSpPr txBox="1">
            <a:spLocks/>
          </p:cNvSpPr>
          <p:nvPr/>
        </p:nvSpPr>
        <p:spPr bwMode="auto">
          <a:xfrm>
            <a:off x="282575" y="487363"/>
            <a:ext cx="234520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업체 일반</a:t>
            </a:r>
          </a:p>
        </p:txBody>
      </p:sp>
      <p:sp>
        <p:nvSpPr>
          <p:cNvPr id="85690" name="Rectangle 85689">
            <a:extLst>
              <a:ext uri="{FF2B5EF4-FFF2-40B4-BE49-F238E27FC236}">
                <a16:creationId xmlns:a16="http://schemas.microsoft.com/office/drawing/2014/main" id="{F720EF93-906B-0F97-58BE-C32983EE0CD8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708" name="Rectangle 85707">
            <a:extLst>
              <a:ext uri="{FF2B5EF4-FFF2-40B4-BE49-F238E27FC236}">
                <a16:creationId xmlns:a16="http://schemas.microsoft.com/office/drawing/2014/main" id="{5FF8C37C-0922-8ED0-FB03-63A19C500D2E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41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66576"/>
              </p:ext>
            </p:extLst>
          </p:nvPr>
        </p:nvGraphicFramePr>
        <p:xfrm>
          <a:off x="501772" y="2043121"/>
          <a:ext cx="8390708" cy="236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8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9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9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61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gradFill>
                            <a:gsLst>
                              <a:gs pos="100000">
                                <a:schemeClr val="bg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고객사</a:t>
                      </a:r>
                    </a:p>
                  </a:txBody>
                  <a:tcPr marL="72005" marR="0" marT="45710" marB="45710" anchor="ctr">
                    <a:solidFill>
                      <a:srgbClr val="7783A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gradFill>
                            <a:gsLst>
                              <a:gs pos="100000">
                                <a:schemeClr val="bg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명</a:t>
                      </a:r>
                    </a:p>
                  </a:txBody>
                  <a:tcPr marL="72005" marR="0" marT="45710" marB="45710" anchor="ctr">
                    <a:solidFill>
                      <a:srgbClr val="7783A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gradFill>
                            <a:gsLst>
                              <a:gs pos="100000">
                                <a:schemeClr val="bg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내용</a:t>
                      </a:r>
                    </a:p>
                  </a:txBody>
                  <a:tcPr marL="72005" marR="0" marT="45710" marB="45710" anchor="ctr">
                    <a:solidFill>
                      <a:srgbClr val="7783A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gradFill>
                            <a:gsLst>
                              <a:gs pos="100000">
                                <a:schemeClr val="bg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 기간</a:t>
                      </a:r>
                    </a:p>
                  </a:txBody>
                  <a:tcPr marL="72005" marR="0" marT="45710" marB="45710" anchor="ctr">
                    <a:solidFill>
                      <a:srgbClr val="7783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851050"/>
              </p:ext>
            </p:extLst>
          </p:nvPr>
        </p:nvGraphicFramePr>
        <p:xfrm>
          <a:off x="490398" y="2276873"/>
          <a:ext cx="8402082" cy="40324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5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47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11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190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삼성전자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삼성전자 클라우드 전환</a:t>
                      </a:r>
                      <a:endParaRPr lang="en-US" altLang="ko-KR" sz="1000" b="1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Windows</a:t>
                      </a:r>
                      <a:r>
                        <a:rPr lang="en-US" altLang="ko-KR" sz="1000" b="1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EOS Migration , </a:t>
                      </a:r>
                      <a:r>
                        <a:rPr lang="en-US" altLang="ko-KR" sz="10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IIS </a:t>
                      </a:r>
                      <a:r>
                        <a:rPr lang="ko-KR" altLang="en-US" sz="10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마이그레이션</a:t>
                      </a:r>
                      <a:endParaRPr lang="en-US" altLang="ko-KR" sz="1000" b="1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MSSQL </a:t>
                      </a:r>
                      <a:r>
                        <a:rPr lang="ko-KR" altLang="en-US" sz="1000" b="1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업그레이드</a:t>
                      </a:r>
                      <a:endParaRPr lang="en-US" altLang="ko-KR" sz="1000" b="1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2014.05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~ 2014.09</a:t>
                      </a:r>
                      <a:endParaRPr lang="ko-KR" altLang="en-US" sz="1000" b="1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3" marR="71993" marT="45724" marB="4572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08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단국대학교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차세대 종합정보시스템 구축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Hyper-V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기반 서버 가상화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 SCOM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구축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 SCVMM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구축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웹 서버 및 데이터베이스 고도화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2014.05 ~ 2014.06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3" marR="71993" marT="45724" marB="4572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2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GS</a:t>
                      </a: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엠비즈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서버가상화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 Hyper-V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기반 서버 가상화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2014.06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3" marR="71993" marT="45724" marB="4572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9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현대해상화재보험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DB</a:t>
                      </a: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성능 모니터링 솔루션 추가 도입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MaxGauge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 For SQL-SERVER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제품 도입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2014.06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3" marR="71993" marT="45724" marB="4572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81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NCSoft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endParaRPr lang="ko-KR" altLang="en-US" sz="1000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NCSoft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스토리지 스페이스 </a:t>
                      </a:r>
                      <a:endParaRPr lang="ko-KR" altLang="en-US" sz="1000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Hyper-V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기반 서버 가상화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 Storage Space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구성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 SCVMM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구축</a:t>
                      </a:r>
                      <a:endParaRPr lang="en-US" altLang="ko-KR" sz="1000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2014.07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3" marR="71993" marT="45724" marB="4572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5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화우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SCOM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모니터링 구축</a:t>
                      </a:r>
                      <a:endParaRPr lang="ko-KR" altLang="en-US" sz="1000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Microsoft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SCOM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구축</a:t>
                      </a:r>
                      <a:endParaRPr lang="en-US" altLang="ko-KR" sz="10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MSSQL </a:t>
                      </a: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모니터링</a:t>
                      </a:r>
                      <a:endParaRPr lang="en-US" altLang="ko-KR" sz="1000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2014.08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3" marR="71993" marT="45724" marB="45724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9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현대중공업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DB </a:t>
                      </a:r>
                      <a:r>
                        <a:rPr lang="ko-KR" altLang="en-US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성능 모니터링 솔루션 도입</a:t>
                      </a: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MaxGauge</a:t>
                      </a:r>
                      <a:r>
                        <a:rPr lang="en-US" altLang="ko-KR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 For SQL-SERVER </a:t>
                      </a:r>
                      <a:r>
                        <a:rPr lang="ko-KR" altLang="en-US" sz="10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제품 도입</a:t>
                      </a:r>
                      <a:endParaRPr lang="en-US" altLang="ko-KR" sz="1000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6586" marR="6586" marT="6588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맑은 고딕" pitchFamily="50" charset="-127"/>
                        </a:rPr>
                        <a:t>2014.08</a:t>
                      </a:r>
                      <a:endParaRPr lang="ko-KR" altLang="en-US" sz="10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1993" marR="71993" marT="45724" marB="45724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11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9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맑은 고딕" pitchFamily="50" charset="-127"/>
                          <a:cs typeface="+mn-cs"/>
                        </a:rPr>
                        <a:t>대통령경호실</a:t>
                      </a:r>
                    </a:p>
                  </a:txBody>
                  <a:tcPr marL="6587" marR="6587" marT="6585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Microsoft VDI</a:t>
                      </a:r>
                      <a:r>
                        <a:rPr lang="ko-KR" altLang="en-US" sz="9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 구축</a:t>
                      </a:r>
                      <a:endParaRPr lang="ko-KR" altLang="en-US" sz="900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587" marR="6587" marT="6585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900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Microsoft</a:t>
                      </a:r>
                      <a:r>
                        <a:rPr lang="en-US" altLang="ko-KR" sz="9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 Hyper-V </a:t>
                      </a:r>
                      <a:r>
                        <a:rPr lang="ko-KR" altLang="en-US" sz="9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기반 서버 가상화</a:t>
                      </a:r>
                      <a:endParaRPr lang="en-US" altLang="ko-KR" sz="9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9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Microsoft Remote Desktop Services</a:t>
                      </a: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9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Microsoft SCVMM </a:t>
                      </a:r>
                      <a:r>
                        <a:rPr lang="ko-KR" altLang="en-US" sz="9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구축</a:t>
                      </a:r>
                      <a:endParaRPr lang="en-US" altLang="ko-KR" sz="9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9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Microsoft SCOM </a:t>
                      </a:r>
                      <a:r>
                        <a:rPr lang="ko-KR" altLang="en-US" sz="900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구축</a:t>
                      </a:r>
                      <a:endParaRPr lang="en-US" altLang="ko-KR" sz="900" kern="1200" baseline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</a:endParaRPr>
                    </a:p>
                  </a:txBody>
                  <a:tcPr marL="6587" marR="6587" marT="6585" marB="0" anchor="ctr" horzOverflow="overflow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맑은 고딕" pitchFamily="50" charset="-127"/>
                        </a:rPr>
                        <a:t>2014.12</a:t>
                      </a:r>
                      <a:endParaRPr lang="ko-KR" altLang="en-US" sz="9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+mn-lt"/>
                        <a:ea typeface="맑은 고딕" pitchFamily="50" charset="-127"/>
                      </a:endParaRPr>
                    </a:p>
                  </a:txBody>
                  <a:tcPr marL="72005" marR="72005" marT="45710" marB="4571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256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맑은 고딕" pitchFamily="50" charset="-127"/>
                          <a:cs typeface="+mn-cs"/>
                        </a:rPr>
                        <a:t>숭실사이버대학교</a:t>
                      </a:r>
                    </a:p>
                  </a:txBody>
                  <a:tcPr marL="6587" marR="6587" marT="6585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+mn-ea"/>
                        </a:rPr>
                        <a:t>웹 서버 및 </a:t>
                      </a:r>
                      <a:r>
                        <a:rPr lang="en-US" altLang="ko-KR" sz="900" b="1" dirty="0">
                          <a:latin typeface="맑은 고딕" panose="020B0503020000020004" pitchFamily="50" charset="-127"/>
                          <a:ea typeface="+mn-ea"/>
                        </a:rPr>
                        <a:t>DATABASE </a:t>
                      </a:r>
                      <a:r>
                        <a:rPr lang="ko-KR" altLang="en-US" sz="900" b="1" dirty="0">
                          <a:latin typeface="맑은 고딕" panose="020B0503020000020004" pitchFamily="50" charset="-127"/>
                          <a:ea typeface="+mn-ea"/>
                        </a:rPr>
                        <a:t>고도화</a:t>
                      </a:r>
                      <a:endParaRPr lang="en-US" altLang="ko-KR" sz="900" b="1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6587" marR="6587" marT="6585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Windows EOS</a:t>
                      </a:r>
                      <a:r>
                        <a:rPr lang="en-US" altLang="ko-KR" sz="900" b="1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 Migration , </a:t>
                      </a:r>
                      <a:r>
                        <a:rPr lang="en-US" altLang="ko-KR" sz="900" b="1" kern="120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IIS </a:t>
                      </a:r>
                      <a:r>
                        <a:rPr lang="ko-KR" altLang="en-US" sz="900" b="1" kern="120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마이그레이션</a:t>
                      </a:r>
                      <a:endParaRPr lang="en-US" altLang="ko-KR" sz="900" b="1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0" fontAlgn="ctr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MSSQL </a:t>
                      </a:r>
                      <a:r>
                        <a:rPr lang="ko-KR" altLang="en-US" sz="900" b="1" kern="1200" baseline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맑은 고딕" pitchFamily="50" charset="-127"/>
                          <a:ea typeface="+mn-ea"/>
                          <a:cs typeface="+mn-cs"/>
                        </a:rPr>
                        <a:t>업그레이드</a:t>
                      </a:r>
                      <a:endParaRPr lang="en-US" altLang="ko-KR" sz="900" b="1" kern="120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6587" marR="6587" marT="6585" marB="0" anchor="ctr" horzOverflow="overflow"/>
                </a:tc>
                <a:tc>
                  <a:txBody>
                    <a:bodyPr/>
                    <a:lstStyle/>
                    <a:p>
                      <a:pPr marL="0" marR="0" indent="0" algn="ctr" defTabSz="914377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2014.11</a:t>
                      </a:r>
                      <a:r>
                        <a:rPr lang="en-US" altLang="ko-KR" sz="900" b="1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rgbClr val="FFFFFF"/>
                              </a:gs>
                            </a:gsLst>
                            <a:lin ang="5400000" scaled="1"/>
                          </a:gradFill>
                          <a:latin typeface="+mn-lt"/>
                          <a:ea typeface="+mn-ea"/>
                        </a:rPr>
                        <a:t> ~ 2015.02</a:t>
                      </a:r>
                      <a:endParaRPr lang="ko-KR" altLang="en-US" sz="900" b="1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rgbClr val="FFFFFF"/>
                            </a:gs>
                          </a:gsLst>
                          <a:lin ang="5400000" scaled="1"/>
                        </a:gradFill>
                        <a:latin typeface="+mn-lt"/>
                        <a:ea typeface="+mn-ea"/>
                      </a:endParaRPr>
                    </a:p>
                  </a:txBody>
                  <a:tcPr marL="72005" marR="72005" marT="45710" marB="4571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" name="제목 2"/>
          <p:cNvSpPr txBox="1">
            <a:spLocks/>
          </p:cNvSpPr>
          <p:nvPr/>
        </p:nvSpPr>
        <p:spPr bwMode="auto">
          <a:xfrm>
            <a:off x="5724127" y="519609"/>
            <a:ext cx="341987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4.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주요 사업 실적</a:t>
            </a:r>
          </a:p>
        </p:txBody>
      </p:sp>
      <p:sp>
        <p:nvSpPr>
          <p:cNvPr id="16" name="내용 개체 틀 10"/>
          <p:cNvSpPr txBox="1">
            <a:spLocks/>
          </p:cNvSpPr>
          <p:nvPr/>
        </p:nvSpPr>
        <p:spPr bwMode="auto">
          <a:xfrm>
            <a:off x="395536" y="1124744"/>
            <a:ext cx="8496944" cy="533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342900" indent="-1143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571500" indent="-174625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800100" indent="-1143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1028700" indent="-174625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latinLnBrk="1">
              <a:lnSpc>
                <a:spcPct val="150000"/>
              </a:lnSpc>
              <a:spcBef>
                <a:spcPts val="1000"/>
              </a:spcBef>
              <a:buClr>
                <a:schemeClr val="bg1"/>
              </a:buClr>
              <a:buSzPct val="100000"/>
              <a:buFont typeface="Futura Bk"/>
              <a:buNone/>
            </a:pP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제안사의 관련 주요 레퍼런스는 다음과 같습니다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당사는 프로젝트를 구축한 핵심 인력을 보유하고 있습니다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0" name="그룹 105"/>
          <p:cNvGrpSpPr>
            <a:grpSpLocks/>
          </p:cNvGrpSpPr>
          <p:nvPr/>
        </p:nvGrpSpPr>
        <p:grpSpPr bwMode="auto">
          <a:xfrm>
            <a:off x="381000" y="1628800"/>
            <a:ext cx="8439150" cy="225425"/>
            <a:chOff x="381001" y="2051222"/>
            <a:chExt cx="8439470" cy="225650"/>
          </a:xfrm>
        </p:grpSpPr>
        <p:sp>
          <p:nvSpPr>
            <p:cNvPr id="21" name="AutoShape 29"/>
            <p:cNvSpPr>
              <a:spLocks noChangeArrowheads="1"/>
            </p:cNvSpPr>
            <p:nvPr/>
          </p:nvSpPr>
          <p:spPr bwMode="auto">
            <a:xfrm>
              <a:off x="381001" y="2051222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최근 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3</a:t>
              </a:r>
              <a:r>
                <a:rPr kumimoji="1" lang="ko-KR" altLang="en-US" sz="1200" b="1">
                  <a:solidFill>
                    <a:schemeClr val="bg1"/>
                  </a:solidFill>
                  <a:latin typeface="+mn-ea"/>
                  <a:ea typeface="+mn-ea"/>
                </a:rPr>
                <a:t>년간 구축 실적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22" name="그룹 10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2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2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5" name="제목 2"/>
          <p:cNvSpPr txBox="1">
            <a:spLocks/>
          </p:cNvSpPr>
          <p:nvPr/>
        </p:nvSpPr>
        <p:spPr bwMode="auto">
          <a:xfrm>
            <a:off x="282575" y="487363"/>
            <a:ext cx="2345209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제안 업체 일반</a:t>
            </a:r>
          </a:p>
        </p:txBody>
      </p:sp>
      <p:sp>
        <p:nvSpPr>
          <p:cNvPr id="85727" name="Rectangle 85726">
            <a:extLst>
              <a:ext uri="{FF2B5EF4-FFF2-40B4-BE49-F238E27FC236}">
                <a16:creationId xmlns:a16="http://schemas.microsoft.com/office/drawing/2014/main" id="{5BCDB99A-5A08-339E-EED5-86EACFE557FD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747" name="Rectangle 85746">
            <a:extLst>
              <a:ext uri="{FF2B5EF4-FFF2-40B4-BE49-F238E27FC236}">
                <a16:creationId xmlns:a16="http://schemas.microsoft.com/office/drawing/2014/main" id="{E3024564-60E4-AEBA-F2B7-AAA2BE86C816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3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제안 내용</a:t>
            </a:r>
          </a:p>
        </p:txBody>
      </p:sp>
      <p:grpSp>
        <p:nvGrpSpPr>
          <p:cNvPr id="18" name="그룹 2"/>
          <p:cNvGrpSpPr>
            <a:grpSpLocks/>
          </p:cNvGrpSpPr>
          <p:nvPr/>
        </p:nvGrpSpPr>
        <p:grpSpPr bwMode="auto">
          <a:xfrm>
            <a:off x="971600" y="2564904"/>
            <a:ext cx="4432102" cy="504825"/>
            <a:chOff x="3395663" y="2564904"/>
            <a:chExt cx="3839493" cy="504825"/>
          </a:xfrm>
        </p:grpSpPr>
        <p:sp>
          <p:nvSpPr>
            <p:cNvPr id="19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1.</a:t>
              </a:r>
            </a:p>
          </p:txBody>
        </p:sp>
      </p:grpSp>
      <p:grpSp>
        <p:nvGrpSpPr>
          <p:cNvPr id="22" name="그룹 3"/>
          <p:cNvGrpSpPr>
            <a:grpSpLocks/>
          </p:cNvGrpSpPr>
          <p:nvPr/>
        </p:nvGrpSpPr>
        <p:grpSpPr bwMode="auto">
          <a:xfrm>
            <a:off x="930674" y="4005064"/>
            <a:ext cx="6672791" cy="525462"/>
            <a:chOff x="3391684" y="3208214"/>
            <a:chExt cx="5779244" cy="525462"/>
          </a:xfrm>
        </p:grpSpPr>
        <p:sp>
          <p:nvSpPr>
            <p:cNvPr id="23" name="AutoShape 27"/>
            <p:cNvSpPr>
              <a:spLocks noChangeArrowheads="1"/>
            </p:cNvSpPr>
            <p:nvPr/>
          </p:nvSpPr>
          <p:spPr bwMode="auto">
            <a:xfrm>
              <a:off x="3391684" y="3216151"/>
              <a:ext cx="3841081" cy="47783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4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1684" y="3212976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Rectangle 47"/>
            <p:cNvSpPr>
              <a:spLocks noChangeArrowheads="1"/>
            </p:cNvSpPr>
            <p:nvPr/>
          </p:nvSpPr>
          <p:spPr bwMode="auto">
            <a:xfrm>
              <a:off x="4341753" y="3208214"/>
              <a:ext cx="48291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latinLnBrk="1" hangingPunct="1">
                <a:lnSpc>
                  <a:spcPct val="135000"/>
                </a:lnSpc>
                <a:spcBef>
                  <a:spcPct val="60000"/>
                </a:spcBef>
              </a:pPr>
              <a:r>
                <a:rPr kumimoji="1" lang="ko-KR" altLang="en-US" sz="1900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bg1">
                          <a:lumMod val="65000"/>
                          <a:shade val="67500"/>
                          <a:satMod val="115000"/>
                        </a:schemeClr>
                      </a:gs>
                      <a:gs pos="100000">
                        <a:schemeClr val="bg1">
                          <a:lumMod val="65000"/>
                          <a:shade val="100000"/>
                          <a:satMod val="115000"/>
                        </a:schemeClr>
                      </a:gs>
                    </a:gsLst>
                    <a:lin ang="0" scaled="1"/>
                  </a:gradFill>
                </a:rPr>
                <a:t>사업수행 기술부문</a:t>
              </a:r>
            </a:p>
          </p:txBody>
        </p:sp>
        <p:sp>
          <p:nvSpPr>
            <p:cNvPr id="26" name="Rectangle 43"/>
            <p:cNvSpPr>
              <a:spLocks noChangeArrowheads="1"/>
            </p:cNvSpPr>
            <p:nvPr/>
          </p:nvSpPr>
          <p:spPr bwMode="auto">
            <a:xfrm>
              <a:off x="3607584" y="3228851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2.</a:t>
              </a:r>
            </a:p>
          </p:txBody>
        </p:sp>
      </p:grpSp>
      <p:sp>
        <p:nvSpPr>
          <p:cNvPr id="27" name="Rectangle 34"/>
          <p:cNvSpPr>
            <a:spLocks noChangeArrowheads="1"/>
          </p:cNvSpPr>
          <p:nvPr/>
        </p:nvSpPr>
        <p:spPr bwMode="auto">
          <a:xfrm>
            <a:off x="2066975" y="2582366"/>
            <a:ext cx="4829175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사업수행 전략부문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5696" y="3095394"/>
            <a:ext cx="26934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사업수행 방법론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시스템 구축 방안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35696" y="4560238"/>
            <a:ext cx="4248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시스템 구축 전략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부문별 시스템 구축 방안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시스템 시험 방안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시스템 백업 복구 방안</a:t>
            </a:r>
            <a:r>
              <a:rPr lang="en-US" altLang="ko-KR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(</a:t>
            </a: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장애 대책</a:t>
            </a:r>
            <a:r>
              <a:rPr lang="en-US" altLang="ko-KR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)</a:t>
            </a:r>
            <a:endParaRPr lang="ko-KR" altLang="en-US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84955" name="brand_footer">
            <a:extLst>
              <a:ext uri="{FF2B5EF4-FFF2-40B4-BE49-F238E27FC236}">
                <a16:creationId xmlns:a16="http://schemas.microsoft.com/office/drawing/2014/main" id="{F496DE04-094F-E1CB-CB6A-55973412214F}"/>
              </a:ext>
            </a:extLst>
          </p:cNvPr>
          <p:cNvSpPr/>
          <p:nvPr/>
        </p:nvSpPr>
        <p:spPr>
          <a:xfrm>
            <a:off x="270000" y="640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5034" name="client_footer">
            <a:extLst>
              <a:ext uri="{FF2B5EF4-FFF2-40B4-BE49-F238E27FC236}">
                <a16:creationId xmlns:a16="http://schemas.microsoft.com/office/drawing/2014/main" id="{D8B4EE61-0AB3-DED7-1711-9E30AE683F28}"/>
              </a:ext>
            </a:extLst>
          </p:cNvPr>
          <p:cNvSpPr/>
          <p:nvPr/>
        </p:nvSpPr>
        <p:spPr>
          <a:xfrm>
            <a:off x="7680000" y="6270000"/>
            <a:ext cx="1440000" cy="47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803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4744039" y="2708920"/>
            <a:ext cx="4248472" cy="37444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79513" y="2708920"/>
            <a:ext cx="4248472" cy="37444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1200" dirty="0" err="1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수행사는 한빛푸드의 EOS 구축을 위하여 현행 1대로 구성 되어 있는 Active Directory를 추가 1대 증설 하여 안정성을 높이고 기존 운영중인 Windows 2003 기반의 IIS 20대와 가상머신 VM를 20대를 이관 하겠습니다 </a:t>
            </a:r>
            <a:endParaRPr lang="en-US" altLang="ko-KR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+mn-ea"/>
            </a:endParaRPr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As-Is </a:t>
              </a:r>
              <a:r>
                <a:rPr kumimoji="1" lang="ko-KR" altLang="en-US" sz="1200" b="1">
                  <a:solidFill>
                    <a:schemeClr val="bg1"/>
                  </a:solidFill>
                  <a:latin typeface="+mn-ea"/>
                  <a:ea typeface="+mn-ea"/>
                </a:rPr>
                <a:t>분석 및 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To Be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923673"/>
            <a:ext cx="504056" cy="77288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118" y="3952259"/>
            <a:ext cx="524452" cy="77288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538" y="3952259"/>
            <a:ext cx="524452" cy="772885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955" y="3933056"/>
            <a:ext cx="504056" cy="772885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1" y="5249502"/>
            <a:ext cx="234809" cy="36004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70" y="5249502"/>
            <a:ext cx="234809" cy="36004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31" y="5249502"/>
            <a:ext cx="234809" cy="36004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8" y="5249502"/>
            <a:ext cx="234809" cy="36004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384" y="4445649"/>
            <a:ext cx="662952" cy="27949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98" y="4270217"/>
            <a:ext cx="479035" cy="4550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58" y="5925771"/>
            <a:ext cx="1081782" cy="34136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276" y="3400974"/>
            <a:ext cx="1047190" cy="46482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282575" y="4869160"/>
            <a:ext cx="2262730" cy="108012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75313" y="4846207"/>
            <a:ext cx="1159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Virtualization</a:t>
            </a:r>
            <a:endParaRPr lang="ko-KR" altLang="en-US" sz="12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221506" y="3216914"/>
            <a:ext cx="1371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Active Directory</a:t>
            </a:r>
          </a:p>
          <a:p>
            <a:r>
              <a:rPr lang="en-US" altLang="ko-KR" sz="1200" b="1" dirty="0"/>
              <a:t>1 </a:t>
            </a:r>
            <a:r>
              <a:rPr lang="ko-KR" altLang="en-US" sz="1200" b="1"/>
              <a:t>대</a:t>
            </a:r>
            <a:endParaRPr lang="ko-KR" altLang="en-US" sz="12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2333110" y="4273872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IIS 6 </a:t>
            </a:r>
          </a:p>
          <a:p>
            <a:r>
              <a:rPr lang="en-US" altLang="ko-KR" sz="1200" b="1" dirty="0"/>
              <a:t>20 </a:t>
            </a:r>
            <a:r>
              <a:rPr lang="ko-KR" altLang="en-US" sz="1200" b="1"/>
              <a:t>대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1756467" y="5172158"/>
            <a:ext cx="1577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Windows</a:t>
            </a:r>
            <a:r>
              <a:rPr lang="ko-KR" altLang="en-US" sz="1200" b="1"/>
              <a:t> </a:t>
            </a:r>
            <a:r>
              <a:rPr lang="en-US" altLang="ko-KR" sz="1200" b="1" dirty="0"/>
              <a:t>2003 VM</a:t>
            </a:r>
          </a:p>
          <a:p>
            <a:r>
              <a:rPr lang="en-US" altLang="ko-KR" sz="1200" b="1" dirty="0"/>
              <a:t>20</a:t>
            </a:r>
            <a:r>
              <a:rPr lang="ko-KR" altLang="en-US" sz="1200" b="1"/>
              <a:t>대</a:t>
            </a:r>
            <a:endParaRPr lang="ko-KR" altLang="en-US" sz="1200" b="1" dirty="0"/>
          </a:p>
        </p:txBody>
      </p:sp>
      <p:sp>
        <p:nvSpPr>
          <p:cNvPr id="31" name="직사각형 30"/>
          <p:cNvSpPr/>
          <p:nvPr/>
        </p:nvSpPr>
        <p:spPr>
          <a:xfrm>
            <a:off x="179512" y="2420888"/>
            <a:ext cx="4248473" cy="2878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As-Is</a:t>
            </a:r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4744038" y="2414987"/>
            <a:ext cx="4248473" cy="2878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To  Be</a:t>
            </a:r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3960174" y="3865798"/>
            <a:ext cx="1405492" cy="980409"/>
          </a:xfrm>
          <a:prstGeom prst="rightArrow">
            <a:avLst>
              <a:gd name="adj1" fmla="val 65125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EOS</a:t>
            </a:r>
          </a:p>
          <a:p>
            <a:pPr algn="ctr"/>
            <a:r>
              <a:rPr lang="en-US" altLang="ko-KR" sz="1600" dirty="0"/>
              <a:t>Migration</a:t>
            </a:r>
            <a:endParaRPr lang="ko-KR" altLang="en-US" sz="1600"/>
          </a:p>
        </p:txBody>
      </p:sp>
      <p:sp>
        <p:nvSpPr>
          <p:cNvPr id="38" name="TextBox 37"/>
          <p:cNvSpPr txBox="1"/>
          <p:nvPr/>
        </p:nvSpPr>
        <p:spPr>
          <a:xfrm>
            <a:off x="7164288" y="3216914"/>
            <a:ext cx="1669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Active Directory</a:t>
            </a:r>
          </a:p>
          <a:p>
            <a:r>
              <a:rPr lang="en-US" altLang="ko-KR" sz="1200" b="1" dirty="0"/>
              <a:t>2 </a:t>
            </a:r>
            <a:r>
              <a:rPr lang="ko-KR" altLang="en-US" sz="1200" b="1"/>
              <a:t>대 </a:t>
            </a:r>
            <a:r>
              <a:rPr lang="en-US" altLang="ko-KR" sz="1200" b="1" dirty="0"/>
              <a:t>( </a:t>
            </a:r>
            <a:r>
              <a:rPr lang="ko-KR" altLang="en-US" sz="1200" b="1"/>
              <a:t>추가</a:t>
            </a:r>
            <a:r>
              <a:rPr lang="en-US" altLang="ko-KR" sz="1200" b="1" dirty="0"/>
              <a:t> 1</a:t>
            </a:r>
            <a:r>
              <a:rPr lang="ko-KR" altLang="en-US" sz="1200" b="1"/>
              <a:t>대 증설</a:t>
            </a:r>
            <a:r>
              <a:rPr lang="en-US" altLang="ko-KR" sz="1200" b="1" dirty="0"/>
              <a:t>)</a:t>
            </a:r>
            <a:endParaRPr lang="ko-KR" altLang="en-US" sz="12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7733338" y="4273872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IIS 8 </a:t>
            </a:r>
          </a:p>
          <a:p>
            <a:r>
              <a:rPr lang="en-US" altLang="ko-KR" sz="1200" b="1" dirty="0"/>
              <a:t>20 </a:t>
            </a:r>
            <a:r>
              <a:rPr lang="ko-KR" altLang="en-US" sz="1200" b="1"/>
              <a:t>대</a:t>
            </a:r>
            <a:endParaRPr lang="ko-KR" altLang="en-US" sz="12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6761876" y="5180710"/>
            <a:ext cx="15776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Windows</a:t>
            </a:r>
            <a:r>
              <a:rPr lang="ko-KR" altLang="en-US" sz="1200" b="1"/>
              <a:t> </a:t>
            </a:r>
            <a:r>
              <a:rPr lang="en-US" altLang="ko-KR" sz="1200" b="1" dirty="0"/>
              <a:t>2012 VM</a:t>
            </a:r>
          </a:p>
          <a:p>
            <a:r>
              <a:rPr lang="en-US" altLang="ko-KR" sz="1200" b="1" dirty="0"/>
              <a:t>20</a:t>
            </a:r>
            <a:r>
              <a:rPr lang="ko-KR" altLang="en-US" sz="1200" b="1"/>
              <a:t>대</a:t>
            </a:r>
            <a:endParaRPr lang="ko-KR" altLang="en-US" sz="1200" b="1" dirty="0"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52" y="2987266"/>
            <a:ext cx="504056" cy="772885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745" y="3915077"/>
            <a:ext cx="504056" cy="772885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661" y="5231523"/>
            <a:ext cx="234809" cy="360040"/>
          </a:xfrm>
          <a:prstGeom prst="rect">
            <a:avLst/>
          </a:prstGeom>
        </p:spPr>
      </p:pic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860" y="5231523"/>
            <a:ext cx="234809" cy="360040"/>
          </a:xfrm>
          <a:prstGeom prst="rect">
            <a:avLst/>
          </a:prstGeom>
        </p:spPr>
      </p:pic>
      <p:pic>
        <p:nvPicPr>
          <p:cNvPr id="45" name="그림 4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621" y="5231523"/>
            <a:ext cx="234809" cy="360040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48" y="5231523"/>
            <a:ext cx="234809" cy="360040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43" y="5399930"/>
            <a:ext cx="234809" cy="360040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42" y="5399930"/>
            <a:ext cx="234809" cy="360040"/>
          </a:xfrm>
          <a:prstGeom prst="rect">
            <a:avLst/>
          </a:prstGeom>
        </p:spPr>
      </p:pic>
      <p:pic>
        <p:nvPicPr>
          <p:cNvPr id="49" name="그림 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03" y="5399930"/>
            <a:ext cx="234809" cy="360040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30" y="5399930"/>
            <a:ext cx="234809" cy="360040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601" y="5579050"/>
            <a:ext cx="234809" cy="360040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00" y="5579050"/>
            <a:ext cx="234809" cy="360040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61" y="5579050"/>
            <a:ext cx="234809" cy="360040"/>
          </a:xfrm>
          <a:prstGeom prst="rect">
            <a:avLst/>
          </a:prstGeom>
        </p:spPr>
      </p:pic>
      <p:pic>
        <p:nvPicPr>
          <p:cNvPr id="54" name="그림 5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8" y="5579050"/>
            <a:ext cx="234809" cy="360040"/>
          </a:xfrm>
          <a:prstGeom prst="rect">
            <a:avLst/>
          </a:prstGeom>
        </p:spPr>
      </p:pic>
      <p:pic>
        <p:nvPicPr>
          <p:cNvPr id="55" name="그림 5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753" y="5393743"/>
            <a:ext cx="234809" cy="360040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52" y="5393743"/>
            <a:ext cx="234809" cy="360040"/>
          </a:xfrm>
          <a:prstGeom prst="rect">
            <a:avLst/>
          </a:prstGeom>
        </p:spPr>
      </p:pic>
      <p:pic>
        <p:nvPicPr>
          <p:cNvPr id="57" name="그림 5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713" y="5393743"/>
            <a:ext cx="234809" cy="360040"/>
          </a:xfrm>
          <a:prstGeom prst="rect">
            <a:avLst/>
          </a:prstGeom>
        </p:spPr>
      </p:pic>
      <p:pic>
        <p:nvPicPr>
          <p:cNvPr id="58" name="그림 5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440" y="5393743"/>
            <a:ext cx="234809" cy="360040"/>
          </a:xfrm>
          <a:prstGeom prst="rect">
            <a:avLst/>
          </a:prstGeom>
        </p:spPr>
      </p:pic>
      <p:pic>
        <p:nvPicPr>
          <p:cNvPr id="59" name="그림 5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125" y="5544171"/>
            <a:ext cx="234809" cy="360040"/>
          </a:xfrm>
          <a:prstGeom prst="rect">
            <a:avLst/>
          </a:prstGeom>
        </p:spPr>
      </p:pic>
      <p:pic>
        <p:nvPicPr>
          <p:cNvPr id="60" name="그림 5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2324" y="5589240"/>
            <a:ext cx="234809" cy="360040"/>
          </a:xfrm>
          <a:prstGeom prst="rect">
            <a:avLst/>
          </a:prstGeom>
        </p:spPr>
      </p:pic>
      <p:pic>
        <p:nvPicPr>
          <p:cNvPr id="61" name="그림 6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5085" y="5544171"/>
            <a:ext cx="234809" cy="360040"/>
          </a:xfrm>
          <a:prstGeom prst="rect">
            <a:avLst/>
          </a:prstGeom>
        </p:spPr>
      </p:pic>
      <p:pic>
        <p:nvPicPr>
          <p:cNvPr id="62" name="그림 6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812" y="5544171"/>
            <a:ext cx="234809" cy="360040"/>
          </a:xfrm>
          <a:prstGeom prst="rect">
            <a:avLst/>
          </a:prstGeom>
        </p:spPr>
      </p:pic>
      <p:pic>
        <p:nvPicPr>
          <p:cNvPr id="63" name="그림 6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483" y="5723291"/>
            <a:ext cx="234809" cy="360040"/>
          </a:xfrm>
          <a:prstGeom prst="rect">
            <a:avLst/>
          </a:prstGeom>
        </p:spPr>
      </p:pic>
      <p:pic>
        <p:nvPicPr>
          <p:cNvPr id="64" name="그림 6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682" y="5723291"/>
            <a:ext cx="234809" cy="360040"/>
          </a:xfrm>
          <a:prstGeom prst="rect">
            <a:avLst/>
          </a:prstGeom>
        </p:spPr>
      </p:pic>
      <p:pic>
        <p:nvPicPr>
          <p:cNvPr id="65" name="그림 6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8443" y="5723291"/>
            <a:ext cx="234809" cy="360040"/>
          </a:xfrm>
          <a:prstGeom prst="rect">
            <a:avLst/>
          </a:prstGeom>
        </p:spPr>
      </p:pic>
      <p:pic>
        <p:nvPicPr>
          <p:cNvPr id="66" name="그림 6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170" y="5723291"/>
            <a:ext cx="234809" cy="360040"/>
          </a:xfrm>
          <a:prstGeom prst="rect">
            <a:avLst/>
          </a:prstGeom>
        </p:spPr>
      </p:pic>
      <p:pic>
        <p:nvPicPr>
          <p:cNvPr id="67" name="그림 6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17" y="5729478"/>
            <a:ext cx="234809" cy="360040"/>
          </a:xfrm>
          <a:prstGeom prst="rect">
            <a:avLst/>
          </a:prstGeom>
        </p:spPr>
      </p:pic>
      <p:pic>
        <p:nvPicPr>
          <p:cNvPr id="68" name="그림 6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16" y="5729478"/>
            <a:ext cx="234809" cy="360040"/>
          </a:xfrm>
          <a:prstGeom prst="rect">
            <a:avLst/>
          </a:prstGeom>
        </p:spPr>
      </p:pic>
      <p:pic>
        <p:nvPicPr>
          <p:cNvPr id="69" name="그림 6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77" y="5729478"/>
            <a:ext cx="234809" cy="360040"/>
          </a:xfrm>
          <a:prstGeom prst="rect">
            <a:avLst/>
          </a:prstGeom>
        </p:spPr>
      </p:pic>
      <p:pic>
        <p:nvPicPr>
          <p:cNvPr id="70" name="그림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604" y="5729478"/>
            <a:ext cx="234809" cy="360040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282575" y="5085184"/>
            <a:ext cx="3353321" cy="122413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직사각형 72"/>
          <p:cNvSpPr/>
          <p:nvPr/>
        </p:nvSpPr>
        <p:spPr>
          <a:xfrm>
            <a:off x="4965931" y="5085184"/>
            <a:ext cx="3353321" cy="1224136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5194390" y="4842888"/>
            <a:ext cx="1159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Virtualization</a:t>
            </a:r>
            <a:endParaRPr lang="ko-KR" altLang="en-US" sz="1200" b="1" dirty="0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6077155"/>
            <a:ext cx="1472672" cy="201823"/>
          </a:xfrm>
          <a:prstGeom prst="rect">
            <a:avLst/>
          </a:prstGeom>
        </p:spPr>
      </p:pic>
      <p:pic>
        <p:nvPicPr>
          <p:cNvPr id="76" name="그림 7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951" y="2979972"/>
            <a:ext cx="504056" cy="772885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590" y="2691522"/>
            <a:ext cx="1739054" cy="613347"/>
          </a:xfrm>
          <a:prstGeom prst="rect">
            <a:avLst/>
          </a:prstGeom>
        </p:spPr>
      </p:pic>
      <p:sp>
        <p:nvSpPr>
          <p:cNvPr id="85768" name="Rectangle 85767">
            <a:extLst>
              <a:ext uri="{FF2B5EF4-FFF2-40B4-BE49-F238E27FC236}">
                <a16:creationId xmlns:a16="http://schemas.microsoft.com/office/drawing/2014/main" id="{5A3BB462-7DEA-72A5-974F-FC867D51D3C8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790" name="Rectangle 85789">
            <a:extLst>
              <a:ext uri="{FF2B5EF4-FFF2-40B4-BE49-F238E27FC236}">
                <a16:creationId xmlns:a16="http://schemas.microsoft.com/office/drawing/2014/main" id="{6C7E9A23-E83B-455C-51D2-5C1CBD12E1C7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82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ctr">
              <a:defRPr/>
            </a:pPr>
            <a:r>
              <a:rPr lang="ko-KR" altLang="en-US" sz="1200" dirty="0"/>
              <a:t>현재 </a:t>
            </a:r>
            <a:r>
              <a:rPr lang="en-US" altLang="ko-KR" sz="1200" dirty="0"/>
              <a:t>MSSQL 2005 </a:t>
            </a:r>
            <a:r>
              <a:rPr lang="ko-KR" altLang="en-US" sz="1200"/>
              <a:t>시스템의 현황을 분석 하여 </a:t>
            </a:r>
            <a:r>
              <a:rPr lang="en-US" altLang="ko-KR" sz="1200" dirty="0"/>
              <a:t>To Be MSSQL 2014 </a:t>
            </a:r>
            <a:r>
              <a:rPr lang="ko-KR" altLang="en-US" sz="1200"/>
              <a:t>시스템으로의 이관 및 통합</a:t>
            </a:r>
            <a:r>
              <a:rPr lang="en-US" altLang="ko-KR" sz="1200" dirty="0"/>
              <a:t>,</a:t>
            </a:r>
            <a:r>
              <a:rPr lang="ko-KR" altLang="en-US" sz="1200"/>
              <a:t> </a:t>
            </a:r>
            <a:r>
              <a:rPr lang="ko-KR" altLang="en-US" sz="1200" dirty="0"/>
              <a:t>서버 이중화</a:t>
            </a:r>
            <a:r>
              <a:rPr lang="en-US" altLang="ko-KR" sz="1200" dirty="0"/>
              <a:t>(WCFS)</a:t>
            </a:r>
            <a:r>
              <a:rPr lang="ko-KR" altLang="en-US" sz="1200"/>
              <a:t>등과 같은 구축으로 안정성을 확보합니다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latinLnBrk="1">
                <a:lnSpc>
                  <a:spcPct val="100000"/>
                </a:lnSpc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데이터베이스 이관 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</a:rPr>
                <a:t>/ </a:t>
              </a:r>
              <a:r>
                <a:rPr kumimoji="1" lang="ko-KR" altLang="en-US" sz="1200" b="1">
                  <a:solidFill>
                    <a:schemeClr val="bg1"/>
                  </a:solidFill>
                  <a:latin typeface="+mn-ea"/>
                </a:rPr>
                <a:t>이중화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643131"/>
              </p:ext>
            </p:extLst>
          </p:nvPr>
        </p:nvGraphicFramePr>
        <p:xfrm>
          <a:off x="671737" y="2947213"/>
          <a:ext cx="237712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3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DB Instance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대표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VCJ1DB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국내</a:t>
                      </a:r>
                      <a:r>
                        <a:rPr lang="en-US" altLang="ko-KR" sz="700" dirty="0"/>
                        <a:t>EDSS</a:t>
                      </a:r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VCJ2DB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인프라마스터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VCJ3DB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인천냉동</a:t>
                      </a:r>
                      <a:r>
                        <a:rPr lang="en-US" altLang="ko-KR" sz="700" dirty="0"/>
                        <a:t>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VKMDB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문서보안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MES2003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국내 공통 </a:t>
                      </a:r>
                      <a:r>
                        <a:rPr lang="en-US" altLang="ko-KR" sz="700" dirty="0"/>
                        <a:t>MES</a:t>
                      </a:r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MESHMI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국내 공통 </a:t>
                      </a:r>
                      <a:r>
                        <a:rPr lang="en-US" altLang="ko-KR" sz="700" dirty="0"/>
                        <a:t>MES</a:t>
                      </a:r>
                      <a:endParaRPr lang="ko-KR" altLang="en-US" sz="7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개발</a:t>
                      </a:r>
                      <a:r>
                        <a:rPr lang="en-US" altLang="ko-KR" sz="700" dirty="0"/>
                        <a:t>]</a:t>
                      </a:r>
                      <a:r>
                        <a:rPr lang="en-US" altLang="ko-KR" sz="700" baseline="0" dirty="0"/>
                        <a:t> DB1DEV</a:t>
                      </a:r>
                      <a:endParaRPr lang="ko-KR" altLang="en-US" sz="7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국내</a:t>
                      </a:r>
                      <a:r>
                        <a:rPr lang="en-US" altLang="ko-KR" sz="700" dirty="0"/>
                        <a:t>EDSS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개발</a:t>
                      </a:r>
                      <a:r>
                        <a:rPr lang="en-US" altLang="ko-KR" sz="700" dirty="0"/>
                        <a:t>] DB2DEV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인프라마스터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개발</a:t>
                      </a:r>
                      <a:r>
                        <a:rPr lang="en-US" altLang="ko-KR" sz="700" dirty="0"/>
                        <a:t>] KMDB_TEST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문서보안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개발</a:t>
                      </a:r>
                      <a:r>
                        <a:rPr lang="en-US" altLang="ko-KR" sz="700" dirty="0"/>
                        <a:t>] CJPRM_DEV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하나로 </a:t>
                      </a:r>
                      <a:r>
                        <a:rPr lang="en-US" altLang="ko-KR" sz="700" dirty="0"/>
                        <a:t>CJONE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개발</a:t>
                      </a:r>
                      <a:r>
                        <a:rPr lang="en-US" altLang="ko-KR" sz="700" dirty="0"/>
                        <a:t>] CJFEED_DEV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/>
                        <a:t>사료 </a:t>
                      </a:r>
                      <a:r>
                        <a:rPr lang="en-US" altLang="ko-KR" sz="700" dirty="0"/>
                        <a:t>CJONE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EPPSQL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Biz</a:t>
                      </a:r>
                      <a:r>
                        <a:rPr lang="en-US" altLang="ko-KR" sz="700" baseline="0" dirty="0"/>
                        <a:t> Portal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EKPSLD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Biz Portal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운영</a:t>
                      </a:r>
                      <a:r>
                        <a:rPr lang="en-US" altLang="ko-KR" sz="700" dirty="0"/>
                        <a:t>] EKPSMD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Biz Portal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74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[</a:t>
                      </a:r>
                      <a:r>
                        <a:rPr lang="ko-KR" altLang="en-US" sz="700"/>
                        <a:t>개발</a:t>
                      </a:r>
                      <a:r>
                        <a:rPr lang="en-US" altLang="ko-KR" sz="700" dirty="0"/>
                        <a:t>] EKP_DEV</a:t>
                      </a:r>
                      <a:endParaRPr lang="ko-KR" altLang="en-US" sz="7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/>
                        <a:t>Biz Portal</a:t>
                      </a:r>
                      <a:endParaRPr lang="ko-KR" altLang="en-US" sz="7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3" name="이등변 삼각형 12"/>
          <p:cNvSpPr/>
          <p:nvPr/>
        </p:nvSpPr>
        <p:spPr>
          <a:xfrm rot="5400000">
            <a:off x="2153541" y="3476769"/>
            <a:ext cx="4176466" cy="2674684"/>
          </a:xfrm>
          <a:prstGeom prst="triangle">
            <a:avLst>
              <a:gd name="adj" fmla="val 47414"/>
            </a:avLst>
          </a:prstGeom>
          <a:gradFill flip="none" rotWithShape="1">
            <a:gsLst>
              <a:gs pos="0">
                <a:schemeClr val="tx2"/>
              </a:gs>
              <a:gs pos="100000">
                <a:srgbClr val="D4CB1E">
                  <a:alpha val="14000"/>
                </a:srgbClr>
              </a:gs>
            </a:gsLst>
            <a:lin ang="5400000" scaled="0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latin typeface="+mn-ea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675547"/>
              </p:ext>
            </p:extLst>
          </p:nvPr>
        </p:nvGraphicFramePr>
        <p:xfrm>
          <a:off x="4321656" y="3995896"/>
          <a:ext cx="21945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5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9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DB Instance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대표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통합 운영</a:t>
                      </a:r>
                      <a:r>
                        <a:rPr lang="en-US" altLang="ko-KR" sz="900" dirty="0"/>
                        <a:t>1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국내</a:t>
                      </a:r>
                      <a:r>
                        <a:rPr lang="en-US" altLang="ko-KR" sz="900" dirty="0"/>
                        <a:t>EDSS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통합 운영</a:t>
                      </a:r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인프라마스터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통합 </a:t>
                      </a:r>
                      <a:r>
                        <a:rPr lang="en-US" altLang="ko-KR" sz="900" dirty="0"/>
                        <a:t>MES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인천냉동</a:t>
                      </a:r>
                      <a:r>
                        <a:rPr lang="en-US" altLang="ko-KR" sz="900" dirty="0"/>
                        <a:t>MES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통합 개발</a:t>
                      </a:r>
                      <a:r>
                        <a:rPr lang="en-US" altLang="ko-KR" sz="900" dirty="0"/>
                        <a:t>1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인프라마스터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통합 개발</a:t>
                      </a:r>
                      <a:r>
                        <a:rPr lang="en-US" altLang="ko-KR" sz="900" dirty="0"/>
                        <a:t>2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문서보안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사료</a:t>
                      </a:r>
                      <a:r>
                        <a:rPr lang="en-US" altLang="ko-KR" sz="900" dirty="0"/>
                        <a:t>-</a:t>
                      </a:r>
                      <a:r>
                        <a:rPr lang="ko-KR" altLang="en-US" sz="900"/>
                        <a:t>하나로</a:t>
                      </a:r>
                      <a:r>
                        <a:rPr lang="en-US" altLang="ko-KR" sz="900" dirty="0"/>
                        <a:t>_DEV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사료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/>
                        <a:t>하나로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CJONE</a:t>
                      </a:r>
                      <a:endParaRPr lang="ko-KR" alt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081462"/>
              </p:ext>
            </p:extLst>
          </p:nvPr>
        </p:nvGraphicFramePr>
        <p:xfrm>
          <a:off x="6804248" y="4021176"/>
          <a:ext cx="178181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DB Instance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대표 서비스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통합 운영</a:t>
                      </a:r>
                      <a:r>
                        <a:rPr lang="en-US" altLang="ko-KR" sz="900" dirty="0"/>
                        <a:t>1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국내</a:t>
                      </a:r>
                      <a:r>
                        <a:rPr lang="en-US" altLang="ko-KR" sz="900" dirty="0"/>
                        <a:t>EDSS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통합 운영</a:t>
                      </a:r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인프라마스터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순서도: 처리 15"/>
          <p:cNvSpPr/>
          <p:nvPr/>
        </p:nvSpPr>
        <p:spPr>
          <a:xfrm>
            <a:off x="668347" y="2696557"/>
            <a:ext cx="3615622" cy="236625"/>
          </a:xfrm>
          <a:prstGeom prst="flowChartProcess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As-Is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0" name="순서도: 처리 19"/>
          <p:cNvSpPr/>
          <p:nvPr/>
        </p:nvSpPr>
        <p:spPr>
          <a:xfrm>
            <a:off x="4294360" y="2696557"/>
            <a:ext cx="4320479" cy="236625"/>
          </a:xfrm>
          <a:prstGeom prst="flowChartProcess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To-Be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59832" y="4005064"/>
            <a:ext cx="126188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altLang="ko-KR" sz="1200" b="1" dirty="0"/>
            </a:br>
            <a:r>
              <a:rPr lang="en-US" altLang="ko-KR" sz="1200" dirty="0"/>
              <a:t>Instance Name,</a:t>
            </a:r>
          </a:p>
          <a:p>
            <a:r>
              <a:rPr lang="en-US" altLang="ko-KR" sz="1200" dirty="0"/>
              <a:t>Service Port,</a:t>
            </a:r>
          </a:p>
          <a:p>
            <a:r>
              <a:rPr lang="en-US" altLang="ko-KR" sz="1200" dirty="0"/>
              <a:t>Database,</a:t>
            </a:r>
          </a:p>
          <a:p>
            <a:r>
              <a:rPr lang="en-US" altLang="ko-KR" sz="1200" dirty="0"/>
              <a:t>login Account,</a:t>
            </a:r>
            <a:br>
              <a:rPr lang="en-US" altLang="ko-KR" sz="1200" dirty="0"/>
            </a:br>
            <a:r>
              <a:rPr lang="en-US" altLang="ko-KR" sz="1200" dirty="0"/>
              <a:t>Liked Server,</a:t>
            </a:r>
          </a:p>
          <a:p>
            <a:r>
              <a:rPr lang="en-US" altLang="ko-KR" sz="1200" dirty="0"/>
              <a:t>SSIS,</a:t>
            </a:r>
            <a:br>
              <a:rPr lang="en-US" altLang="ko-KR" sz="1200" dirty="0"/>
            </a:br>
            <a:r>
              <a:rPr lang="en-US" altLang="ko-KR" sz="1200" dirty="0"/>
              <a:t>DTS,</a:t>
            </a:r>
            <a:br>
              <a:rPr lang="en-US" altLang="ko-KR" sz="1200" dirty="0"/>
            </a:br>
            <a:r>
              <a:rPr lang="en-US" altLang="ko-KR" sz="1200" dirty="0"/>
              <a:t>….</a:t>
            </a:r>
          </a:p>
          <a:p>
            <a:r>
              <a:rPr lang="en-US" altLang="ko-KR" sz="1200" dirty="0"/>
              <a:t>….</a:t>
            </a:r>
          </a:p>
          <a:p>
            <a:r>
              <a:rPr lang="en-US" altLang="ko-KR" sz="1200" dirty="0"/>
              <a:t>….</a:t>
            </a:r>
            <a:endParaRPr lang="ko-KR" altLang="en-US" sz="1200" dirty="0"/>
          </a:p>
        </p:txBody>
      </p:sp>
      <p:sp>
        <p:nvSpPr>
          <p:cNvPr id="24" name="순서도: 처리 23"/>
          <p:cNvSpPr/>
          <p:nvPr/>
        </p:nvSpPr>
        <p:spPr>
          <a:xfrm>
            <a:off x="4329072" y="4241870"/>
            <a:ext cx="2187143" cy="411266"/>
          </a:xfrm>
          <a:prstGeom prst="flowChartProcess">
            <a:avLst/>
          </a:prstGeom>
          <a:noFill/>
          <a:ln w="3175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순서도: 처리 24"/>
          <p:cNvSpPr/>
          <p:nvPr/>
        </p:nvSpPr>
        <p:spPr>
          <a:xfrm>
            <a:off x="6793857" y="4439514"/>
            <a:ext cx="1800199" cy="411266"/>
          </a:xfrm>
          <a:prstGeom prst="flowChartProcess">
            <a:avLst/>
          </a:prstGeom>
          <a:noFill/>
          <a:ln w="31750">
            <a:solidFill>
              <a:schemeClr val="bg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꺾인 연결선 25"/>
          <p:cNvCxnSpPr>
            <a:stCxn id="24" idx="0"/>
            <a:endCxn id="25" idx="0"/>
          </p:cNvCxnSpPr>
          <p:nvPr/>
        </p:nvCxnSpPr>
        <p:spPr>
          <a:xfrm rot="16200000" flipH="1">
            <a:off x="6459478" y="3205036"/>
            <a:ext cx="197644" cy="2271313"/>
          </a:xfrm>
          <a:prstGeom prst="bentConnector3">
            <a:avLst>
              <a:gd name="adj1" fmla="val -115663"/>
            </a:avLst>
          </a:prstGeom>
          <a:ln w="31750">
            <a:solidFill>
              <a:schemeClr val="bg2">
                <a:lumMod val="50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5672902" y="3489825"/>
            <a:ext cx="1800200" cy="216024"/>
          </a:xfrm>
          <a:prstGeom prst="rect">
            <a:avLst/>
          </a:prstGeom>
          <a:solidFill>
            <a:schemeClr val="bg1"/>
          </a:solidFill>
          <a:ln w="317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tx1"/>
                </a:solidFill>
                <a:latin typeface="+mj-ea"/>
                <a:ea typeface="+mj-ea"/>
              </a:rPr>
              <a:t>SQLSERVER </a:t>
            </a:r>
            <a:r>
              <a:rPr lang="ko-KR" altLang="en-US" sz="1050" b="1">
                <a:solidFill>
                  <a:schemeClr val="tx1"/>
                </a:solidFill>
                <a:latin typeface="+mj-ea"/>
                <a:ea typeface="+mj-ea"/>
              </a:rPr>
              <a:t>클러스터링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672902" y="3707370"/>
            <a:ext cx="1800200" cy="216024"/>
          </a:xfrm>
          <a:prstGeom prst="rect">
            <a:avLst/>
          </a:prstGeom>
          <a:solidFill>
            <a:schemeClr val="bg1"/>
          </a:solidFill>
          <a:ln w="317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>W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indows 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>C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luster 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>F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ailover 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>S</a:t>
            </a:r>
            <a:r>
              <a:rPr lang="en-US" altLang="ko-KR" sz="800" dirty="0">
                <a:solidFill>
                  <a:schemeClr val="tx1"/>
                </a:solidFill>
                <a:latin typeface="+mj-ea"/>
                <a:ea typeface="+mj-ea"/>
              </a:rPr>
              <a:t>ervice</a:t>
            </a:r>
            <a:endParaRPr lang="ko-KR" altLang="en-US" sz="8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59693" y="3157056"/>
            <a:ext cx="12266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[ </a:t>
            </a:r>
            <a:r>
              <a:rPr lang="ko-KR" altLang="en-US" sz="1200" b="1"/>
              <a:t>서버 이중화 </a:t>
            </a:r>
            <a:r>
              <a:rPr lang="en-US" altLang="ko-KR" sz="1200" b="1" dirty="0"/>
              <a:t>]</a:t>
            </a:r>
            <a:endParaRPr lang="ko-KR" altLang="en-US" sz="1200" dirty="0"/>
          </a:p>
        </p:txBody>
      </p:sp>
      <p:sp>
        <p:nvSpPr>
          <p:cNvPr id="30" name="직사각형 29"/>
          <p:cNvSpPr/>
          <p:nvPr/>
        </p:nvSpPr>
        <p:spPr>
          <a:xfrm>
            <a:off x="3167850" y="3954567"/>
            <a:ext cx="9236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[ DB</a:t>
            </a:r>
            <a:r>
              <a:rPr lang="ko-KR" altLang="en-US" sz="1200" b="1"/>
              <a:t>통합 </a:t>
            </a:r>
            <a:r>
              <a:rPr lang="en-US" altLang="ko-KR" sz="1200" b="1" dirty="0"/>
              <a:t>]</a:t>
            </a:r>
            <a:endParaRPr lang="ko-KR" altLang="en-US" sz="120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88094"/>
              </p:ext>
            </p:extLst>
          </p:nvPr>
        </p:nvGraphicFramePr>
        <p:xfrm>
          <a:off x="3491880" y="5949280"/>
          <a:ext cx="238412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7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1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28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AS-IS</a:t>
                      </a:r>
                      <a:endParaRPr lang="ko-KR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개발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Instance</a:t>
                      </a:r>
                      <a:endParaRPr lang="ko-KR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ko-KR" altLang="en-US"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80019"/>
              </p:ext>
            </p:extLst>
          </p:nvPr>
        </p:nvGraphicFramePr>
        <p:xfrm>
          <a:off x="6631909" y="5938394"/>
          <a:ext cx="2220476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16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4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TO-BE</a:t>
                      </a:r>
                      <a:endParaRPr lang="ko-KR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개발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4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Instance</a:t>
                      </a:r>
                      <a:endParaRPr lang="ko-KR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ko-KR" altLang="en-US" sz="12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줄무늬가 있는 오른쪽 화살표 4"/>
          <p:cNvSpPr/>
          <p:nvPr/>
        </p:nvSpPr>
        <p:spPr>
          <a:xfrm>
            <a:off x="5922574" y="5902424"/>
            <a:ext cx="648072" cy="622920"/>
          </a:xfrm>
          <a:prstGeom prst="striped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813" name="Rectangle 85812">
            <a:extLst>
              <a:ext uri="{FF2B5EF4-FFF2-40B4-BE49-F238E27FC236}">
                <a16:creationId xmlns:a16="http://schemas.microsoft.com/office/drawing/2014/main" id="{E6E7E119-58C5-FEA1-FEA9-547DFC5DABAD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837" name="Rectangle 85836">
            <a:extLst>
              <a:ext uri="{FF2B5EF4-FFF2-40B4-BE49-F238E27FC236}">
                <a16:creationId xmlns:a16="http://schemas.microsoft.com/office/drawing/2014/main" id="{AA387BB9-2E99-43B4-64CA-107175EB1EEC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40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제안사는 공식지원이 종료되는 Windows Server 2003에 대하여 다음과 같이 당사의 수차례 검증된 EOS 방법론으로 한빛푸드의 Windows 2012로의 업그레이드 방안을 제시 합니다.</a:t>
            </a:r>
            <a:endParaRPr lang="en-US" altLang="ko-KR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+mn-ea"/>
            </a:endParaRPr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Techdata EOS </a:t>
              </a:r>
              <a:r>
                <a:rPr kumimoji="1" lang="ko-KR" altLang="en-US" sz="1200" b="1">
                  <a:solidFill>
                    <a:schemeClr val="bg1"/>
                  </a:solidFill>
                  <a:latin typeface="+mn-ea"/>
                  <a:ea typeface="+mn-ea"/>
                </a:rPr>
                <a:t>방법론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graphicFrame>
        <p:nvGraphicFramePr>
          <p:cNvPr id="2" name="다이어그램 1"/>
          <p:cNvGraphicFramePr/>
          <p:nvPr>
            <p:extLst>
              <p:ext uri="{D42A27DB-BD31-4B8C-83A1-F6EECF244321}">
                <p14:modId xmlns:p14="http://schemas.microsoft.com/office/powerpoint/2010/main" val="340232004"/>
              </p:ext>
            </p:extLst>
          </p:nvPr>
        </p:nvGraphicFramePr>
        <p:xfrm>
          <a:off x="-2989" y="2543611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타원 2"/>
          <p:cNvSpPr/>
          <p:nvPr/>
        </p:nvSpPr>
        <p:spPr>
          <a:xfrm>
            <a:off x="1475656" y="3501008"/>
            <a:ext cx="2016224" cy="1872208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타원 3"/>
          <p:cNvSpPr/>
          <p:nvPr/>
        </p:nvSpPr>
        <p:spPr>
          <a:xfrm>
            <a:off x="2117883" y="4113076"/>
            <a:ext cx="720080" cy="648072"/>
          </a:xfrm>
          <a:prstGeom prst="ellipse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045464" y="4221088"/>
            <a:ext cx="864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서버 </a:t>
            </a:r>
            <a:r>
              <a:rPr lang="en-US" altLang="ko-KR" sz="1200" b="1" dirty="0"/>
              <a:t>Role</a:t>
            </a:r>
            <a:br>
              <a:rPr lang="en-US" altLang="ko-KR" sz="1200" b="1" dirty="0"/>
            </a:br>
            <a:r>
              <a:rPr lang="en-US" altLang="ko-KR" sz="1200" b="1" dirty="0"/>
              <a:t>  /</a:t>
            </a:r>
            <a:r>
              <a:rPr lang="ko-KR" altLang="en-US" sz="1200" b="1"/>
              <a:t>중요도</a:t>
            </a:r>
            <a:endParaRPr lang="ko-KR" altLang="en-US" sz="12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939209" y="3761311"/>
            <a:ext cx="12121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단순</a:t>
            </a:r>
            <a:r>
              <a:rPr lang="en-US" altLang="ko-KR" sz="1200" b="1" dirty="0"/>
              <a:t>Migration</a:t>
            </a:r>
            <a:endParaRPr lang="ko-KR" altLang="en-US" sz="1200" b="1" dirty="0"/>
          </a:p>
        </p:txBody>
      </p:sp>
      <p:sp>
        <p:nvSpPr>
          <p:cNvPr id="123" name="TextBox 122"/>
          <p:cNvSpPr txBox="1"/>
          <p:nvPr/>
        </p:nvSpPr>
        <p:spPr>
          <a:xfrm>
            <a:off x="2496578" y="4808184"/>
            <a:ext cx="7136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대개체</a:t>
            </a:r>
            <a:r>
              <a:rPr lang="en-US" altLang="ko-KR" sz="1200" b="1" dirty="0"/>
              <a:t>/</a:t>
            </a:r>
            <a:br>
              <a:rPr lang="en-US" altLang="ko-KR" sz="1200" b="1" dirty="0"/>
            </a:br>
            <a:r>
              <a:rPr lang="ko-KR" altLang="en-US" sz="1200" b="1"/>
              <a:t>폐기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124" name="TextBox 123"/>
          <p:cNvSpPr txBox="1"/>
          <p:nvPr/>
        </p:nvSpPr>
        <p:spPr>
          <a:xfrm>
            <a:off x="2843808" y="429861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재구축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713013" y="479018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개정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91186" y="419495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수정</a:t>
            </a:r>
          </a:p>
        </p:txBody>
      </p:sp>
      <p:sp>
        <p:nvSpPr>
          <p:cNvPr id="85530" name="Rectangle 85529">
            <a:extLst>
              <a:ext uri="{FF2B5EF4-FFF2-40B4-BE49-F238E27FC236}">
                <a16:creationId xmlns:a16="http://schemas.microsoft.com/office/drawing/2014/main" id="{6CD64863-534F-09EE-1D37-63C5264CC810}"/>
              </a:ext>
            </a:extLst>
          </p:cNvPr>
          <p:cNvSpPr/>
          <p:nvPr/>
        </p:nvSpPr>
        <p:spPr>
          <a:xfrm>
            <a:off x="4385114" y="2907133"/>
            <a:ext cx="4432047" cy="30469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 dirty="0" err="1">
                <a:solidFill>
                  <a:srgbClr val="000000"/>
                </a:solidFill>
                <a:effectLst/>
              </a:rPr>
              <a:t>아르케온클라우드</a:t>
            </a:r>
            <a:r>
              <a:rPr lang="en-US" sz="1200" b="1" dirty="0">
                <a:solidFill>
                  <a:srgbClr val="000000"/>
                </a:solidFill>
                <a:effectLst/>
              </a:rPr>
              <a:t> EOS </a:t>
            </a:r>
            <a:r>
              <a:rPr lang="en-US" sz="1200" b="1" dirty="0" err="1">
                <a:solidFill>
                  <a:srgbClr val="000000"/>
                </a:solidFill>
                <a:effectLst/>
              </a:rPr>
              <a:t>방법론의</a:t>
            </a:r>
            <a:r>
              <a:rPr lang="en-US" sz="1200" b="1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effectLst/>
              </a:rPr>
              <a:t>장점</a:t>
            </a:r>
            <a:endParaRPr lang="en-US" sz="1200" b="1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Microsoft EOS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기반의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방법론으로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당사의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KnowHow를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추가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개선한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방법론</a:t>
            </a:r>
            <a:endParaRPr lang="en-US" sz="120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타사의</a:t>
            </a:r>
            <a:r>
              <a:rPr lang="en-US" sz="1200" dirty="0">
                <a:solidFill>
                  <a:srgbClr val="000000"/>
                </a:solidFill>
                <a:effectLst/>
              </a:rPr>
              <a:t> EOS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Project에서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검증된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방법론</a:t>
            </a:r>
            <a:endParaRPr lang="en-US" sz="120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개발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요소의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유무에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따른</a:t>
            </a:r>
            <a:r>
              <a:rPr lang="en-US" sz="1200" dirty="0">
                <a:solidFill>
                  <a:srgbClr val="000000"/>
                </a:solidFill>
                <a:effectLst/>
              </a:rPr>
              <a:t> Migration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고려</a:t>
            </a:r>
            <a:endParaRPr lang="en-US" sz="120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검증된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도구</a:t>
            </a:r>
            <a:r>
              <a:rPr lang="en-US" sz="1200" dirty="0">
                <a:solidFill>
                  <a:srgbClr val="000000"/>
                </a:solidFill>
                <a:effectLst/>
              </a:rPr>
              <a:t> 및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방법론을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활용한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환경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분석</a:t>
            </a:r>
            <a:endParaRPr lang="en-US" sz="120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의사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결정</a:t>
            </a:r>
            <a:r>
              <a:rPr lang="en-US" sz="1200" dirty="0">
                <a:solidFill>
                  <a:srgbClr val="000000"/>
                </a:solidFill>
                <a:effectLst/>
              </a:rPr>
              <a:t> 시 HW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Architecture를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고려</a:t>
            </a:r>
            <a:endParaRPr lang="en-US" sz="120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Non MS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Product에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대해서도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고려</a:t>
            </a:r>
            <a:r>
              <a:rPr lang="en-US" sz="1200" dirty="0">
                <a:solidFill>
                  <a:srgbClr val="000000"/>
                </a:solidFill>
                <a:effectLst/>
              </a:rPr>
              <a:t> (Oracle, Java Platform)</a:t>
            </a: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아르케온클라우드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기술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지원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KnowHow를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기반으로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다양한</a:t>
            </a:r>
            <a:r>
              <a:rPr lang="en-US" sz="1200" dirty="0">
                <a:solidFill>
                  <a:srgbClr val="000000"/>
                </a:solidFill>
                <a:effectLst/>
              </a:rPr>
              <a:t> Microsoft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기반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서버의</a:t>
            </a:r>
            <a:r>
              <a:rPr lang="en-US" sz="1200" dirty="0">
                <a:solidFill>
                  <a:srgbClr val="000000"/>
                </a:solidFill>
                <a:effectLst/>
              </a:rPr>
              <a:t> Migration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방안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제공</a:t>
            </a:r>
            <a:endParaRPr lang="en-US" sz="120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개발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지원에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대한</a:t>
            </a:r>
            <a:r>
              <a:rPr lang="en-US" sz="1200" dirty="0">
                <a:solidFill>
                  <a:srgbClr val="000000"/>
                </a:solidFill>
                <a:effectLst/>
              </a:rPr>
              <a:t> Guide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제공</a:t>
            </a:r>
            <a:endParaRPr lang="en-US" sz="1200" dirty="0">
              <a:solidFill>
                <a:srgbClr val="000000"/>
              </a:solidFill>
              <a:effectLst/>
            </a:endParaRPr>
          </a:p>
          <a:p>
            <a:pPr algn="l">
              <a:buNone/>
            </a:pPr>
            <a:r>
              <a:rPr lang="en-US" sz="1200" dirty="0">
                <a:solidFill>
                  <a:srgbClr val="000000"/>
                </a:solidFill>
                <a:effectLst/>
              </a:rPr>
              <a:t>• Production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이관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이후의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운영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방안</a:t>
            </a:r>
            <a:r>
              <a:rPr lang="en-US" sz="1200" dirty="0">
                <a:solidFill>
                  <a:srgbClr val="000000"/>
                </a:solidFill>
                <a:effectLst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</a:rPr>
              <a:t>제공</a:t>
            </a:r>
            <a:endParaRPr lang="en-US" dirty="0"/>
          </a:p>
        </p:txBody>
      </p:sp>
      <p:sp>
        <p:nvSpPr>
          <p:cNvPr id="85862" name="Rectangle 85861">
            <a:extLst>
              <a:ext uri="{FF2B5EF4-FFF2-40B4-BE49-F238E27FC236}">
                <a16:creationId xmlns:a16="http://schemas.microsoft.com/office/drawing/2014/main" id="{217023A8-7E0B-3F51-F5BD-C1669EFCE4ED}"/>
              </a:ext>
            </a:extLst>
          </p:cNvPr>
          <p:cNvSpPr/>
          <p:nvPr/>
        </p:nvSpPr>
        <p:spPr>
          <a:xfrm>
            <a:off x="430000" y="2058000"/>
            <a:ext cx="2200000" cy="205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888" name="Rectangle 85887">
            <a:extLst>
              <a:ext uri="{FF2B5EF4-FFF2-40B4-BE49-F238E27FC236}">
                <a16:creationId xmlns:a16="http://schemas.microsoft.com/office/drawing/2014/main" id="{5E99D71A-F1B7-A0DB-FE08-5089AD9D96BA}"/>
              </a:ext>
            </a:extLst>
          </p:cNvPr>
          <p:cNvSpPr/>
          <p:nvPr/>
        </p:nvSpPr>
        <p:spPr>
          <a:xfrm>
            <a:off x="470000" y="1942000"/>
            <a:ext cx="2160000" cy="436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 b="1">
                <a:solidFill>
                  <a:srgbClr val="FFFFFF"/>
                </a:solidFill>
                <a:effectLst/>
              </a:rPr>
              <a:t>아르케온클라우드 EOS 방법론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5915" name="Rectangle 85914">
            <a:extLst>
              <a:ext uri="{FF2B5EF4-FFF2-40B4-BE49-F238E27FC236}">
                <a16:creationId xmlns:a16="http://schemas.microsoft.com/office/drawing/2014/main" id="{C15C689E-DB26-2495-F36A-9F7754D449EE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943" name="Rectangle 85942">
            <a:extLst>
              <a:ext uri="{FF2B5EF4-FFF2-40B4-BE49-F238E27FC236}">
                <a16:creationId xmlns:a16="http://schemas.microsoft.com/office/drawing/2014/main" id="{7FA9E8ED-235F-BFBA-9564-AD42639EF200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83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제안사는 공식지원이 종료되는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Windows Server 2003</a:t>
            </a:r>
            <a:r>
              <a:rPr lang="ko-KR" altLang="en-US" sz="120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 기반의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Active Directory</a:t>
            </a:r>
            <a:r>
              <a:rPr lang="ko-KR" altLang="en-US" sz="120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에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대하여 다음과 같이 업그레이드 방안을 제시 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</a:t>
            </a:r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AD Infra Migration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823938" y="2583775"/>
            <a:ext cx="1440160" cy="432048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AD Infra </a:t>
            </a:r>
            <a:r>
              <a:rPr lang="ko-KR" altLang="en-US" sz="1100">
                <a:solidFill>
                  <a:schemeClr val="tx1"/>
                </a:solidFill>
              </a:rPr>
              <a:t>환경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3938" y="3231847"/>
            <a:ext cx="144016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인사 연동 및 인증 체계 분석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AD </a:t>
            </a:r>
            <a:r>
              <a:rPr lang="ko-KR" altLang="en-US" sz="1100"/>
              <a:t>속성 변경 사항 분석 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AD</a:t>
            </a:r>
            <a:r>
              <a:rPr lang="ko-KR" altLang="en-US" sz="1100"/>
              <a:t>서버 </a:t>
            </a:r>
            <a:r>
              <a:rPr lang="en-US" altLang="ko-KR" sz="1100" dirty="0"/>
              <a:t>FSMO Role </a:t>
            </a:r>
            <a:r>
              <a:rPr lang="ko-KR" altLang="en-US" sz="1100"/>
              <a:t>분석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Network </a:t>
            </a:r>
            <a:r>
              <a:rPr lang="ko-KR" altLang="en-US" sz="1100"/>
              <a:t>분석</a:t>
            </a:r>
            <a:endParaRPr lang="ko-KR" altLang="en-US" sz="1100" dirty="0"/>
          </a:p>
        </p:txBody>
      </p:sp>
      <p:sp>
        <p:nvSpPr>
          <p:cNvPr id="152" name="직사각형 151"/>
          <p:cNvSpPr/>
          <p:nvPr/>
        </p:nvSpPr>
        <p:spPr>
          <a:xfrm>
            <a:off x="2624138" y="2583775"/>
            <a:ext cx="1440160" cy="432048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AD Migration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설계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624138" y="3231847"/>
            <a:ext cx="144016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Migration </a:t>
            </a:r>
            <a:r>
              <a:rPr lang="ko-KR" altLang="en-US" sz="1100"/>
              <a:t>순서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타 연계 시스템</a:t>
            </a:r>
            <a:br>
              <a:rPr lang="en-US" altLang="ko-KR" sz="1100" dirty="0"/>
            </a:br>
            <a:r>
              <a:rPr lang="ko-KR" altLang="en-US" sz="1100"/>
              <a:t>연동 설계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Role Back </a:t>
            </a:r>
            <a:r>
              <a:rPr lang="ko-KR" altLang="en-US" sz="1100"/>
              <a:t>방안 설계</a:t>
            </a:r>
            <a:endParaRPr lang="ko-KR" altLang="en-US" sz="1100" dirty="0"/>
          </a:p>
        </p:txBody>
      </p:sp>
      <p:sp>
        <p:nvSpPr>
          <p:cNvPr id="154" name="직사각형 153"/>
          <p:cNvSpPr/>
          <p:nvPr/>
        </p:nvSpPr>
        <p:spPr>
          <a:xfrm>
            <a:off x="4496346" y="2583775"/>
            <a:ext cx="1440160" cy="432048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Migration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4496346" y="3231847"/>
            <a:ext cx="14401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절차에 의한 </a:t>
            </a:r>
            <a:r>
              <a:rPr lang="en-US" altLang="ko-KR" sz="1100" dirty="0"/>
              <a:t>Migration</a:t>
            </a:r>
            <a:endParaRPr lang="ko-KR" altLang="en-US" sz="11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483" y="4293096"/>
            <a:ext cx="5335885" cy="2256988"/>
          </a:xfrm>
          <a:prstGeom prst="rect">
            <a:avLst/>
          </a:prstGeom>
          <a:ln w="25400">
            <a:solidFill>
              <a:schemeClr val="bg1">
                <a:lumMod val="85000"/>
              </a:schemeClr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4280322" y="2276471"/>
            <a:ext cx="1872208" cy="189409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아래쪽 화살표 5"/>
          <p:cNvSpPr/>
          <p:nvPr/>
        </p:nvSpPr>
        <p:spPr>
          <a:xfrm>
            <a:off x="5071863" y="4095593"/>
            <a:ext cx="288033" cy="288032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9" name="직사각형 188"/>
          <p:cNvSpPr/>
          <p:nvPr/>
        </p:nvSpPr>
        <p:spPr>
          <a:xfrm>
            <a:off x="6368554" y="2564904"/>
            <a:ext cx="1440160" cy="432048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검증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68554" y="3212976"/>
            <a:ext cx="144016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 dirty="0"/>
              <a:t>정상 여부 확인</a:t>
            </a:r>
            <a:endParaRPr lang="en-US" altLang="ko-K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dirty="0"/>
              <a:t>Migration</a:t>
            </a:r>
            <a:r>
              <a:rPr lang="ko-KR" altLang="en-US" sz="1100"/>
              <a:t> 보고서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  <p:cxnSp>
        <p:nvCxnSpPr>
          <p:cNvPr id="8" name="직선 화살표 연결선 7"/>
          <p:cNvCxnSpPr>
            <a:stCxn id="2" idx="3"/>
            <a:endCxn id="152" idx="1"/>
          </p:cNvCxnSpPr>
          <p:nvPr/>
        </p:nvCxnSpPr>
        <p:spPr>
          <a:xfrm>
            <a:off x="2264098" y="2799799"/>
            <a:ext cx="3600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/>
          <p:cNvCxnSpPr/>
          <p:nvPr/>
        </p:nvCxnSpPr>
        <p:spPr>
          <a:xfrm>
            <a:off x="4064298" y="2786376"/>
            <a:ext cx="3600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화살표 연결선 191"/>
          <p:cNvCxnSpPr/>
          <p:nvPr/>
        </p:nvCxnSpPr>
        <p:spPr>
          <a:xfrm>
            <a:off x="5936506" y="2772953"/>
            <a:ext cx="3600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972" name="Rectangle 85971">
            <a:extLst>
              <a:ext uri="{FF2B5EF4-FFF2-40B4-BE49-F238E27FC236}">
                <a16:creationId xmlns:a16="http://schemas.microsoft.com/office/drawing/2014/main" id="{DC335875-5B38-710A-D405-8C39A6CBBB9A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02" name="Rectangle 86001">
            <a:extLst>
              <a:ext uri="{FF2B5EF4-FFF2-40B4-BE49-F238E27FC236}">
                <a16:creationId xmlns:a16="http://schemas.microsoft.com/office/drawing/2014/main" id="{4C41E3D8-EC57-D401-28F4-247541D4E52E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92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제안사는 공식지원이 종료되는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Windows Server 2003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에 대하여 다음과 같이 업그레이드 방안을 제시 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</a:t>
            </a:r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IIS Infra Migration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4" y="4581128"/>
            <a:ext cx="5028364" cy="194421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755576" y="2420888"/>
            <a:ext cx="1440160" cy="89594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Web 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Application</a:t>
            </a:r>
            <a:r>
              <a:rPr lang="ko-KR" altLang="en-US" sz="1100">
                <a:solidFill>
                  <a:schemeClr val="tx1"/>
                </a:solidFill>
              </a:rPr>
              <a:t>의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OS </a:t>
            </a:r>
            <a:r>
              <a:rPr lang="ko-KR" altLang="en-US" sz="1100">
                <a:solidFill>
                  <a:schemeClr val="tx1"/>
                </a:solidFill>
              </a:rPr>
              <a:t>호환성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테스트 및 정보 수집</a:t>
            </a:r>
          </a:p>
        </p:txBody>
      </p:sp>
      <p:cxnSp>
        <p:nvCxnSpPr>
          <p:cNvPr id="26" name="직선 화살표 연결선 25"/>
          <p:cNvCxnSpPr/>
          <p:nvPr/>
        </p:nvCxnSpPr>
        <p:spPr>
          <a:xfrm flipV="1">
            <a:off x="2195736" y="2852936"/>
            <a:ext cx="406001" cy="6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605206" y="2420888"/>
            <a:ext cx="1440160" cy="89594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유관 부서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테스트 결과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전달 및 협의</a:t>
            </a:r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4045366" y="2852936"/>
            <a:ext cx="406001" cy="6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451367" y="2404965"/>
            <a:ext cx="1440160" cy="89594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Migration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Web Deploy </a:t>
            </a:r>
            <a:r>
              <a:rPr lang="ko-KR" altLang="en-US" sz="1100">
                <a:solidFill>
                  <a:schemeClr val="tx1"/>
                </a:solidFill>
              </a:rPr>
              <a:t>또는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WEMT Migration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 flipV="1">
            <a:off x="5891527" y="2837013"/>
            <a:ext cx="406001" cy="617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6297528" y="2399664"/>
            <a:ext cx="1440160" cy="89594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Issue </a:t>
            </a:r>
            <a:r>
              <a:rPr lang="ko-KR" altLang="en-US" sz="1100">
                <a:solidFill>
                  <a:schemeClr val="tx1"/>
                </a:solidFill>
              </a:rPr>
              <a:t>발생시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개발 부서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협조 요청에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대한 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761" y="4370198"/>
            <a:ext cx="25779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&lt;IIS Migration </a:t>
            </a:r>
            <a:r>
              <a:rPr lang="ko-KR" altLang="en-US" sz="1200" b="1"/>
              <a:t>고려 사항 </a:t>
            </a:r>
            <a:r>
              <a:rPr lang="en-US" altLang="ko-KR" sz="1200" b="1" dirty="0"/>
              <a:t>Check&gt;</a:t>
            </a:r>
            <a:endParaRPr lang="ko-KR" altLang="en-US" sz="1200" b="1" dirty="0"/>
          </a:p>
        </p:txBody>
      </p:sp>
      <p:pic>
        <p:nvPicPr>
          <p:cNvPr id="36" name="그림 35" descr="시스템 생성 대체 텍스트:&#10;嚥福盼恤”露7一一一一－－∼r&#10;태吟 벼b&#10;-IDI시l&#10;H。al騶ㅣ&#10;Hlgrationprogress&#10;6·n什‘伊야숀＝零&#10;D。ne&#10;므므쑈＝헙료료료료료료료료료볍쩝르」&#10;DJ.섬닙什陷&#10;7셔핫겼n2701:02A져&#10;1功얇2012ㅉn:02새&#10;7셔차몄펴270102軫4&#10;_-7”瑚ZT：。1:02새&#10;7셔漱20127이：03A셔&#10;－陋짹뺀&#10;빨쌜프：D1：띠AH&#10;-［衲3,rmZ7:0103AH&#10;17시V갔n27;Ol:O3AH&#10;lll빼&#10;〕勸。棚&#10;…A뇰“O'W'&#10;…｀뇨슬·SA&#10;S柚르e&#10;翩默”d&#10;댜．앉ed&#10;칡蠶繃써&#10;Hetsa鱗&#10;FTP너h盼sbee。cf에慽」&#10;L。cai닢hbw'&#10;FTP너슬bs出en&#10;嫩勵p&#10;c＇솥낟뻐&#10;a뀌시c’빼ed柏rFTP너’&#10;I‘·l靭驪 ［驪諦F&#10;…닒뼈出써 :一刪&#10;ㅢ坐뻣익‘뺑生&#10;l쁘헨뺀쁘一 l씬므_&#10;L。cJ닢h눕＂su&quot;l【〃h松ISA!이＂脯d＇야「P너跡&#10;IL“倆纛珏J兩“&#10;FTP너跡닙‘노에a헤漱1&#10;IL“∼’쁘i뻑쁘옌쁘鬪”m吻&#10;크쁘브쁘썩艸쁘므「멘쁘변－&#10;핥겼n27:01:O3A셔&#10;3I겼펴27:0103스셔&#10;섞늙술인SA&#10;섞N·빼岬&#10;빼삐넌아히n3&#10;切倒〔10花003&#10;鰐·si·、…··…·…、綸&#10;치 져&#10;쨍〃【맣＇&#10;7치차겼n27:01:03A셔&#10;7치걍20127:01：여A셔&#10;，씩F나뻤夔里&#10;’미무·U&quot;' 】uw。－■u'‘伊a'' ㅣ&#10;刪 샌砂－Io＇백｀쁘纖輞&#10;刪 岬砂－b＇岬FT円愧ls&#10;。ea눕 尸쐰i쓰夔쁘’岬吟嫩－ed&#10;&quot;d lLo헤닢h勿씽sUSeflfl'e纜Kc嶼」p】ha：노베섧＊d一&#10;帆枷 ［喇∼。岬勵瞰柚ied&#10;葡― IL&quot;Wha∼I－一비삐柚벽씻귿&#10;T。。1100:&#10;1戚021기난戚》57050&#10;1크醍】20T따57050&#10;1크071207；盼57065&#10;IP陷sbeen跡an'd몌16722820715驪》12llal戚nl&#10;P냠恪麻＄노테出뗘HmID：꺼야t뻐禪p鷺야＼]＇鬪lc：닒놨麒es\l&#10;Oef혀솜出c盼＄노테出빼螂＇鱗h뉼．찮［숩J히솔&quot;m&#10;‘·')‘·，- ＂峠緘．논，-&#10;끄｀긴도吟｀7_，竪희끄｀蠟여쓰：27히맨＊：쁘－얘贓｀勺뺘］凶姃迪쁘些左뜨느낀도&#10;SIJ·出e欌，瓚눕＂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635877"/>
            <a:ext cx="2267744" cy="16455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꺾인 연결선 8"/>
          <p:cNvCxnSpPr>
            <a:stCxn id="31" idx="2"/>
            <a:endCxn id="36" idx="0"/>
          </p:cNvCxnSpPr>
          <p:nvPr/>
        </p:nvCxnSpPr>
        <p:spPr>
          <a:xfrm rot="16200000" flipH="1">
            <a:off x="5167218" y="3305135"/>
            <a:ext cx="1334970" cy="1326513"/>
          </a:xfrm>
          <a:prstGeom prst="bentConnector3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171446" y="3522488"/>
            <a:ext cx="1257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&lt;IIS </a:t>
            </a:r>
            <a:r>
              <a:rPr lang="ko-KR" altLang="en-US" sz="1200" b="1"/>
              <a:t>구성 사항 </a:t>
            </a:r>
            <a:endParaRPr lang="en-US" altLang="ko-KR" sz="1200" b="1" dirty="0"/>
          </a:p>
          <a:p>
            <a:r>
              <a:rPr lang="en-US" altLang="ko-KR" sz="1200" b="1" dirty="0"/>
              <a:t>migration&gt;</a:t>
            </a:r>
            <a:endParaRPr lang="ko-KR" altLang="en-US" sz="1200" b="1" dirty="0"/>
          </a:p>
        </p:txBody>
      </p:sp>
      <p:sp>
        <p:nvSpPr>
          <p:cNvPr id="86033" name="Rectangle 86032">
            <a:extLst>
              <a:ext uri="{FF2B5EF4-FFF2-40B4-BE49-F238E27FC236}">
                <a16:creationId xmlns:a16="http://schemas.microsoft.com/office/drawing/2014/main" id="{A027C9BA-7A92-26E1-79CF-A079A8BD3C41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065" name="Rectangle 86064">
            <a:extLst>
              <a:ext uri="{FF2B5EF4-FFF2-40B4-BE49-F238E27FC236}">
                <a16:creationId xmlns:a16="http://schemas.microsoft.com/office/drawing/2014/main" id="{62290C68-C08A-035F-DDFD-2A9722906E8C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66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ctr">
              <a:defRPr/>
            </a:pPr>
            <a:r>
              <a:rPr lang="ko-KR" altLang="en-US" sz="1200" dirty="0"/>
              <a:t>서비스 </a:t>
            </a:r>
            <a:r>
              <a:rPr lang="ko-KR" altLang="en-US" sz="1200" dirty="0" err="1"/>
              <a:t>단위별</a:t>
            </a:r>
            <a:r>
              <a:rPr lang="ko-KR" altLang="en-US" sz="1200" dirty="0"/>
              <a:t> 진단을 통해 </a:t>
            </a:r>
            <a:r>
              <a:rPr lang="ko-KR" altLang="en-US" sz="1200" dirty="0" err="1"/>
              <a:t>리스크를</a:t>
            </a:r>
            <a:r>
              <a:rPr lang="ko-KR" altLang="en-US" sz="1200" dirty="0"/>
              <a:t> 분석하고 그 결과를 바탕으로 테스트 환경 구축하여 </a:t>
            </a:r>
            <a:r>
              <a:rPr lang="en-US" altLang="ko-KR" sz="1200" dirty="0"/>
              <a:t>Application </a:t>
            </a:r>
            <a:r>
              <a:rPr lang="ko-KR" altLang="en-US" sz="1200"/>
              <a:t>테스트 과정이 진행되도록 지원하며 </a:t>
            </a:r>
            <a:r>
              <a:rPr lang="en-US" altLang="ko-KR" sz="1200" dirty="0"/>
              <a:t>TO-BE</a:t>
            </a:r>
            <a:r>
              <a:rPr lang="ko-KR" altLang="en-US" sz="1200"/>
              <a:t>시스템 구축에 따른  최종 </a:t>
            </a:r>
            <a:r>
              <a:rPr lang="en-US" altLang="ko-KR" sz="1200" dirty="0"/>
              <a:t>Application</a:t>
            </a:r>
            <a:r>
              <a:rPr lang="ko-KR" altLang="en-US" sz="1200"/>
              <a:t>테스트 검증이 완료되면 서비스 오픈을 지원합니다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ko-KR" altLang="en-US" sz="1200" dirty="0"/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데이터베이스 이관</a:t>
              </a: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 </a:t>
              </a:r>
              <a:r>
                <a:rPr kumimoji="1" lang="ko-KR" altLang="en-US" sz="1200" b="1">
                  <a:solidFill>
                    <a:schemeClr val="bg1"/>
                  </a:solidFill>
                  <a:latin typeface="+mn-ea"/>
                  <a:ea typeface="+mn-ea"/>
                </a:rPr>
                <a:t>방법론</a:t>
              </a:r>
              <a:endParaRPr kumimoji="1" lang="ko-KR" altLang="en-US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665758" y="2586025"/>
            <a:ext cx="3542572" cy="3523351"/>
            <a:chOff x="665758" y="2586025"/>
            <a:chExt cx="3542572" cy="3523351"/>
          </a:xfrm>
        </p:grpSpPr>
        <p:sp>
          <p:nvSpPr>
            <p:cNvPr id="4" name="자유형 3"/>
            <p:cNvSpPr/>
            <p:nvPr/>
          </p:nvSpPr>
          <p:spPr>
            <a:xfrm>
              <a:off x="960880" y="2773246"/>
              <a:ext cx="3024336" cy="3024336"/>
            </a:xfrm>
            <a:custGeom>
              <a:avLst/>
              <a:gdLst>
                <a:gd name="connsiteX0" fmla="*/ 1512168 w 3024336"/>
                <a:gd name="connsiteY0" fmla="*/ 0 h 3024336"/>
                <a:gd name="connsiteX1" fmla="*/ 2821744 w 3024336"/>
                <a:gd name="connsiteY1" fmla="*/ 756084 h 3024336"/>
                <a:gd name="connsiteX2" fmla="*/ 1512168 w 3024336"/>
                <a:gd name="connsiteY2" fmla="*/ 1512168 h 3024336"/>
                <a:gd name="connsiteX3" fmla="*/ 1512168 w 3024336"/>
                <a:gd name="connsiteY3" fmla="*/ 0 h 302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4336" h="3024336">
                  <a:moveTo>
                    <a:pt x="1512168" y="0"/>
                  </a:moveTo>
                  <a:cubicBezTo>
                    <a:pt x="2052414" y="0"/>
                    <a:pt x="2551621" y="288218"/>
                    <a:pt x="2821744" y="756084"/>
                  </a:cubicBezTo>
                  <a:lnTo>
                    <a:pt x="1512168" y="1512168"/>
                  </a:lnTo>
                  <a:lnTo>
                    <a:pt x="1512168" y="0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95606" tIns="397752" rIns="659502" bIns="2037376" numCol="1" spcCol="1270" anchor="ctr" anchorCtr="0">
              <a:noAutofit/>
            </a:bodyPr>
            <a:lstStyle/>
            <a:p>
              <a:pPr lvl="0" algn="ctr" defTabSz="4000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50" b="1" kern="1200" dirty="0"/>
                <a:t>리스크 진단</a:t>
              </a:r>
            </a:p>
          </p:txBody>
        </p:sp>
        <p:sp>
          <p:nvSpPr>
            <p:cNvPr id="5" name="자유형 4"/>
            <p:cNvSpPr/>
            <p:nvPr/>
          </p:nvSpPr>
          <p:spPr>
            <a:xfrm>
              <a:off x="996884" y="2835532"/>
              <a:ext cx="3024336" cy="3024336"/>
            </a:xfrm>
            <a:custGeom>
              <a:avLst/>
              <a:gdLst>
                <a:gd name="connsiteX0" fmla="*/ 2821744 w 3024336"/>
                <a:gd name="connsiteY0" fmla="*/ 756084 h 3024336"/>
                <a:gd name="connsiteX1" fmla="*/ 2821744 w 3024336"/>
                <a:gd name="connsiteY1" fmla="*/ 2268252 h 3024336"/>
                <a:gd name="connsiteX2" fmla="*/ 1512168 w 3024336"/>
                <a:gd name="connsiteY2" fmla="*/ 1512168 h 3024336"/>
                <a:gd name="connsiteX3" fmla="*/ 2821744 w 3024336"/>
                <a:gd name="connsiteY3" fmla="*/ 756084 h 302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4336" h="3024336">
                  <a:moveTo>
                    <a:pt x="2821744" y="756084"/>
                  </a:moveTo>
                  <a:cubicBezTo>
                    <a:pt x="3091867" y="1223950"/>
                    <a:pt x="3091867" y="1800386"/>
                    <a:pt x="2821744" y="2268252"/>
                  </a:cubicBezTo>
                  <a:lnTo>
                    <a:pt x="1512168" y="1512168"/>
                  </a:lnTo>
                  <a:lnTo>
                    <a:pt x="2821744" y="756084"/>
                  </a:lnTo>
                  <a:close/>
                </a:path>
              </a:pathLst>
            </a:custGeom>
            <a:solidFill>
              <a:schemeClr val="accent5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63659" tIns="1235567" rIns="155445" bIns="1217563" numCol="1" spcCol="1270" anchor="ctr" anchorCtr="0">
              <a:noAutofit/>
            </a:bodyPr>
            <a:lstStyle/>
            <a:p>
              <a:pPr lvl="0" algn="ctr" defTabSz="4000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50" b="1" kern="1200" dirty="0"/>
                <a:t>테스트 환경</a:t>
              </a:r>
              <a:br>
                <a:rPr lang="en-US" altLang="ko-KR" sz="1050" b="1" kern="1200" dirty="0"/>
              </a:br>
              <a:r>
                <a:rPr lang="ko-KR" altLang="en-US" sz="1050" b="1" kern="1200"/>
                <a:t>구축</a:t>
              </a:r>
              <a:endParaRPr lang="ko-KR" altLang="en-US" sz="1050" b="1" kern="1200" dirty="0"/>
            </a:p>
          </p:txBody>
        </p:sp>
        <p:sp>
          <p:nvSpPr>
            <p:cNvPr id="6" name="자유형 5"/>
            <p:cNvSpPr/>
            <p:nvPr/>
          </p:nvSpPr>
          <p:spPr>
            <a:xfrm>
              <a:off x="960880" y="2897819"/>
              <a:ext cx="3024336" cy="3024336"/>
            </a:xfrm>
            <a:custGeom>
              <a:avLst/>
              <a:gdLst>
                <a:gd name="connsiteX0" fmla="*/ 2821744 w 3024336"/>
                <a:gd name="connsiteY0" fmla="*/ 2268252 h 3024336"/>
                <a:gd name="connsiteX1" fmla="*/ 1512168 w 3024336"/>
                <a:gd name="connsiteY1" fmla="*/ 3024336 h 3024336"/>
                <a:gd name="connsiteX2" fmla="*/ 1512168 w 3024336"/>
                <a:gd name="connsiteY2" fmla="*/ 1512168 h 3024336"/>
                <a:gd name="connsiteX3" fmla="*/ 2821744 w 3024336"/>
                <a:gd name="connsiteY3" fmla="*/ 2268252 h 302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4336" h="3024336">
                  <a:moveTo>
                    <a:pt x="2821744" y="2268252"/>
                  </a:moveTo>
                  <a:cubicBezTo>
                    <a:pt x="2551621" y="2736118"/>
                    <a:pt x="2052414" y="3024336"/>
                    <a:pt x="1512168" y="3024336"/>
                  </a:cubicBezTo>
                  <a:lnTo>
                    <a:pt x="1512168" y="1512168"/>
                  </a:lnTo>
                  <a:lnTo>
                    <a:pt x="2821744" y="2268252"/>
                  </a:lnTo>
                  <a:close/>
                </a:path>
              </a:pathLst>
            </a:custGeom>
            <a:solidFill>
              <a:schemeClr val="accent6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95606" tIns="2055378" rIns="659502" bIns="379750" numCol="1" spcCol="1270" anchor="ctr" anchorCtr="0">
              <a:noAutofit/>
            </a:bodyPr>
            <a:lstStyle/>
            <a:p>
              <a:pPr lvl="0" algn="ctr" defTabSz="4000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050" b="1" kern="1200" dirty="0"/>
                <a:t>Application</a:t>
              </a:r>
              <a:br>
                <a:rPr lang="en-US" altLang="ko-KR" sz="1050" b="1" kern="1200" dirty="0"/>
              </a:br>
              <a:r>
                <a:rPr lang="ko-KR" altLang="en-US" sz="1050" b="1" kern="1200"/>
                <a:t>테스트</a:t>
              </a:r>
            </a:p>
          </p:txBody>
        </p:sp>
        <p:sp>
          <p:nvSpPr>
            <p:cNvPr id="7" name="자유형 6"/>
            <p:cNvSpPr/>
            <p:nvPr/>
          </p:nvSpPr>
          <p:spPr>
            <a:xfrm>
              <a:off x="888872" y="2897819"/>
              <a:ext cx="3024336" cy="3024336"/>
            </a:xfrm>
            <a:custGeom>
              <a:avLst/>
              <a:gdLst>
                <a:gd name="connsiteX0" fmla="*/ 1512168 w 3024336"/>
                <a:gd name="connsiteY0" fmla="*/ 3024336 h 3024336"/>
                <a:gd name="connsiteX1" fmla="*/ 202592 w 3024336"/>
                <a:gd name="connsiteY1" fmla="*/ 2268252 h 3024336"/>
                <a:gd name="connsiteX2" fmla="*/ 1512168 w 3024336"/>
                <a:gd name="connsiteY2" fmla="*/ 1512168 h 3024336"/>
                <a:gd name="connsiteX3" fmla="*/ 1512168 w 3024336"/>
                <a:gd name="connsiteY3" fmla="*/ 3024336 h 302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4336" h="3024336">
                  <a:moveTo>
                    <a:pt x="1512168" y="3024336"/>
                  </a:moveTo>
                  <a:cubicBezTo>
                    <a:pt x="971922" y="3024336"/>
                    <a:pt x="472715" y="2736118"/>
                    <a:pt x="202592" y="2268252"/>
                  </a:cubicBezTo>
                  <a:lnTo>
                    <a:pt x="1512168" y="1512168"/>
                  </a:lnTo>
                  <a:lnTo>
                    <a:pt x="1512168" y="3024336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8232" tIns="2054108" rIns="1594336" bIns="378480" numCol="1" spcCol="1270" anchor="ctr" anchorCtr="0">
              <a:noAutofit/>
            </a:bodyPr>
            <a:lstStyle/>
            <a:p>
              <a:pPr lvl="0" algn="ctr" defTabSz="3556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000" b="1" kern="1200" dirty="0"/>
                <a:t>TO-BE</a:t>
              </a:r>
              <a:r>
                <a:rPr lang="ko-KR" altLang="en-US" sz="1000" b="1" kern="1200"/>
                <a:t>시스템</a:t>
              </a:r>
              <a:br>
                <a:rPr lang="en-US" altLang="ko-KR" sz="1000" b="1" kern="1200" dirty="0"/>
              </a:br>
              <a:r>
                <a:rPr lang="ko-KR" altLang="en-US" sz="1000" b="1" kern="1200"/>
                <a:t>구축</a:t>
              </a:r>
              <a:endParaRPr lang="ko-KR" altLang="en-US" sz="1000" b="1" kern="1200" dirty="0"/>
            </a:p>
          </p:txBody>
        </p:sp>
        <p:sp>
          <p:nvSpPr>
            <p:cNvPr id="8" name="자유형 7"/>
            <p:cNvSpPr/>
            <p:nvPr/>
          </p:nvSpPr>
          <p:spPr>
            <a:xfrm>
              <a:off x="852868" y="2835532"/>
              <a:ext cx="3024336" cy="3024336"/>
            </a:xfrm>
            <a:custGeom>
              <a:avLst/>
              <a:gdLst>
                <a:gd name="connsiteX0" fmla="*/ 202592 w 3024336"/>
                <a:gd name="connsiteY0" fmla="*/ 2268252 h 3024336"/>
                <a:gd name="connsiteX1" fmla="*/ 202592 w 3024336"/>
                <a:gd name="connsiteY1" fmla="*/ 756084 h 3024336"/>
                <a:gd name="connsiteX2" fmla="*/ 1512168 w 3024336"/>
                <a:gd name="connsiteY2" fmla="*/ 1512168 h 3024336"/>
                <a:gd name="connsiteX3" fmla="*/ 202592 w 3024336"/>
                <a:gd name="connsiteY3" fmla="*/ 2268252 h 302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4336" h="3024336">
                  <a:moveTo>
                    <a:pt x="202592" y="2268252"/>
                  </a:moveTo>
                  <a:cubicBezTo>
                    <a:pt x="-67531" y="1800386"/>
                    <a:pt x="-67531" y="1223950"/>
                    <a:pt x="202592" y="756084"/>
                  </a:cubicBezTo>
                  <a:lnTo>
                    <a:pt x="1512168" y="1512168"/>
                  </a:lnTo>
                  <a:lnTo>
                    <a:pt x="202592" y="2268252"/>
                  </a:lnTo>
                  <a:close/>
                </a:path>
              </a:pathLst>
            </a:cu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5447" tIns="1235567" rIns="2063657" bIns="1217563" numCol="1" spcCol="1270" anchor="ctr" anchorCtr="0">
              <a:noAutofit/>
            </a:bodyPr>
            <a:lstStyle/>
            <a:p>
              <a:pPr lvl="0" algn="ctr" defTabSz="4000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050" b="1" kern="1200" dirty="0"/>
                <a:t>Application</a:t>
              </a:r>
              <a:br>
                <a:rPr lang="en-US" altLang="ko-KR" sz="1050" b="1" kern="1200" dirty="0"/>
              </a:br>
              <a:r>
                <a:rPr lang="ko-KR" altLang="en-US" sz="1050" b="1" kern="1200"/>
                <a:t>테스트</a:t>
              </a:r>
              <a:endParaRPr lang="ko-KR" altLang="en-US" sz="1050" b="1" kern="1200" dirty="0"/>
            </a:p>
          </p:txBody>
        </p:sp>
        <p:sp>
          <p:nvSpPr>
            <p:cNvPr id="10" name="자유형 9"/>
            <p:cNvSpPr/>
            <p:nvPr/>
          </p:nvSpPr>
          <p:spPr>
            <a:xfrm>
              <a:off x="888872" y="2773246"/>
              <a:ext cx="3024336" cy="3024336"/>
            </a:xfrm>
            <a:custGeom>
              <a:avLst/>
              <a:gdLst>
                <a:gd name="connsiteX0" fmla="*/ 202592 w 3024336"/>
                <a:gd name="connsiteY0" fmla="*/ 756084 h 3024336"/>
                <a:gd name="connsiteX1" fmla="*/ 1512168 w 3024336"/>
                <a:gd name="connsiteY1" fmla="*/ 0 h 3024336"/>
                <a:gd name="connsiteX2" fmla="*/ 1512168 w 3024336"/>
                <a:gd name="connsiteY2" fmla="*/ 1512168 h 3024336"/>
                <a:gd name="connsiteX3" fmla="*/ 202592 w 3024336"/>
                <a:gd name="connsiteY3" fmla="*/ 756084 h 302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4336" h="3024336">
                  <a:moveTo>
                    <a:pt x="202592" y="756084"/>
                  </a:moveTo>
                  <a:cubicBezTo>
                    <a:pt x="472715" y="288218"/>
                    <a:pt x="971922" y="0"/>
                    <a:pt x="1512168" y="0"/>
                  </a:cubicBezTo>
                  <a:lnTo>
                    <a:pt x="1512168" y="1512168"/>
                  </a:lnTo>
                  <a:lnTo>
                    <a:pt x="202592" y="756084"/>
                  </a:lnTo>
                  <a:close/>
                </a:path>
              </a:pathLst>
            </a:custGeom>
            <a:solidFill>
              <a:schemeClr val="accent3"/>
            </a:solidFill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9502" tIns="397752" rIns="1595606" bIns="2037376" numCol="1" spcCol="1270" anchor="ctr" anchorCtr="0">
              <a:noAutofit/>
            </a:bodyPr>
            <a:lstStyle/>
            <a:p>
              <a:pPr lvl="0" algn="ctr" defTabSz="4000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50" b="1" kern="1200" dirty="0"/>
                <a:t>서비스 오픈</a:t>
              </a:r>
            </a:p>
          </p:txBody>
        </p:sp>
        <p:sp>
          <p:nvSpPr>
            <p:cNvPr id="11" name="원형 화살표 10"/>
            <p:cNvSpPr/>
            <p:nvPr/>
          </p:nvSpPr>
          <p:spPr>
            <a:xfrm>
              <a:off x="773549" y="2586025"/>
              <a:ext cx="3398777" cy="3398777"/>
            </a:xfrm>
            <a:prstGeom prst="circularArrow">
              <a:avLst>
                <a:gd name="adj1" fmla="val 5085"/>
                <a:gd name="adj2" fmla="val 327528"/>
                <a:gd name="adj3" fmla="val 19472472"/>
                <a:gd name="adj4" fmla="val 16200251"/>
                <a:gd name="adj5" fmla="val 5932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원형 화살표 11"/>
            <p:cNvSpPr/>
            <p:nvPr/>
          </p:nvSpPr>
          <p:spPr>
            <a:xfrm>
              <a:off x="809553" y="2648312"/>
              <a:ext cx="3398777" cy="3398777"/>
            </a:xfrm>
            <a:prstGeom prst="circularArrow">
              <a:avLst>
                <a:gd name="adj1" fmla="val 5085"/>
                <a:gd name="adj2" fmla="val 327528"/>
                <a:gd name="adj3" fmla="val 1472472"/>
                <a:gd name="adj4" fmla="val 19800000"/>
                <a:gd name="adj5" fmla="val 5932"/>
              </a:avLst>
            </a:prstGeom>
            <a:solidFill>
              <a:schemeClr val="accent5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원형 화살표 12"/>
            <p:cNvSpPr/>
            <p:nvPr/>
          </p:nvSpPr>
          <p:spPr>
            <a:xfrm>
              <a:off x="773549" y="2710599"/>
              <a:ext cx="3398777" cy="3398777"/>
            </a:xfrm>
            <a:prstGeom prst="circularArrow">
              <a:avLst>
                <a:gd name="adj1" fmla="val 5085"/>
                <a:gd name="adj2" fmla="val 327528"/>
                <a:gd name="adj3" fmla="val 5072221"/>
                <a:gd name="adj4" fmla="val 1800000"/>
                <a:gd name="adj5" fmla="val 5932"/>
              </a:avLst>
            </a:prstGeom>
            <a:solidFill>
              <a:schemeClr val="accent6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1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4" name="원형 화살표 13"/>
            <p:cNvSpPr/>
            <p:nvPr/>
          </p:nvSpPr>
          <p:spPr>
            <a:xfrm>
              <a:off x="701762" y="2710599"/>
              <a:ext cx="3398777" cy="3398777"/>
            </a:xfrm>
            <a:prstGeom prst="circularArrow">
              <a:avLst>
                <a:gd name="adj1" fmla="val 5085"/>
                <a:gd name="adj2" fmla="val 327528"/>
                <a:gd name="adj3" fmla="val 8672472"/>
                <a:gd name="adj4" fmla="val 5400251"/>
                <a:gd name="adj5" fmla="val 5932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1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5" name="원형 화살표 14"/>
            <p:cNvSpPr/>
            <p:nvPr/>
          </p:nvSpPr>
          <p:spPr>
            <a:xfrm>
              <a:off x="665758" y="2648312"/>
              <a:ext cx="3398777" cy="3398777"/>
            </a:xfrm>
            <a:prstGeom prst="circularArrow">
              <a:avLst>
                <a:gd name="adj1" fmla="val 5085"/>
                <a:gd name="adj2" fmla="val 327528"/>
                <a:gd name="adj3" fmla="val 12272472"/>
                <a:gd name="adj4" fmla="val 9000000"/>
                <a:gd name="adj5" fmla="val 5932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1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원형 화살표 15"/>
            <p:cNvSpPr/>
            <p:nvPr/>
          </p:nvSpPr>
          <p:spPr>
            <a:xfrm>
              <a:off x="701762" y="2586025"/>
              <a:ext cx="3398777" cy="3398777"/>
            </a:xfrm>
            <a:prstGeom prst="circularArrow">
              <a:avLst>
                <a:gd name="adj1" fmla="val 5085"/>
                <a:gd name="adj2" fmla="val 327528"/>
                <a:gd name="adj3" fmla="val 15872221"/>
                <a:gd name="adj4" fmla="val 12600000"/>
                <a:gd name="adj5" fmla="val 5932"/>
              </a:avLst>
            </a:prstGeom>
            <a:solidFill>
              <a:schemeClr val="accent3"/>
            </a:soli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4355976" y="2833205"/>
            <a:ext cx="4669197" cy="2972059"/>
            <a:chOff x="4355976" y="2924944"/>
            <a:chExt cx="4669197" cy="2972059"/>
          </a:xfrm>
        </p:grpSpPr>
        <p:sp>
          <p:nvSpPr>
            <p:cNvPr id="9" name="TextBox 8"/>
            <p:cNvSpPr txBox="1"/>
            <p:nvPr/>
          </p:nvSpPr>
          <p:spPr>
            <a:xfrm>
              <a:off x="4355976" y="2924944"/>
              <a:ext cx="466919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100" b="1" dirty="0"/>
                <a:t>리스크 진단</a:t>
              </a:r>
              <a:br>
                <a:rPr lang="en-US" altLang="ko-KR" sz="1100" b="1" dirty="0"/>
              </a:br>
              <a:r>
                <a:rPr lang="en-US" altLang="ko-KR" sz="1100" dirty="0"/>
                <a:t>- </a:t>
              </a:r>
              <a:r>
                <a:rPr lang="ko-KR" altLang="en-US" sz="1100"/>
                <a:t>데이터베이스 호환성 모드</a:t>
              </a:r>
              <a:r>
                <a:rPr lang="en-US" altLang="ko-KR" sz="1100" dirty="0"/>
                <a:t>(80)</a:t>
              </a:r>
              <a:r>
                <a:rPr lang="ko-KR" altLang="en-US" sz="1100"/>
                <a:t>와 관련된 리스크 분석</a:t>
              </a:r>
              <a:br>
                <a:rPr lang="en-US" altLang="ko-KR" sz="1100" dirty="0"/>
              </a:br>
              <a:r>
                <a:rPr lang="en-US" altLang="ko-KR" sz="1100" dirty="0"/>
                <a:t>- </a:t>
              </a:r>
              <a:r>
                <a:rPr lang="ko-KR" altLang="en-US" sz="1100"/>
                <a:t>이관 대상 </a:t>
              </a:r>
              <a:r>
                <a:rPr lang="en-US" altLang="ko-KR" sz="1100" dirty="0"/>
                <a:t>Object </a:t>
              </a:r>
              <a:r>
                <a:rPr lang="ko-KR" altLang="en-US" sz="1100"/>
                <a:t>추출 및 문제 도출</a:t>
              </a:r>
              <a:r>
                <a:rPr lang="en-US" altLang="ko-KR" sz="1100" dirty="0"/>
                <a:t>/</a:t>
              </a:r>
              <a:r>
                <a:rPr lang="ko-KR" altLang="en-US" sz="1100"/>
                <a:t>해결방안 제시</a:t>
              </a:r>
              <a:br>
                <a:rPr lang="en-US" altLang="ko-KR" sz="1100" dirty="0"/>
              </a:br>
              <a:r>
                <a:rPr lang="en-US" altLang="ko-KR" sz="1100" dirty="0"/>
                <a:t>  (</a:t>
              </a:r>
              <a:r>
                <a:rPr lang="ko-KR" altLang="en-US" sz="1100"/>
                <a:t>로그인 계정</a:t>
              </a:r>
              <a:r>
                <a:rPr lang="en-US" altLang="ko-KR" sz="1100" dirty="0"/>
                <a:t>, </a:t>
              </a:r>
              <a:r>
                <a:rPr lang="ko-KR" altLang="en-US" sz="1100"/>
                <a:t>연결된 서버</a:t>
              </a:r>
              <a:r>
                <a:rPr lang="en-US" altLang="ko-KR" sz="1100" dirty="0"/>
                <a:t>, </a:t>
              </a:r>
              <a:r>
                <a:rPr lang="ko-KR" altLang="en-US" sz="1100"/>
                <a:t>작업</a:t>
              </a:r>
              <a:r>
                <a:rPr lang="en-US" altLang="ko-KR" sz="1100" dirty="0"/>
                <a:t>, SSIS, DTS </a:t>
              </a:r>
              <a:r>
                <a:rPr lang="ko-KR" altLang="en-US" sz="1100"/>
                <a:t>등</a:t>
              </a:r>
              <a:r>
                <a:rPr lang="en-US" altLang="ko-KR" sz="1100" dirty="0"/>
                <a:t>..)</a:t>
              </a:r>
              <a:endParaRPr lang="ko-KR" altLang="en-US" sz="11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55977" y="3741035"/>
              <a:ext cx="4248279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100" b="1" dirty="0"/>
                <a:t>테스트 환경 구축</a:t>
              </a:r>
              <a:br>
                <a:rPr lang="en-US" altLang="ko-KR" sz="1100" b="1" dirty="0"/>
              </a:br>
              <a:r>
                <a:rPr lang="en-US" altLang="ko-KR" sz="1100" dirty="0"/>
                <a:t>- </a:t>
              </a:r>
              <a:r>
                <a:rPr lang="ko-KR" altLang="en-US" sz="1100"/>
                <a:t>리스크 파악 및 검증 결과를 바탕으로 테스트 환경구축 지원</a:t>
              </a:r>
              <a:endParaRPr lang="ko-KR" altLang="en-US" sz="11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55977" y="4173647"/>
              <a:ext cx="355417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100" b="1" dirty="0"/>
                <a:t>Application </a:t>
              </a:r>
              <a:r>
                <a:rPr lang="ko-KR" altLang="en-US" sz="1100" b="1"/>
                <a:t>테스트</a:t>
              </a:r>
              <a:br>
                <a:rPr lang="en-US" altLang="ko-KR" sz="1100" b="1" dirty="0"/>
              </a:br>
              <a:r>
                <a:rPr lang="en-US" altLang="ko-KR" sz="1100" dirty="0"/>
                <a:t>- </a:t>
              </a:r>
              <a:r>
                <a:rPr lang="ko-KR" altLang="en-US" sz="1100"/>
                <a:t>테스트 환경을 대상으로 </a:t>
              </a:r>
              <a:r>
                <a:rPr lang="en-US" altLang="ko-KR" sz="1100" dirty="0"/>
                <a:t>Application </a:t>
              </a:r>
              <a:r>
                <a:rPr lang="ko-KR" altLang="en-US" sz="1100"/>
                <a:t>테스트 진행</a:t>
              </a:r>
              <a:endParaRPr lang="ko-KR" altLang="en-US" sz="1100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355977" y="4602617"/>
              <a:ext cx="371928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100" b="1" dirty="0"/>
                <a:t>TO-BE</a:t>
              </a:r>
              <a:r>
                <a:rPr lang="ko-KR" altLang="en-US" sz="1100" b="1"/>
                <a:t>시스템 구축</a:t>
              </a:r>
              <a:br>
                <a:rPr lang="en-US" altLang="ko-KR" sz="1100" b="1" dirty="0"/>
              </a:br>
              <a:r>
                <a:rPr lang="en-US" altLang="ko-KR" sz="1100" dirty="0"/>
                <a:t>- Application </a:t>
              </a:r>
              <a:r>
                <a:rPr lang="ko-KR" altLang="en-US" sz="1100"/>
                <a:t>테스트 검증 후 </a:t>
              </a:r>
              <a:r>
                <a:rPr lang="en-US" altLang="ko-KR" sz="1100" dirty="0"/>
                <a:t>TO-BE</a:t>
              </a:r>
              <a:r>
                <a:rPr lang="ko-KR" altLang="en-US" sz="1100"/>
                <a:t>시스템 구축 지원</a:t>
              </a:r>
              <a:endParaRPr lang="ko-KR" altLang="en-US" sz="11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355977" y="5033504"/>
              <a:ext cx="347883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100" b="1" dirty="0"/>
                <a:t>Application </a:t>
              </a:r>
              <a:r>
                <a:rPr lang="ko-KR" altLang="en-US" sz="1100" b="1"/>
                <a:t>테스트</a:t>
              </a:r>
              <a:br>
                <a:rPr lang="en-US" altLang="ko-KR" sz="1100" b="1" dirty="0"/>
              </a:br>
              <a:r>
                <a:rPr lang="en-US" altLang="ko-KR" sz="1100" dirty="0"/>
                <a:t>- TO-BE</a:t>
              </a:r>
              <a:r>
                <a:rPr lang="ko-KR" altLang="en-US" sz="1100"/>
                <a:t>시스템 대상으로 </a:t>
              </a:r>
              <a:r>
                <a:rPr lang="en-US" altLang="ko-KR" sz="1100" dirty="0"/>
                <a:t>Application </a:t>
              </a:r>
              <a:r>
                <a:rPr lang="ko-KR" altLang="en-US" sz="1100"/>
                <a:t>테스트 진행</a:t>
              </a:r>
              <a:endParaRPr lang="ko-KR" altLang="en-US" sz="11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355977" y="5466116"/>
              <a:ext cx="393569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100" b="1" dirty="0"/>
                <a:t>서비스 오픈</a:t>
              </a:r>
              <a:br>
                <a:rPr lang="en-US" altLang="ko-KR" sz="1100" b="1" dirty="0"/>
              </a:br>
              <a:r>
                <a:rPr lang="en-US" altLang="ko-KR" sz="1100" dirty="0"/>
                <a:t>- </a:t>
              </a:r>
              <a:r>
                <a:rPr lang="ko-KR" altLang="en-US" sz="1100"/>
                <a:t>최종 </a:t>
              </a:r>
              <a:r>
                <a:rPr lang="en-US" altLang="ko-KR" sz="1100" dirty="0"/>
                <a:t>Application</a:t>
              </a:r>
              <a:r>
                <a:rPr lang="ko-KR" altLang="en-US" sz="1100"/>
                <a:t>테스트 검증 완료 후 서비스 오픈 지원</a:t>
              </a:r>
              <a:endParaRPr lang="ko-KR" altLang="en-US" sz="1100" dirty="0"/>
            </a:p>
          </p:txBody>
        </p:sp>
      </p:grpSp>
      <p:sp>
        <p:nvSpPr>
          <p:cNvPr id="86098" name="Rectangle 86097">
            <a:extLst>
              <a:ext uri="{FF2B5EF4-FFF2-40B4-BE49-F238E27FC236}">
                <a16:creationId xmlns:a16="http://schemas.microsoft.com/office/drawing/2014/main" id="{442213C7-B7D5-3799-188C-D91D088327B7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132" name="Rectangle 86131">
            <a:extLst>
              <a:ext uri="{FF2B5EF4-FFF2-40B4-BE49-F238E27FC236}">
                <a16:creationId xmlns:a16="http://schemas.microsoft.com/office/drawing/2014/main" id="{BF2A2A9D-009E-D13A-75B9-7AA72A5D4C72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745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ctr">
              <a:defRPr/>
            </a:pPr>
            <a:r>
              <a:rPr lang="ko-KR" altLang="en-US" sz="1200" dirty="0"/>
              <a:t>업무 특성을 고려하여 서비스 이관 단위를 순차수행 또는 병렬수행 방안으로 진행합니다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2051050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latinLnBrk="1">
                <a:lnSpc>
                  <a:spcPct val="100000"/>
                </a:lnSpc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서비스별 구축 방안</a:t>
              </a: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sp>
        <p:nvSpPr>
          <p:cNvPr id="31" name="오른쪽 화살표 30"/>
          <p:cNvSpPr/>
          <p:nvPr/>
        </p:nvSpPr>
        <p:spPr>
          <a:xfrm>
            <a:off x="755576" y="2553142"/>
            <a:ext cx="7776865" cy="1163161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오른쪽 화살표 31"/>
          <p:cNvSpPr/>
          <p:nvPr/>
        </p:nvSpPr>
        <p:spPr>
          <a:xfrm>
            <a:off x="755576" y="3900512"/>
            <a:ext cx="7776865" cy="2552824"/>
          </a:xfrm>
          <a:prstGeom prst="rightArrow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39552" y="2368933"/>
            <a:ext cx="38715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1</a:t>
            </a:r>
            <a:r>
              <a:rPr lang="ko-KR" altLang="en-US" sz="1200" b="1"/>
              <a:t>안</a:t>
            </a:r>
            <a:r>
              <a:rPr lang="en-US" altLang="ko-KR" sz="1200" b="1" dirty="0"/>
              <a:t>. </a:t>
            </a:r>
            <a:r>
              <a:rPr lang="ko-KR" altLang="en-US" sz="1200" b="1"/>
              <a:t>순차적으로 업그레이드</a:t>
            </a:r>
            <a:r>
              <a:rPr lang="en-US" altLang="ko-KR" sz="1200" b="1" dirty="0"/>
              <a:t>/</a:t>
            </a:r>
            <a:r>
              <a:rPr lang="ko-KR" altLang="en-US" sz="1200" b="1"/>
              <a:t>통합 절차를 진행합니다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graphicFrame>
        <p:nvGraphicFramePr>
          <p:cNvPr id="34" name="다이어그램 33"/>
          <p:cNvGraphicFramePr/>
          <p:nvPr>
            <p:extLst>
              <p:ext uri="{D42A27DB-BD31-4B8C-83A1-F6EECF244321}">
                <p14:modId xmlns:p14="http://schemas.microsoft.com/office/powerpoint/2010/main" val="696247542"/>
              </p:ext>
            </p:extLst>
          </p:nvPr>
        </p:nvGraphicFramePr>
        <p:xfrm>
          <a:off x="899592" y="2770623"/>
          <a:ext cx="7560840" cy="72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39552" y="3656057"/>
            <a:ext cx="3563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2</a:t>
            </a:r>
            <a:r>
              <a:rPr lang="ko-KR" altLang="en-US" sz="1200" b="1"/>
              <a:t>안</a:t>
            </a:r>
            <a:r>
              <a:rPr lang="en-US" altLang="ko-KR" sz="1200" b="1" dirty="0"/>
              <a:t>. </a:t>
            </a:r>
            <a:r>
              <a:rPr lang="ko-KR" altLang="en-US" sz="1200" b="1"/>
              <a:t>병렬로 업그레이드</a:t>
            </a:r>
            <a:r>
              <a:rPr lang="en-US" altLang="ko-KR" sz="1200" b="1" dirty="0"/>
              <a:t>/</a:t>
            </a:r>
            <a:r>
              <a:rPr lang="ko-KR" altLang="en-US" sz="1200" b="1"/>
              <a:t>통합 절차를 진행합니다</a:t>
            </a:r>
            <a:r>
              <a:rPr lang="en-US" altLang="ko-KR" sz="1200" b="1" dirty="0"/>
              <a:t>.</a:t>
            </a:r>
            <a:endParaRPr lang="ko-KR" altLang="en-US" sz="1200" b="1" dirty="0"/>
          </a:p>
        </p:txBody>
      </p:sp>
      <p:grpSp>
        <p:nvGrpSpPr>
          <p:cNvPr id="43" name="그룹 42"/>
          <p:cNvGrpSpPr/>
          <p:nvPr/>
        </p:nvGrpSpPr>
        <p:grpSpPr>
          <a:xfrm>
            <a:off x="903283" y="4327293"/>
            <a:ext cx="6526186" cy="300530"/>
            <a:chOff x="903283" y="4327293"/>
            <a:chExt cx="6526186" cy="300530"/>
          </a:xfrm>
        </p:grpSpPr>
        <p:sp>
          <p:nvSpPr>
            <p:cNvPr id="44" name="자유형 43"/>
            <p:cNvSpPr/>
            <p:nvPr/>
          </p:nvSpPr>
          <p:spPr>
            <a:xfrm>
              <a:off x="903283" y="4327293"/>
              <a:ext cx="944182" cy="300530"/>
            </a:xfrm>
            <a:custGeom>
              <a:avLst/>
              <a:gdLst>
                <a:gd name="connsiteX0" fmla="*/ 0 w 944182"/>
                <a:gd name="connsiteY0" fmla="*/ 30053 h 300530"/>
                <a:gd name="connsiteX1" fmla="*/ 30053 w 944182"/>
                <a:gd name="connsiteY1" fmla="*/ 0 h 300530"/>
                <a:gd name="connsiteX2" fmla="*/ 914129 w 944182"/>
                <a:gd name="connsiteY2" fmla="*/ 0 h 300530"/>
                <a:gd name="connsiteX3" fmla="*/ 944182 w 944182"/>
                <a:gd name="connsiteY3" fmla="*/ 30053 h 300530"/>
                <a:gd name="connsiteX4" fmla="*/ 944182 w 944182"/>
                <a:gd name="connsiteY4" fmla="*/ 270477 h 300530"/>
                <a:gd name="connsiteX5" fmla="*/ 914129 w 944182"/>
                <a:gd name="connsiteY5" fmla="*/ 300530 h 300530"/>
                <a:gd name="connsiteX6" fmla="*/ 30053 w 944182"/>
                <a:gd name="connsiteY6" fmla="*/ 300530 h 300530"/>
                <a:gd name="connsiteX7" fmla="*/ 0 w 944182"/>
                <a:gd name="connsiteY7" fmla="*/ 270477 h 300530"/>
                <a:gd name="connsiteX8" fmla="*/ 0 w 944182"/>
                <a:gd name="connsiteY8" fmla="*/ 30053 h 30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4182" h="300530">
                  <a:moveTo>
                    <a:pt x="0" y="30053"/>
                  </a:moveTo>
                  <a:cubicBezTo>
                    <a:pt x="0" y="13455"/>
                    <a:pt x="13455" y="0"/>
                    <a:pt x="30053" y="0"/>
                  </a:cubicBezTo>
                  <a:lnTo>
                    <a:pt x="914129" y="0"/>
                  </a:lnTo>
                  <a:cubicBezTo>
                    <a:pt x="930727" y="0"/>
                    <a:pt x="944182" y="13455"/>
                    <a:pt x="944182" y="30053"/>
                  </a:cubicBezTo>
                  <a:lnTo>
                    <a:pt x="944182" y="270477"/>
                  </a:lnTo>
                  <a:cubicBezTo>
                    <a:pt x="944182" y="287075"/>
                    <a:pt x="930727" y="300530"/>
                    <a:pt x="914129" y="300530"/>
                  </a:cubicBezTo>
                  <a:lnTo>
                    <a:pt x="30053" y="300530"/>
                  </a:lnTo>
                  <a:cubicBezTo>
                    <a:pt x="13455" y="300530"/>
                    <a:pt x="0" y="287075"/>
                    <a:pt x="0" y="270477"/>
                  </a:cubicBezTo>
                  <a:lnTo>
                    <a:pt x="0" y="30053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6902" tIns="46902" rIns="46902" bIns="46902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kern="1200" dirty="0">
                  <a:solidFill>
                    <a:schemeClr val="tx1"/>
                  </a:solidFill>
                </a:rPr>
                <a:t>리스크 진단</a:t>
              </a:r>
            </a:p>
          </p:txBody>
        </p:sp>
        <p:sp>
          <p:nvSpPr>
            <p:cNvPr id="45" name="자유형 44"/>
            <p:cNvSpPr/>
            <p:nvPr/>
          </p:nvSpPr>
          <p:spPr>
            <a:xfrm>
              <a:off x="1941884" y="4360480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47" name="자유형 46"/>
            <p:cNvSpPr/>
            <p:nvPr/>
          </p:nvSpPr>
          <p:spPr>
            <a:xfrm>
              <a:off x="3263738" y="4360480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49" name="자유형 48"/>
            <p:cNvSpPr/>
            <p:nvPr/>
          </p:nvSpPr>
          <p:spPr>
            <a:xfrm>
              <a:off x="4585593" y="4360480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51" name="자유형 50"/>
            <p:cNvSpPr/>
            <p:nvPr/>
          </p:nvSpPr>
          <p:spPr>
            <a:xfrm>
              <a:off x="5907448" y="4360480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53" name="자유형 52"/>
            <p:cNvSpPr/>
            <p:nvPr/>
          </p:nvSpPr>
          <p:spPr>
            <a:xfrm>
              <a:off x="7229303" y="4360480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38" name="다이어그램 37"/>
          <p:cNvGraphicFramePr/>
          <p:nvPr>
            <p:extLst>
              <p:ext uri="{D42A27DB-BD31-4B8C-83A1-F6EECF244321}">
                <p14:modId xmlns:p14="http://schemas.microsoft.com/office/powerpoint/2010/main" val="1095539939"/>
              </p:ext>
            </p:extLst>
          </p:nvPr>
        </p:nvGraphicFramePr>
        <p:xfrm>
          <a:off x="899592" y="4978577"/>
          <a:ext cx="7560840" cy="72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39" name="다이어그램 38"/>
          <p:cNvGraphicFramePr/>
          <p:nvPr>
            <p:extLst>
              <p:ext uri="{D42A27DB-BD31-4B8C-83A1-F6EECF244321}">
                <p14:modId xmlns:p14="http://schemas.microsoft.com/office/powerpoint/2010/main" val="2226195117"/>
              </p:ext>
            </p:extLst>
          </p:nvPr>
        </p:nvGraphicFramePr>
        <p:xfrm>
          <a:off x="899592" y="5554641"/>
          <a:ext cx="7560840" cy="720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pSp>
        <p:nvGrpSpPr>
          <p:cNvPr id="14" name="그룹 13"/>
          <p:cNvGrpSpPr/>
          <p:nvPr/>
        </p:nvGrpSpPr>
        <p:grpSpPr>
          <a:xfrm>
            <a:off x="903283" y="4029345"/>
            <a:ext cx="6526186" cy="300530"/>
            <a:chOff x="903283" y="4029345"/>
            <a:chExt cx="6526186" cy="300530"/>
          </a:xfrm>
        </p:grpSpPr>
        <p:sp>
          <p:nvSpPr>
            <p:cNvPr id="15" name="자유형 14"/>
            <p:cNvSpPr/>
            <p:nvPr/>
          </p:nvSpPr>
          <p:spPr>
            <a:xfrm>
              <a:off x="903283" y="4029345"/>
              <a:ext cx="944182" cy="300530"/>
            </a:xfrm>
            <a:custGeom>
              <a:avLst/>
              <a:gdLst>
                <a:gd name="connsiteX0" fmla="*/ 0 w 944182"/>
                <a:gd name="connsiteY0" fmla="*/ 30053 h 300530"/>
                <a:gd name="connsiteX1" fmla="*/ 30053 w 944182"/>
                <a:gd name="connsiteY1" fmla="*/ 0 h 300530"/>
                <a:gd name="connsiteX2" fmla="*/ 914129 w 944182"/>
                <a:gd name="connsiteY2" fmla="*/ 0 h 300530"/>
                <a:gd name="connsiteX3" fmla="*/ 944182 w 944182"/>
                <a:gd name="connsiteY3" fmla="*/ 30053 h 300530"/>
                <a:gd name="connsiteX4" fmla="*/ 944182 w 944182"/>
                <a:gd name="connsiteY4" fmla="*/ 270477 h 300530"/>
                <a:gd name="connsiteX5" fmla="*/ 914129 w 944182"/>
                <a:gd name="connsiteY5" fmla="*/ 300530 h 300530"/>
                <a:gd name="connsiteX6" fmla="*/ 30053 w 944182"/>
                <a:gd name="connsiteY6" fmla="*/ 300530 h 300530"/>
                <a:gd name="connsiteX7" fmla="*/ 0 w 944182"/>
                <a:gd name="connsiteY7" fmla="*/ 270477 h 300530"/>
                <a:gd name="connsiteX8" fmla="*/ 0 w 944182"/>
                <a:gd name="connsiteY8" fmla="*/ 30053 h 30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4182" h="300530">
                  <a:moveTo>
                    <a:pt x="0" y="30053"/>
                  </a:moveTo>
                  <a:cubicBezTo>
                    <a:pt x="0" y="13455"/>
                    <a:pt x="13455" y="0"/>
                    <a:pt x="30053" y="0"/>
                  </a:cubicBezTo>
                  <a:lnTo>
                    <a:pt x="914129" y="0"/>
                  </a:lnTo>
                  <a:cubicBezTo>
                    <a:pt x="930727" y="0"/>
                    <a:pt x="944182" y="13455"/>
                    <a:pt x="944182" y="30053"/>
                  </a:cubicBezTo>
                  <a:lnTo>
                    <a:pt x="944182" y="270477"/>
                  </a:lnTo>
                  <a:cubicBezTo>
                    <a:pt x="944182" y="287075"/>
                    <a:pt x="930727" y="300530"/>
                    <a:pt x="914129" y="300530"/>
                  </a:cubicBezTo>
                  <a:lnTo>
                    <a:pt x="30053" y="300530"/>
                  </a:lnTo>
                  <a:cubicBezTo>
                    <a:pt x="13455" y="300530"/>
                    <a:pt x="0" y="287075"/>
                    <a:pt x="0" y="270477"/>
                  </a:cubicBezTo>
                  <a:lnTo>
                    <a:pt x="0" y="30053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6902" tIns="46902" rIns="46902" bIns="46902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kern="1200" dirty="0">
                  <a:solidFill>
                    <a:schemeClr val="tx1"/>
                  </a:solidFill>
                </a:rPr>
                <a:t>리스크 진단</a:t>
              </a:r>
            </a:p>
          </p:txBody>
        </p:sp>
        <p:sp>
          <p:nvSpPr>
            <p:cNvPr id="16" name="자유형 15"/>
            <p:cNvSpPr/>
            <p:nvPr/>
          </p:nvSpPr>
          <p:spPr>
            <a:xfrm>
              <a:off x="1941884" y="4062532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26" name="자유형 25"/>
            <p:cNvSpPr/>
            <p:nvPr/>
          </p:nvSpPr>
          <p:spPr>
            <a:xfrm>
              <a:off x="3263738" y="4062532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28" name="자유형 27"/>
            <p:cNvSpPr/>
            <p:nvPr/>
          </p:nvSpPr>
          <p:spPr>
            <a:xfrm>
              <a:off x="4585593" y="4062532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30" name="자유형 29"/>
            <p:cNvSpPr/>
            <p:nvPr/>
          </p:nvSpPr>
          <p:spPr>
            <a:xfrm>
              <a:off x="5907448" y="4062532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자유형 40"/>
            <p:cNvSpPr/>
            <p:nvPr/>
          </p:nvSpPr>
          <p:spPr>
            <a:xfrm>
              <a:off x="7229303" y="4062532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903283" y="4638508"/>
            <a:ext cx="6526186" cy="300530"/>
            <a:chOff x="903283" y="4638508"/>
            <a:chExt cx="6526186" cy="300530"/>
          </a:xfrm>
        </p:grpSpPr>
        <p:sp>
          <p:nvSpPr>
            <p:cNvPr id="3" name="자유형 2"/>
            <p:cNvSpPr/>
            <p:nvPr/>
          </p:nvSpPr>
          <p:spPr>
            <a:xfrm>
              <a:off x="903283" y="4638508"/>
              <a:ext cx="944182" cy="300530"/>
            </a:xfrm>
            <a:custGeom>
              <a:avLst/>
              <a:gdLst>
                <a:gd name="connsiteX0" fmla="*/ 0 w 944182"/>
                <a:gd name="connsiteY0" fmla="*/ 30053 h 300530"/>
                <a:gd name="connsiteX1" fmla="*/ 30053 w 944182"/>
                <a:gd name="connsiteY1" fmla="*/ 0 h 300530"/>
                <a:gd name="connsiteX2" fmla="*/ 914129 w 944182"/>
                <a:gd name="connsiteY2" fmla="*/ 0 h 300530"/>
                <a:gd name="connsiteX3" fmla="*/ 944182 w 944182"/>
                <a:gd name="connsiteY3" fmla="*/ 30053 h 300530"/>
                <a:gd name="connsiteX4" fmla="*/ 944182 w 944182"/>
                <a:gd name="connsiteY4" fmla="*/ 270477 h 300530"/>
                <a:gd name="connsiteX5" fmla="*/ 914129 w 944182"/>
                <a:gd name="connsiteY5" fmla="*/ 300530 h 300530"/>
                <a:gd name="connsiteX6" fmla="*/ 30053 w 944182"/>
                <a:gd name="connsiteY6" fmla="*/ 300530 h 300530"/>
                <a:gd name="connsiteX7" fmla="*/ 0 w 944182"/>
                <a:gd name="connsiteY7" fmla="*/ 270477 h 300530"/>
                <a:gd name="connsiteX8" fmla="*/ 0 w 944182"/>
                <a:gd name="connsiteY8" fmla="*/ 30053 h 300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4182" h="300530">
                  <a:moveTo>
                    <a:pt x="0" y="30053"/>
                  </a:moveTo>
                  <a:cubicBezTo>
                    <a:pt x="0" y="13455"/>
                    <a:pt x="13455" y="0"/>
                    <a:pt x="30053" y="0"/>
                  </a:cubicBezTo>
                  <a:lnTo>
                    <a:pt x="914129" y="0"/>
                  </a:lnTo>
                  <a:cubicBezTo>
                    <a:pt x="930727" y="0"/>
                    <a:pt x="944182" y="13455"/>
                    <a:pt x="944182" y="30053"/>
                  </a:cubicBezTo>
                  <a:lnTo>
                    <a:pt x="944182" y="270477"/>
                  </a:lnTo>
                  <a:cubicBezTo>
                    <a:pt x="944182" y="287075"/>
                    <a:pt x="930727" y="300530"/>
                    <a:pt x="914129" y="300530"/>
                  </a:cubicBezTo>
                  <a:lnTo>
                    <a:pt x="30053" y="300530"/>
                  </a:lnTo>
                  <a:cubicBezTo>
                    <a:pt x="13455" y="300530"/>
                    <a:pt x="0" y="287075"/>
                    <a:pt x="0" y="270477"/>
                  </a:cubicBezTo>
                  <a:lnTo>
                    <a:pt x="0" y="30053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6902" tIns="46902" rIns="46902" bIns="46902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kern="1200" dirty="0">
                  <a:solidFill>
                    <a:schemeClr val="tx1"/>
                  </a:solidFill>
                </a:rPr>
                <a:t>리스크 진단</a:t>
              </a:r>
            </a:p>
          </p:txBody>
        </p:sp>
        <p:sp>
          <p:nvSpPr>
            <p:cNvPr id="4" name="자유형 3"/>
            <p:cNvSpPr/>
            <p:nvPr/>
          </p:nvSpPr>
          <p:spPr>
            <a:xfrm>
              <a:off x="1941884" y="4671695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자유형 5"/>
            <p:cNvSpPr/>
            <p:nvPr/>
          </p:nvSpPr>
          <p:spPr>
            <a:xfrm>
              <a:off x="3263738" y="4671695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자유형 7"/>
            <p:cNvSpPr/>
            <p:nvPr/>
          </p:nvSpPr>
          <p:spPr>
            <a:xfrm>
              <a:off x="4585593" y="4671695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10" name="자유형 9"/>
            <p:cNvSpPr/>
            <p:nvPr/>
          </p:nvSpPr>
          <p:spPr>
            <a:xfrm>
              <a:off x="5907448" y="4671695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  <p:sp>
          <p:nvSpPr>
            <p:cNvPr id="12" name="자유형 11"/>
            <p:cNvSpPr/>
            <p:nvPr/>
          </p:nvSpPr>
          <p:spPr>
            <a:xfrm>
              <a:off x="7229303" y="4671695"/>
              <a:ext cx="200166" cy="234157"/>
            </a:xfrm>
            <a:custGeom>
              <a:avLst/>
              <a:gdLst>
                <a:gd name="connsiteX0" fmla="*/ 0 w 200166"/>
                <a:gd name="connsiteY0" fmla="*/ 46831 h 234157"/>
                <a:gd name="connsiteX1" fmla="*/ 100083 w 200166"/>
                <a:gd name="connsiteY1" fmla="*/ 46831 h 234157"/>
                <a:gd name="connsiteX2" fmla="*/ 100083 w 200166"/>
                <a:gd name="connsiteY2" fmla="*/ 0 h 234157"/>
                <a:gd name="connsiteX3" fmla="*/ 200166 w 200166"/>
                <a:gd name="connsiteY3" fmla="*/ 117079 h 234157"/>
                <a:gd name="connsiteX4" fmla="*/ 100083 w 200166"/>
                <a:gd name="connsiteY4" fmla="*/ 234157 h 234157"/>
                <a:gd name="connsiteX5" fmla="*/ 100083 w 200166"/>
                <a:gd name="connsiteY5" fmla="*/ 187326 h 234157"/>
                <a:gd name="connsiteX6" fmla="*/ 0 w 200166"/>
                <a:gd name="connsiteY6" fmla="*/ 187326 h 234157"/>
                <a:gd name="connsiteX7" fmla="*/ 0 w 200166"/>
                <a:gd name="connsiteY7" fmla="*/ 46831 h 23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0166" h="234157">
                  <a:moveTo>
                    <a:pt x="0" y="46831"/>
                  </a:moveTo>
                  <a:lnTo>
                    <a:pt x="100083" y="46831"/>
                  </a:lnTo>
                  <a:lnTo>
                    <a:pt x="100083" y="0"/>
                  </a:lnTo>
                  <a:lnTo>
                    <a:pt x="200166" y="117079"/>
                  </a:lnTo>
                  <a:lnTo>
                    <a:pt x="100083" y="234157"/>
                  </a:lnTo>
                  <a:lnTo>
                    <a:pt x="100083" y="187326"/>
                  </a:lnTo>
                  <a:lnTo>
                    <a:pt x="0" y="187326"/>
                  </a:lnTo>
                  <a:lnTo>
                    <a:pt x="0" y="46831"/>
                  </a:lnTo>
                  <a:close/>
                </a:path>
              </a:pathLst>
            </a:cu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0" tIns="46831" rIns="60050" bIns="46831" numCol="1" spcCol="1270" anchor="ctr" anchorCtr="0">
              <a:noAutofit/>
            </a:bodyPr>
            <a:lstStyle/>
            <a:p>
              <a:pPr lvl="0" algn="ctr" defTabSz="2667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600" b="1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60" name="자유형 59"/>
          <p:cNvSpPr/>
          <p:nvPr/>
        </p:nvSpPr>
        <p:spPr>
          <a:xfrm>
            <a:off x="2206149" y="4033508"/>
            <a:ext cx="944182" cy="905530"/>
          </a:xfrm>
          <a:custGeom>
            <a:avLst/>
            <a:gdLst>
              <a:gd name="connsiteX0" fmla="*/ 0 w 944182"/>
              <a:gd name="connsiteY0" fmla="*/ 28803 h 288034"/>
              <a:gd name="connsiteX1" fmla="*/ 28803 w 944182"/>
              <a:gd name="connsiteY1" fmla="*/ 0 h 288034"/>
              <a:gd name="connsiteX2" fmla="*/ 915379 w 944182"/>
              <a:gd name="connsiteY2" fmla="*/ 0 h 288034"/>
              <a:gd name="connsiteX3" fmla="*/ 944182 w 944182"/>
              <a:gd name="connsiteY3" fmla="*/ 28803 h 288034"/>
              <a:gd name="connsiteX4" fmla="*/ 944182 w 944182"/>
              <a:gd name="connsiteY4" fmla="*/ 259231 h 288034"/>
              <a:gd name="connsiteX5" fmla="*/ 915379 w 944182"/>
              <a:gd name="connsiteY5" fmla="*/ 288034 h 288034"/>
              <a:gd name="connsiteX6" fmla="*/ 28803 w 944182"/>
              <a:gd name="connsiteY6" fmla="*/ 288034 h 288034"/>
              <a:gd name="connsiteX7" fmla="*/ 0 w 944182"/>
              <a:gd name="connsiteY7" fmla="*/ 259231 h 288034"/>
              <a:gd name="connsiteX8" fmla="*/ 0 w 944182"/>
              <a:gd name="connsiteY8" fmla="*/ 28803 h 28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4182" h="288034">
                <a:moveTo>
                  <a:pt x="0" y="28803"/>
                </a:moveTo>
                <a:cubicBezTo>
                  <a:pt x="0" y="12896"/>
                  <a:pt x="12896" y="0"/>
                  <a:pt x="28803" y="0"/>
                </a:cubicBezTo>
                <a:lnTo>
                  <a:pt x="915379" y="0"/>
                </a:lnTo>
                <a:cubicBezTo>
                  <a:pt x="931286" y="0"/>
                  <a:pt x="944182" y="12896"/>
                  <a:pt x="944182" y="28803"/>
                </a:cubicBezTo>
                <a:lnTo>
                  <a:pt x="944182" y="259231"/>
                </a:lnTo>
                <a:cubicBezTo>
                  <a:pt x="944182" y="275138"/>
                  <a:pt x="931286" y="288034"/>
                  <a:pt x="915379" y="288034"/>
                </a:cubicBezTo>
                <a:lnTo>
                  <a:pt x="28803" y="288034"/>
                </a:lnTo>
                <a:cubicBezTo>
                  <a:pt x="12896" y="288034"/>
                  <a:pt x="0" y="275138"/>
                  <a:pt x="0" y="259231"/>
                </a:cubicBezTo>
                <a:lnTo>
                  <a:pt x="0" y="2880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536" tIns="46536" rIns="46536" bIns="46536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00" b="1" kern="1200" dirty="0" err="1">
                <a:solidFill>
                  <a:schemeClr val="tx1"/>
                </a:solidFill>
              </a:rPr>
              <a:t>개발계</a:t>
            </a:r>
            <a:r>
              <a:rPr lang="ko-KR" altLang="en-US" sz="1000" b="1" kern="1200" dirty="0">
                <a:solidFill>
                  <a:schemeClr val="tx1"/>
                </a:solidFill>
              </a:rPr>
              <a:t> 구축</a:t>
            </a:r>
          </a:p>
        </p:txBody>
      </p:sp>
      <p:sp>
        <p:nvSpPr>
          <p:cNvPr id="61" name="자유형 60"/>
          <p:cNvSpPr/>
          <p:nvPr/>
        </p:nvSpPr>
        <p:spPr>
          <a:xfrm>
            <a:off x="3524526" y="4033508"/>
            <a:ext cx="944182" cy="905530"/>
          </a:xfrm>
          <a:custGeom>
            <a:avLst/>
            <a:gdLst>
              <a:gd name="connsiteX0" fmla="*/ 0 w 944182"/>
              <a:gd name="connsiteY0" fmla="*/ 28803 h 288034"/>
              <a:gd name="connsiteX1" fmla="*/ 28803 w 944182"/>
              <a:gd name="connsiteY1" fmla="*/ 0 h 288034"/>
              <a:gd name="connsiteX2" fmla="*/ 915379 w 944182"/>
              <a:gd name="connsiteY2" fmla="*/ 0 h 288034"/>
              <a:gd name="connsiteX3" fmla="*/ 944182 w 944182"/>
              <a:gd name="connsiteY3" fmla="*/ 28803 h 288034"/>
              <a:gd name="connsiteX4" fmla="*/ 944182 w 944182"/>
              <a:gd name="connsiteY4" fmla="*/ 259231 h 288034"/>
              <a:gd name="connsiteX5" fmla="*/ 915379 w 944182"/>
              <a:gd name="connsiteY5" fmla="*/ 288034 h 288034"/>
              <a:gd name="connsiteX6" fmla="*/ 28803 w 944182"/>
              <a:gd name="connsiteY6" fmla="*/ 288034 h 288034"/>
              <a:gd name="connsiteX7" fmla="*/ 0 w 944182"/>
              <a:gd name="connsiteY7" fmla="*/ 259231 h 288034"/>
              <a:gd name="connsiteX8" fmla="*/ 0 w 944182"/>
              <a:gd name="connsiteY8" fmla="*/ 28803 h 28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4182" h="288034">
                <a:moveTo>
                  <a:pt x="0" y="28803"/>
                </a:moveTo>
                <a:cubicBezTo>
                  <a:pt x="0" y="12896"/>
                  <a:pt x="12896" y="0"/>
                  <a:pt x="28803" y="0"/>
                </a:cubicBezTo>
                <a:lnTo>
                  <a:pt x="915379" y="0"/>
                </a:lnTo>
                <a:cubicBezTo>
                  <a:pt x="931286" y="0"/>
                  <a:pt x="944182" y="12896"/>
                  <a:pt x="944182" y="28803"/>
                </a:cubicBezTo>
                <a:lnTo>
                  <a:pt x="944182" y="259231"/>
                </a:lnTo>
                <a:cubicBezTo>
                  <a:pt x="944182" y="275138"/>
                  <a:pt x="931286" y="288034"/>
                  <a:pt x="915379" y="288034"/>
                </a:cubicBezTo>
                <a:lnTo>
                  <a:pt x="28803" y="288034"/>
                </a:lnTo>
                <a:cubicBezTo>
                  <a:pt x="12896" y="288034"/>
                  <a:pt x="0" y="275138"/>
                  <a:pt x="0" y="259231"/>
                </a:cubicBezTo>
                <a:lnTo>
                  <a:pt x="0" y="2880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536" tIns="46536" rIns="46536" bIns="46536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000" b="1" kern="1200" dirty="0">
                <a:solidFill>
                  <a:schemeClr val="tx1"/>
                </a:solidFill>
              </a:rPr>
              <a:t>Application</a:t>
            </a:r>
            <a:br>
              <a:rPr lang="en-US" altLang="ko-KR" sz="1000" b="1" kern="1200" dirty="0">
                <a:solidFill>
                  <a:schemeClr val="tx1"/>
                </a:solidFill>
              </a:rPr>
            </a:br>
            <a:r>
              <a:rPr lang="ko-KR" altLang="en-US" sz="1000" b="1" kern="1200">
                <a:solidFill>
                  <a:schemeClr val="tx1"/>
                </a:solidFill>
              </a:rPr>
              <a:t>테스트</a:t>
            </a:r>
            <a:endParaRPr lang="ko-KR" altLang="en-US" sz="1000" b="1" kern="1200" dirty="0">
              <a:solidFill>
                <a:schemeClr val="tx1"/>
              </a:solidFill>
            </a:endParaRPr>
          </a:p>
        </p:txBody>
      </p:sp>
      <p:sp>
        <p:nvSpPr>
          <p:cNvPr id="62" name="자유형 61"/>
          <p:cNvSpPr/>
          <p:nvPr/>
        </p:nvSpPr>
        <p:spPr>
          <a:xfrm>
            <a:off x="4842903" y="4033508"/>
            <a:ext cx="944182" cy="905530"/>
          </a:xfrm>
          <a:custGeom>
            <a:avLst/>
            <a:gdLst>
              <a:gd name="connsiteX0" fmla="*/ 0 w 944182"/>
              <a:gd name="connsiteY0" fmla="*/ 28803 h 288034"/>
              <a:gd name="connsiteX1" fmla="*/ 28803 w 944182"/>
              <a:gd name="connsiteY1" fmla="*/ 0 h 288034"/>
              <a:gd name="connsiteX2" fmla="*/ 915379 w 944182"/>
              <a:gd name="connsiteY2" fmla="*/ 0 h 288034"/>
              <a:gd name="connsiteX3" fmla="*/ 944182 w 944182"/>
              <a:gd name="connsiteY3" fmla="*/ 28803 h 288034"/>
              <a:gd name="connsiteX4" fmla="*/ 944182 w 944182"/>
              <a:gd name="connsiteY4" fmla="*/ 259231 h 288034"/>
              <a:gd name="connsiteX5" fmla="*/ 915379 w 944182"/>
              <a:gd name="connsiteY5" fmla="*/ 288034 h 288034"/>
              <a:gd name="connsiteX6" fmla="*/ 28803 w 944182"/>
              <a:gd name="connsiteY6" fmla="*/ 288034 h 288034"/>
              <a:gd name="connsiteX7" fmla="*/ 0 w 944182"/>
              <a:gd name="connsiteY7" fmla="*/ 259231 h 288034"/>
              <a:gd name="connsiteX8" fmla="*/ 0 w 944182"/>
              <a:gd name="connsiteY8" fmla="*/ 28803 h 28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4182" h="288034">
                <a:moveTo>
                  <a:pt x="0" y="28803"/>
                </a:moveTo>
                <a:cubicBezTo>
                  <a:pt x="0" y="12896"/>
                  <a:pt x="12896" y="0"/>
                  <a:pt x="28803" y="0"/>
                </a:cubicBezTo>
                <a:lnTo>
                  <a:pt x="915379" y="0"/>
                </a:lnTo>
                <a:cubicBezTo>
                  <a:pt x="931286" y="0"/>
                  <a:pt x="944182" y="12896"/>
                  <a:pt x="944182" y="28803"/>
                </a:cubicBezTo>
                <a:lnTo>
                  <a:pt x="944182" y="259231"/>
                </a:lnTo>
                <a:cubicBezTo>
                  <a:pt x="944182" y="275138"/>
                  <a:pt x="931286" y="288034"/>
                  <a:pt x="915379" y="288034"/>
                </a:cubicBezTo>
                <a:lnTo>
                  <a:pt x="28803" y="288034"/>
                </a:lnTo>
                <a:cubicBezTo>
                  <a:pt x="12896" y="288034"/>
                  <a:pt x="0" y="275138"/>
                  <a:pt x="0" y="259231"/>
                </a:cubicBezTo>
                <a:lnTo>
                  <a:pt x="0" y="2880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536" tIns="46536" rIns="46536" bIns="46536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TO-BE</a:t>
            </a:r>
            <a:r>
              <a:rPr lang="ko-KR" altLang="en-US" sz="1000" b="1">
                <a:solidFill>
                  <a:schemeClr val="tx1"/>
                </a:solidFill>
              </a:rPr>
              <a:t>시스템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ko-KR" altLang="en-US" sz="1000" b="1">
                <a:solidFill>
                  <a:schemeClr val="tx1"/>
                </a:solidFill>
              </a:rPr>
              <a:t>구축</a:t>
            </a:r>
            <a:endParaRPr lang="ko-KR" altLang="en-US" sz="1000" b="1" kern="1200" dirty="0">
              <a:solidFill>
                <a:schemeClr val="tx1"/>
              </a:solidFill>
            </a:endParaRPr>
          </a:p>
        </p:txBody>
      </p:sp>
      <p:sp>
        <p:nvSpPr>
          <p:cNvPr id="63" name="자유형 62"/>
          <p:cNvSpPr/>
          <p:nvPr/>
        </p:nvSpPr>
        <p:spPr>
          <a:xfrm>
            <a:off x="6161280" y="4033508"/>
            <a:ext cx="944182" cy="905530"/>
          </a:xfrm>
          <a:custGeom>
            <a:avLst/>
            <a:gdLst>
              <a:gd name="connsiteX0" fmla="*/ 0 w 944182"/>
              <a:gd name="connsiteY0" fmla="*/ 28803 h 288034"/>
              <a:gd name="connsiteX1" fmla="*/ 28803 w 944182"/>
              <a:gd name="connsiteY1" fmla="*/ 0 h 288034"/>
              <a:gd name="connsiteX2" fmla="*/ 915379 w 944182"/>
              <a:gd name="connsiteY2" fmla="*/ 0 h 288034"/>
              <a:gd name="connsiteX3" fmla="*/ 944182 w 944182"/>
              <a:gd name="connsiteY3" fmla="*/ 28803 h 288034"/>
              <a:gd name="connsiteX4" fmla="*/ 944182 w 944182"/>
              <a:gd name="connsiteY4" fmla="*/ 259231 h 288034"/>
              <a:gd name="connsiteX5" fmla="*/ 915379 w 944182"/>
              <a:gd name="connsiteY5" fmla="*/ 288034 h 288034"/>
              <a:gd name="connsiteX6" fmla="*/ 28803 w 944182"/>
              <a:gd name="connsiteY6" fmla="*/ 288034 h 288034"/>
              <a:gd name="connsiteX7" fmla="*/ 0 w 944182"/>
              <a:gd name="connsiteY7" fmla="*/ 259231 h 288034"/>
              <a:gd name="connsiteX8" fmla="*/ 0 w 944182"/>
              <a:gd name="connsiteY8" fmla="*/ 28803 h 28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4182" h="288034">
                <a:moveTo>
                  <a:pt x="0" y="28803"/>
                </a:moveTo>
                <a:cubicBezTo>
                  <a:pt x="0" y="12896"/>
                  <a:pt x="12896" y="0"/>
                  <a:pt x="28803" y="0"/>
                </a:cubicBezTo>
                <a:lnTo>
                  <a:pt x="915379" y="0"/>
                </a:lnTo>
                <a:cubicBezTo>
                  <a:pt x="931286" y="0"/>
                  <a:pt x="944182" y="12896"/>
                  <a:pt x="944182" y="28803"/>
                </a:cubicBezTo>
                <a:lnTo>
                  <a:pt x="944182" y="259231"/>
                </a:lnTo>
                <a:cubicBezTo>
                  <a:pt x="944182" y="275138"/>
                  <a:pt x="931286" y="288034"/>
                  <a:pt x="915379" y="288034"/>
                </a:cubicBezTo>
                <a:lnTo>
                  <a:pt x="28803" y="288034"/>
                </a:lnTo>
                <a:cubicBezTo>
                  <a:pt x="12896" y="288034"/>
                  <a:pt x="0" y="275138"/>
                  <a:pt x="0" y="259231"/>
                </a:cubicBezTo>
                <a:lnTo>
                  <a:pt x="0" y="2880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536" tIns="46536" rIns="46536" bIns="46536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1000" b="1" dirty="0">
                <a:solidFill>
                  <a:schemeClr val="tx1"/>
                </a:solidFill>
              </a:rPr>
              <a:t>Application</a:t>
            </a:r>
            <a:br>
              <a:rPr lang="en-US" altLang="ko-KR" sz="1000" b="1" dirty="0">
                <a:solidFill>
                  <a:schemeClr val="tx1"/>
                </a:solidFill>
              </a:rPr>
            </a:br>
            <a:r>
              <a:rPr lang="ko-KR" altLang="en-US" sz="1000" b="1">
                <a:solidFill>
                  <a:schemeClr val="tx1"/>
                </a:solidFill>
              </a:rPr>
              <a:t>테스트</a:t>
            </a:r>
            <a:endParaRPr lang="ko-KR" altLang="en-US" sz="1000" b="1" kern="1200" dirty="0">
              <a:solidFill>
                <a:schemeClr val="tx1"/>
              </a:solidFill>
            </a:endParaRPr>
          </a:p>
        </p:txBody>
      </p:sp>
      <p:sp>
        <p:nvSpPr>
          <p:cNvPr id="64" name="자유형 63"/>
          <p:cNvSpPr/>
          <p:nvPr/>
        </p:nvSpPr>
        <p:spPr>
          <a:xfrm>
            <a:off x="7508864" y="4033508"/>
            <a:ext cx="944182" cy="905530"/>
          </a:xfrm>
          <a:custGeom>
            <a:avLst/>
            <a:gdLst>
              <a:gd name="connsiteX0" fmla="*/ 0 w 944182"/>
              <a:gd name="connsiteY0" fmla="*/ 28803 h 288034"/>
              <a:gd name="connsiteX1" fmla="*/ 28803 w 944182"/>
              <a:gd name="connsiteY1" fmla="*/ 0 h 288034"/>
              <a:gd name="connsiteX2" fmla="*/ 915379 w 944182"/>
              <a:gd name="connsiteY2" fmla="*/ 0 h 288034"/>
              <a:gd name="connsiteX3" fmla="*/ 944182 w 944182"/>
              <a:gd name="connsiteY3" fmla="*/ 28803 h 288034"/>
              <a:gd name="connsiteX4" fmla="*/ 944182 w 944182"/>
              <a:gd name="connsiteY4" fmla="*/ 259231 h 288034"/>
              <a:gd name="connsiteX5" fmla="*/ 915379 w 944182"/>
              <a:gd name="connsiteY5" fmla="*/ 288034 h 288034"/>
              <a:gd name="connsiteX6" fmla="*/ 28803 w 944182"/>
              <a:gd name="connsiteY6" fmla="*/ 288034 h 288034"/>
              <a:gd name="connsiteX7" fmla="*/ 0 w 944182"/>
              <a:gd name="connsiteY7" fmla="*/ 259231 h 288034"/>
              <a:gd name="connsiteX8" fmla="*/ 0 w 944182"/>
              <a:gd name="connsiteY8" fmla="*/ 28803 h 28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4182" h="288034">
                <a:moveTo>
                  <a:pt x="0" y="28803"/>
                </a:moveTo>
                <a:cubicBezTo>
                  <a:pt x="0" y="12896"/>
                  <a:pt x="12896" y="0"/>
                  <a:pt x="28803" y="0"/>
                </a:cubicBezTo>
                <a:lnTo>
                  <a:pt x="915379" y="0"/>
                </a:lnTo>
                <a:cubicBezTo>
                  <a:pt x="931286" y="0"/>
                  <a:pt x="944182" y="12896"/>
                  <a:pt x="944182" y="28803"/>
                </a:cubicBezTo>
                <a:lnTo>
                  <a:pt x="944182" y="259231"/>
                </a:lnTo>
                <a:cubicBezTo>
                  <a:pt x="944182" y="275138"/>
                  <a:pt x="931286" y="288034"/>
                  <a:pt x="915379" y="288034"/>
                </a:cubicBezTo>
                <a:lnTo>
                  <a:pt x="28803" y="288034"/>
                </a:lnTo>
                <a:cubicBezTo>
                  <a:pt x="12896" y="288034"/>
                  <a:pt x="0" y="275138"/>
                  <a:pt x="0" y="259231"/>
                </a:cubicBezTo>
                <a:lnTo>
                  <a:pt x="0" y="28803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6536" tIns="46536" rIns="46536" bIns="46536" numCol="1" spcCol="1270" anchor="ctr" anchorCtr="0">
            <a:noAutofit/>
          </a:bodyPr>
          <a:lstStyle/>
          <a:p>
            <a:pPr lvl="0" algn="ctr" defTabSz="4445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000" b="1" dirty="0">
                <a:solidFill>
                  <a:schemeClr val="tx1"/>
                </a:solidFill>
              </a:rPr>
              <a:t>서비스 오픈</a:t>
            </a:r>
            <a:endParaRPr lang="ko-KR" altLang="en-US" sz="1000" b="1" kern="1200" dirty="0">
              <a:solidFill>
                <a:schemeClr val="tx1"/>
              </a:solidFill>
            </a:endParaRPr>
          </a:p>
        </p:txBody>
      </p:sp>
      <p:sp>
        <p:nvSpPr>
          <p:cNvPr id="86167" name="Rectangle 86166">
            <a:extLst>
              <a:ext uri="{FF2B5EF4-FFF2-40B4-BE49-F238E27FC236}">
                <a16:creationId xmlns:a16="http://schemas.microsoft.com/office/drawing/2014/main" id="{113BC374-E68C-879B-3723-E4A7B0E58453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03" name="Rectangle 86202">
            <a:extLst>
              <a:ext uri="{FF2B5EF4-FFF2-40B4-BE49-F238E27FC236}">
                <a16:creationId xmlns:a16="http://schemas.microsoft.com/office/drawing/2014/main" id="{F099C386-6DA8-1321-AC75-EA5612197585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344488" y="1120775"/>
            <a:ext cx="84756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ctr">
              <a:defRPr/>
            </a:pPr>
            <a:r>
              <a:rPr lang="ko-KR" altLang="en-US" sz="1200" dirty="0"/>
              <a:t>서비스 단위로 테스트 환경을 구축 </a:t>
            </a:r>
            <a:r>
              <a:rPr lang="en-US" altLang="ko-KR" sz="1200" dirty="0"/>
              <a:t>/ Application </a:t>
            </a:r>
            <a:r>
              <a:rPr lang="ko-KR" altLang="en-US" sz="1200"/>
              <a:t>테스트하여 문제도출 및 해결을 지원합니다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grpSp>
        <p:nvGrpSpPr>
          <p:cNvPr id="71684" name="그룹 10"/>
          <p:cNvGrpSpPr>
            <a:grpSpLocks/>
          </p:cNvGrpSpPr>
          <p:nvPr/>
        </p:nvGrpSpPr>
        <p:grpSpPr bwMode="auto">
          <a:xfrm>
            <a:off x="381000" y="1635314"/>
            <a:ext cx="8439150" cy="225425"/>
            <a:chOff x="381001" y="2051226"/>
            <a:chExt cx="8439470" cy="225650"/>
          </a:xfrm>
        </p:grpSpPr>
        <p:sp>
          <p:nvSpPr>
            <p:cNvPr id="19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latinLnBrk="1">
                <a:lnSpc>
                  <a:spcPct val="100000"/>
                </a:lnSpc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테스트 프로세스</a:t>
              </a:r>
            </a:p>
          </p:txBody>
        </p:sp>
        <p:grpSp>
          <p:nvGrpSpPr>
            <p:cNvPr id="7169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169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169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282575" y="487363"/>
            <a:ext cx="335332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III.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전략부문</a:t>
            </a: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7271792" y="539730"/>
            <a:ext cx="1872208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사업수행 방법론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647846" y="2149168"/>
            <a:ext cx="7868945" cy="1152128"/>
            <a:chOff x="735503" y="2936921"/>
            <a:chExt cx="7868945" cy="1428183"/>
          </a:xfrm>
        </p:grpSpPr>
        <p:sp>
          <p:nvSpPr>
            <p:cNvPr id="22" name="AutoShape 30"/>
            <p:cNvSpPr>
              <a:spLocks noChangeArrowheads="1"/>
            </p:cNvSpPr>
            <p:nvPr/>
          </p:nvSpPr>
          <p:spPr bwMode="auto">
            <a:xfrm>
              <a:off x="735503" y="3191994"/>
              <a:ext cx="7868945" cy="877511"/>
            </a:xfrm>
            <a:prstGeom prst="homePlate">
              <a:avLst>
                <a:gd name="adj" fmla="val 55885"/>
              </a:avLst>
            </a:prstGeom>
            <a:solidFill>
              <a:srgbClr val="8D8D8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rgbClr val="C0C0C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algn="ctr"/>
              <a:endParaRPr lang="ko-KR" altLang="ko-KR" sz="1000" dirty="0"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23" name="Rectangle 31"/>
            <p:cNvSpPr>
              <a:spLocks noChangeArrowheads="1"/>
            </p:cNvSpPr>
            <p:nvPr/>
          </p:nvSpPr>
          <p:spPr bwMode="auto">
            <a:xfrm>
              <a:off x="742116" y="3448440"/>
              <a:ext cx="6341799" cy="1030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endParaRPr lang="ko-KR" altLang="en-US" sz="1000" dirty="0"/>
            </a:p>
          </p:txBody>
        </p:sp>
        <p:sp>
          <p:nvSpPr>
            <p:cNvPr id="24" name="Rectangle 32"/>
            <p:cNvSpPr>
              <a:spLocks noChangeArrowheads="1"/>
            </p:cNvSpPr>
            <p:nvPr/>
          </p:nvSpPr>
          <p:spPr bwMode="auto">
            <a:xfrm>
              <a:off x="742116" y="3296740"/>
              <a:ext cx="6341799" cy="1030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endParaRPr lang="ko-KR" altLang="en-US" sz="1000" dirty="0"/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742116" y="3596528"/>
              <a:ext cx="6341799" cy="1030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endParaRPr lang="ko-KR" altLang="en-US" sz="1000" dirty="0"/>
            </a:p>
          </p:txBody>
        </p:sp>
        <p:grpSp>
          <p:nvGrpSpPr>
            <p:cNvPr id="26" name="Group 69"/>
            <p:cNvGrpSpPr>
              <a:grpSpLocks/>
            </p:cNvGrpSpPr>
            <p:nvPr/>
          </p:nvGrpSpPr>
          <p:grpSpPr bwMode="auto">
            <a:xfrm>
              <a:off x="827584" y="2936921"/>
              <a:ext cx="1263413" cy="1428183"/>
              <a:chOff x="1986" y="1797"/>
              <a:chExt cx="641" cy="608"/>
            </a:xfrm>
          </p:grpSpPr>
          <p:sp>
            <p:nvSpPr>
              <p:cNvPr id="48" name="AutoShape 36"/>
              <p:cNvSpPr>
                <a:spLocks noChangeArrowheads="1"/>
              </p:cNvSpPr>
              <p:nvPr/>
            </p:nvSpPr>
            <p:spPr bwMode="auto">
              <a:xfrm>
                <a:off x="1986" y="1797"/>
                <a:ext cx="641" cy="608"/>
              </a:xfrm>
              <a:prstGeom prst="chevron">
                <a:avLst>
                  <a:gd name="adj" fmla="val 23121"/>
                </a:avLst>
              </a:prstGeom>
              <a:gradFill rotWithShape="0">
                <a:gsLst>
                  <a:gs pos="0">
                    <a:srgbClr val="EEEEEE"/>
                  </a:gs>
                  <a:gs pos="100000">
                    <a:srgbClr val="CDCDCD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7B7B7B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endParaRPr lang="ko-KR" altLang="en-US" sz="1000" dirty="0"/>
              </a:p>
            </p:txBody>
          </p:sp>
          <p:sp>
            <p:nvSpPr>
              <p:cNvPr id="49" name="AutoShape 37"/>
              <p:cNvSpPr>
                <a:spLocks noChangeArrowheads="1"/>
              </p:cNvSpPr>
              <p:nvPr/>
            </p:nvSpPr>
            <p:spPr bwMode="auto">
              <a:xfrm>
                <a:off x="2043" y="1828"/>
                <a:ext cx="542" cy="541"/>
              </a:xfrm>
              <a:prstGeom prst="chevron">
                <a:avLst>
                  <a:gd name="adj" fmla="val 22311"/>
                </a:avLst>
              </a:prstGeom>
              <a:gradFill rotWithShape="0">
                <a:gsLst>
                  <a:gs pos="0">
                    <a:srgbClr val="CDCDCD"/>
                  </a:gs>
                  <a:gs pos="100000">
                    <a:srgbClr val="CDCDCD">
                      <a:gamma/>
                      <a:tint val="3137"/>
                      <a:invGamma/>
                    </a:srgbClr>
                  </a:gs>
                </a:gsLst>
                <a:lin ang="5400000" scaled="1"/>
              </a:gradFill>
              <a:ln w="3175">
                <a:solidFill>
                  <a:srgbClr val="4B4B4B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4B4B4B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234000" tIns="46800" rIns="90000" bIns="46800" anchor="ctr"/>
              <a:lstStyle/>
              <a:p>
                <a:pPr algn="ctr">
                  <a:defRPr/>
                </a:pPr>
                <a:r>
                  <a:rPr lang="ko-KR" altLang="en-US" sz="1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리스크</a:t>
                </a:r>
                <a:br>
                  <a:rPr lang="en-US" altLang="ko-KR" sz="1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</a:br>
                <a:r>
                  <a:rPr lang="ko-KR" altLang="en-US" sz="1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진단</a:t>
                </a:r>
                <a:endParaRPr lang="ko-KR" altLang="en-US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endParaRPr>
              </a:p>
            </p:txBody>
          </p:sp>
        </p:grpSp>
        <p:grpSp>
          <p:nvGrpSpPr>
            <p:cNvPr id="27" name="Group 70"/>
            <p:cNvGrpSpPr>
              <a:grpSpLocks/>
            </p:cNvGrpSpPr>
            <p:nvPr/>
          </p:nvGrpSpPr>
          <p:grpSpPr bwMode="auto">
            <a:xfrm>
              <a:off x="1979712" y="2936921"/>
              <a:ext cx="1263414" cy="1428183"/>
              <a:chOff x="1751" y="1797"/>
              <a:chExt cx="641" cy="608"/>
            </a:xfrm>
          </p:grpSpPr>
          <p:sp>
            <p:nvSpPr>
              <p:cNvPr id="46" name="AutoShape 71"/>
              <p:cNvSpPr>
                <a:spLocks noChangeArrowheads="1"/>
              </p:cNvSpPr>
              <p:nvPr/>
            </p:nvSpPr>
            <p:spPr bwMode="auto">
              <a:xfrm>
                <a:off x="1751" y="1797"/>
                <a:ext cx="641" cy="608"/>
              </a:xfrm>
              <a:prstGeom prst="chevron">
                <a:avLst>
                  <a:gd name="adj" fmla="val 23121"/>
                </a:avLst>
              </a:prstGeom>
              <a:gradFill rotWithShape="0">
                <a:gsLst>
                  <a:gs pos="0">
                    <a:srgbClr val="EEEEEE"/>
                  </a:gs>
                  <a:gs pos="100000">
                    <a:srgbClr val="CDCDCD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7B7B7B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endParaRPr lang="ko-KR" altLang="en-US" sz="1000" dirty="0"/>
              </a:p>
            </p:txBody>
          </p:sp>
          <p:sp>
            <p:nvSpPr>
              <p:cNvPr id="47" name="AutoShape 72"/>
              <p:cNvSpPr>
                <a:spLocks noChangeArrowheads="1"/>
              </p:cNvSpPr>
              <p:nvPr/>
            </p:nvSpPr>
            <p:spPr bwMode="auto">
              <a:xfrm>
                <a:off x="1808" y="1828"/>
                <a:ext cx="542" cy="541"/>
              </a:xfrm>
              <a:prstGeom prst="chevron">
                <a:avLst>
                  <a:gd name="adj" fmla="val 22311"/>
                </a:avLst>
              </a:prstGeom>
              <a:gradFill rotWithShape="0">
                <a:gsLst>
                  <a:gs pos="0">
                    <a:srgbClr val="CDCDCD"/>
                  </a:gs>
                  <a:gs pos="100000">
                    <a:srgbClr val="CDCDCD">
                      <a:gamma/>
                      <a:tint val="3137"/>
                      <a:invGamma/>
                    </a:srgbClr>
                  </a:gs>
                </a:gsLst>
                <a:lin ang="5400000" scaled="1"/>
              </a:gradFill>
              <a:ln w="3175">
                <a:solidFill>
                  <a:srgbClr val="4B4B4B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4B4B4B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234000" tIns="46800" rIns="90000" bIns="46800" anchor="ctr"/>
              <a:lstStyle/>
              <a:p>
                <a:pPr algn="ctr">
                  <a:defRPr/>
                </a:pPr>
                <a:r>
                  <a:rPr lang="ko-KR" altLang="en-US" sz="1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리스크</a:t>
                </a:r>
                <a:br>
                  <a:rPr lang="en-US" altLang="ko-KR" sz="1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</a:br>
                <a:r>
                  <a:rPr lang="ko-KR" altLang="en-US" sz="1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분석</a:t>
                </a:r>
                <a:r>
                  <a:rPr lang="en-US" altLang="ko-KR" sz="1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/</a:t>
                </a:r>
                <a:r>
                  <a:rPr lang="ko-KR" altLang="en-US" sz="1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해결</a:t>
                </a:r>
                <a:endParaRPr lang="ko-KR" altLang="en-US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endParaRPr>
              </a:p>
            </p:txBody>
          </p:sp>
        </p:grpSp>
        <p:grpSp>
          <p:nvGrpSpPr>
            <p:cNvPr id="28" name="Group 73"/>
            <p:cNvGrpSpPr>
              <a:grpSpLocks/>
            </p:cNvGrpSpPr>
            <p:nvPr/>
          </p:nvGrpSpPr>
          <p:grpSpPr bwMode="auto">
            <a:xfrm>
              <a:off x="3131840" y="2936921"/>
              <a:ext cx="1263414" cy="1428183"/>
              <a:chOff x="1527" y="1797"/>
              <a:chExt cx="641" cy="608"/>
            </a:xfrm>
          </p:grpSpPr>
          <p:sp>
            <p:nvSpPr>
              <p:cNvPr id="44" name="AutoShape 74"/>
              <p:cNvSpPr>
                <a:spLocks noChangeArrowheads="1"/>
              </p:cNvSpPr>
              <p:nvPr/>
            </p:nvSpPr>
            <p:spPr bwMode="auto">
              <a:xfrm>
                <a:off x="1527" y="1797"/>
                <a:ext cx="641" cy="608"/>
              </a:xfrm>
              <a:prstGeom prst="chevron">
                <a:avLst>
                  <a:gd name="adj" fmla="val 23121"/>
                </a:avLst>
              </a:prstGeom>
              <a:gradFill rotWithShape="0">
                <a:gsLst>
                  <a:gs pos="0">
                    <a:srgbClr val="EEEEEE"/>
                  </a:gs>
                  <a:gs pos="100000">
                    <a:srgbClr val="CDCDCD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7B7B7B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endParaRPr lang="ko-KR" altLang="en-US" sz="1000" dirty="0"/>
              </a:p>
            </p:txBody>
          </p:sp>
          <p:sp>
            <p:nvSpPr>
              <p:cNvPr id="45" name="AutoShape 75"/>
              <p:cNvSpPr>
                <a:spLocks noChangeArrowheads="1"/>
              </p:cNvSpPr>
              <p:nvPr/>
            </p:nvSpPr>
            <p:spPr bwMode="auto">
              <a:xfrm>
                <a:off x="1584" y="1828"/>
                <a:ext cx="540" cy="541"/>
              </a:xfrm>
              <a:prstGeom prst="chevron">
                <a:avLst>
                  <a:gd name="adj" fmla="val 22311"/>
                </a:avLst>
              </a:prstGeom>
              <a:gradFill rotWithShape="0">
                <a:gsLst>
                  <a:gs pos="0">
                    <a:srgbClr val="CDCDCD"/>
                  </a:gs>
                  <a:gs pos="100000">
                    <a:srgbClr val="CDCDCD">
                      <a:gamma/>
                      <a:tint val="3137"/>
                      <a:invGamma/>
                    </a:srgbClr>
                  </a:gs>
                </a:gsLst>
                <a:lin ang="5400000" scaled="1"/>
              </a:gradFill>
              <a:ln w="3175">
                <a:solidFill>
                  <a:srgbClr val="4B4B4B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4B4B4B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lIns="234000" tIns="46800" rIns="90000" bIns="46800" anchor="ctr"/>
              <a:lstStyle/>
              <a:p>
                <a:pPr algn="ctr">
                  <a:defRPr/>
                </a:pPr>
                <a:r>
                  <a:rPr lang="ko-KR" altLang="en-US" sz="1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테스트</a:t>
                </a:r>
                <a:br>
                  <a:rPr lang="en-US" altLang="ko-KR" sz="1000" b="1" dirty="0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</a:br>
                <a:r>
                  <a:rPr lang="ko-KR" altLang="en-US" sz="1000" b="1">
                    <a:effectLst>
                      <a:outerShdw blurRad="38100" dist="38100" dir="2700000" algn="tl">
                        <a:srgbClr val="FFFFFF"/>
                      </a:outerShdw>
                    </a:effectLst>
                    <a:latin typeface="Arial" panose="020B0604020202020204" pitchFamily="34" charset="0"/>
                    <a:ea typeface="돋움" panose="020B0600000101010101" pitchFamily="50" charset="-127"/>
                  </a:rPr>
                  <a:t>환경구축</a:t>
                </a:r>
                <a:endParaRPr lang="ko-KR" altLang="en-US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endParaRPr>
              </a:p>
            </p:txBody>
          </p:sp>
        </p:grpSp>
        <p:sp>
          <p:nvSpPr>
            <p:cNvPr id="29" name="AutoShape 77"/>
            <p:cNvSpPr>
              <a:spLocks noChangeArrowheads="1"/>
            </p:cNvSpPr>
            <p:nvPr/>
          </p:nvSpPr>
          <p:spPr bwMode="auto">
            <a:xfrm>
              <a:off x="4355976" y="2936921"/>
              <a:ext cx="1263413" cy="1428183"/>
            </a:xfrm>
            <a:prstGeom prst="chevron">
              <a:avLst>
                <a:gd name="adj" fmla="val 23121"/>
              </a:avLst>
            </a:prstGeom>
            <a:gradFill rotWithShape="0">
              <a:gsLst>
                <a:gs pos="0">
                  <a:srgbClr val="EEEEEE"/>
                </a:gs>
                <a:gs pos="100000">
                  <a:srgbClr val="CDCDCD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B7B7B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endParaRPr lang="ko-KR" altLang="en-US" sz="1000" dirty="0"/>
            </a:p>
          </p:txBody>
        </p:sp>
        <p:sp>
          <p:nvSpPr>
            <p:cNvPr id="30" name="AutoShape 78"/>
            <p:cNvSpPr>
              <a:spLocks noChangeArrowheads="1"/>
            </p:cNvSpPr>
            <p:nvPr/>
          </p:nvSpPr>
          <p:spPr bwMode="auto">
            <a:xfrm>
              <a:off x="4462410" y="3009740"/>
              <a:ext cx="1068284" cy="1270801"/>
            </a:xfrm>
            <a:prstGeom prst="chevron">
              <a:avLst>
                <a:gd name="adj" fmla="val 22311"/>
              </a:avLst>
            </a:prstGeom>
            <a:gradFill rotWithShape="0">
              <a:gsLst>
                <a:gs pos="0">
                  <a:srgbClr val="CDCDCD"/>
                </a:gs>
                <a:gs pos="100000">
                  <a:srgbClr val="CDCDCD">
                    <a:gamma/>
                    <a:tint val="3137"/>
                    <a:invGamma/>
                  </a:srgbClr>
                </a:gs>
              </a:gsLst>
              <a:lin ang="5400000" scaled="1"/>
            </a:gradFill>
            <a:ln w="3175">
              <a:solidFill>
                <a:srgbClr val="4B4B4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4B4B4B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234000" tIns="46800" rIns="90000" bIns="46800" anchor="ctr"/>
            <a:lstStyle/>
            <a:p>
              <a:pPr algn="ctr">
                <a:defRPr/>
              </a:pPr>
              <a:r>
                <a:rPr lang="ko-KR" altLang="en-US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  <a:t>리스크 해결</a:t>
              </a:r>
              <a:br>
                <a:rPr lang="en-US" altLang="ko-KR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</a:br>
              <a:r>
                <a:rPr lang="ko-KR" altLang="en-US" sz="1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  <a:t>검증</a:t>
              </a:r>
              <a:endParaRPr lang="ko-KR" altLang="en-US" sz="1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40" name="AutoShape 77"/>
            <p:cNvSpPr>
              <a:spLocks noChangeArrowheads="1"/>
            </p:cNvSpPr>
            <p:nvPr/>
          </p:nvSpPr>
          <p:spPr bwMode="auto">
            <a:xfrm>
              <a:off x="5580112" y="2936921"/>
              <a:ext cx="1263413" cy="1428183"/>
            </a:xfrm>
            <a:prstGeom prst="chevron">
              <a:avLst>
                <a:gd name="adj" fmla="val 23121"/>
              </a:avLst>
            </a:prstGeom>
            <a:gradFill rotWithShape="0">
              <a:gsLst>
                <a:gs pos="0">
                  <a:srgbClr val="EEEEEE"/>
                </a:gs>
                <a:gs pos="100000">
                  <a:srgbClr val="CDCDCD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B7B7B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endParaRPr lang="ko-KR" altLang="en-US" sz="1000" dirty="0"/>
            </a:p>
          </p:txBody>
        </p:sp>
        <p:sp>
          <p:nvSpPr>
            <p:cNvPr id="41" name="AutoShape 78"/>
            <p:cNvSpPr>
              <a:spLocks noChangeArrowheads="1"/>
            </p:cNvSpPr>
            <p:nvPr/>
          </p:nvSpPr>
          <p:spPr bwMode="auto">
            <a:xfrm>
              <a:off x="5684575" y="3009740"/>
              <a:ext cx="1064342" cy="1270801"/>
            </a:xfrm>
            <a:prstGeom prst="chevron">
              <a:avLst>
                <a:gd name="adj" fmla="val 22311"/>
              </a:avLst>
            </a:prstGeom>
            <a:gradFill rotWithShape="0">
              <a:gsLst>
                <a:gs pos="0">
                  <a:srgbClr val="CDCDCD"/>
                </a:gs>
                <a:gs pos="100000">
                  <a:srgbClr val="CDCDCD">
                    <a:gamma/>
                    <a:tint val="3137"/>
                    <a:invGamma/>
                  </a:srgbClr>
                </a:gs>
              </a:gsLst>
              <a:lin ang="5400000" scaled="1"/>
            </a:gradFill>
            <a:ln w="3175">
              <a:solidFill>
                <a:srgbClr val="4B4B4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4B4B4B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234000" tIns="46800" rIns="90000" bIns="46800" anchor="ctr"/>
            <a:lstStyle/>
            <a:p>
              <a:pPr algn="ctr">
                <a:defRPr/>
              </a:pPr>
              <a:r>
                <a:rPr lang="en-US" altLang="ko-KR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  <a:t>Application</a:t>
              </a:r>
              <a:br>
                <a:rPr lang="en-US" altLang="ko-KR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</a:br>
              <a:r>
                <a:rPr lang="ko-KR" altLang="en-US" sz="1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  <a:t>테스트</a:t>
              </a:r>
              <a:endParaRPr lang="ko-KR" altLang="en-US" sz="1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  <p:sp>
          <p:nvSpPr>
            <p:cNvPr id="42" name="AutoShape 77"/>
            <p:cNvSpPr>
              <a:spLocks noChangeArrowheads="1"/>
            </p:cNvSpPr>
            <p:nvPr/>
          </p:nvSpPr>
          <p:spPr bwMode="auto">
            <a:xfrm>
              <a:off x="6729427" y="2936921"/>
              <a:ext cx="1263413" cy="1428183"/>
            </a:xfrm>
            <a:prstGeom prst="chevron">
              <a:avLst>
                <a:gd name="adj" fmla="val 23121"/>
              </a:avLst>
            </a:prstGeom>
            <a:gradFill rotWithShape="0">
              <a:gsLst>
                <a:gs pos="0">
                  <a:srgbClr val="EEEEEE"/>
                </a:gs>
                <a:gs pos="100000">
                  <a:srgbClr val="CDCDCD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7B7B7B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endParaRPr lang="ko-KR" altLang="en-US" sz="1000" dirty="0"/>
            </a:p>
          </p:txBody>
        </p:sp>
        <p:sp>
          <p:nvSpPr>
            <p:cNvPr id="43" name="AutoShape 78"/>
            <p:cNvSpPr>
              <a:spLocks noChangeArrowheads="1"/>
            </p:cNvSpPr>
            <p:nvPr/>
          </p:nvSpPr>
          <p:spPr bwMode="auto">
            <a:xfrm>
              <a:off x="6833890" y="3009740"/>
              <a:ext cx="1064342" cy="1270801"/>
            </a:xfrm>
            <a:prstGeom prst="chevron">
              <a:avLst>
                <a:gd name="adj" fmla="val 22311"/>
              </a:avLst>
            </a:prstGeom>
            <a:gradFill rotWithShape="0">
              <a:gsLst>
                <a:gs pos="0">
                  <a:srgbClr val="CDCDCD"/>
                </a:gs>
                <a:gs pos="100000">
                  <a:srgbClr val="CDCDCD">
                    <a:gamma/>
                    <a:tint val="3137"/>
                    <a:invGamma/>
                  </a:srgbClr>
                </a:gs>
              </a:gsLst>
              <a:lin ang="5400000" scaled="1"/>
            </a:gradFill>
            <a:ln w="3175">
              <a:solidFill>
                <a:srgbClr val="4B4B4B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4B4B4B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lIns="234000" tIns="46800" rIns="90000" bIns="46800" anchor="ctr"/>
            <a:lstStyle/>
            <a:p>
              <a:pPr algn="ctr">
                <a:defRPr/>
              </a:pPr>
              <a:r>
                <a:rPr lang="ko-KR" altLang="en-US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  <a:t>서비스</a:t>
              </a:r>
              <a:br>
                <a:rPr lang="en-US" altLang="ko-KR" sz="1000" b="1" dirty="0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</a:br>
              <a:r>
                <a:rPr lang="ko-KR" altLang="en-US" sz="1000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Arial" panose="020B0604020202020204" pitchFamily="34" charset="0"/>
                  <a:ea typeface="돋움" panose="020B0600000101010101" pitchFamily="50" charset="-127"/>
                </a:rPr>
                <a:t>검증완료</a:t>
              </a:r>
              <a:endParaRPr lang="ko-KR" altLang="en-US" sz="1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ea typeface="돋움" panose="020B0600000101010101" pitchFamily="50" charset="-127"/>
              </a:endParaRPr>
            </a:p>
          </p:txBody>
        </p:sp>
      </p:grpSp>
      <p:grpSp>
        <p:nvGrpSpPr>
          <p:cNvPr id="50" name="그룹 10"/>
          <p:cNvGrpSpPr>
            <a:grpSpLocks/>
          </p:cNvGrpSpPr>
          <p:nvPr/>
        </p:nvGrpSpPr>
        <p:grpSpPr bwMode="auto">
          <a:xfrm>
            <a:off x="381000" y="4103613"/>
            <a:ext cx="8439150" cy="225425"/>
            <a:chOff x="381001" y="2051226"/>
            <a:chExt cx="8439470" cy="225650"/>
          </a:xfrm>
        </p:grpSpPr>
        <p:sp>
          <p:nvSpPr>
            <p:cNvPr id="51" name="AutoShape 29"/>
            <p:cNvSpPr>
              <a:spLocks noChangeArrowheads="1"/>
            </p:cNvSpPr>
            <p:nvPr/>
          </p:nvSpPr>
          <p:spPr bwMode="auto">
            <a:xfrm>
              <a:off x="381001" y="2051226"/>
              <a:ext cx="2319426" cy="225650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latinLnBrk="1"/>
              <a:r>
                <a:rPr kumimoji="1" lang="ko-KR" altLang="en-US" sz="1100" b="1" dirty="0">
                  <a:solidFill>
                    <a:schemeClr val="bg1"/>
                  </a:solidFill>
                  <a:latin typeface="+mn-ea"/>
                </a:rPr>
                <a:t>데이터베이스 데이터 이관 전략</a:t>
              </a:r>
            </a:p>
          </p:txBody>
        </p:sp>
        <p:grpSp>
          <p:nvGrpSpPr>
            <p:cNvPr id="52" name="그룹 13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53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54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55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grpSp>
        <p:nvGrpSpPr>
          <p:cNvPr id="56" name="그룹 55"/>
          <p:cNvGrpSpPr/>
          <p:nvPr/>
        </p:nvGrpSpPr>
        <p:grpSpPr>
          <a:xfrm>
            <a:off x="730623" y="4874080"/>
            <a:ext cx="3668142" cy="1216589"/>
            <a:chOff x="982663" y="2774454"/>
            <a:chExt cx="4841875" cy="1109663"/>
          </a:xfrm>
        </p:grpSpPr>
        <p:sp>
          <p:nvSpPr>
            <p:cNvPr id="57" name="모서리가 둥근 직사각형 56"/>
            <p:cNvSpPr/>
            <p:nvPr/>
          </p:nvSpPr>
          <p:spPr>
            <a:xfrm>
              <a:off x="982663" y="2918917"/>
              <a:ext cx="4829175" cy="96520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latin typeface="+mn-ea"/>
              </a:endParaRPr>
            </a:p>
          </p:txBody>
        </p:sp>
        <p:sp>
          <p:nvSpPr>
            <p:cNvPr id="58" name="순서도: 자기 디스크 57"/>
            <p:cNvSpPr/>
            <p:nvPr/>
          </p:nvSpPr>
          <p:spPr>
            <a:xfrm>
              <a:off x="1482725" y="3042742"/>
              <a:ext cx="941388" cy="701675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latin typeface="+mn-ea"/>
                </a:rPr>
                <a:t>전체백업</a:t>
              </a:r>
            </a:p>
          </p:txBody>
        </p:sp>
        <p:sp>
          <p:nvSpPr>
            <p:cNvPr id="59" name="순서도: 자기 디스크 58"/>
            <p:cNvSpPr/>
            <p:nvPr/>
          </p:nvSpPr>
          <p:spPr>
            <a:xfrm>
              <a:off x="2892425" y="3042742"/>
              <a:ext cx="941388" cy="701675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latin typeface="+mn-ea"/>
                </a:rPr>
                <a:t>차등백업</a:t>
              </a:r>
            </a:p>
          </p:txBody>
        </p:sp>
        <p:sp>
          <p:nvSpPr>
            <p:cNvPr id="60" name="순서도: 자기 디스크 59"/>
            <p:cNvSpPr/>
            <p:nvPr/>
          </p:nvSpPr>
          <p:spPr>
            <a:xfrm>
              <a:off x="4302125" y="3042742"/>
              <a:ext cx="941388" cy="701675"/>
            </a:xfrm>
            <a:prstGeom prst="flowChartMagneticDisk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latin typeface="+mn-ea"/>
                </a:rPr>
                <a:t>로그백업</a:t>
              </a:r>
            </a:p>
          </p:txBody>
        </p:sp>
        <p:sp>
          <p:nvSpPr>
            <p:cNvPr id="61" name="십자형 60"/>
            <p:cNvSpPr/>
            <p:nvPr/>
          </p:nvSpPr>
          <p:spPr>
            <a:xfrm>
              <a:off x="2540000" y="3260229"/>
              <a:ext cx="241300" cy="268288"/>
            </a:xfrm>
            <a:prstGeom prst="plu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latin typeface="+mn-ea"/>
              </a:endParaRPr>
            </a:p>
          </p:txBody>
        </p:sp>
        <p:sp>
          <p:nvSpPr>
            <p:cNvPr id="62" name="십자형 61"/>
            <p:cNvSpPr/>
            <p:nvPr/>
          </p:nvSpPr>
          <p:spPr>
            <a:xfrm>
              <a:off x="3944938" y="3260229"/>
              <a:ext cx="239712" cy="268288"/>
            </a:xfrm>
            <a:prstGeom prst="plu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latin typeface="+mn-ea"/>
              </a:endParaRPr>
            </a:p>
          </p:txBody>
        </p:sp>
        <p:sp>
          <p:nvSpPr>
            <p:cNvPr id="63" name="줄무늬가 있는 오른쪽 화살표 62"/>
            <p:cNvSpPr/>
            <p:nvPr/>
          </p:nvSpPr>
          <p:spPr>
            <a:xfrm>
              <a:off x="995363" y="2774454"/>
              <a:ext cx="4829175" cy="285750"/>
            </a:xfrm>
            <a:prstGeom prst="stripedRightArrow">
              <a:avLst/>
            </a:prstGeom>
            <a:gradFill>
              <a:gsLst>
                <a:gs pos="2000">
                  <a:schemeClr val="accent6"/>
                </a:gs>
                <a:gs pos="98165">
                  <a:srgbClr val="CDCDCD">
                    <a:gamma/>
                    <a:tint val="3137"/>
                    <a:invGamma/>
                  </a:srgbClr>
                </a:gs>
                <a:gs pos="49000">
                  <a:schemeClr val="accent6">
                    <a:lumMod val="40000"/>
                    <a:lumOff val="60000"/>
                  </a:schemeClr>
                </a:gs>
                <a:gs pos="100000">
                  <a:srgbClr val="CDCDCD">
                    <a:gamma/>
                    <a:tint val="3137"/>
                    <a:invGamma/>
                  </a:srgb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ko-KR" altLang="en-US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609254" y="4467928"/>
            <a:ext cx="765175" cy="533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>
              <a:defRPr/>
            </a:pPr>
            <a:r>
              <a:rPr lang="en-US" altLang="ko-KR" b="1" dirty="0">
                <a:latin typeface="+mn-ea"/>
                <a:ea typeface="+mn-ea"/>
              </a:rPr>
              <a:t>[ </a:t>
            </a:r>
            <a:r>
              <a:rPr lang="ko-KR" altLang="en-US" b="1" dirty="0">
                <a:latin typeface="+mn-ea"/>
                <a:ea typeface="+mn-ea"/>
              </a:rPr>
              <a:t>백 업 </a:t>
            </a:r>
            <a:r>
              <a:rPr lang="en-US" altLang="ko-KR" b="1" dirty="0">
                <a:latin typeface="+mn-ea"/>
                <a:ea typeface="+mn-ea"/>
              </a:rPr>
              <a:t>]</a:t>
            </a:r>
            <a:endParaRPr lang="ko-KR" altLang="en-US" b="1" dirty="0">
              <a:latin typeface="+mn-ea"/>
              <a:ea typeface="+mn-ea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4644008" y="5042559"/>
            <a:ext cx="3741110" cy="1050737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67" name="순서도: 자기 디스크 66"/>
          <p:cNvSpPr/>
          <p:nvPr/>
        </p:nvSpPr>
        <p:spPr>
          <a:xfrm>
            <a:off x="5031401" y="5175848"/>
            <a:ext cx="729283" cy="765117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b="1" dirty="0">
                <a:latin typeface="+mn-ea"/>
              </a:rPr>
              <a:t>전체백업</a:t>
            </a:r>
          </a:p>
        </p:txBody>
      </p:sp>
      <p:sp>
        <p:nvSpPr>
          <p:cNvPr id="68" name="순서도: 자기 디스크 67"/>
          <p:cNvSpPr/>
          <p:nvPr/>
        </p:nvSpPr>
        <p:spPr>
          <a:xfrm>
            <a:off x="6123480" y="5175848"/>
            <a:ext cx="729283" cy="765117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b="1" dirty="0">
                <a:latin typeface="+mn-ea"/>
              </a:rPr>
              <a:t>차등백업</a:t>
            </a:r>
          </a:p>
        </p:txBody>
      </p:sp>
      <p:sp>
        <p:nvSpPr>
          <p:cNvPr id="69" name="순서도: 자기 디스크 68"/>
          <p:cNvSpPr/>
          <p:nvPr/>
        </p:nvSpPr>
        <p:spPr>
          <a:xfrm>
            <a:off x="7215560" y="5175848"/>
            <a:ext cx="729283" cy="765117"/>
          </a:xfrm>
          <a:prstGeom prst="flowChartMagneticDisk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b="1" dirty="0">
                <a:latin typeface="+mn-ea"/>
              </a:rPr>
              <a:t>로그백업</a:t>
            </a:r>
          </a:p>
        </p:txBody>
      </p:sp>
      <p:sp>
        <p:nvSpPr>
          <p:cNvPr id="70" name="십자형 69"/>
          <p:cNvSpPr/>
          <p:nvPr/>
        </p:nvSpPr>
        <p:spPr>
          <a:xfrm>
            <a:off x="5850460" y="5414731"/>
            <a:ext cx="186933" cy="290814"/>
          </a:xfrm>
          <a:prstGeom prst="plu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71" name="십자형 70"/>
          <p:cNvSpPr/>
          <p:nvPr/>
        </p:nvSpPr>
        <p:spPr>
          <a:xfrm>
            <a:off x="6938851" y="5414731"/>
            <a:ext cx="185702" cy="290814"/>
          </a:xfrm>
          <a:prstGeom prst="plu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latin typeface="+mn-ea"/>
            </a:endParaRPr>
          </a:p>
        </p:txBody>
      </p:sp>
      <p:sp>
        <p:nvSpPr>
          <p:cNvPr id="72" name="줄무늬가 있는 오른쪽 화살표 71"/>
          <p:cNvSpPr/>
          <p:nvPr/>
        </p:nvSpPr>
        <p:spPr>
          <a:xfrm>
            <a:off x="4653847" y="4885034"/>
            <a:ext cx="3741110" cy="311586"/>
          </a:xfrm>
          <a:prstGeom prst="stripedRightArrow">
            <a:avLst/>
          </a:prstGeom>
          <a:gradFill>
            <a:gsLst>
              <a:gs pos="2000">
                <a:srgbClr val="00B050"/>
              </a:gs>
              <a:gs pos="98165">
                <a:srgbClr val="CDCDCD">
                  <a:gamma/>
                  <a:tint val="3137"/>
                  <a:invGamma/>
                </a:srgbClr>
              </a:gs>
              <a:gs pos="49000">
                <a:srgbClr val="92D050"/>
              </a:gs>
              <a:gs pos="100000">
                <a:srgbClr val="CDCDCD">
                  <a:gamma/>
                  <a:tint val="3137"/>
                  <a:invGamma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3" name="TextBox 86"/>
          <p:cNvSpPr txBox="1">
            <a:spLocks noChangeArrowheads="1"/>
          </p:cNvSpPr>
          <p:nvPr/>
        </p:nvSpPr>
        <p:spPr bwMode="auto">
          <a:xfrm>
            <a:off x="4520114" y="4435930"/>
            <a:ext cx="7651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>
              <a:defRPr/>
            </a:pPr>
            <a:r>
              <a:rPr lang="en-US" altLang="ko-KR" sz="1350" b="1">
                <a:latin typeface="+mn-ea"/>
                <a:ea typeface="+mn-ea"/>
              </a:rPr>
              <a:t>[ </a:t>
            </a:r>
            <a:r>
              <a:rPr lang="ko-KR" altLang="en-US" sz="1350" b="1">
                <a:latin typeface="+mn-ea"/>
                <a:ea typeface="+mn-ea"/>
              </a:rPr>
              <a:t>복 원 </a:t>
            </a:r>
            <a:r>
              <a:rPr lang="en-US" altLang="ko-KR" sz="1350" b="1">
                <a:latin typeface="+mn-ea"/>
                <a:ea typeface="+mn-ea"/>
              </a:rPr>
              <a:t>]</a:t>
            </a:r>
            <a:endParaRPr lang="ko-KR" altLang="en-US" sz="1350" b="1">
              <a:latin typeface="+mn-ea"/>
              <a:ea typeface="+mn-ea"/>
            </a:endParaRPr>
          </a:p>
        </p:txBody>
      </p:sp>
      <p:sp>
        <p:nvSpPr>
          <p:cNvPr id="74" name="Text Box 3"/>
          <p:cNvSpPr txBox="1">
            <a:spLocks noChangeArrowheads="1"/>
          </p:cNvSpPr>
          <p:nvPr/>
        </p:nvSpPr>
        <p:spPr bwMode="auto">
          <a:xfrm>
            <a:off x="344488" y="3569994"/>
            <a:ext cx="84756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fontAlgn="ctr">
              <a:defRPr/>
            </a:pPr>
            <a:r>
              <a:rPr lang="ko-KR" altLang="en-US" sz="1200" dirty="0"/>
              <a:t>전체</a:t>
            </a:r>
            <a:r>
              <a:rPr lang="en-US" altLang="ko-KR" sz="1200" dirty="0"/>
              <a:t>/</a:t>
            </a:r>
            <a:r>
              <a:rPr lang="ko-KR" altLang="en-US" sz="1200"/>
              <a:t>차등</a:t>
            </a:r>
            <a:r>
              <a:rPr lang="en-US" altLang="ko-KR" sz="1200" dirty="0"/>
              <a:t>/</a:t>
            </a:r>
            <a:r>
              <a:rPr lang="ko-KR" altLang="en-US" sz="1200"/>
              <a:t>로그 백업을 활용한 백업 전략으로 대용량 데이터베이스에 대한 이관 다운타임을 최소화 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4113021" y="6235659"/>
            <a:ext cx="44037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※ </a:t>
            </a:r>
            <a:r>
              <a:rPr lang="ko-KR" altLang="en-US" sz="1000" b="1">
                <a:solidFill>
                  <a:srgbClr val="FF0000"/>
                </a:solidFill>
              </a:rPr>
              <a:t>데이터베이스 데이터 이관 롤백 시나리오는 </a:t>
            </a:r>
            <a:r>
              <a:rPr lang="en-US" altLang="ko-KR" sz="1000" b="1" dirty="0">
                <a:solidFill>
                  <a:srgbClr val="FF0000"/>
                </a:solidFill>
              </a:rPr>
              <a:t>AS-IS</a:t>
            </a:r>
            <a:r>
              <a:rPr lang="ko-KR" altLang="en-US" sz="1000" b="1">
                <a:solidFill>
                  <a:srgbClr val="FF0000"/>
                </a:solidFill>
              </a:rPr>
              <a:t>시스템으로 전환한다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86240" name="Rectangle 86239">
            <a:extLst>
              <a:ext uri="{FF2B5EF4-FFF2-40B4-BE49-F238E27FC236}">
                <a16:creationId xmlns:a16="http://schemas.microsoft.com/office/drawing/2014/main" id="{6C0E787D-EB04-9AD9-FBC4-F4FFA4126BB2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278" name="Rectangle 86277">
            <a:extLst>
              <a:ext uri="{FF2B5EF4-FFF2-40B4-BE49-F238E27FC236}">
                <a16:creationId xmlns:a16="http://schemas.microsoft.com/office/drawing/2014/main" id="{7EA779E6-F6CA-91BD-657B-6836FA6CA89C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5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3" name="그룹 2"/>
          <p:cNvGrpSpPr>
            <a:grpSpLocks/>
          </p:cNvGrpSpPr>
          <p:nvPr/>
        </p:nvGrpSpPr>
        <p:grpSpPr bwMode="auto">
          <a:xfrm>
            <a:off x="971550" y="2564904"/>
            <a:ext cx="4536554" cy="504825"/>
            <a:chOff x="3395663" y="2564904"/>
            <a:chExt cx="3839493" cy="504825"/>
          </a:xfrm>
        </p:grpSpPr>
        <p:sp>
          <p:nvSpPr>
            <p:cNvPr id="20500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20501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2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1.</a:t>
              </a:r>
            </a:p>
          </p:txBody>
        </p:sp>
      </p:grpSp>
      <p:sp>
        <p:nvSpPr>
          <p:cNvPr id="20487" name="Rectangle 34"/>
          <p:cNvSpPr>
            <a:spLocks noChangeArrowheads="1"/>
          </p:cNvSpPr>
          <p:nvPr/>
        </p:nvSpPr>
        <p:spPr bwMode="auto">
          <a:xfrm>
            <a:off x="2066925" y="2582366"/>
            <a:ext cx="279310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사업관리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IV. </a:t>
            </a:r>
            <a:r>
              <a:rPr lang="ko-KR" altLang="en-US" dirty="0"/>
              <a:t>사업관리 및 지원 내용</a:t>
            </a:r>
          </a:p>
        </p:txBody>
      </p:sp>
      <p:grpSp>
        <p:nvGrpSpPr>
          <p:cNvPr id="13" name="그룹 2"/>
          <p:cNvGrpSpPr>
            <a:grpSpLocks/>
          </p:cNvGrpSpPr>
          <p:nvPr/>
        </p:nvGrpSpPr>
        <p:grpSpPr bwMode="auto">
          <a:xfrm>
            <a:off x="971600" y="4469713"/>
            <a:ext cx="4536504" cy="504825"/>
            <a:chOff x="3395663" y="2564904"/>
            <a:chExt cx="3839493" cy="504825"/>
          </a:xfrm>
        </p:grpSpPr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15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2.</a:t>
              </a:r>
            </a:p>
          </p:txBody>
        </p:sp>
      </p:grpSp>
      <p:sp>
        <p:nvSpPr>
          <p:cNvPr id="25" name="Rectangle 34"/>
          <p:cNvSpPr>
            <a:spLocks noChangeArrowheads="1"/>
          </p:cNvSpPr>
          <p:nvPr/>
        </p:nvSpPr>
        <p:spPr bwMode="auto">
          <a:xfrm>
            <a:off x="2066925" y="4458595"/>
            <a:ext cx="3081139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지원부문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35696" y="3095394"/>
            <a:ext cx="26934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추진 일정 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업무보고 및 검토계획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수행조직 및 업무분장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투입인력 및 이력사항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사업관리 방안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35696" y="5016078"/>
            <a:ext cx="26934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교육훈련 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유지보수 지원계획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기술이전 지원계획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기타 지원사항</a:t>
            </a:r>
          </a:p>
        </p:txBody>
      </p:sp>
      <p:sp>
        <p:nvSpPr>
          <p:cNvPr id="85114" name="brand_footer">
            <a:extLst>
              <a:ext uri="{FF2B5EF4-FFF2-40B4-BE49-F238E27FC236}">
                <a16:creationId xmlns:a16="http://schemas.microsoft.com/office/drawing/2014/main" id="{F5B5381E-0CD9-2572-C74D-C2C2D6A2684A}"/>
              </a:ext>
            </a:extLst>
          </p:cNvPr>
          <p:cNvSpPr/>
          <p:nvPr/>
        </p:nvSpPr>
        <p:spPr>
          <a:xfrm>
            <a:off x="270000" y="640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5195" name="client_footer">
            <a:extLst>
              <a:ext uri="{FF2B5EF4-FFF2-40B4-BE49-F238E27FC236}">
                <a16:creationId xmlns:a16="http://schemas.microsoft.com/office/drawing/2014/main" id="{9311D10D-3CEB-828B-345A-2FBEBF452490}"/>
              </a:ext>
            </a:extLst>
          </p:cNvPr>
          <p:cNvSpPr/>
          <p:nvPr/>
        </p:nvSpPr>
        <p:spPr>
          <a:xfrm>
            <a:off x="7680000" y="6270000"/>
            <a:ext cx="1440000" cy="47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89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내용 개체 틀 10"/>
          <p:cNvSpPr txBox="1">
            <a:spLocks/>
          </p:cNvSpPr>
          <p:nvPr/>
        </p:nvSpPr>
        <p:spPr bwMode="auto">
          <a:xfrm>
            <a:off x="231775" y="976313"/>
            <a:ext cx="8516938" cy="58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본 프로젝트는 총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5</a:t>
            </a:r>
            <a:r>
              <a:rPr lang="ko-KR" altLang="en-US" sz="120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개월의 일정으로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구축단계를 고려하여 주요 보고와 </a:t>
            </a:r>
            <a:r>
              <a:rPr lang="ko-KR" altLang="en-US" sz="1200" dirty="0" err="1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마일스톤을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 </a:t>
            </a:r>
            <a:r>
              <a:rPr lang="ko-KR" altLang="en-US" sz="120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관리합니다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r>
              <a:rPr lang="ko-KR" altLang="en-US" sz="120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 </a:t>
            </a:r>
            <a:endParaRPr lang="en-US" altLang="ko-KR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grpSp>
        <p:nvGrpSpPr>
          <p:cNvPr id="145" name="그룹 65"/>
          <p:cNvGrpSpPr>
            <a:grpSpLocks/>
          </p:cNvGrpSpPr>
          <p:nvPr/>
        </p:nvGrpSpPr>
        <p:grpSpPr bwMode="auto">
          <a:xfrm>
            <a:off x="381000" y="1556792"/>
            <a:ext cx="8439150" cy="227012"/>
            <a:chOff x="381001" y="2050355"/>
            <a:chExt cx="8439470" cy="227385"/>
          </a:xfrm>
        </p:grpSpPr>
        <p:sp>
          <p:nvSpPr>
            <p:cNvPr id="146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1.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추진 일정 계획</a:t>
              </a:r>
            </a:p>
          </p:txBody>
        </p:sp>
        <p:grpSp>
          <p:nvGrpSpPr>
            <p:cNvPr id="147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4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4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</a:p>
        </p:txBody>
      </p:sp>
      <p:sp>
        <p:nvSpPr>
          <p:cNvPr id="15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757791"/>
              </p:ext>
            </p:extLst>
          </p:nvPr>
        </p:nvGraphicFramePr>
        <p:xfrm>
          <a:off x="2339752" y="2137268"/>
          <a:ext cx="6096000" cy="424405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9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M2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M3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M5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92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92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92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92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92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81000" y="2476420"/>
            <a:ext cx="1886744" cy="216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5">
                    <a:lumMod val="75000"/>
                  </a:schemeClr>
                </a:solidFill>
              </a:rPr>
              <a:t>환경 분석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381000" y="3277048"/>
            <a:ext cx="1886744" cy="216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5">
                    <a:lumMod val="75000"/>
                  </a:schemeClr>
                </a:solidFill>
              </a:rPr>
              <a:t>Infra Migration</a:t>
            </a:r>
            <a:endParaRPr lang="ko-KR" altLang="en-US" sz="105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381000" y="4061200"/>
            <a:ext cx="1886744" cy="216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5">
                    <a:lumMod val="75000"/>
                  </a:schemeClr>
                </a:solidFill>
              </a:rPr>
              <a:t>Web</a:t>
            </a:r>
            <a:r>
              <a:rPr lang="ko-KR" altLang="en-US" sz="1050" b="1">
                <a:solidFill>
                  <a:schemeClr val="accent5">
                    <a:lumMod val="75000"/>
                  </a:schemeClr>
                </a:solidFill>
              </a:rPr>
              <a:t> 서버 </a:t>
            </a:r>
            <a:r>
              <a:rPr lang="en-US" altLang="ko-KR" sz="1050" b="1" dirty="0">
                <a:solidFill>
                  <a:schemeClr val="accent5">
                    <a:lumMod val="75000"/>
                  </a:schemeClr>
                </a:solidFill>
              </a:rPr>
              <a:t>Migration</a:t>
            </a:r>
            <a:endParaRPr lang="ko-KR" altLang="en-US" sz="105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381000" y="4837114"/>
            <a:ext cx="1886744" cy="216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 dirty="0">
                <a:solidFill>
                  <a:schemeClr val="accent5">
                    <a:lumMod val="75000"/>
                  </a:schemeClr>
                </a:solidFill>
              </a:rPr>
              <a:t>SQL Server Migration</a:t>
            </a:r>
            <a:endParaRPr lang="ko-KR" altLang="en-US" sz="1050" b="1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81000" y="5637742"/>
            <a:ext cx="1886744" cy="21602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58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b="1" dirty="0">
                <a:solidFill>
                  <a:schemeClr val="accent5">
                    <a:lumMod val="75000"/>
                  </a:schemeClr>
                </a:solidFill>
              </a:rPr>
              <a:t>기술</a:t>
            </a:r>
            <a:r>
              <a:rPr lang="en-US" altLang="ko-KR" sz="105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ko-KR" altLang="en-US" sz="1050" b="1">
                <a:solidFill>
                  <a:schemeClr val="accent5">
                    <a:lumMod val="75000"/>
                  </a:schemeClr>
                </a:solidFill>
              </a:rPr>
              <a:t>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051" y="2110908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업무 내역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2719953"/>
            <a:ext cx="13452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대상</a:t>
            </a:r>
            <a:r>
              <a:rPr lang="en-US" altLang="ko-KR" sz="1000" b="1" dirty="0"/>
              <a:t> </a:t>
            </a:r>
            <a:r>
              <a:rPr lang="ko-KR" altLang="en-US" sz="1000" b="1"/>
              <a:t>시스템 분석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유관 부서 협의 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Migration </a:t>
            </a:r>
            <a:r>
              <a:rPr lang="ko-KR" altLang="en-US" sz="1000" b="1"/>
              <a:t>설계</a:t>
            </a:r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381000" y="3498964"/>
            <a:ext cx="14285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개발 </a:t>
            </a:r>
            <a:r>
              <a:rPr lang="en-US" altLang="ko-KR" sz="1000" b="1" dirty="0"/>
              <a:t>Test </a:t>
            </a:r>
            <a:r>
              <a:rPr lang="ko-KR" altLang="en-US" sz="1000" b="1"/>
              <a:t>계 구축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시스템 </a:t>
            </a:r>
            <a:r>
              <a:rPr lang="en-US" altLang="ko-KR" sz="1000" b="1" dirty="0"/>
              <a:t>Migration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85" name="TextBox 84"/>
          <p:cNvSpPr txBox="1"/>
          <p:nvPr/>
        </p:nvSpPr>
        <p:spPr>
          <a:xfrm>
            <a:off x="381000" y="4277975"/>
            <a:ext cx="18630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대상</a:t>
            </a:r>
            <a:r>
              <a:rPr lang="en-US" altLang="ko-KR" sz="1000" b="1" dirty="0"/>
              <a:t> </a:t>
            </a:r>
            <a:r>
              <a:rPr lang="ko-KR" altLang="en-US" sz="1000" b="1"/>
              <a:t>시스템 분석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유관 부서 협의 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Migration </a:t>
            </a:r>
            <a:r>
              <a:rPr lang="ko-KR" altLang="en-US" sz="1000" b="1"/>
              <a:t>및 단위 테스트</a:t>
            </a:r>
            <a:endParaRPr lang="ko-KR" altLang="en-US" sz="1000" b="1" dirty="0"/>
          </a:p>
        </p:txBody>
      </p:sp>
      <p:sp>
        <p:nvSpPr>
          <p:cNvPr id="86" name="TextBox 85"/>
          <p:cNvSpPr txBox="1"/>
          <p:nvPr/>
        </p:nvSpPr>
        <p:spPr>
          <a:xfrm>
            <a:off x="381000" y="5056986"/>
            <a:ext cx="18630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대상</a:t>
            </a:r>
            <a:r>
              <a:rPr lang="en-US" altLang="ko-KR" sz="1000" b="1" dirty="0"/>
              <a:t> </a:t>
            </a:r>
            <a:r>
              <a:rPr lang="ko-KR" altLang="en-US" sz="1000" b="1"/>
              <a:t>시스템 분석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유관 부서 협의 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/>
              <a:t>Migration </a:t>
            </a:r>
            <a:r>
              <a:rPr lang="ko-KR" altLang="en-US" sz="1000" b="1"/>
              <a:t>및 단위 테스트</a:t>
            </a:r>
            <a:endParaRPr lang="ko-KR" altLang="en-US" sz="1000" b="1" dirty="0"/>
          </a:p>
        </p:txBody>
      </p:sp>
      <p:sp>
        <p:nvSpPr>
          <p:cNvPr id="87" name="TextBox 86"/>
          <p:cNvSpPr txBox="1"/>
          <p:nvPr/>
        </p:nvSpPr>
        <p:spPr>
          <a:xfrm>
            <a:off x="381000" y="5835997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지원 유형 분석</a:t>
            </a:r>
            <a:endParaRPr lang="en-US" altLang="ko-KR" sz="10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/>
              <a:t>기술 지원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2343124" y="28529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3563888" y="28529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4784652" y="28529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/>
          <p:cNvCxnSpPr/>
          <p:nvPr/>
        </p:nvCxnSpPr>
        <p:spPr>
          <a:xfrm>
            <a:off x="6005416" y="28529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7226180" y="28529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/>
          <p:cNvCxnSpPr/>
          <p:nvPr/>
        </p:nvCxnSpPr>
        <p:spPr>
          <a:xfrm>
            <a:off x="2670592" y="3645024"/>
            <a:ext cx="1161529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>
            <a:off x="2983123" y="4365104"/>
            <a:ext cx="5405301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>
            <a:off x="2983123" y="5157192"/>
            <a:ext cx="5405301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2983123" y="5949280"/>
            <a:ext cx="5405301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3215092" y="1847329"/>
            <a:ext cx="668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월간</a:t>
            </a:r>
            <a:r>
              <a:rPr lang="en-US" altLang="ko-KR" sz="800" b="1" dirty="0"/>
              <a:t> </a:t>
            </a:r>
            <a:r>
              <a:rPr lang="ko-KR" altLang="en-US" sz="800" b="1"/>
              <a:t>실적 </a:t>
            </a:r>
            <a:endParaRPr lang="en-US" altLang="ko-KR" sz="800" b="1" dirty="0"/>
          </a:p>
          <a:p>
            <a:r>
              <a:rPr lang="ko-KR" altLang="en-US" sz="800" b="1" dirty="0"/>
              <a:t>보고</a:t>
            </a:r>
          </a:p>
        </p:txBody>
      </p:sp>
      <p:cxnSp>
        <p:nvCxnSpPr>
          <p:cNvPr id="118" name="꺾인 연결선 117"/>
          <p:cNvCxnSpPr/>
          <p:nvPr/>
        </p:nvCxnSpPr>
        <p:spPr>
          <a:xfrm rot="5400000" flipH="1" flipV="1">
            <a:off x="5929088" y="1815206"/>
            <a:ext cx="327971" cy="268233"/>
          </a:xfrm>
          <a:prstGeom prst="bentConnector3">
            <a:avLst>
              <a:gd name="adj1" fmla="val 97724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6176144" y="1668922"/>
            <a:ext cx="854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중간실적 </a:t>
            </a:r>
            <a:endParaRPr lang="en-US" altLang="ko-KR" sz="1200" b="1" dirty="0"/>
          </a:p>
          <a:p>
            <a:r>
              <a:rPr lang="ko-KR" altLang="en-US" sz="1200" b="1" dirty="0"/>
              <a:t>보고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61231" y="1853878"/>
            <a:ext cx="668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월간</a:t>
            </a:r>
            <a:r>
              <a:rPr lang="en-US" altLang="ko-KR" sz="800" b="1" dirty="0"/>
              <a:t> </a:t>
            </a:r>
            <a:r>
              <a:rPr lang="ko-KR" altLang="en-US" sz="800" b="1"/>
              <a:t>실적 </a:t>
            </a:r>
            <a:endParaRPr lang="en-US" altLang="ko-KR" sz="800" b="1" dirty="0"/>
          </a:p>
          <a:p>
            <a:r>
              <a:rPr lang="ko-KR" altLang="en-US" sz="800" b="1" dirty="0"/>
              <a:t>보고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91793" y="1853878"/>
            <a:ext cx="668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월간</a:t>
            </a:r>
            <a:r>
              <a:rPr lang="en-US" altLang="ko-KR" sz="800" b="1" dirty="0"/>
              <a:t> </a:t>
            </a:r>
            <a:r>
              <a:rPr lang="ko-KR" altLang="en-US" sz="800" b="1"/>
              <a:t>실적 </a:t>
            </a:r>
            <a:endParaRPr lang="en-US" altLang="ko-KR" sz="800" b="1" dirty="0"/>
          </a:p>
          <a:p>
            <a:r>
              <a:rPr lang="ko-KR" altLang="en-US" sz="800" b="1" dirty="0"/>
              <a:t>보고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172049" y="169681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종료</a:t>
            </a:r>
            <a:endParaRPr lang="en-US" altLang="ko-KR" sz="1200" b="1" dirty="0"/>
          </a:p>
          <a:p>
            <a:r>
              <a:rPr lang="ko-KR" altLang="en-US" sz="1200" b="1" dirty="0"/>
              <a:t>보고</a:t>
            </a:r>
          </a:p>
        </p:txBody>
      </p:sp>
      <p:cxnSp>
        <p:nvCxnSpPr>
          <p:cNvPr id="111" name="직선 연결선 110"/>
          <p:cNvCxnSpPr/>
          <p:nvPr/>
        </p:nvCxnSpPr>
        <p:spPr>
          <a:xfrm>
            <a:off x="5958957" y="2185883"/>
            <a:ext cx="0" cy="4204112"/>
          </a:xfrm>
          <a:prstGeom prst="line">
            <a:avLst/>
          </a:prstGeom>
          <a:ln w="412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>
            <a:off x="8388424" y="2158484"/>
            <a:ext cx="0" cy="4204112"/>
          </a:xfrm>
          <a:prstGeom prst="line">
            <a:avLst/>
          </a:prstGeom>
          <a:ln w="41275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5508104" y="6382147"/>
            <a:ext cx="3312046" cy="25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8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향후 고객사 및 </a:t>
            </a:r>
            <a:r>
              <a:rPr lang="en-US" altLang="ko-KR" sz="8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H/W </a:t>
            </a:r>
            <a:r>
              <a:rPr lang="ko-KR" altLang="en-US" sz="80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입고 일정에 따라 일정은 변경 될 수 있습니다</a:t>
            </a:r>
            <a:endParaRPr lang="en-US" altLang="ko-KR" sz="8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sp>
        <p:nvSpPr>
          <p:cNvPr id="116" name="이등변 삼각형 115"/>
          <p:cNvSpPr/>
          <p:nvPr/>
        </p:nvSpPr>
        <p:spPr>
          <a:xfrm flipV="1">
            <a:off x="5877049" y="2161224"/>
            <a:ext cx="216024" cy="24443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2" name="이등변 삼각형 131"/>
          <p:cNvSpPr/>
          <p:nvPr/>
        </p:nvSpPr>
        <p:spPr>
          <a:xfrm flipV="1">
            <a:off x="8289293" y="2158484"/>
            <a:ext cx="216024" cy="244436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3" name="직선 연결선 42"/>
          <p:cNvCxnSpPr/>
          <p:nvPr/>
        </p:nvCxnSpPr>
        <p:spPr>
          <a:xfrm>
            <a:off x="2402359" y="2996952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3716288" y="30053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895887" y="2996952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6084051" y="30053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7292333" y="2996952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2457716" y="314096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3782693" y="3139055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5107670" y="3137142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/>
          <p:cNvCxnSpPr/>
          <p:nvPr/>
        </p:nvCxnSpPr>
        <p:spPr>
          <a:xfrm>
            <a:off x="6084168" y="3135229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7409145" y="313331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2700338" y="378904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053702" y="378904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3407066" y="378904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3760430" y="378904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2983123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3321935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3660747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3999559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4338371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4677183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5015995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5354807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/>
          <p:nvPr/>
        </p:nvCxnSpPr>
        <p:spPr>
          <a:xfrm>
            <a:off x="5693619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6032431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6371243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710055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048867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7387679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>
            <a:off x="7726491" y="4509120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>
            <a:off x="3075268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3414080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3752892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>
            <a:off x="4091704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4430516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4769328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/>
        </p:nvCxnSpPr>
        <p:spPr>
          <a:xfrm>
            <a:off x="5108140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/>
          <p:cNvCxnSpPr/>
          <p:nvPr/>
        </p:nvCxnSpPr>
        <p:spPr>
          <a:xfrm>
            <a:off x="5446952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/>
          <p:cNvCxnSpPr/>
          <p:nvPr/>
        </p:nvCxnSpPr>
        <p:spPr>
          <a:xfrm>
            <a:off x="5785764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/>
          <p:nvPr/>
        </p:nvCxnSpPr>
        <p:spPr>
          <a:xfrm>
            <a:off x="6124576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6463388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/>
          <p:nvPr/>
        </p:nvCxnSpPr>
        <p:spPr>
          <a:xfrm>
            <a:off x="6802200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/>
          <p:cNvCxnSpPr/>
          <p:nvPr/>
        </p:nvCxnSpPr>
        <p:spPr>
          <a:xfrm>
            <a:off x="7141012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/>
          <p:cNvCxnSpPr/>
          <p:nvPr/>
        </p:nvCxnSpPr>
        <p:spPr>
          <a:xfrm>
            <a:off x="7479824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/>
          <p:cNvCxnSpPr/>
          <p:nvPr/>
        </p:nvCxnSpPr>
        <p:spPr>
          <a:xfrm>
            <a:off x="7818636" y="4653136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/>
          <p:nvPr/>
        </p:nvCxnSpPr>
        <p:spPr>
          <a:xfrm>
            <a:off x="3061240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3400052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3738864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/>
          <p:cNvCxnSpPr/>
          <p:nvPr/>
        </p:nvCxnSpPr>
        <p:spPr>
          <a:xfrm>
            <a:off x="4077676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4416488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4755300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5094112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/>
          <p:cNvCxnSpPr/>
          <p:nvPr/>
        </p:nvCxnSpPr>
        <p:spPr>
          <a:xfrm>
            <a:off x="5432924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5771736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6110548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/>
          <p:cNvCxnSpPr/>
          <p:nvPr/>
        </p:nvCxnSpPr>
        <p:spPr>
          <a:xfrm>
            <a:off x="6449360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6788172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/>
          <p:cNvCxnSpPr/>
          <p:nvPr/>
        </p:nvCxnSpPr>
        <p:spPr>
          <a:xfrm>
            <a:off x="7126984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>
          <a:xfrm>
            <a:off x="7465796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/>
          <p:nvPr/>
        </p:nvCxnSpPr>
        <p:spPr>
          <a:xfrm>
            <a:off x="7804608" y="5301208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/>
          <p:nvPr/>
        </p:nvCxnSpPr>
        <p:spPr>
          <a:xfrm>
            <a:off x="3153385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>
          <a:xfrm>
            <a:off x="3492197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/>
          <p:cNvCxnSpPr/>
          <p:nvPr/>
        </p:nvCxnSpPr>
        <p:spPr>
          <a:xfrm>
            <a:off x="3831009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>
            <a:off x="4169821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>
            <a:off x="4508633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>
            <a:off x="4847445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/>
          <p:cNvCxnSpPr/>
          <p:nvPr/>
        </p:nvCxnSpPr>
        <p:spPr>
          <a:xfrm>
            <a:off x="5186257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/>
          <p:cNvCxnSpPr/>
          <p:nvPr/>
        </p:nvCxnSpPr>
        <p:spPr>
          <a:xfrm>
            <a:off x="5525069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/>
          <p:cNvCxnSpPr/>
          <p:nvPr/>
        </p:nvCxnSpPr>
        <p:spPr>
          <a:xfrm>
            <a:off x="5863881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/>
          <p:cNvCxnSpPr/>
          <p:nvPr/>
        </p:nvCxnSpPr>
        <p:spPr>
          <a:xfrm>
            <a:off x="6202693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6541505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/>
          <p:cNvCxnSpPr/>
          <p:nvPr/>
        </p:nvCxnSpPr>
        <p:spPr>
          <a:xfrm>
            <a:off x="6880317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/>
          <p:nvPr/>
        </p:nvCxnSpPr>
        <p:spPr>
          <a:xfrm>
            <a:off x="7219129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/>
          <p:nvPr/>
        </p:nvCxnSpPr>
        <p:spPr>
          <a:xfrm>
            <a:off x="7557941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연결선 150"/>
          <p:cNvCxnSpPr/>
          <p:nvPr/>
        </p:nvCxnSpPr>
        <p:spPr>
          <a:xfrm>
            <a:off x="7896753" y="5445224"/>
            <a:ext cx="26823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317" name="Rectangle 86316">
            <a:extLst>
              <a:ext uri="{FF2B5EF4-FFF2-40B4-BE49-F238E27FC236}">
                <a16:creationId xmlns:a16="http://schemas.microsoft.com/office/drawing/2014/main" id="{5650D8F2-A67A-F344-CBE1-739D020573FC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357" name="Rectangle 86356">
            <a:extLst>
              <a:ext uri="{FF2B5EF4-FFF2-40B4-BE49-F238E27FC236}">
                <a16:creationId xmlns:a16="http://schemas.microsoft.com/office/drawing/2014/main" id="{F8468D46-E3CE-716B-EBE0-0CD71F6D1F1B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491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23528" y="2297737"/>
            <a:ext cx="5275803" cy="3605450"/>
            <a:chOff x="811262" y="2861462"/>
            <a:chExt cx="4801982" cy="3153433"/>
          </a:xfrm>
        </p:grpSpPr>
        <p:sp>
          <p:nvSpPr>
            <p:cNvPr id="5" name="타원 4"/>
            <p:cNvSpPr/>
            <p:nvPr/>
          </p:nvSpPr>
          <p:spPr>
            <a:xfrm>
              <a:off x="4608376" y="2861462"/>
              <a:ext cx="867299" cy="87464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5400">
              <a:gradFill>
                <a:gsLst>
                  <a:gs pos="0">
                    <a:schemeClr val="bg1"/>
                  </a:gs>
                  <a:gs pos="32190">
                    <a:srgbClr val="FFFFFF"/>
                  </a:gs>
                  <a:gs pos="58000">
                    <a:srgbClr val="ECECEC">
                      <a:lumMod val="0"/>
                      <a:lumOff val="100000"/>
                    </a:srgb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762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6" name="그룹 5"/>
            <p:cNvGrpSpPr/>
            <p:nvPr/>
          </p:nvGrpSpPr>
          <p:grpSpPr>
            <a:xfrm rot="6979471">
              <a:off x="4797262" y="2957302"/>
              <a:ext cx="462789" cy="458901"/>
              <a:chOff x="6767452" y="4534408"/>
              <a:chExt cx="462789" cy="462789"/>
            </a:xfrm>
          </p:grpSpPr>
          <p:sp>
            <p:nvSpPr>
              <p:cNvPr id="7" name="타원 6"/>
              <p:cNvSpPr/>
              <p:nvPr/>
            </p:nvSpPr>
            <p:spPr>
              <a:xfrm>
                <a:off x="6767452" y="4534408"/>
                <a:ext cx="462789" cy="462789"/>
              </a:xfrm>
              <a:prstGeom prst="ellipse">
                <a:avLst/>
              </a:prstGeom>
              <a:noFill/>
              <a:ln w="158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7075790" y="4534408"/>
                <a:ext cx="45719" cy="4571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" name="타원 8"/>
              <p:cNvSpPr/>
              <p:nvPr/>
            </p:nvSpPr>
            <p:spPr>
              <a:xfrm>
                <a:off x="6821790" y="4908481"/>
                <a:ext cx="45719" cy="4571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0" name="Line 114"/>
            <p:cNvSpPr>
              <a:spLocks noChangeShapeType="1"/>
            </p:cNvSpPr>
            <p:nvPr/>
          </p:nvSpPr>
          <p:spPr bwMode="auto">
            <a:xfrm flipH="1" flipV="1">
              <a:off x="3766349" y="5617733"/>
              <a:ext cx="970358" cy="0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" name="Line 42"/>
            <p:cNvSpPr>
              <a:spLocks noChangeShapeType="1"/>
            </p:cNvSpPr>
            <p:nvPr/>
          </p:nvSpPr>
          <p:spPr bwMode="auto">
            <a:xfrm flipV="1">
              <a:off x="3688014" y="3585873"/>
              <a:ext cx="879669" cy="420545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" name="Line 43"/>
            <p:cNvSpPr>
              <a:spLocks noChangeShapeType="1"/>
            </p:cNvSpPr>
            <p:nvPr/>
          </p:nvSpPr>
          <p:spPr bwMode="auto">
            <a:xfrm flipH="1" flipV="1">
              <a:off x="1796397" y="3657097"/>
              <a:ext cx="949985" cy="430286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" name="Line 59"/>
            <p:cNvSpPr>
              <a:spLocks noChangeShapeType="1"/>
            </p:cNvSpPr>
            <p:nvPr/>
          </p:nvSpPr>
          <p:spPr bwMode="auto">
            <a:xfrm flipH="1" flipV="1">
              <a:off x="1889280" y="3620851"/>
              <a:ext cx="997486" cy="466531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" name="Line 60"/>
            <p:cNvSpPr>
              <a:spLocks noChangeShapeType="1"/>
            </p:cNvSpPr>
            <p:nvPr/>
          </p:nvSpPr>
          <p:spPr bwMode="auto">
            <a:xfrm flipV="1">
              <a:off x="1885402" y="4269368"/>
              <a:ext cx="894018" cy="381575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" name="Line 62"/>
            <p:cNvSpPr>
              <a:spLocks noChangeShapeType="1"/>
            </p:cNvSpPr>
            <p:nvPr/>
          </p:nvSpPr>
          <p:spPr bwMode="auto">
            <a:xfrm flipH="1" flipV="1">
              <a:off x="3768820" y="4321824"/>
              <a:ext cx="1050437" cy="449772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" name="Line 116"/>
            <p:cNvSpPr>
              <a:spLocks noChangeShapeType="1"/>
            </p:cNvSpPr>
            <p:nvPr/>
          </p:nvSpPr>
          <p:spPr bwMode="auto">
            <a:xfrm flipV="1">
              <a:off x="3748261" y="3654282"/>
              <a:ext cx="878234" cy="414049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" name="Line 44"/>
            <p:cNvSpPr>
              <a:spLocks noChangeShapeType="1"/>
            </p:cNvSpPr>
            <p:nvPr/>
          </p:nvSpPr>
          <p:spPr bwMode="auto">
            <a:xfrm>
              <a:off x="2101335" y="5798708"/>
              <a:ext cx="841567" cy="0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8" name="Line 53"/>
            <p:cNvSpPr>
              <a:spLocks noChangeShapeType="1"/>
            </p:cNvSpPr>
            <p:nvPr/>
          </p:nvSpPr>
          <p:spPr bwMode="auto">
            <a:xfrm>
              <a:off x="2107851" y="5528797"/>
              <a:ext cx="984426" cy="1624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9" name="Text Box 46"/>
            <p:cNvSpPr txBox="1">
              <a:spLocks noChangeArrowheads="1"/>
            </p:cNvSpPr>
            <p:nvPr/>
          </p:nvSpPr>
          <p:spPr bwMode="auto">
            <a:xfrm rot="1465803">
              <a:off x="1761784" y="3889833"/>
              <a:ext cx="1067565" cy="3230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보고검토 결과</a:t>
              </a:r>
            </a:p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문제점 통보</a:t>
              </a:r>
            </a:p>
          </p:txBody>
        </p:sp>
        <p:sp>
          <p:nvSpPr>
            <p:cNvPr id="20" name="Text Box 57"/>
            <p:cNvSpPr txBox="1">
              <a:spLocks noChangeArrowheads="1"/>
            </p:cNvSpPr>
            <p:nvPr/>
          </p:nvSpPr>
          <p:spPr bwMode="auto">
            <a:xfrm>
              <a:off x="2132935" y="5802288"/>
              <a:ext cx="900021" cy="20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경미한 사항</a:t>
              </a: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4713153" y="3457503"/>
              <a:ext cx="6631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타원 21"/>
            <p:cNvSpPr/>
            <p:nvPr/>
          </p:nvSpPr>
          <p:spPr>
            <a:xfrm>
              <a:off x="1127240" y="4176965"/>
              <a:ext cx="867299" cy="87464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5400">
              <a:gradFill>
                <a:gsLst>
                  <a:gs pos="0">
                    <a:schemeClr val="bg1"/>
                  </a:gs>
                  <a:gs pos="32190">
                    <a:srgbClr val="FFFFFF"/>
                  </a:gs>
                  <a:gs pos="58000">
                    <a:srgbClr val="ECECEC">
                      <a:lumMod val="0"/>
                      <a:lumOff val="100000"/>
                    </a:srgb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762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3" name="직선 연결선 22"/>
            <p:cNvCxnSpPr/>
            <p:nvPr/>
          </p:nvCxnSpPr>
          <p:spPr>
            <a:xfrm>
              <a:off x="1232017" y="4773006"/>
              <a:ext cx="6631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타원 23"/>
            <p:cNvSpPr/>
            <p:nvPr/>
          </p:nvSpPr>
          <p:spPr>
            <a:xfrm>
              <a:off x="4608376" y="4176965"/>
              <a:ext cx="867299" cy="87464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5400">
              <a:gradFill>
                <a:gsLst>
                  <a:gs pos="0">
                    <a:schemeClr val="bg1"/>
                  </a:gs>
                  <a:gs pos="32190">
                    <a:srgbClr val="FFFFFF"/>
                  </a:gs>
                  <a:gs pos="58000">
                    <a:srgbClr val="ECECEC">
                      <a:lumMod val="0"/>
                      <a:lumOff val="100000"/>
                    </a:srgb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762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5" name="직선 연결선 24"/>
            <p:cNvCxnSpPr/>
            <p:nvPr/>
          </p:nvCxnSpPr>
          <p:spPr>
            <a:xfrm>
              <a:off x="4713153" y="4773006"/>
              <a:ext cx="6631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타원 25"/>
            <p:cNvSpPr/>
            <p:nvPr/>
          </p:nvSpPr>
          <p:spPr>
            <a:xfrm>
              <a:off x="2843744" y="5140247"/>
              <a:ext cx="867299" cy="87464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5400">
              <a:gradFill>
                <a:gsLst>
                  <a:gs pos="0">
                    <a:schemeClr val="bg1"/>
                  </a:gs>
                  <a:gs pos="32190">
                    <a:srgbClr val="FFFFFF"/>
                  </a:gs>
                  <a:gs pos="58000">
                    <a:srgbClr val="ECECEC">
                      <a:lumMod val="0"/>
                      <a:lumOff val="100000"/>
                    </a:srgb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762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7" name="직선 연결선 26"/>
            <p:cNvCxnSpPr/>
            <p:nvPr/>
          </p:nvCxnSpPr>
          <p:spPr>
            <a:xfrm>
              <a:off x="2948521" y="5736288"/>
              <a:ext cx="6631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/>
            <p:cNvSpPr/>
            <p:nvPr/>
          </p:nvSpPr>
          <p:spPr>
            <a:xfrm>
              <a:off x="2843744" y="3728542"/>
              <a:ext cx="867299" cy="87464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5400">
              <a:gradFill>
                <a:gsLst>
                  <a:gs pos="0">
                    <a:schemeClr val="bg1"/>
                  </a:gs>
                  <a:gs pos="32190">
                    <a:srgbClr val="FFFFFF"/>
                  </a:gs>
                  <a:gs pos="58000">
                    <a:srgbClr val="ECECEC">
                      <a:lumMod val="0"/>
                      <a:lumOff val="100000"/>
                    </a:srgb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762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2948521" y="4324583"/>
              <a:ext cx="6631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타원 29"/>
            <p:cNvSpPr/>
            <p:nvPr/>
          </p:nvSpPr>
          <p:spPr>
            <a:xfrm>
              <a:off x="4608376" y="5123399"/>
              <a:ext cx="867299" cy="87464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5400">
              <a:gradFill>
                <a:gsLst>
                  <a:gs pos="0">
                    <a:schemeClr val="bg1"/>
                  </a:gs>
                  <a:gs pos="32190">
                    <a:srgbClr val="FFFFFF"/>
                  </a:gs>
                  <a:gs pos="58000">
                    <a:srgbClr val="ECECEC">
                      <a:lumMod val="0"/>
                      <a:lumOff val="100000"/>
                    </a:srgb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762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4713153" y="5601072"/>
              <a:ext cx="6631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타원 31"/>
            <p:cNvSpPr/>
            <p:nvPr/>
          </p:nvSpPr>
          <p:spPr>
            <a:xfrm>
              <a:off x="1127240" y="2861462"/>
              <a:ext cx="867299" cy="874648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25400">
              <a:gradFill>
                <a:gsLst>
                  <a:gs pos="0">
                    <a:schemeClr val="bg1"/>
                  </a:gs>
                  <a:gs pos="32190">
                    <a:srgbClr val="FFFFFF"/>
                  </a:gs>
                  <a:gs pos="58000">
                    <a:srgbClr val="ECECEC">
                      <a:lumMod val="0"/>
                      <a:lumOff val="100000"/>
                    </a:srgbClr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</a:ln>
            <a:effectLst>
              <a:outerShdw blurRad="762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1232017" y="3457503"/>
              <a:ext cx="663164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 Box 68"/>
            <p:cNvSpPr txBox="1">
              <a:spLocks noChangeArrowheads="1"/>
            </p:cNvSpPr>
            <p:nvPr/>
          </p:nvSpPr>
          <p:spPr bwMode="auto">
            <a:xfrm>
              <a:off x="1149060" y="3458150"/>
              <a:ext cx="808530" cy="16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7F7F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algn="ctr" eaLnBrk="1" hangingPunct="1"/>
              <a:r>
                <a:rPr kumimoji="0" lang="en-US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주관기관</a:t>
              </a:r>
              <a:endParaRPr kumimoji="0"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5" name="Text Box 83"/>
            <p:cNvSpPr txBox="1">
              <a:spLocks noChangeArrowheads="1"/>
            </p:cNvSpPr>
            <p:nvPr/>
          </p:nvSpPr>
          <p:spPr bwMode="auto">
            <a:xfrm>
              <a:off x="1148510" y="4768334"/>
              <a:ext cx="809638" cy="16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7F7F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algn="ctr" eaLnBrk="1" hangingPunct="1"/>
              <a:r>
                <a:rPr kumimoji="0"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상주인력</a:t>
              </a:r>
            </a:p>
          </p:txBody>
        </p:sp>
        <p:sp>
          <p:nvSpPr>
            <p:cNvPr id="36" name="Text Box 98"/>
            <p:cNvSpPr txBox="1">
              <a:spLocks noChangeArrowheads="1"/>
            </p:cNvSpPr>
            <p:nvPr/>
          </p:nvSpPr>
          <p:spPr bwMode="auto">
            <a:xfrm>
              <a:off x="2872780" y="5709084"/>
              <a:ext cx="808248" cy="174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7F7F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algn="ctr" eaLnBrk="1" hangingPunct="1"/>
              <a:r>
                <a:rPr kumimoji="0" lang="en-US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</a:t>
              </a:r>
              <a:r>
                <a:rPr kumimoji="0"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</a:t>
              </a:r>
              <a:endParaRPr kumimoji="0" lang="en-US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7" name="Line 41"/>
            <p:cNvSpPr>
              <a:spLocks noChangeShapeType="1"/>
            </p:cNvSpPr>
            <p:nvPr/>
          </p:nvSpPr>
          <p:spPr bwMode="auto">
            <a:xfrm flipH="1" flipV="1">
              <a:off x="3282553" y="4659484"/>
              <a:ext cx="0" cy="438254"/>
            </a:xfrm>
            <a:prstGeom prst="line">
              <a:avLst/>
            </a:prstGeom>
            <a:noFill/>
            <a:ln w="9525">
              <a:solidFill>
                <a:srgbClr val="5B9BC7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 anchor="ctr">
              <a:spAutoFit/>
            </a:bodyPr>
            <a:lstStyle/>
            <a:p>
              <a:endParaRPr lang="ko-KR" altLang="en-US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38" name="Text Box 45"/>
            <p:cNvSpPr txBox="1">
              <a:spLocks noChangeArrowheads="1"/>
            </p:cNvSpPr>
            <p:nvPr/>
          </p:nvSpPr>
          <p:spPr bwMode="auto">
            <a:xfrm rot="20218762">
              <a:off x="2000728" y="4418603"/>
              <a:ext cx="908150" cy="3230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정기보고 및</a:t>
              </a:r>
            </a:p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수시보고</a:t>
              </a:r>
            </a:p>
          </p:txBody>
        </p:sp>
        <p:sp>
          <p:nvSpPr>
            <p:cNvPr id="39" name="Text Box 47"/>
            <p:cNvSpPr txBox="1">
              <a:spLocks noChangeArrowheads="1"/>
            </p:cNvSpPr>
            <p:nvPr/>
          </p:nvSpPr>
          <p:spPr bwMode="auto">
            <a:xfrm rot="20119280">
              <a:off x="3749361" y="3662555"/>
              <a:ext cx="801988" cy="90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tIns="0" b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>
                <a:lnSpc>
                  <a:spcPct val="75000"/>
                </a:lnSpc>
                <a:spcBef>
                  <a:spcPct val="40000"/>
                </a:spcBef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비정기보고</a:t>
              </a:r>
            </a:p>
          </p:txBody>
        </p:sp>
        <p:sp>
          <p:nvSpPr>
            <p:cNvPr id="40" name="Text Box 48"/>
            <p:cNvSpPr txBox="1">
              <a:spLocks noChangeArrowheads="1"/>
            </p:cNvSpPr>
            <p:nvPr/>
          </p:nvSpPr>
          <p:spPr bwMode="auto">
            <a:xfrm>
              <a:off x="3298948" y="4678401"/>
              <a:ext cx="851527" cy="3230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문제의</a:t>
              </a: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중요도 분석</a:t>
              </a:r>
            </a:p>
          </p:txBody>
        </p:sp>
        <p:sp>
          <p:nvSpPr>
            <p:cNvPr id="41" name="Text Box 52"/>
            <p:cNvSpPr txBox="1">
              <a:spLocks noChangeArrowheads="1"/>
            </p:cNvSpPr>
            <p:nvPr/>
          </p:nvSpPr>
          <p:spPr bwMode="auto">
            <a:xfrm>
              <a:off x="2116681" y="5308903"/>
              <a:ext cx="996768" cy="2018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중요한 사항</a:t>
              </a:r>
            </a:p>
          </p:txBody>
        </p:sp>
        <p:sp>
          <p:nvSpPr>
            <p:cNvPr id="42" name="Text Box 58"/>
            <p:cNvSpPr txBox="1">
              <a:spLocks noChangeArrowheads="1"/>
            </p:cNvSpPr>
            <p:nvPr/>
          </p:nvSpPr>
          <p:spPr bwMode="auto">
            <a:xfrm rot="1523657">
              <a:off x="2001453" y="3688640"/>
              <a:ext cx="1404712" cy="3230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정기보고 및 </a:t>
              </a:r>
            </a:p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수시보고</a:t>
              </a:r>
            </a:p>
          </p:txBody>
        </p:sp>
        <p:sp>
          <p:nvSpPr>
            <p:cNvPr id="43" name="Text Box 61"/>
            <p:cNvSpPr txBox="1">
              <a:spLocks noChangeArrowheads="1"/>
            </p:cNvSpPr>
            <p:nvPr/>
          </p:nvSpPr>
          <p:spPr bwMode="auto">
            <a:xfrm rot="1461159">
              <a:off x="3903826" y="4357865"/>
              <a:ext cx="616938" cy="3230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r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정기보고 및 수시보고</a:t>
              </a:r>
            </a:p>
          </p:txBody>
        </p:sp>
        <p:sp>
          <p:nvSpPr>
            <p:cNvPr id="44" name="Text Box 76"/>
            <p:cNvSpPr txBox="1">
              <a:spLocks noChangeArrowheads="1"/>
            </p:cNvSpPr>
            <p:nvPr/>
          </p:nvSpPr>
          <p:spPr bwMode="auto">
            <a:xfrm>
              <a:off x="4612922" y="3440832"/>
              <a:ext cx="810788" cy="16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7F7F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algn="ctr" eaLnBrk="1" hangingPunct="1"/>
              <a:r>
                <a:rPr kumimoji="0"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연계기관</a:t>
              </a:r>
            </a:p>
          </p:txBody>
        </p:sp>
        <p:sp>
          <p:nvSpPr>
            <p:cNvPr id="45" name="Text Box 91"/>
            <p:cNvSpPr txBox="1">
              <a:spLocks noChangeArrowheads="1"/>
            </p:cNvSpPr>
            <p:nvPr/>
          </p:nvSpPr>
          <p:spPr bwMode="auto">
            <a:xfrm>
              <a:off x="4660469" y="4785532"/>
              <a:ext cx="809352" cy="1615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7F7F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algn="ctr" eaLnBrk="1" hangingPunct="1"/>
              <a:r>
                <a:rPr kumimoji="0"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사업관리팀</a:t>
              </a:r>
            </a:p>
          </p:txBody>
        </p:sp>
        <p:sp>
          <p:nvSpPr>
            <p:cNvPr id="46" name="Text Box 104"/>
            <p:cNvSpPr txBox="1">
              <a:spLocks noChangeArrowheads="1"/>
            </p:cNvSpPr>
            <p:nvPr/>
          </p:nvSpPr>
          <p:spPr bwMode="auto">
            <a:xfrm>
              <a:off x="2850797" y="4341512"/>
              <a:ext cx="810788" cy="20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7F7F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0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algn="ctr" eaLnBrk="1" hangingPunct="1"/>
              <a:r>
                <a:rPr kumimoji="0" lang="en-US" altLang="en-US" sz="10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PM</a:t>
              </a:r>
              <a:endParaRPr kumimoji="0" lang="en-US" altLang="ko-KR" sz="1000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47" name="Text Box 115"/>
            <p:cNvSpPr txBox="1">
              <a:spLocks noChangeArrowheads="1"/>
            </p:cNvSpPr>
            <p:nvPr/>
          </p:nvSpPr>
          <p:spPr bwMode="auto">
            <a:xfrm>
              <a:off x="3653628" y="5386689"/>
              <a:ext cx="1071516" cy="201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품질보증 활동지원</a:t>
              </a:r>
            </a:p>
          </p:txBody>
        </p:sp>
        <p:sp>
          <p:nvSpPr>
            <p:cNvPr id="48" name="Text Box 117"/>
            <p:cNvSpPr txBox="1">
              <a:spLocks noChangeArrowheads="1"/>
            </p:cNvSpPr>
            <p:nvPr/>
          </p:nvSpPr>
          <p:spPr bwMode="auto">
            <a:xfrm rot="20057813">
              <a:off x="3921918" y="3692855"/>
              <a:ext cx="1198107" cy="3230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명조 M" pitchFamily="18" charset="-127"/>
                  <a:ea typeface="산돌명조 M" pitchFamily="18" charset="-127"/>
                </a:defRPr>
              </a:lvl9pPr>
            </a:lstStyle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보고검토 결과</a:t>
              </a:r>
            </a:p>
            <a:p>
              <a:pPr eaLnBrk="1" latinLnBrk="1" hangingPunct="1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문제점 통보</a:t>
              </a:r>
            </a:p>
          </p:txBody>
        </p:sp>
        <p:sp>
          <p:nvSpPr>
            <p:cNvPr id="49" name="Text Box 112"/>
            <p:cNvSpPr txBox="1">
              <a:spLocks noChangeArrowheads="1"/>
            </p:cNvSpPr>
            <p:nvPr/>
          </p:nvSpPr>
          <p:spPr bwMode="auto">
            <a:xfrm>
              <a:off x="4503155" y="5562873"/>
              <a:ext cx="1110089" cy="255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7F7F7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bIns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ctr" eaLnBrk="1" hangingPunct="1"/>
              <a:r>
                <a:rPr kumimoji="0"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품질지원조직</a:t>
              </a:r>
            </a:p>
            <a:p>
              <a:pPr algn="ctr" eaLnBrk="1" hangingPunct="1"/>
              <a:r>
                <a:rPr kumimoji="0" lang="en-US" altLang="ko-KR" sz="7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kumimoji="0" lang="ko-KR" altLang="en-US" sz="7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전사적 품질관리</a:t>
              </a:r>
              <a:r>
                <a:rPr kumimoji="0" lang="en-US" altLang="ko-KR" sz="7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50" name="육각형 49"/>
            <p:cNvSpPr/>
            <p:nvPr/>
          </p:nvSpPr>
          <p:spPr>
            <a:xfrm>
              <a:off x="811262" y="5387287"/>
              <a:ext cx="1245654" cy="239777"/>
            </a:xfrm>
            <a:prstGeom prst="hexagon">
              <a:avLst>
                <a:gd name="adj" fmla="val 29288"/>
                <a:gd name="vf" fmla="val 115470"/>
              </a:avLst>
            </a:prstGeom>
            <a:solidFill>
              <a:srgbClr val="0057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위험관리</a:t>
              </a:r>
              <a:endParaRPr lang="ko-KR" alt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육각형 50"/>
            <p:cNvSpPr/>
            <p:nvPr/>
          </p:nvSpPr>
          <p:spPr>
            <a:xfrm>
              <a:off x="811262" y="5700108"/>
              <a:ext cx="1245654" cy="239777"/>
            </a:xfrm>
            <a:prstGeom prst="hexagon">
              <a:avLst>
                <a:gd name="adj" fmla="val 29288"/>
                <a:gd name="vf" fmla="val 115470"/>
              </a:avLst>
            </a:prstGeom>
            <a:solidFill>
              <a:srgbClr val="0057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주기적 모니터링</a:t>
              </a:r>
              <a:endParaRPr lang="ko-KR" alt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1366000" y="4423955"/>
              <a:ext cx="149545" cy="200024"/>
              <a:chOff x="1309268" y="4358919"/>
              <a:chExt cx="150812" cy="200024"/>
            </a:xfrm>
          </p:grpSpPr>
          <p:sp>
            <p:nvSpPr>
              <p:cNvPr id="53" name="Freeform 32"/>
              <p:cNvSpPr>
                <a:spLocks/>
              </p:cNvSpPr>
              <p:nvPr/>
            </p:nvSpPr>
            <p:spPr bwMode="auto">
              <a:xfrm>
                <a:off x="1309268" y="4458931"/>
                <a:ext cx="150812" cy="100012"/>
              </a:xfrm>
              <a:custGeom>
                <a:avLst/>
                <a:gdLst>
                  <a:gd name="T0" fmla="*/ 90 w 90"/>
                  <a:gd name="T1" fmla="*/ 60 h 60"/>
                  <a:gd name="T2" fmla="*/ 90 w 90"/>
                  <a:gd name="T3" fmla="*/ 22 h 60"/>
                  <a:gd name="T4" fmla="*/ 68 w 90"/>
                  <a:gd name="T5" fmla="*/ 0 h 60"/>
                  <a:gd name="T6" fmla="*/ 22 w 90"/>
                  <a:gd name="T7" fmla="*/ 0 h 60"/>
                  <a:gd name="T8" fmla="*/ 0 w 90"/>
                  <a:gd name="T9" fmla="*/ 22 h 60"/>
                  <a:gd name="T10" fmla="*/ 0 w 90"/>
                  <a:gd name="T11" fmla="*/ 60 h 60"/>
                  <a:gd name="T12" fmla="*/ 90 w 90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0">
                    <a:moveTo>
                      <a:pt x="90" y="60"/>
                    </a:moveTo>
                    <a:cubicBezTo>
                      <a:pt x="90" y="22"/>
                      <a:pt x="90" y="22"/>
                      <a:pt x="90" y="22"/>
                    </a:cubicBezTo>
                    <a:cubicBezTo>
                      <a:pt x="90" y="10"/>
                      <a:pt x="80" y="0"/>
                      <a:pt x="6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60"/>
                      <a:pt x="0" y="60"/>
                      <a:pt x="0" y="60"/>
                    </a:cubicBezTo>
                    <a:lnTo>
                      <a:pt x="90" y="60"/>
                    </a:lnTo>
                    <a:close/>
                  </a:path>
                </a:pathLst>
              </a:cu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54" name="Oval 33"/>
              <p:cNvSpPr>
                <a:spLocks noChangeArrowheads="1"/>
              </p:cNvSpPr>
              <p:nvPr/>
            </p:nvSpPr>
            <p:spPr bwMode="auto">
              <a:xfrm>
                <a:off x="1337843" y="4358919"/>
                <a:ext cx="93662" cy="92075"/>
              </a:xfrm>
              <a:prstGeom prst="ellipse">
                <a:avLst/>
              </a:pr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55" name="그룹 54"/>
            <p:cNvGrpSpPr/>
            <p:nvPr/>
          </p:nvGrpSpPr>
          <p:grpSpPr>
            <a:xfrm>
              <a:off x="1436338" y="4478061"/>
              <a:ext cx="149545" cy="200024"/>
              <a:chOff x="1309268" y="4358919"/>
              <a:chExt cx="150812" cy="200024"/>
            </a:xfrm>
          </p:grpSpPr>
          <p:sp>
            <p:nvSpPr>
              <p:cNvPr id="56" name="Freeform 32"/>
              <p:cNvSpPr>
                <a:spLocks/>
              </p:cNvSpPr>
              <p:nvPr/>
            </p:nvSpPr>
            <p:spPr bwMode="auto">
              <a:xfrm>
                <a:off x="1309268" y="4458931"/>
                <a:ext cx="150812" cy="100012"/>
              </a:xfrm>
              <a:custGeom>
                <a:avLst/>
                <a:gdLst>
                  <a:gd name="T0" fmla="*/ 90 w 90"/>
                  <a:gd name="T1" fmla="*/ 60 h 60"/>
                  <a:gd name="T2" fmla="*/ 90 w 90"/>
                  <a:gd name="T3" fmla="*/ 22 h 60"/>
                  <a:gd name="T4" fmla="*/ 68 w 90"/>
                  <a:gd name="T5" fmla="*/ 0 h 60"/>
                  <a:gd name="T6" fmla="*/ 22 w 90"/>
                  <a:gd name="T7" fmla="*/ 0 h 60"/>
                  <a:gd name="T8" fmla="*/ 0 w 90"/>
                  <a:gd name="T9" fmla="*/ 22 h 60"/>
                  <a:gd name="T10" fmla="*/ 0 w 90"/>
                  <a:gd name="T11" fmla="*/ 60 h 60"/>
                  <a:gd name="T12" fmla="*/ 90 w 90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0">
                    <a:moveTo>
                      <a:pt x="90" y="60"/>
                    </a:moveTo>
                    <a:cubicBezTo>
                      <a:pt x="90" y="22"/>
                      <a:pt x="90" y="22"/>
                      <a:pt x="90" y="22"/>
                    </a:cubicBezTo>
                    <a:cubicBezTo>
                      <a:pt x="90" y="10"/>
                      <a:pt x="80" y="0"/>
                      <a:pt x="6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60"/>
                      <a:pt x="0" y="60"/>
                      <a:pt x="0" y="60"/>
                    </a:cubicBezTo>
                    <a:lnTo>
                      <a:pt x="90" y="60"/>
                    </a:lnTo>
                    <a:close/>
                  </a:path>
                </a:pathLst>
              </a:cu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57" name="Oval 33"/>
              <p:cNvSpPr>
                <a:spLocks noChangeArrowheads="1"/>
              </p:cNvSpPr>
              <p:nvPr/>
            </p:nvSpPr>
            <p:spPr bwMode="auto">
              <a:xfrm>
                <a:off x="1337843" y="4358919"/>
                <a:ext cx="93662" cy="92075"/>
              </a:xfrm>
              <a:prstGeom prst="ellipse">
                <a:avLst/>
              </a:pr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58" name="그룹 57"/>
            <p:cNvGrpSpPr/>
            <p:nvPr/>
          </p:nvGrpSpPr>
          <p:grpSpPr>
            <a:xfrm>
              <a:off x="1539140" y="4440186"/>
              <a:ext cx="149545" cy="200024"/>
              <a:chOff x="1309268" y="4358919"/>
              <a:chExt cx="150812" cy="200024"/>
            </a:xfrm>
          </p:grpSpPr>
          <p:sp>
            <p:nvSpPr>
              <p:cNvPr id="59" name="Freeform 32"/>
              <p:cNvSpPr>
                <a:spLocks/>
              </p:cNvSpPr>
              <p:nvPr/>
            </p:nvSpPr>
            <p:spPr bwMode="auto">
              <a:xfrm>
                <a:off x="1309268" y="4458931"/>
                <a:ext cx="150812" cy="100012"/>
              </a:xfrm>
              <a:custGeom>
                <a:avLst/>
                <a:gdLst>
                  <a:gd name="T0" fmla="*/ 90 w 90"/>
                  <a:gd name="T1" fmla="*/ 60 h 60"/>
                  <a:gd name="T2" fmla="*/ 90 w 90"/>
                  <a:gd name="T3" fmla="*/ 22 h 60"/>
                  <a:gd name="T4" fmla="*/ 68 w 90"/>
                  <a:gd name="T5" fmla="*/ 0 h 60"/>
                  <a:gd name="T6" fmla="*/ 22 w 90"/>
                  <a:gd name="T7" fmla="*/ 0 h 60"/>
                  <a:gd name="T8" fmla="*/ 0 w 90"/>
                  <a:gd name="T9" fmla="*/ 22 h 60"/>
                  <a:gd name="T10" fmla="*/ 0 w 90"/>
                  <a:gd name="T11" fmla="*/ 60 h 60"/>
                  <a:gd name="T12" fmla="*/ 90 w 90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0">
                    <a:moveTo>
                      <a:pt x="90" y="60"/>
                    </a:moveTo>
                    <a:cubicBezTo>
                      <a:pt x="90" y="22"/>
                      <a:pt x="90" y="22"/>
                      <a:pt x="90" y="22"/>
                    </a:cubicBezTo>
                    <a:cubicBezTo>
                      <a:pt x="90" y="10"/>
                      <a:pt x="80" y="0"/>
                      <a:pt x="6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60"/>
                      <a:pt x="0" y="60"/>
                      <a:pt x="0" y="60"/>
                    </a:cubicBezTo>
                    <a:lnTo>
                      <a:pt x="90" y="60"/>
                    </a:lnTo>
                    <a:close/>
                  </a:path>
                </a:pathLst>
              </a:cu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61" name="Oval 33"/>
              <p:cNvSpPr>
                <a:spLocks noChangeArrowheads="1"/>
              </p:cNvSpPr>
              <p:nvPr/>
            </p:nvSpPr>
            <p:spPr bwMode="auto">
              <a:xfrm>
                <a:off x="1337843" y="4358919"/>
                <a:ext cx="93662" cy="92075"/>
              </a:xfrm>
              <a:prstGeom prst="ellipse">
                <a:avLst/>
              </a:pr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62" name="그룹 61"/>
            <p:cNvGrpSpPr/>
            <p:nvPr/>
          </p:nvGrpSpPr>
          <p:grpSpPr>
            <a:xfrm>
              <a:off x="1604068" y="4488882"/>
              <a:ext cx="149545" cy="200024"/>
              <a:chOff x="1309268" y="4358919"/>
              <a:chExt cx="150812" cy="200024"/>
            </a:xfrm>
          </p:grpSpPr>
          <p:sp>
            <p:nvSpPr>
              <p:cNvPr id="64" name="Freeform 32"/>
              <p:cNvSpPr>
                <a:spLocks/>
              </p:cNvSpPr>
              <p:nvPr/>
            </p:nvSpPr>
            <p:spPr bwMode="auto">
              <a:xfrm>
                <a:off x="1309268" y="4458931"/>
                <a:ext cx="150812" cy="100012"/>
              </a:xfrm>
              <a:custGeom>
                <a:avLst/>
                <a:gdLst>
                  <a:gd name="T0" fmla="*/ 90 w 90"/>
                  <a:gd name="T1" fmla="*/ 60 h 60"/>
                  <a:gd name="T2" fmla="*/ 90 w 90"/>
                  <a:gd name="T3" fmla="*/ 22 h 60"/>
                  <a:gd name="T4" fmla="*/ 68 w 90"/>
                  <a:gd name="T5" fmla="*/ 0 h 60"/>
                  <a:gd name="T6" fmla="*/ 22 w 90"/>
                  <a:gd name="T7" fmla="*/ 0 h 60"/>
                  <a:gd name="T8" fmla="*/ 0 w 90"/>
                  <a:gd name="T9" fmla="*/ 22 h 60"/>
                  <a:gd name="T10" fmla="*/ 0 w 90"/>
                  <a:gd name="T11" fmla="*/ 60 h 60"/>
                  <a:gd name="T12" fmla="*/ 90 w 90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0">
                    <a:moveTo>
                      <a:pt x="90" y="60"/>
                    </a:moveTo>
                    <a:cubicBezTo>
                      <a:pt x="90" y="22"/>
                      <a:pt x="90" y="22"/>
                      <a:pt x="90" y="22"/>
                    </a:cubicBezTo>
                    <a:cubicBezTo>
                      <a:pt x="90" y="10"/>
                      <a:pt x="80" y="0"/>
                      <a:pt x="6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60"/>
                      <a:pt x="0" y="60"/>
                      <a:pt x="0" y="60"/>
                    </a:cubicBezTo>
                    <a:lnTo>
                      <a:pt x="90" y="60"/>
                    </a:lnTo>
                    <a:close/>
                  </a:path>
                </a:pathLst>
              </a:cu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65" name="Oval 33"/>
              <p:cNvSpPr>
                <a:spLocks noChangeArrowheads="1"/>
              </p:cNvSpPr>
              <p:nvPr/>
            </p:nvSpPr>
            <p:spPr bwMode="auto">
              <a:xfrm>
                <a:off x="1337843" y="4358919"/>
                <a:ext cx="93662" cy="92075"/>
              </a:xfrm>
              <a:prstGeom prst="ellipse">
                <a:avLst/>
              </a:pr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66" name="그룹 65"/>
            <p:cNvGrpSpPr/>
            <p:nvPr/>
          </p:nvGrpSpPr>
          <p:grpSpPr>
            <a:xfrm>
              <a:off x="3115716" y="3987456"/>
              <a:ext cx="336523" cy="274708"/>
              <a:chOff x="3096389" y="3934031"/>
              <a:chExt cx="425341" cy="344295"/>
            </a:xfrm>
          </p:grpSpPr>
          <p:pic>
            <p:nvPicPr>
              <p:cNvPr id="67" name="그림 6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6389" y="3934031"/>
                <a:ext cx="228762" cy="298553"/>
              </a:xfrm>
              <a:prstGeom prst="rect">
                <a:avLst/>
              </a:prstGeom>
            </p:spPr>
          </p:pic>
          <p:pic>
            <p:nvPicPr>
              <p:cNvPr id="68" name="그림 6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8568" y="4067123"/>
                <a:ext cx="293162" cy="211203"/>
              </a:xfrm>
              <a:prstGeom prst="rect">
                <a:avLst/>
              </a:prstGeom>
            </p:spPr>
          </p:pic>
        </p:grp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6077" y="3180005"/>
              <a:ext cx="263224" cy="193058"/>
            </a:xfrm>
            <a:prstGeom prst="rect">
              <a:avLst/>
            </a:prstGeom>
          </p:spPr>
        </p:pic>
        <p:grpSp>
          <p:nvGrpSpPr>
            <p:cNvPr id="70" name="그룹 69"/>
            <p:cNvGrpSpPr/>
            <p:nvPr/>
          </p:nvGrpSpPr>
          <p:grpSpPr>
            <a:xfrm>
              <a:off x="1405970" y="3093999"/>
              <a:ext cx="217034" cy="284338"/>
              <a:chOff x="3030537" y="5026026"/>
              <a:chExt cx="355601" cy="461962"/>
            </a:xfrm>
          </p:grpSpPr>
          <p:sp>
            <p:nvSpPr>
              <p:cNvPr id="71" name="Oval 5"/>
              <p:cNvSpPr>
                <a:spLocks noChangeArrowheads="1"/>
              </p:cNvSpPr>
              <p:nvPr/>
            </p:nvSpPr>
            <p:spPr bwMode="auto">
              <a:xfrm>
                <a:off x="3089275" y="5026026"/>
                <a:ext cx="238125" cy="234950"/>
              </a:xfrm>
              <a:prstGeom prst="ellipse">
                <a:avLst/>
              </a:pr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72" name="Freeform 6"/>
              <p:cNvSpPr>
                <a:spLocks/>
              </p:cNvSpPr>
              <p:nvPr/>
            </p:nvSpPr>
            <p:spPr bwMode="auto">
              <a:xfrm>
                <a:off x="3182938" y="5270500"/>
                <a:ext cx="50800" cy="34925"/>
              </a:xfrm>
              <a:custGeom>
                <a:avLst/>
                <a:gdLst>
                  <a:gd name="T0" fmla="*/ 0 w 32"/>
                  <a:gd name="T1" fmla="*/ 0 h 22"/>
                  <a:gd name="T2" fmla="*/ 6 w 32"/>
                  <a:gd name="T3" fmla="*/ 22 h 22"/>
                  <a:gd name="T4" fmla="*/ 27 w 32"/>
                  <a:gd name="T5" fmla="*/ 22 h 22"/>
                  <a:gd name="T6" fmla="*/ 32 w 32"/>
                  <a:gd name="T7" fmla="*/ 0 h 22"/>
                  <a:gd name="T8" fmla="*/ 0 w 32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2">
                    <a:moveTo>
                      <a:pt x="0" y="0"/>
                    </a:moveTo>
                    <a:lnTo>
                      <a:pt x="6" y="22"/>
                    </a:lnTo>
                    <a:lnTo>
                      <a:pt x="27" y="22"/>
                    </a:lnTo>
                    <a:lnTo>
                      <a:pt x="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73" name="Freeform 7"/>
              <p:cNvSpPr>
                <a:spLocks/>
              </p:cNvSpPr>
              <p:nvPr/>
            </p:nvSpPr>
            <p:spPr bwMode="auto">
              <a:xfrm>
                <a:off x="3184525" y="5311775"/>
                <a:ext cx="47625" cy="77787"/>
              </a:xfrm>
              <a:custGeom>
                <a:avLst/>
                <a:gdLst>
                  <a:gd name="T0" fmla="*/ 5 w 30"/>
                  <a:gd name="T1" fmla="*/ 0 h 49"/>
                  <a:gd name="T2" fmla="*/ 0 w 30"/>
                  <a:gd name="T3" fmla="*/ 30 h 49"/>
                  <a:gd name="T4" fmla="*/ 15 w 30"/>
                  <a:gd name="T5" fmla="*/ 49 h 49"/>
                  <a:gd name="T6" fmla="*/ 30 w 30"/>
                  <a:gd name="T7" fmla="*/ 30 h 49"/>
                  <a:gd name="T8" fmla="*/ 24 w 30"/>
                  <a:gd name="T9" fmla="*/ 0 h 49"/>
                  <a:gd name="T10" fmla="*/ 5 w 30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49">
                    <a:moveTo>
                      <a:pt x="5" y="0"/>
                    </a:moveTo>
                    <a:lnTo>
                      <a:pt x="0" y="30"/>
                    </a:lnTo>
                    <a:lnTo>
                      <a:pt x="15" y="49"/>
                    </a:lnTo>
                    <a:lnTo>
                      <a:pt x="30" y="30"/>
                    </a:lnTo>
                    <a:lnTo>
                      <a:pt x="24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74" name="Freeform 8"/>
              <p:cNvSpPr>
                <a:spLocks/>
              </p:cNvSpPr>
              <p:nvPr/>
            </p:nvSpPr>
            <p:spPr bwMode="auto">
              <a:xfrm>
                <a:off x="3030537" y="5272088"/>
                <a:ext cx="355601" cy="215900"/>
              </a:xfrm>
              <a:custGeom>
                <a:avLst/>
                <a:gdLst>
                  <a:gd name="T0" fmla="*/ 123 w 175"/>
                  <a:gd name="T1" fmla="*/ 0 h 106"/>
                  <a:gd name="T2" fmla="*/ 88 w 175"/>
                  <a:gd name="T3" fmla="*/ 73 h 106"/>
                  <a:gd name="T4" fmla="*/ 52 w 175"/>
                  <a:gd name="T5" fmla="*/ 0 h 106"/>
                  <a:gd name="T6" fmla="*/ 0 w 175"/>
                  <a:gd name="T7" fmla="*/ 86 h 106"/>
                  <a:gd name="T8" fmla="*/ 0 w 175"/>
                  <a:gd name="T9" fmla="*/ 106 h 106"/>
                  <a:gd name="T10" fmla="*/ 175 w 175"/>
                  <a:gd name="T11" fmla="*/ 106 h 106"/>
                  <a:gd name="T12" fmla="*/ 175 w 175"/>
                  <a:gd name="T13" fmla="*/ 86 h 106"/>
                  <a:gd name="T14" fmla="*/ 123 w 175"/>
                  <a:gd name="T1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5" h="106">
                    <a:moveTo>
                      <a:pt x="123" y="0"/>
                    </a:moveTo>
                    <a:cubicBezTo>
                      <a:pt x="88" y="73"/>
                      <a:pt x="88" y="73"/>
                      <a:pt x="88" y="73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22" y="15"/>
                      <a:pt x="0" y="48"/>
                      <a:pt x="0" y="86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75" y="106"/>
                      <a:pt x="175" y="106"/>
                      <a:pt x="175" y="106"/>
                    </a:cubicBezTo>
                    <a:cubicBezTo>
                      <a:pt x="175" y="86"/>
                      <a:pt x="175" y="86"/>
                      <a:pt x="175" y="86"/>
                    </a:cubicBezTo>
                    <a:cubicBezTo>
                      <a:pt x="175" y="48"/>
                      <a:pt x="154" y="15"/>
                      <a:pt x="123" y="0"/>
                    </a:cubicBez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pic>
          <p:nvPicPr>
            <p:cNvPr id="75" name="그림 7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1140" y="4457378"/>
              <a:ext cx="238356" cy="211760"/>
            </a:xfrm>
            <a:prstGeom prst="rect">
              <a:avLst/>
            </a:prstGeom>
          </p:spPr>
        </p:pic>
        <p:grpSp>
          <p:nvGrpSpPr>
            <p:cNvPr id="76" name="그룹 75"/>
            <p:cNvGrpSpPr/>
            <p:nvPr/>
          </p:nvGrpSpPr>
          <p:grpSpPr>
            <a:xfrm>
              <a:off x="5063250" y="5319266"/>
              <a:ext cx="181064" cy="238125"/>
              <a:chOff x="5048251" y="3303588"/>
              <a:chExt cx="271462" cy="354012"/>
            </a:xfrm>
          </p:grpSpPr>
          <p:sp>
            <p:nvSpPr>
              <p:cNvPr id="77" name="AutoShape 72"/>
              <p:cNvSpPr>
                <a:spLocks noChangeAspect="1" noChangeArrowheads="1" noTextEdit="1"/>
              </p:cNvSpPr>
              <p:nvPr/>
            </p:nvSpPr>
            <p:spPr bwMode="auto">
              <a:xfrm>
                <a:off x="5049838" y="3303588"/>
                <a:ext cx="269875" cy="35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78" name="Freeform 74"/>
              <p:cNvSpPr>
                <a:spLocks/>
              </p:cNvSpPr>
              <p:nvPr/>
            </p:nvSpPr>
            <p:spPr bwMode="auto">
              <a:xfrm>
                <a:off x="5048251" y="3303588"/>
                <a:ext cx="269875" cy="352425"/>
              </a:xfrm>
              <a:custGeom>
                <a:avLst/>
                <a:gdLst>
                  <a:gd name="T0" fmla="*/ 86 w 170"/>
                  <a:gd name="T1" fmla="*/ 0 h 222"/>
                  <a:gd name="T2" fmla="*/ 58 w 170"/>
                  <a:gd name="T3" fmla="*/ 0 h 222"/>
                  <a:gd name="T4" fmla="*/ 58 w 170"/>
                  <a:gd name="T5" fmla="*/ 59 h 222"/>
                  <a:gd name="T6" fmla="*/ 0 w 170"/>
                  <a:gd name="T7" fmla="*/ 59 h 222"/>
                  <a:gd name="T8" fmla="*/ 0 w 170"/>
                  <a:gd name="T9" fmla="*/ 75 h 222"/>
                  <a:gd name="T10" fmla="*/ 0 w 170"/>
                  <a:gd name="T11" fmla="*/ 222 h 222"/>
                  <a:gd name="T12" fmla="*/ 85 w 170"/>
                  <a:gd name="T13" fmla="*/ 222 h 222"/>
                  <a:gd name="T14" fmla="*/ 170 w 170"/>
                  <a:gd name="T15" fmla="*/ 222 h 222"/>
                  <a:gd name="T16" fmla="*/ 170 w 170"/>
                  <a:gd name="T17" fmla="*/ 136 h 222"/>
                  <a:gd name="T18" fmla="*/ 170 w 170"/>
                  <a:gd name="T19" fmla="*/ 0 h 222"/>
                  <a:gd name="T20" fmla="*/ 86 w 170"/>
                  <a:gd name="T21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0" h="222">
                    <a:moveTo>
                      <a:pt x="86" y="0"/>
                    </a:moveTo>
                    <a:lnTo>
                      <a:pt x="58" y="0"/>
                    </a:lnTo>
                    <a:lnTo>
                      <a:pt x="58" y="59"/>
                    </a:lnTo>
                    <a:lnTo>
                      <a:pt x="0" y="59"/>
                    </a:lnTo>
                    <a:lnTo>
                      <a:pt x="0" y="75"/>
                    </a:lnTo>
                    <a:lnTo>
                      <a:pt x="0" y="222"/>
                    </a:lnTo>
                    <a:lnTo>
                      <a:pt x="85" y="222"/>
                    </a:lnTo>
                    <a:lnTo>
                      <a:pt x="170" y="222"/>
                    </a:lnTo>
                    <a:lnTo>
                      <a:pt x="170" y="136"/>
                    </a:lnTo>
                    <a:lnTo>
                      <a:pt x="170" y="0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F0F0F0"/>
              </a:solidFill>
              <a:ln w="9525">
                <a:solidFill>
                  <a:srgbClr val="0057A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79" name="Freeform 75"/>
              <p:cNvSpPr>
                <a:spLocks/>
              </p:cNvSpPr>
              <p:nvPr/>
            </p:nvSpPr>
            <p:spPr bwMode="auto">
              <a:xfrm>
                <a:off x="5048251" y="3303588"/>
                <a:ext cx="269875" cy="352425"/>
              </a:xfrm>
              <a:custGeom>
                <a:avLst/>
                <a:gdLst>
                  <a:gd name="T0" fmla="*/ 86 w 170"/>
                  <a:gd name="T1" fmla="*/ 0 h 222"/>
                  <a:gd name="T2" fmla="*/ 58 w 170"/>
                  <a:gd name="T3" fmla="*/ 0 h 222"/>
                  <a:gd name="T4" fmla="*/ 58 w 170"/>
                  <a:gd name="T5" fmla="*/ 59 h 222"/>
                  <a:gd name="T6" fmla="*/ 0 w 170"/>
                  <a:gd name="T7" fmla="*/ 59 h 222"/>
                  <a:gd name="T8" fmla="*/ 0 w 170"/>
                  <a:gd name="T9" fmla="*/ 75 h 222"/>
                  <a:gd name="T10" fmla="*/ 0 w 170"/>
                  <a:gd name="T11" fmla="*/ 222 h 222"/>
                  <a:gd name="T12" fmla="*/ 85 w 170"/>
                  <a:gd name="T13" fmla="*/ 222 h 222"/>
                  <a:gd name="T14" fmla="*/ 170 w 170"/>
                  <a:gd name="T15" fmla="*/ 222 h 222"/>
                  <a:gd name="T16" fmla="*/ 170 w 170"/>
                  <a:gd name="T17" fmla="*/ 136 h 222"/>
                  <a:gd name="T18" fmla="*/ 170 w 170"/>
                  <a:gd name="T19" fmla="*/ 0 h 222"/>
                  <a:gd name="T20" fmla="*/ 86 w 170"/>
                  <a:gd name="T21" fmla="*/ 0 h 2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70" h="222">
                    <a:moveTo>
                      <a:pt x="86" y="0"/>
                    </a:moveTo>
                    <a:lnTo>
                      <a:pt x="58" y="0"/>
                    </a:lnTo>
                    <a:lnTo>
                      <a:pt x="58" y="59"/>
                    </a:lnTo>
                    <a:lnTo>
                      <a:pt x="0" y="59"/>
                    </a:lnTo>
                    <a:lnTo>
                      <a:pt x="0" y="75"/>
                    </a:lnTo>
                    <a:lnTo>
                      <a:pt x="0" y="222"/>
                    </a:lnTo>
                    <a:lnTo>
                      <a:pt x="85" y="222"/>
                    </a:lnTo>
                    <a:lnTo>
                      <a:pt x="170" y="222"/>
                    </a:lnTo>
                    <a:lnTo>
                      <a:pt x="170" y="136"/>
                    </a:lnTo>
                    <a:lnTo>
                      <a:pt x="170" y="0"/>
                    </a:lnTo>
                    <a:lnTo>
                      <a:pt x="8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0" name="Freeform 76"/>
              <p:cNvSpPr>
                <a:spLocks/>
              </p:cNvSpPr>
              <p:nvPr/>
            </p:nvSpPr>
            <p:spPr bwMode="auto">
              <a:xfrm>
                <a:off x="5048251" y="3303588"/>
                <a:ext cx="92075" cy="93662"/>
              </a:xfrm>
              <a:custGeom>
                <a:avLst/>
                <a:gdLst>
                  <a:gd name="T0" fmla="*/ 0 w 58"/>
                  <a:gd name="T1" fmla="*/ 59 h 59"/>
                  <a:gd name="T2" fmla="*/ 58 w 58"/>
                  <a:gd name="T3" fmla="*/ 59 h 59"/>
                  <a:gd name="T4" fmla="*/ 58 w 58"/>
                  <a:gd name="T5" fmla="*/ 0 h 59"/>
                  <a:gd name="T6" fmla="*/ 0 w 58"/>
                  <a:gd name="T7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59">
                    <a:moveTo>
                      <a:pt x="0" y="59"/>
                    </a:moveTo>
                    <a:lnTo>
                      <a:pt x="58" y="59"/>
                    </a:lnTo>
                    <a:lnTo>
                      <a:pt x="58" y="0"/>
                    </a:lnTo>
                    <a:lnTo>
                      <a:pt x="0" y="59"/>
                    </a:lnTo>
                    <a:close/>
                  </a:path>
                </a:pathLst>
              </a:custGeom>
              <a:solidFill>
                <a:srgbClr val="F0F0F0"/>
              </a:solidFill>
              <a:ln w="9525">
                <a:solidFill>
                  <a:srgbClr val="0057A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1" name="Freeform 77"/>
              <p:cNvSpPr>
                <a:spLocks/>
              </p:cNvSpPr>
              <p:nvPr/>
            </p:nvSpPr>
            <p:spPr bwMode="auto">
              <a:xfrm>
                <a:off x="5048251" y="3303588"/>
                <a:ext cx="92075" cy="93662"/>
              </a:xfrm>
              <a:custGeom>
                <a:avLst/>
                <a:gdLst>
                  <a:gd name="T0" fmla="*/ 0 w 58"/>
                  <a:gd name="T1" fmla="*/ 59 h 59"/>
                  <a:gd name="T2" fmla="*/ 58 w 58"/>
                  <a:gd name="T3" fmla="*/ 59 h 59"/>
                  <a:gd name="T4" fmla="*/ 58 w 58"/>
                  <a:gd name="T5" fmla="*/ 0 h 59"/>
                  <a:gd name="T6" fmla="*/ 0 w 58"/>
                  <a:gd name="T7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59">
                    <a:moveTo>
                      <a:pt x="0" y="59"/>
                    </a:moveTo>
                    <a:lnTo>
                      <a:pt x="58" y="59"/>
                    </a:lnTo>
                    <a:lnTo>
                      <a:pt x="58" y="0"/>
                    </a:lnTo>
                    <a:lnTo>
                      <a:pt x="0" y="59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2" name="Freeform 78"/>
              <p:cNvSpPr>
                <a:spLocks/>
              </p:cNvSpPr>
              <p:nvPr/>
            </p:nvSpPr>
            <p:spPr bwMode="auto">
              <a:xfrm>
                <a:off x="5048251" y="3303588"/>
                <a:ext cx="98425" cy="96837"/>
              </a:xfrm>
              <a:custGeom>
                <a:avLst/>
                <a:gdLst>
                  <a:gd name="T0" fmla="*/ 62 w 62"/>
                  <a:gd name="T1" fmla="*/ 0 h 61"/>
                  <a:gd name="T2" fmla="*/ 58 w 62"/>
                  <a:gd name="T3" fmla="*/ 0 h 61"/>
                  <a:gd name="T4" fmla="*/ 58 w 62"/>
                  <a:gd name="T5" fmla="*/ 59 h 61"/>
                  <a:gd name="T6" fmla="*/ 0 w 62"/>
                  <a:gd name="T7" fmla="*/ 59 h 61"/>
                  <a:gd name="T8" fmla="*/ 0 w 62"/>
                  <a:gd name="T9" fmla="*/ 61 h 61"/>
                  <a:gd name="T10" fmla="*/ 62 w 62"/>
                  <a:gd name="T11" fmla="*/ 61 h 61"/>
                  <a:gd name="T12" fmla="*/ 62 w 62"/>
                  <a:gd name="T13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61">
                    <a:moveTo>
                      <a:pt x="62" y="0"/>
                    </a:moveTo>
                    <a:lnTo>
                      <a:pt x="58" y="0"/>
                    </a:lnTo>
                    <a:lnTo>
                      <a:pt x="58" y="59"/>
                    </a:lnTo>
                    <a:lnTo>
                      <a:pt x="0" y="59"/>
                    </a:lnTo>
                    <a:lnTo>
                      <a:pt x="0" y="61"/>
                    </a:lnTo>
                    <a:lnTo>
                      <a:pt x="62" y="61"/>
                    </a:lnTo>
                    <a:lnTo>
                      <a:pt x="62" y="0"/>
                    </a:lnTo>
                    <a:close/>
                  </a:path>
                </a:pathLst>
              </a:custGeom>
              <a:solidFill>
                <a:srgbClr val="D3D0D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3" name="Freeform 79"/>
              <p:cNvSpPr>
                <a:spLocks/>
              </p:cNvSpPr>
              <p:nvPr/>
            </p:nvSpPr>
            <p:spPr bwMode="auto">
              <a:xfrm>
                <a:off x="5048251" y="3303588"/>
                <a:ext cx="98425" cy="96837"/>
              </a:xfrm>
              <a:custGeom>
                <a:avLst/>
                <a:gdLst>
                  <a:gd name="T0" fmla="*/ 62 w 62"/>
                  <a:gd name="T1" fmla="*/ 0 h 61"/>
                  <a:gd name="T2" fmla="*/ 58 w 62"/>
                  <a:gd name="T3" fmla="*/ 0 h 61"/>
                  <a:gd name="T4" fmla="*/ 58 w 62"/>
                  <a:gd name="T5" fmla="*/ 59 h 61"/>
                  <a:gd name="T6" fmla="*/ 0 w 62"/>
                  <a:gd name="T7" fmla="*/ 59 h 61"/>
                  <a:gd name="T8" fmla="*/ 0 w 62"/>
                  <a:gd name="T9" fmla="*/ 61 h 61"/>
                  <a:gd name="T10" fmla="*/ 62 w 62"/>
                  <a:gd name="T11" fmla="*/ 61 h 61"/>
                  <a:gd name="T12" fmla="*/ 62 w 62"/>
                  <a:gd name="T13" fmla="*/ 0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2" h="61">
                    <a:moveTo>
                      <a:pt x="62" y="0"/>
                    </a:moveTo>
                    <a:lnTo>
                      <a:pt x="58" y="0"/>
                    </a:lnTo>
                    <a:lnTo>
                      <a:pt x="58" y="59"/>
                    </a:lnTo>
                    <a:lnTo>
                      <a:pt x="0" y="59"/>
                    </a:lnTo>
                    <a:lnTo>
                      <a:pt x="0" y="61"/>
                    </a:lnTo>
                    <a:lnTo>
                      <a:pt x="62" y="61"/>
                    </a:lnTo>
                    <a:lnTo>
                      <a:pt x="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4" name="Rectangle 80"/>
              <p:cNvSpPr>
                <a:spLocks noChangeArrowheads="1"/>
              </p:cNvSpPr>
              <p:nvPr/>
            </p:nvSpPr>
            <p:spPr bwMode="auto">
              <a:xfrm>
                <a:off x="5248276" y="3375025"/>
                <a:ext cx="1588" cy="1587"/>
              </a:xfrm>
              <a:prstGeom prst="rect">
                <a:avLst/>
              </a:prstGeom>
              <a:solidFill>
                <a:srgbClr val="FFBD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5" name="Rectangle 81"/>
              <p:cNvSpPr>
                <a:spLocks noChangeArrowheads="1"/>
              </p:cNvSpPr>
              <p:nvPr/>
            </p:nvSpPr>
            <p:spPr bwMode="auto">
              <a:xfrm>
                <a:off x="5162551" y="3452813"/>
                <a:ext cx="119063" cy="6350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6" name="Rectangle 82"/>
              <p:cNvSpPr>
                <a:spLocks noChangeArrowheads="1"/>
              </p:cNvSpPr>
              <p:nvPr/>
            </p:nvSpPr>
            <p:spPr bwMode="auto">
              <a:xfrm>
                <a:off x="5162551" y="3429000"/>
                <a:ext cx="119063" cy="6350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7" name="Freeform 83"/>
              <p:cNvSpPr>
                <a:spLocks noEditPoints="1"/>
              </p:cNvSpPr>
              <p:nvPr/>
            </p:nvSpPr>
            <p:spPr bwMode="auto">
              <a:xfrm>
                <a:off x="5095876" y="3419475"/>
                <a:ext cx="47625" cy="44450"/>
              </a:xfrm>
              <a:custGeom>
                <a:avLst/>
                <a:gdLst>
                  <a:gd name="T0" fmla="*/ 30 w 30"/>
                  <a:gd name="T1" fmla="*/ 28 h 28"/>
                  <a:gd name="T2" fmla="*/ 0 w 30"/>
                  <a:gd name="T3" fmla="*/ 28 h 28"/>
                  <a:gd name="T4" fmla="*/ 0 w 30"/>
                  <a:gd name="T5" fmla="*/ 0 h 28"/>
                  <a:gd name="T6" fmla="*/ 30 w 30"/>
                  <a:gd name="T7" fmla="*/ 0 h 28"/>
                  <a:gd name="T8" fmla="*/ 30 w 30"/>
                  <a:gd name="T9" fmla="*/ 28 h 28"/>
                  <a:gd name="T10" fmla="*/ 4 w 30"/>
                  <a:gd name="T11" fmla="*/ 25 h 28"/>
                  <a:gd name="T12" fmla="*/ 26 w 30"/>
                  <a:gd name="T13" fmla="*/ 25 h 28"/>
                  <a:gd name="T14" fmla="*/ 26 w 30"/>
                  <a:gd name="T15" fmla="*/ 4 h 28"/>
                  <a:gd name="T16" fmla="*/ 4 w 30"/>
                  <a:gd name="T17" fmla="*/ 4 h 28"/>
                  <a:gd name="T18" fmla="*/ 4 w 30"/>
                  <a:gd name="T19" fmla="*/ 25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28">
                    <a:moveTo>
                      <a:pt x="30" y="28"/>
                    </a:moveTo>
                    <a:lnTo>
                      <a:pt x="0" y="28"/>
                    </a:lnTo>
                    <a:lnTo>
                      <a:pt x="0" y="0"/>
                    </a:lnTo>
                    <a:lnTo>
                      <a:pt x="30" y="0"/>
                    </a:lnTo>
                    <a:lnTo>
                      <a:pt x="30" y="28"/>
                    </a:lnTo>
                    <a:close/>
                    <a:moveTo>
                      <a:pt x="4" y="25"/>
                    </a:moveTo>
                    <a:lnTo>
                      <a:pt x="26" y="25"/>
                    </a:lnTo>
                    <a:lnTo>
                      <a:pt x="26" y="4"/>
                    </a:lnTo>
                    <a:lnTo>
                      <a:pt x="4" y="4"/>
                    </a:lnTo>
                    <a:lnTo>
                      <a:pt x="4" y="25"/>
                    </a:ln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8" name="Rectangle 84"/>
              <p:cNvSpPr>
                <a:spLocks noChangeArrowheads="1"/>
              </p:cNvSpPr>
              <p:nvPr/>
            </p:nvSpPr>
            <p:spPr bwMode="auto">
              <a:xfrm>
                <a:off x="5162551" y="3529013"/>
                <a:ext cx="119063" cy="6350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89" name="Rectangle 85"/>
              <p:cNvSpPr>
                <a:spLocks noChangeArrowheads="1"/>
              </p:cNvSpPr>
              <p:nvPr/>
            </p:nvSpPr>
            <p:spPr bwMode="auto">
              <a:xfrm>
                <a:off x="5162551" y="3505200"/>
                <a:ext cx="119063" cy="6350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0" name="Freeform 86"/>
              <p:cNvSpPr>
                <a:spLocks noEditPoints="1"/>
              </p:cNvSpPr>
              <p:nvPr/>
            </p:nvSpPr>
            <p:spPr bwMode="auto">
              <a:xfrm>
                <a:off x="5095876" y="3495675"/>
                <a:ext cx="47625" cy="46037"/>
              </a:xfrm>
              <a:custGeom>
                <a:avLst/>
                <a:gdLst>
                  <a:gd name="T0" fmla="*/ 30 w 30"/>
                  <a:gd name="T1" fmla="*/ 29 h 29"/>
                  <a:gd name="T2" fmla="*/ 0 w 30"/>
                  <a:gd name="T3" fmla="*/ 29 h 29"/>
                  <a:gd name="T4" fmla="*/ 0 w 30"/>
                  <a:gd name="T5" fmla="*/ 0 h 29"/>
                  <a:gd name="T6" fmla="*/ 30 w 30"/>
                  <a:gd name="T7" fmla="*/ 0 h 29"/>
                  <a:gd name="T8" fmla="*/ 30 w 30"/>
                  <a:gd name="T9" fmla="*/ 29 h 29"/>
                  <a:gd name="T10" fmla="*/ 4 w 30"/>
                  <a:gd name="T11" fmla="*/ 25 h 29"/>
                  <a:gd name="T12" fmla="*/ 26 w 30"/>
                  <a:gd name="T13" fmla="*/ 25 h 29"/>
                  <a:gd name="T14" fmla="*/ 26 w 30"/>
                  <a:gd name="T15" fmla="*/ 4 h 29"/>
                  <a:gd name="T16" fmla="*/ 4 w 30"/>
                  <a:gd name="T17" fmla="*/ 4 h 29"/>
                  <a:gd name="T18" fmla="*/ 4 w 30"/>
                  <a:gd name="T19" fmla="*/ 25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29">
                    <a:moveTo>
                      <a:pt x="30" y="29"/>
                    </a:moveTo>
                    <a:lnTo>
                      <a:pt x="0" y="29"/>
                    </a:lnTo>
                    <a:lnTo>
                      <a:pt x="0" y="0"/>
                    </a:lnTo>
                    <a:lnTo>
                      <a:pt x="30" y="0"/>
                    </a:lnTo>
                    <a:lnTo>
                      <a:pt x="30" y="29"/>
                    </a:lnTo>
                    <a:close/>
                    <a:moveTo>
                      <a:pt x="4" y="25"/>
                    </a:moveTo>
                    <a:lnTo>
                      <a:pt x="26" y="25"/>
                    </a:lnTo>
                    <a:lnTo>
                      <a:pt x="26" y="4"/>
                    </a:lnTo>
                    <a:lnTo>
                      <a:pt x="4" y="4"/>
                    </a:lnTo>
                    <a:lnTo>
                      <a:pt x="4" y="25"/>
                    </a:ln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1" name="Rectangle 87"/>
              <p:cNvSpPr>
                <a:spLocks noChangeArrowheads="1"/>
              </p:cNvSpPr>
              <p:nvPr/>
            </p:nvSpPr>
            <p:spPr bwMode="auto">
              <a:xfrm>
                <a:off x="5162551" y="3606800"/>
                <a:ext cx="119063" cy="4762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2" name="Rectangle 88"/>
              <p:cNvSpPr>
                <a:spLocks noChangeArrowheads="1"/>
              </p:cNvSpPr>
              <p:nvPr/>
            </p:nvSpPr>
            <p:spPr bwMode="auto">
              <a:xfrm>
                <a:off x="5162551" y="3581400"/>
                <a:ext cx="119063" cy="6350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3" name="Freeform 89"/>
              <p:cNvSpPr>
                <a:spLocks noEditPoints="1"/>
              </p:cNvSpPr>
              <p:nvPr/>
            </p:nvSpPr>
            <p:spPr bwMode="auto">
              <a:xfrm>
                <a:off x="5095876" y="3573463"/>
                <a:ext cx="47625" cy="46037"/>
              </a:xfrm>
              <a:custGeom>
                <a:avLst/>
                <a:gdLst>
                  <a:gd name="T0" fmla="*/ 30 w 30"/>
                  <a:gd name="T1" fmla="*/ 29 h 29"/>
                  <a:gd name="T2" fmla="*/ 0 w 30"/>
                  <a:gd name="T3" fmla="*/ 29 h 29"/>
                  <a:gd name="T4" fmla="*/ 0 w 30"/>
                  <a:gd name="T5" fmla="*/ 0 h 29"/>
                  <a:gd name="T6" fmla="*/ 30 w 30"/>
                  <a:gd name="T7" fmla="*/ 0 h 29"/>
                  <a:gd name="T8" fmla="*/ 30 w 30"/>
                  <a:gd name="T9" fmla="*/ 29 h 29"/>
                  <a:gd name="T10" fmla="*/ 4 w 30"/>
                  <a:gd name="T11" fmla="*/ 24 h 29"/>
                  <a:gd name="T12" fmla="*/ 26 w 30"/>
                  <a:gd name="T13" fmla="*/ 24 h 29"/>
                  <a:gd name="T14" fmla="*/ 26 w 30"/>
                  <a:gd name="T15" fmla="*/ 4 h 29"/>
                  <a:gd name="T16" fmla="*/ 4 w 30"/>
                  <a:gd name="T17" fmla="*/ 4 h 29"/>
                  <a:gd name="T18" fmla="*/ 4 w 30"/>
                  <a:gd name="T19" fmla="*/ 2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0" h="29">
                    <a:moveTo>
                      <a:pt x="30" y="29"/>
                    </a:moveTo>
                    <a:lnTo>
                      <a:pt x="0" y="29"/>
                    </a:lnTo>
                    <a:lnTo>
                      <a:pt x="0" y="0"/>
                    </a:lnTo>
                    <a:lnTo>
                      <a:pt x="30" y="0"/>
                    </a:lnTo>
                    <a:lnTo>
                      <a:pt x="30" y="29"/>
                    </a:lnTo>
                    <a:close/>
                    <a:moveTo>
                      <a:pt x="4" y="24"/>
                    </a:moveTo>
                    <a:lnTo>
                      <a:pt x="26" y="24"/>
                    </a:lnTo>
                    <a:lnTo>
                      <a:pt x="26" y="4"/>
                    </a:lnTo>
                    <a:lnTo>
                      <a:pt x="4" y="4"/>
                    </a:lnTo>
                    <a:lnTo>
                      <a:pt x="4" y="24"/>
                    </a:ln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94" name="그룹 93"/>
            <p:cNvGrpSpPr/>
            <p:nvPr/>
          </p:nvGrpSpPr>
          <p:grpSpPr>
            <a:xfrm>
              <a:off x="3227333" y="5366986"/>
              <a:ext cx="201878" cy="260776"/>
              <a:chOff x="1528763" y="3244850"/>
              <a:chExt cx="282575" cy="361951"/>
            </a:xfrm>
          </p:grpSpPr>
          <p:sp>
            <p:nvSpPr>
              <p:cNvPr id="95" name="AutoShape 91"/>
              <p:cNvSpPr>
                <a:spLocks noChangeAspect="1" noChangeArrowheads="1" noTextEdit="1"/>
              </p:cNvSpPr>
              <p:nvPr/>
            </p:nvSpPr>
            <p:spPr bwMode="auto">
              <a:xfrm>
                <a:off x="1528763" y="3244850"/>
                <a:ext cx="280987" cy="360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6" name="Rectangle 93"/>
              <p:cNvSpPr>
                <a:spLocks noChangeArrowheads="1"/>
              </p:cNvSpPr>
              <p:nvPr/>
            </p:nvSpPr>
            <p:spPr bwMode="auto">
              <a:xfrm>
                <a:off x="1547813" y="3246438"/>
                <a:ext cx="263525" cy="360363"/>
              </a:xfrm>
              <a:prstGeom prst="rect">
                <a:avLst/>
              </a:prstGeom>
              <a:solidFill>
                <a:srgbClr val="F0F0F0"/>
              </a:solidFill>
              <a:ln w="9525">
                <a:solidFill>
                  <a:srgbClr val="0057A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7" name="Oval 94"/>
              <p:cNvSpPr>
                <a:spLocks noChangeArrowheads="1"/>
              </p:cNvSpPr>
              <p:nvPr/>
            </p:nvSpPr>
            <p:spPr bwMode="auto">
              <a:xfrm>
                <a:off x="1562100" y="3268663"/>
                <a:ext cx="15875" cy="17463"/>
              </a:xfrm>
              <a:prstGeom prst="ellipse">
                <a:avLst/>
              </a:prstGeom>
              <a:solidFill>
                <a:srgbClr val="57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8" name="Oval 95"/>
              <p:cNvSpPr>
                <a:spLocks noChangeArrowheads="1"/>
              </p:cNvSpPr>
              <p:nvPr/>
            </p:nvSpPr>
            <p:spPr bwMode="auto">
              <a:xfrm>
                <a:off x="1562100" y="3325813"/>
                <a:ext cx="15875" cy="17463"/>
              </a:xfrm>
              <a:prstGeom prst="ellipse">
                <a:avLst/>
              </a:prstGeom>
              <a:solidFill>
                <a:srgbClr val="57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99" name="Oval 96"/>
              <p:cNvSpPr>
                <a:spLocks noChangeArrowheads="1"/>
              </p:cNvSpPr>
              <p:nvPr/>
            </p:nvSpPr>
            <p:spPr bwMode="auto">
              <a:xfrm>
                <a:off x="1562100" y="3382963"/>
                <a:ext cx="15875" cy="17463"/>
              </a:xfrm>
              <a:prstGeom prst="ellipse">
                <a:avLst/>
              </a:prstGeom>
              <a:solidFill>
                <a:srgbClr val="57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0" name="Oval 97"/>
              <p:cNvSpPr>
                <a:spLocks noChangeArrowheads="1"/>
              </p:cNvSpPr>
              <p:nvPr/>
            </p:nvSpPr>
            <p:spPr bwMode="auto">
              <a:xfrm>
                <a:off x="1562100" y="3440113"/>
                <a:ext cx="15875" cy="17463"/>
              </a:xfrm>
              <a:prstGeom prst="ellipse">
                <a:avLst/>
              </a:prstGeom>
              <a:solidFill>
                <a:srgbClr val="57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1" name="Oval 98"/>
              <p:cNvSpPr>
                <a:spLocks noChangeArrowheads="1"/>
              </p:cNvSpPr>
              <p:nvPr/>
            </p:nvSpPr>
            <p:spPr bwMode="auto">
              <a:xfrm>
                <a:off x="1562100" y="3497263"/>
                <a:ext cx="15875" cy="17463"/>
              </a:xfrm>
              <a:prstGeom prst="ellipse">
                <a:avLst/>
              </a:prstGeom>
              <a:solidFill>
                <a:srgbClr val="57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2" name="Oval 99"/>
              <p:cNvSpPr>
                <a:spLocks noChangeArrowheads="1"/>
              </p:cNvSpPr>
              <p:nvPr/>
            </p:nvSpPr>
            <p:spPr bwMode="auto">
              <a:xfrm>
                <a:off x="1562100" y="3554413"/>
                <a:ext cx="15875" cy="17463"/>
              </a:xfrm>
              <a:prstGeom prst="ellipse">
                <a:avLst/>
              </a:prstGeom>
              <a:solidFill>
                <a:srgbClr val="5759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3" name="Freeform 100"/>
              <p:cNvSpPr>
                <a:spLocks/>
              </p:cNvSpPr>
              <p:nvPr/>
            </p:nvSpPr>
            <p:spPr bwMode="auto">
              <a:xfrm>
                <a:off x="1528763" y="3263900"/>
                <a:ext cx="44450" cy="38100"/>
              </a:xfrm>
              <a:custGeom>
                <a:avLst/>
                <a:gdLst>
                  <a:gd name="T0" fmla="*/ 16 w 38"/>
                  <a:gd name="T1" fmla="*/ 33 h 33"/>
                  <a:gd name="T2" fmla="*/ 16 w 38"/>
                  <a:gd name="T3" fmla="*/ 27 h 33"/>
                  <a:gd name="T4" fmla="*/ 6 w 38"/>
                  <a:gd name="T5" fmla="*/ 17 h 33"/>
                  <a:gd name="T6" fmla="*/ 16 w 38"/>
                  <a:gd name="T7" fmla="*/ 6 h 33"/>
                  <a:gd name="T8" fmla="*/ 22 w 38"/>
                  <a:gd name="T9" fmla="*/ 6 h 33"/>
                  <a:gd name="T10" fmla="*/ 32 w 38"/>
                  <a:gd name="T11" fmla="*/ 17 h 33"/>
                  <a:gd name="T12" fmla="*/ 35 w 38"/>
                  <a:gd name="T13" fmla="*/ 20 h 33"/>
                  <a:gd name="T14" fmla="*/ 38 w 38"/>
                  <a:gd name="T15" fmla="*/ 17 h 33"/>
                  <a:gd name="T16" fmla="*/ 22 w 38"/>
                  <a:gd name="T17" fmla="*/ 0 h 33"/>
                  <a:gd name="T18" fmla="*/ 22 w 38"/>
                  <a:gd name="T19" fmla="*/ 0 h 33"/>
                  <a:gd name="T20" fmla="*/ 22 w 38"/>
                  <a:gd name="T21" fmla="*/ 0 h 33"/>
                  <a:gd name="T22" fmla="*/ 16 w 38"/>
                  <a:gd name="T23" fmla="*/ 0 h 33"/>
                  <a:gd name="T24" fmla="*/ 16 w 38"/>
                  <a:gd name="T25" fmla="*/ 0 h 33"/>
                  <a:gd name="T26" fmla="*/ 16 w 38"/>
                  <a:gd name="T27" fmla="*/ 0 h 33"/>
                  <a:gd name="T28" fmla="*/ 0 w 38"/>
                  <a:gd name="T29" fmla="*/ 17 h 33"/>
                  <a:gd name="T30" fmla="*/ 16 w 38"/>
                  <a:gd name="T31" fmla="*/ 3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" h="33">
                    <a:moveTo>
                      <a:pt x="16" y="33"/>
                    </a:moveTo>
                    <a:cubicBezTo>
                      <a:pt x="16" y="27"/>
                      <a:pt x="16" y="27"/>
                      <a:pt x="16" y="27"/>
                    </a:cubicBezTo>
                    <a:cubicBezTo>
                      <a:pt x="11" y="27"/>
                      <a:pt x="6" y="22"/>
                      <a:pt x="6" y="17"/>
                    </a:cubicBezTo>
                    <a:cubicBezTo>
                      <a:pt x="6" y="11"/>
                      <a:pt x="11" y="6"/>
                      <a:pt x="16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7" y="6"/>
                      <a:pt x="32" y="11"/>
                      <a:pt x="32" y="17"/>
                    </a:cubicBezTo>
                    <a:cubicBezTo>
                      <a:pt x="32" y="18"/>
                      <a:pt x="33" y="20"/>
                      <a:pt x="35" y="20"/>
                    </a:cubicBezTo>
                    <a:cubicBezTo>
                      <a:pt x="36" y="20"/>
                      <a:pt x="38" y="18"/>
                      <a:pt x="38" y="17"/>
                    </a:cubicBezTo>
                    <a:cubicBezTo>
                      <a:pt x="38" y="8"/>
                      <a:pt x="31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1"/>
                      <a:pt x="0" y="8"/>
                      <a:pt x="0" y="17"/>
                    </a:cubicBezTo>
                    <a:cubicBezTo>
                      <a:pt x="0" y="26"/>
                      <a:pt x="7" y="33"/>
                      <a:pt x="16" y="33"/>
                    </a:cubicBez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4" name="Freeform 101"/>
              <p:cNvSpPr>
                <a:spLocks/>
              </p:cNvSpPr>
              <p:nvPr/>
            </p:nvSpPr>
            <p:spPr bwMode="auto">
              <a:xfrm>
                <a:off x="1528763" y="3321050"/>
                <a:ext cx="44450" cy="38100"/>
              </a:xfrm>
              <a:custGeom>
                <a:avLst/>
                <a:gdLst>
                  <a:gd name="T0" fmla="*/ 22 w 38"/>
                  <a:gd name="T1" fmla="*/ 0 h 33"/>
                  <a:gd name="T2" fmla="*/ 22 w 38"/>
                  <a:gd name="T3" fmla="*/ 0 h 33"/>
                  <a:gd name="T4" fmla="*/ 22 w 38"/>
                  <a:gd name="T5" fmla="*/ 0 h 33"/>
                  <a:gd name="T6" fmla="*/ 16 w 38"/>
                  <a:gd name="T7" fmla="*/ 0 h 33"/>
                  <a:gd name="T8" fmla="*/ 16 w 38"/>
                  <a:gd name="T9" fmla="*/ 0 h 33"/>
                  <a:gd name="T10" fmla="*/ 16 w 38"/>
                  <a:gd name="T11" fmla="*/ 0 h 33"/>
                  <a:gd name="T12" fmla="*/ 0 w 38"/>
                  <a:gd name="T13" fmla="*/ 17 h 33"/>
                  <a:gd name="T14" fmla="*/ 16 w 38"/>
                  <a:gd name="T15" fmla="*/ 33 h 33"/>
                  <a:gd name="T16" fmla="*/ 16 w 38"/>
                  <a:gd name="T17" fmla="*/ 27 h 33"/>
                  <a:gd name="T18" fmla="*/ 6 w 38"/>
                  <a:gd name="T19" fmla="*/ 17 h 33"/>
                  <a:gd name="T20" fmla="*/ 16 w 38"/>
                  <a:gd name="T21" fmla="*/ 6 h 33"/>
                  <a:gd name="T22" fmla="*/ 22 w 38"/>
                  <a:gd name="T23" fmla="*/ 6 h 33"/>
                  <a:gd name="T24" fmla="*/ 32 w 38"/>
                  <a:gd name="T25" fmla="*/ 17 h 33"/>
                  <a:gd name="T26" fmla="*/ 35 w 38"/>
                  <a:gd name="T27" fmla="*/ 20 h 33"/>
                  <a:gd name="T28" fmla="*/ 38 w 38"/>
                  <a:gd name="T29" fmla="*/ 17 h 33"/>
                  <a:gd name="T30" fmla="*/ 22 w 38"/>
                  <a:gd name="T3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" h="33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1"/>
                      <a:pt x="0" y="8"/>
                      <a:pt x="0" y="17"/>
                    </a:cubicBezTo>
                    <a:cubicBezTo>
                      <a:pt x="0" y="26"/>
                      <a:pt x="7" y="33"/>
                      <a:pt x="16" y="33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1" y="27"/>
                      <a:pt x="6" y="23"/>
                      <a:pt x="6" y="17"/>
                    </a:cubicBezTo>
                    <a:cubicBezTo>
                      <a:pt x="6" y="11"/>
                      <a:pt x="11" y="6"/>
                      <a:pt x="16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7" y="6"/>
                      <a:pt x="32" y="11"/>
                      <a:pt x="32" y="17"/>
                    </a:cubicBezTo>
                    <a:cubicBezTo>
                      <a:pt x="32" y="19"/>
                      <a:pt x="33" y="20"/>
                      <a:pt x="35" y="20"/>
                    </a:cubicBezTo>
                    <a:cubicBezTo>
                      <a:pt x="36" y="20"/>
                      <a:pt x="38" y="19"/>
                      <a:pt x="38" y="17"/>
                    </a:cubicBezTo>
                    <a:cubicBezTo>
                      <a:pt x="38" y="8"/>
                      <a:pt x="31" y="1"/>
                      <a:pt x="22" y="0"/>
                    </a:cubicBez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5" name="Freeform 102"/>
              <p:cNvSpPr>
                <a:spLocks/>
              </p:cNvSpPr>
              <p:nvPr/>
            </p:nvSpPr>
            <p:spPr bwMode="auto">
              <a:xfrm>
                <a:off x="1528763" y="3378200"/>
                <a:ext cx="44450" cy="38100"/>
              </a:xfrm>
              <a:custGeom>
                <a:avLst/>
                <a:gdLst>
                  <a:gd name="T0" fmla="*/ 22 w 38"/>
                  <a:gd name="T1" fmla="*/ 0 h 32"/>
                  <a:gd name="T2" fmla="*/ 22 w 38"/>
                  <a:gd name="T3" fmla="*/ 0 h 32"/>
                  <a:gd name="T4" fmla="*/ 22 w 38"/>
                  <a:gd name="T5" fmla="*/ 0 h 32"/>
                  <a:gd name="T6" fmla="*/ 16 w 38"/>
                  <a:gd name="T7" fmla="*/ 0 h 32"/>
                  <a:gd name="T8" fmla="*/ 16 w 38"/>
                  <a:gd name="T9" fmla="*/ 0 h 32"/>
                  <a:gd name="T10" fmla="*/ 16 w 38"/>
                  <a:gd name="T11" fmla="*/ 0 h 32"/>
                  <a:gd name="T12" fmla="*/ 0 w 38"/>
                  <a:gd name="T13" fmla="*/ 16 h 32"/>
                  <a:gd name="T14" fmla="*/ 16 w 38"/>
                  <a:gd name="T15" fmla="*/ 32 h 32"/>
                  <a:gd name="T16" fmla="*/ 16 w 38"/>
                  <a:gd name="T17" fmla="*/ 26 h 32"/>
                  <a:gd name="T18" fmla="*/ 6 w 38"/>
                  <a:gd name="T19" fmla="*/ 16 h 32"/>
                  <a:gd name="T20" fmla="*/ 16 w 38"/>
                  <a:gd name="T21" fmla="*/ 6 h 32"/>
                  <a:gd name="T22" fmla="*/ 22 w 38"/>
                  <a:gd name="T23" fmla="*/ 6 h 32"/>
                  <a:gd name="T24" fmla="*/ 32 w 38"/>
                  <a:gd name="T25" fmla="*/ 16 h 32"/>
                  <a:gd name="T26" fmla="*/ 35 w 38"/>
                  <a:gd name="T27" fmla="*/ 19 h 32"/>
                  <a:gd name="T28" fmla="*/ 38 w 38"/>
                  <a:gd name="T29" fmla="*/ 16 h 32"/>
                  <a:gd name="T30" fmla="*/ 22 w 38"/>
                  <a:gd name="T31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" h="32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1" y="26"/>
                      <a:pt x="6" y="22"/>
                      <a:pt x="6" y="16"/>
                    </a:cubicBezTo>
                    <a:cubicBezTo>
                      <a:pt x="6" y="10"/>
                      <a:pt x="11" y="6"/>
                      <a:pt x="16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7" y="6"/>
                      <a:pt x="32" y="10"/>
                      <a:pt x="32" y="16"/>
                    </a:cubicBezTo>
                    <a:cubicBezTo>
                      <a:pt x="32" y="18"/>
                      <a:pt x="33" y="19"/>
                      <a:pt x="35" y="19"/>
                    </a:cubicBezTo>
                    <a:cubicBezTo>
                      <a:pt x="36" y="19"/>
                      <a:pt x="38" y="18"/>
                      <a:pt x="38" y="16"/>
                    </a:cubicBezTo>
                    <a:cubicBezTo>
                      <a:pt x="38" y="7"/>
                      <a:pt x="31" y="0"/>
                      <a:pt x="22" y="0"/>
                    </a:cubicBez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6" name="Freeform 103"/>
              <p:cNvSpPr>
                <a:spLocks/>
              </p:cNvSpPr>
              <p:nvPr/>
            </p:nvSpPr>
            <p:spPr bwMode="auto">
              <a:xfrm>
                <a:off x="1528763" y="3435350"/>
                <a:ext cx="44450" cy="39688"/>
              </a:xfrm>
              <a:custGeom>
                <a:avLst/>
                <a:gdLst>
                  <a:gd name="T0" fmla="*/ 22 w 38"/>
                  <a:gd name="T1" fmla="*/ 0 h 33"/>
                  <a:gd name="T2" fmla="*/ 22 w 38"/>
                  <a:gd name="T3" fmla="*/ 0 h 33"/>
                  <a:gd name="T4" fmla="*/ 22 w 38"/>
                  <a:gd name="T5" fmla="*/ 0 h 33"/>
                  <a:gd name="T6" fmla="*/ 16 w 38"/>
                  <a:gd name="T7" fmla="*/ 0 h 33"/>
                  <a:gd name="T8" fmla="*/ 16 w 38"/>
                  <a:gd name="T9" fmla="*/ 0 h 33"/>
                  <a:gd name="T10" fmla="*/ 16 w 38"/>
                  <a:gd name="T11" fmla="*/ 0 h 33"/>
                  <a:gd name="T12" fmla="*/ 0 w 38"/>
                  <a:gd name="T13" fmla="*/ 16 h 33"/>
                  <a:gd name="T14" fmla="*/ 16 w 38"/>
                  <a:gd name="T15" fmla="*/ 33 h 33"/>
                  <a:gd name="T16" fmla="*/ 16 w 38"/>
                  <a:gd name="T17" fmla="*/ 26 h 33"/>
                  <a:gd name="T18" fmla="*/ 6 w 38"/>
                  <a:gd name="T19" fmla="*/ 16 h 33"/>
                  <a:gd name="T20" fmla="*/ 16 w 38"/>
                  <a:gd name="T21" fmla="*/ 6 h 33"/>
                  <a:gd name="T22" fmla="*/ 22 w 38"/>
                  <a:gd name="T23" fmla="*/ 6 h 33"/>
                  <a:gd name="T24" fmla="*/ 32 w 38"/>
                  <a:gd name="T25" fmla="*/ 16 h 33"/>
                  <a:gd name="T26" fmla="*/ 35 w 38"/>
                  <a:gd name="T27" fmla="*/ 19 h 33"/>
                  <a:gd name="T28" fmla="*/ 38 w 38"/>
                  <a:gd name="T29" fmla="*/ 16 h 33"/>
                  <a:gd name="T30" fmla="*/ 22 w 38"/>
                  <a:gd name="T3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" h="33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3"/>
                      <a:pt x="16" y="33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1" y="26"/>
                      <a:pt x="6" y="22"/>
                      <a:pt x="6" y="16"/>
                    </a:cubicBezTo>
                    <a:cubicBezTo>
                      <a:pt x="6" y="10"/>
                      <a:pt x="11" y="6"/>
                      <a:pt x="16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7" y="6"/>
                      <a:pt x="32" y="10"/>
                      <a:pt x="32" y="16"/>
                    </a:cubicBezTo>
                    <a:cubicBezTo>
                      <a:pt x="32" y="18"/>
                      <a:pt x="33" y="19"/>
                      <a:pt x="35" y="19"/>
                    </a:cubicBezTo>
                    <a:cubicBezTo>
                      <a:pt x="36" y="19"/>
                      <a:pt x="38" y="18"/>
                      <a:pt x="38" y="16"/>
                    </a:cubicBezTo>
                    <a:cubicBezTo>
                      <a:pt x="38" y="7"/>
                      <a:pt x="31" y="0"/>
                      <a:pt x="22" y="0"/>
                    </a:cubicBez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7" name="Freeform 104"/>
              <p:cNvSpPr>
                <a:spLocks/>
              </p:cNvSpPr>
              <p:nvPr/>
            </p:nvSpPr>
            <p:spPr bwMode="auto">
              <a:xfrm>
                <a:off x="1528763" y="3492500"/>
                <a:ext cx="44450" cy="39688"/>
              </a:xfrm>
              <a:custGeom>
                <a:avLst/>
                <a:gdLst>
                  <a:gd name="T0" fmla="*/ 22 w 38"/>
                  <a:gd name="T1" fmla="*/ 0 h 33"/>
                  <a:gd name="T2" fmla="*/ 22 w 38"/>
                  <a:gd name="T3" fmla="*/ 0 h 33"/>
                  <a:gd name="T4" fmla="*/ 22 w 38"/>
                  <a:gd name="T5" fmla="*/ 0 h 33"/>
                  <a:gd name="T6" fmla="*/ 16 w 38"/>
                  <a:gd name="T7" fmla="*/ 0 h 33"/>
                  <a:gd name="T8" fmla="*/ 16 w 38"/>
                  <a:gd name="T9" fmla="*/ 0 h 33"/>
                  <a:gd name="T10" fmla="*/ 16 w 38"/>
                  <a:gd name="T11" fmla="*/ 0 h 33"/>
                  <a:gd name="T12" fmla="*/ 0 w 38"/>
                  <a:gd name="T13" fmla="*/ 16 h 33"/>
                  <a:gd name="T14" fmla="*/ 16 w 38"/>
                  <a:gd name="T15" fmla="*/ 33 h 33"/>
                  <a:gd name="T16" fmla="*/ 16 w 38"/>
                  <a:gd name="T17" fmla="*/ 27 h 33"/>
                  <a:gd name="T18" fmla="*/ 6 w 38"/>
                  <a:gd name="T19" fmla="*/ 16 h 33"/>
                  <a:gd name="T20" fmla="*/ 16 w 38"/>
                  <a:gd name="T21" fmla="*/ 6 h 33"/>
                  <a:gd name="T22" fmla="*/ 22 w 38"/>
                  <a:gd name="T23" fmla="*/ 6 h 33"/>
                  <a:gd name="T24" fmla="*/ 32 w 38"/>
                  <a:gd name="T25" fmla="*/ 16 h 33"/>
                  <a:gd name="T26" fmla="*/ 35 w 38"/>
                  <a:gd name="T27" fmla="*/ 19 h 33"/>
                  <a:gd name="T28" fmla="*/ 38 w 38"/>
                  <a:gd name="T29" fmla="*/ 16 h 33"/>
                  <a:gd name="T30" fmla="*/ 22 w 38"/>
                  <a:gd name="T3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" h="33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3"/>
                      <a:pt x="16" y="33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1" y="27"/>
                      <a:pt x="6" y="22"/>
                      <a:pt x="6" y="16"/>
                    </a:cubicBezTo>
                    <a:cubicBezTo>
                      <a:pt x="6" y="11"/>
                      <a:pt x="11" y="6"/>
                      <a:pt x="16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7" y="6"/>
                      <a:pt x="32" y="11"/>
                      <a:pt x="32" y="16"/>
                    </a:cubicBezTo>
                    <a:cubicBezTo>
                      <a:pt x="32" y="18"/>
                      <a:pt x="33" y="19"/>
                      <a:pt x="35" y="19"/>
                    </a:cubicBezTo>
                    <a:cubicBezTo>
                      <a:pt x="36" y="19"/>
                      <a:pt x="38" y="18"/>
                      <a:pt x="38" y="16"/>
                    </a:cubicBezTo>
                    <a:cubicBezTo>
                      <a:pt x="38" y="7"/>
                      <a:pt x="31" y="0"/>
                      <a:pt x="22" y="0"/>
                    </a:cubicBez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8" name="Freeform 105"/>
              <p:cNvSpPr>
                <a:spLocks/>
              </p:cNvSpPr>
              <p:nvPr/>
            </p:nvSpPr>
            <p:spPr bwMode="auto">
              <a:xfrm>
                <a:off x="1528763" y="3549650"/>
                <a:ext cx="44450" cy="39688"/>
              </a:xfrm>
              <a:custGeom>
                <a:avLst/>
                <a:gdLst>
                  <a:gd name="T0" fmla="*/ 22 w 38"/>
                  <a:gd name="T1" fmla="*/ 0 h 33"/>
                  <a:gd name="T2" fmla="*/ 22 w 38"/>
                  <a:gd name="T3" fmla="*/ 0 h 33"/>
                  <a:gd name="T4" fmla="*/ 22 w 38"/>
                  <a:gd name="T5" fmla="*/ 0 h 33"/>
                  <a:gd name="T6" fmla="*/ 16 w 38"/>
                  <a:gd name="T7" fmla="*/ 0 h 33"/>
                  <a:gd name="T8" fmla="*/ 16 w 38"/>
                  <a:gd name="T9" fmla="*/ 0 h 33"/>
                  <a:gd name="T10" fmla="*/ 16 w 38"/>
                  <a:gd name="T11" fmla="*/ 0 h 33"/>
                  <a:gd name="T12" fmla="*/ 0 w 38"/>
                  <a:gd name="T13" fmla="*/ 16 h 33"/>
                  <a:gd name="T14" fmla="*/ 16 w 38"/>
                  <a:gd name="T15" fmla="*/ 33 h 33"/>
                  <a:gd name="T16" fmla="*/ 16 w 38"/>
                  <a:gd name="T17" fmla="*/ 27 h 33"/>
                  <a:gd name="T18" fmla="*/ 6 w 38"/>
                  <a:gd name="T19" fmla="*/ 16 h 33"/>
                  <a:gd name="T20" fmla="*/ 16 w 38"/>
                  <a:gd name="T21" fmla="*/ 6 h 33"/>
                  <a:gd name="T22" fmla="*/ 22 w 38"/>
                  <a:gd name="T23" fmla="*/ 6 h 33"/>
                  <a:gd name="T24" fmla="*/ 32 w 38"/>
                  <a:gd name="T25" fmla="*/ 16 h 33"/>
                  <a:gd name="T26" fmla="*/ 35 w 38"/>
                  <a:gd name="T27" fmla="*/ 19 h 33"/>
                  <a:gd name="T28" fmla="*/ 38 w 38"/>
                  <a:gd name="T29" fmla="*/ 16 h 33"/>
                  <a:gd name="T30" fmla="*/ 22 w 38"/>
                  <a:gd name="T31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8" h="33">
                    <a:moveTo>
                      <a:pt x="22" y="0"/>
                    </a:move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3"/>
                      <a:pt x="16" y="33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11" y="27"/>
                      <a:pt x="6" y="22"/>
                      <a:pt x="6" y="16"/>
                    </a:cubicBezTo>
                    <a:cubicBezTo>
                      <a:pt x="6" y="11"/>
                      <a:pt x="11" y="6"/>
                      <a:pt x="16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7" y="6"/>
                      <a:pt x="32" y="11"/>
                      <a:pt x="32" y="16"/>
                    </a:cubicBezTo>
                    <a:cubicBezTo>
                      <a:pt x="32" y="18"/>
                      <a:pt x="33" y="19"/>
                      <a:pt x="35" y="19"/>
                    </a:cubicBezTo>
                    <a:cubicBezTo>
                      <a:pt x="36" y="19"/>
                      <a:pt x="38" y="18"/>
                      <a:pt x="38" y="16"/>
                    </a:cubicBezTo>
                    <a:cubicBezTo>
                      <a:pt x="38" y="7"/>
                      <a:pt x="31" y="0"/>
                      <a:pt x="22" y="0"/>
                    </a:cubicBez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09" name="Rectangle 106"/>
              <p:cNvSpPr>
                <a:spLocks noChangeArrowheads="1"/>
              </p:cNvSpPr>
              <p:nvPr/>
            </p:nvSpPr>
            <p:spPr bwMode="auto">
              <a:xfrm>
                <a:off x="1671638" y="3316288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0" name="Rectangle 107"/>
              <p:cNvSpPr>
                <a:spLocks noChangeArrowheads="1"/>
              </p:cNvSpPr>
              <p:nvPr/>
            </p:nvSpPr>
            <p:spPr bwMode="auto">
              <a:xfrm>
                <a:off x="1671638" y="3290888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1" name="Freeform 108"/>
              <p:cNvSpPr>
                <a:spLocks noEditPoints="1"/>
              </p:cNvSpPr>
              <p:nvPr/>
            </p:nvSpPr>
            <p:spPr bwMode="auto">
              <a:xfrm>
                <a:off x="1604963" y="3282950"/>
                <a:ext cx="50800" cy="47625"/>
              </a:xfrm>
              <a:custGeom>
                <a:avLst/>
                <a:gdLst>
                  <a:gd name="T0" fmla="*/ 32 w 32"/>
                  <a:gd name="T1" fmla="*/ 30 h 30"/>
                  <a:gd name="T2" fmla="*/ 0 w 32"/>
                  <a:gd name="T3" fmla="*/ 30 h 30"/>
                  <a:gd name="T4" fmla="*/ 0 w 32"/>
                  <a:gd name="T5" fmla="*/ 0 h 30"/>
                  <a:gd name="T6" fmla="*/ 32 w 32"/>
                  <a:gd name="T7" fmla="*/ 0 h 30"/>
                  <a:gd name="T8" fmla="*/ 32 w 32"/>
                  <a:gd name="T9" fmla="*/ 30 h 30"/>
                  <a:gd name="T10" fmla="*/ 4 w 32"/>
                  <a:gd name="T11" fmla="*/ 26 h 30"/>
                  <a:gd name="T12" fmla="*/ 28 w 32"/>
                  <a:gd name="T13" fmla="*/ 26 h 30"/>
                  <a:gd name="T14" fmla="*/ 28 w 32"/>
                  <a:gd name="T15" fmla="*/ 5 h 30"/>
                  <a:gd name="T16" fmla="*/ 4 w 32"/>
                  <a:gd name="T17" fmla="*/ 5 h 30"/>
                  <a:gd name="T18" fmla="*/ 4 w 32"/>
                  <a:gd name="T19" fmla="*/ 2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0">
                    <a:moveTo>
                      <a:pt x="32" y="30"/>
                    </a:moveTo>
                    <a:lnTo>
                      <a:pt x="0" y="30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30"/>
                    </a:lnTo>
                    <a:close/>
                    <a:moveTo>
                      <a:pt x="4" y="26"/>
                    </a:moveTo>
                    <a:lnTo>
                      <a:pt x="28" y="26"/>
                    </a:lnTo>
                    <a:lnTo>
                      <a:pt x="28" y="5"/>
                    </a:lnTo>
                    <a:lnTo>
                      <a:pt x="4" y="5"/>
                    </a:lnTo>
                    <a:lnTo>
                      <a:pt x="4" y="26"/>
                    </a:ln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2" name="Rectangle 109"/>
              <p:cNvSpPr>
                <a:spLocks noChangeArrowheads="1"/>
              </p:cNvSpPr>
              <p:nvPr/>
            </p:nvSpPr>
            <p:spPr bwMode="auto">
              <a:xfrm>
                <a:off x="1671638" y="3395663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3" name="Rectangle 110"/>
              <p:cNvSpPr>
                <a:spLocks noChangeArrowheads="1"/>
              </p:cNvSpPr>
              <p:nvPr/>
            </p:nvSpPr>
            <p:spPr bwMode="auto">
              <a:xfrm>
                <a:off x="1671638" y="3370263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4" name="Freeform 111"/>
              <p:cNvSpPr>
                <a:spLocks noEditPoints="1"/>
              </p:cNvSpPr>
              <p:nvPr/>
            </p:nvSpPr>
            <p:spPr bwMode="auto">
              <a:xfrm>
                <a:off x="1604963" y="3362325"/>
                <a:ext cx="50800" cy="47625"/>
              </a:xfrm>
              <a:custGeom>
                <a:avLst/>
                <a:gdLst>
                  <a:gd name="T0" fmla="*/ 32 w 32"/>
                  <a:gd name="T1" fmla="*/ 30 h 30"/>
                  <a:gd name="T2" fmla="*/ 0 w 32"/>
                  <a:gd name="T3" fmla="*/ 30 h 30"/>
                  <a:gd name="T4" fmla="*/ 0 w 32"/>
                  <a:gd name="T5" fmla="*/ 0 h 30"/>
                  <a:gd name="T6" fmla="*/ 32 w 32"/>
                  <a:gd name="T7" fmla="*/ 0 h 30"/>
                  <a:gd name="T8" fmla="*/ 32 w 32"/>
                  <a:gd name="T9" fmla="*/ 30 h 30"/>
                  <a:gd name="T10" fmla="*/ 4 w 32"/>
                  <a:gd name="T11" fmla="*/ 26 h 30"/>
                  <a:gd name="T12" fmla="*/ 28 w 32"/>
                  <a:gd name="T13" fmla="*/ 26 h 30"/>
                  <a:gd name="T14" fmla="*/ 28 w 32"/>
                  <a:gd name="T15" fmla="*/ 5 h 30"/>
                  <a:gd name="T16" fmla="*/ 4 w 32"/>
                  <a:gd name="T17" fmla="*/ 5 h 30"/>
                  <a:gd name="T18" fmla="*/ 4 w 32"/>
                  <a:gd name="T19" fmla="*/ 2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0">
                    <a:moveTo>
                      <a:pt x="32" y="30"/>
                    </a:moveTo>
                    <a:lnTo>
                      <a:pt x="0" y="30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30"/>
                    </a:lnTo>
                    <a:close/>
                    <a:moveTo>
                      <a:pt x="4" y="26"/>
                    </a:moveTo>
                    <a:lnTo>
                      <a:pt x="28" y="26"/>
                    </a:lnTo>
                    <a:lnTo>
                      <a:pt x="28" y="5"/>
                    </a:lnTo>
                    <a:lnTo>
                      <a:pt x="4" y="5"/>
                    </a:lnTo>
                    <a:lnTo>
                      <a:pt x="4" y="26"/>
                    </a:ln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5" name="Rectangle 112"/>
              <p:cNvSpPr>
                <a:spLocks noChangeArrowheads="1"/>
              </p:cNvSpPr>
              <p:nvPr/>
            </p:nvSpPr>
            <p:spPr bwMode="auto">
              <a:xfrm>
                <a:off x="1671638" y="3475038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6" name="Rectangle 113"/>
              <p:cNvSpPr>
                <a:spLocks noChangeArrowheads="1"/>
              </p:cNvSpPr>
              <p:nvPr/>
            </p:nvSpPr>
            <p:spPr bwMode="auto">
              <a:xfrm>
                <a:off x="1671638" y="3449638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7" name="Freeform 114"/>
              <p:cNvSpPr>
                <a:spLocks noEditPoints="1"/>
              </p:cNvSpPr>
              <p:nvPr/>
            </p:nvSpPr>
            <p:spPr bwMode="auto">
              <a:xfrm>
                <a:off x="1604963" y="3441700"/>
                <a:ext cx="50800" cy="47625"/>
              </a:xfrm>
              <a:custGeom>
                <a:avLst/>
                <a:gdLst>
                  <a:gd name="T0" fmla="*/ 32 w 32"/>
                  <a:gd name="T1" fmla="*/ 30 h 30"/>
                  <a:gd name="T2" fmla="*/ 0 w 32"/>
                  <a:gd name="T3" fmla="*/ 30 h 30"/>
                  <a:gd name="T4" fmla="*/ 0 w 32"/>
                  <a:gd name="T5" fmla="*/ 0 h 30"/>
                  <a:gd name="T6" fmla="*/ 32 w 32"/>
                  <a:gd name="T7" fmla="*/ 0 h 30"/>
                  <a:gd name="T8" fmla="*/ 32 w 32"/>
                  <a:gd name="T9" fmla="*/ 30 h 30"/>
                  <a:gd name="T10" fmla="*/ 4 w 32"/>
                  <a:gd name="T11" fmla="*/ 26 h 30"/>
                  <a:gd name="T12" fmla="*/ 28 w 32"/>
                  <a:gd name="T13" fmla="*/ 26 h 30"/>
                  <a:gd name="T14" fmla="*/ 28 w 32"/>
                  <a:gd name="T15" fmla="*/ 5 h 30"/>
                  <a:gd name="T16" fmla="*/ 4 w 32"/>
                  <a:gd name="T17" fmla="*/ 5 h 30"/>
                  <a:gd name="T18" fmla="*/ 4 w 32"/>
                  <a:gd name="T19" fmla="*/ 2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0">
                    <a:moveTo>
                      <a:pt x="32" y="30"/>
                    </a:moveTo>
                    <a:lnTo>
                      <a:pt x="0" y="30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30"/>
                    </a:lnTo>
                    <a:close/>
                    <a:moveTo>
                      <a:pt x="4" y="26"/>
                    </a:moveTo>
                    <a:lnTo>
                      <a:pt x="28" y="26"/>
                    </a:lnTo>
                    <a:lnTo>
                      <a:pt x="28" y="5"/>
                    </a:lnTo>
                    <a:lnTo>
                      <a:pt x="4" y="5"/>
                    </a:lnTo>
                    <a:lnTo>
                      <a:pt x="4" y="26"/>
                    </a:ln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8" name="Rectangle 115"/>
              <p:cNvSpPr>
                <a:spLocks noChangeArrowheads="1"/>
              </p:cNvSpPr>
              <p:nvPr/>
            </p:nvSpPr>
            <p:spPr bwMode="auto">
              <a:xfrm>
                <a:off x="1671638" y="3554413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19" name="Rectangle 116"/>
              <p:cNvSpPr>
                <a:spLocks noChangeArrowheads="1"/>
              </p:cNvSpPr>
              <p:nvPr/>
            </p:nvSpPr>
            <p:spPr bwMode="auto">
              <a:xfrm>
                <a:off x="1671638" y="3529013"/>
                <a:ext cx="109537" cy="7938"/>
              </a:xfrm>
              <a:prstGeom prst="rect">
                <a:avLst/>
              </a:pr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20" name="Freeform 117"/>
              <p:cNvSpPr>
                <a:spLocks noEditPoints="1"/>
              </p:cNvSpPr>
              <p:nvPr/>
            </p:nvSpPr>
            <p:spPr bwMode="auto">
              <a:xfrm>
                <a:off x="1604963" y="3521075"/>
                <a:ext cx="50800" cy="47625"/>
              </a:xfrm>
              <a:custGeom>
                <a:avLst/>
                <a:gdLst>
                  <a:gd name="T0" fmla="*/ 32 w 32"/>
                  <a:gd name="T1" fmla="*/ 30 h 30"/>
                  <a:gd name="T2" fmla="*/ 0 w 32"/>
                  <a:gd name="T3" fmla="*/ 30 h 30"/>
                  <a:gd name="T4" fmla="*/ 0 w 32"/>
                  <a:gd name="T5" fmla="*/ 0 h 30"/>
                  <a:gd name="T6" fmla="*/ 32 w 32"/>
                  <a:gd name="T7" fmla="*/ 0 h 30"/>
                  <a:gd name="T8" fmla="*/ 32 w 32"/>
                  <a:gd name="T9" fmla="*/ 30 h 30"/>
                  <a:gd name="T10" fmla="*/ 4 w 32"/>
                  <a:gd name="T11" fmla="*/ 26 h 30"/>
                  <a:gd name="T12" fmla="*/ 28 w 32"/>
                  <a:gd name="T13" fmla="*/ 26 h 30"/>
                  <a:gd name="T14" fmla="*/ 28 w 32"/>
                  <a:gd name="T15" fmla="*/ 5 h 30"/>
                  <a:gd name="T16" fmla="*/ 4 w 32"/>
                  <a:gd name="T17" fmla="*/ 5 h 30"/>
                  <a:gd name="T18" fmla="*/ 4 w 32"/>
                  <a:gd name="T19" fmla="*/ 2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0">
                    <a:moveTo>
                      <a:pt x="32" y="30"/>
                    </a:moveTo>
                    <a:lnTo>
                      <a:pt x="0" y="30"/>
                    </a:lnTo>
                    <a:lnTo>
                      <a:pt x="0" y="0"/>
                    </a:lnTo>
                    <a:lnTo>
                      <a:pt x="32" y="0"/>
                    </a:lnTo>
                    <a:lnTo>
                      <a:pt x="32" y="30"/>
                    </a:lnTo>
                    <a:close/>
                    <a:moveTo>
                      <a:pt x="4" y="26"/>
                    </a:moveTo>
                    <a:lnTo>
                      <a:pt x="28" y="26"/>
                    </a:lnTo>
                    <a:lnTo>
                      <a:pt x="28" y="5"/>
                    </a:lnTo>
                    <a:lnTo>
                      <a:pt x="4" y="5"/>
                    </a:lnTo>
                    <a:lnTo>
                      <a:pt x="4" y="26"/>
                    </a:lnTo>
                    <a:close/>
                  </a:path>
                </a:pathLst>
              </a:custGeom>
              <a:solidFill>
                <a:srgbClr val="1E3D5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21" name="Freeform 118"/>
              <p:cNvSpPr>
                <a:spLocks/>
              </p:cNvSpPr>
              <p:nvPr/>
            </p:nvSpPr>
            <p:spPr bwMode="auto">
              <a:xfrm>
                <a:off x="1593850" y="3262313"/>
                <a:ext cx="76200" cy="60325"/>
              </a:xfrm>
              <a:custGeom>
                <a:avLst/>
                <a:gdLst>
                  <a:gd name="T0" fmla="*/ 22 w 48"/>
                  <a:gd name="T1" fmla="*/ 38 h 38"/>
                  <a:gd name="T2" fmla="*/ 0 w 48"/>
                  <a:gd name="T3" fmla="*/ 14 h 38"/>
                  <a:gd name="T4" fmla="*/ 6 w 48"/>
                  <a:gd name="T5" fmla="*/ 8 h 38"/>
                  <a:gd name="T6" fmla="*/ 22 w 48"/>
                  <a:gd name="T7" fmla="*/ 24 h 38"/>
                  <a:gd name="T8" fmla="*/ 41 w 48"/>
                  <a:gd name="T9" fmla="*/ 0 h 38"/>
                  <a:gd name="T10" fmla="*/ 48 w 48"/>
                  <a:gd name="T11" fmla="*/ 6 h 38"/>
                  <a:gd name="T12" fmla="*/ 22 w 48"/>
                  <a:gd name="T13" fmla="*/ 38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" h="38">
                    <a:moveTo>
                      <a:pt x="22" y="38"/>
                    </a:moveTo>
                    <a:lnTo>
                      <a:pt x="0" y="14"/>
                    </a:lnTo>
                    <a:lnTo>
                      <a:pt x="6" y="8"/>
                    </a:lnTo>
                    <a:lnTo>
                      <a:pt x="22" y="24"/>
                    </a:lnTo>
                    <a:lnTo>
                      <a:pt x="41" y="0"/>
                    </a:lnTo>
                    <a:lnTo>
                      <a:pt x="48" y="6"/>
                    </a:lnTo>
                    <a:lnTo>
                      <a:pt x="22" y="38"/>
                    </a:lnTo>
                    <a:close/>
                  </a:path>
                </a:pathLst>
              </a:custGeom>
              <a:solidFill>
                <a:srgbClr val="E06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122" name="그룹 121"/>
            <p:cNvGrpSpPr/>
            <p:nvPr/>
          </p:nvGrpSpPr>
          <p:grpSpPr>
            <a:xfrm>
              <a:off x="3034359" y="5412083"/>
              <a:ext cx="217034" cy="284338"/>
              <a:chOff x="3030537" y="5026026"/>
              <a:chExt cx="355601" cy="461962"/>
            </a:xfrm>
          </p:grpSpPr>
          <p:sp>
            <p:nvSpPr>
              <p:cNvPr id="123" name="Oval 5"/>
              <p:cNvSpPr>
                <a:spLocks noChangeArrowheads="1"/>
              </p:cNvSpPr>
              <p:nvPr/>
            </p:nvSpPr>
            <p:spPr bwMode="auto">
              <a:xfrm>
                <a:off x="3089275" y="5026026"/>
                <a:ext cx="238125" cy="234950"/>
              </a:xfrm>
              <a:prstGeom prst="ellipse">
                <a:avLst/>
              </a:pr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24" name="Freeform 6"/>
              <p:cNvSpPr>
                <a:spLocks/>
              </p:cNvSpPr>
              <p:nvPr/>
            </p:nvSpPr>
            <p:spPr bwMode="auto">
              <a:xfrm>
                <a:off x="3182938" y="5270500"/>
                <a:ext cx="50800" cy="34925"/>
              </a:xfrm>
              <a:custGeom>
                <a:avLst/>
                <a:gdLst>
                  <a:gd name="T0" fmla="*/ 0 w 32"/>
                  <a:gd name="T1" fmla="*/ 0 h 22"/>
                  <a:gd name="T2" fmla="*/ 6 w 32"/>
                  <a:gd name="T3" fmla="*/ 22 h 22"/>
                  <a:gd name="T4" fmla="*/ 27 w 32"/>
                  <a:gd name="T5" fmla="*/ 22 h 22"/>
                  <a:gd name="T6" fmla="*/ 32 w 32"/>
                  <a:gd name="T7" fmla="*/ 0 h 22"/>
                  <a:gd name="T8" fmla="*/ 0 w 32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2">
                    <a:moveTo>
                      <a:pt x="0" y="0"/>
                    </a:moveTo>
                    <a:lnTo>
                      <a:pt x="6" y="22"/>
                    </a:lnTo>
                    <a:lnTo>
                      <a:pt x="27" y="22"/>
                    </a:lnTo>
                    <a:lnTo>
                      <a:pt x="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25" name="Freeform 7"/>
              <p:cNvSpPr>
                <a:spLocks/>
              </p:cNvSpPr>
              <p:nvPr/>
            </p:nvSpPr>
            <p:spPr bwMode="auto">
              <a:xfrm>
                <a:off x="3184525" y="5311775"/>
                <a:ext cx="47625" cy="77787"/>
              </a:xfrm>
              <a:custGeom>
                <a:avLst/>
                <a:gdLst>
                  <a:gd name="T0" fmla="*/ 5 w 30"/>
                  <a:gd name="T1" fmla="*/ 0 h 49"/>
                  <a:gd name="T2" fmla="*/ 0 w 30"/>
                  <a:gd name="T3" fmla="*/ 30 h 49"/>
                  <a:gd name="T4" fmla="*/ 15 w 30"/>
                  <a:gd name="T5" fmla="*/ 49 h 49"/>
                  <a:gd name="T6" fmla="*/ 30 w 30"/>
                  <a:gd name="T7" fmla="*/ 30 h 49"/>
                  <a:gd name="T8" fmla="*/ 24 w 30"/>
                  <a:gd name="T9" fmla="*/ 0 h 49"/>
                  <a:gd name="T10" fmla="*/ 5 w 30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49">
                    <a:moveTo>
                      <a:pt x="5" y="0"/>
                    </a:moveTo>
                    <a:lnTo>
                      <a:pt x="0" y="30"/>
                    </a:lnTo>
                    <a:lnTo>
                      <a:pt x="15" y="49"/>
                    </a:lnTo>
                    <a:lnTo>
                      <a:pt x="30" y="30"/>
                    </a:lnTo>
                    <a:lnTo>
                      <a:pt x="24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26" name="Freeform 8"/>
              <p:cNvSpPr>
                <a:spLocks/>
              </p:cNvSpPr>
              <p:nvPr/>
            </p:nvSpPr>
            <p:spPr bwMode="auto">
              <a:xfrm>
                <a:off x="3030537" y="5272088"/>
                <a:ext cx="355601" cy="215900"/>
              </a:xfrm>
              <a:custGeom>
                <a:avLst/>
                <a:gdLst>
                  <a:gd name="T0" fmla="*/ 123 w 175"/>
                  <a:gd name="T1" fmla="*/ 0 h 106"/>
                  <a:gd name="T2" fmla="*/ 88 w 175"/>
                  <a:gd name="T3" fmla="*/ 73 h 106"/>
                  <a:gd name="T4" fmla="*/ 52 w 175"/>
                  <a:gd name="T5" fmla="*/ 0 h 106"/>
                  <a:gd name="T6" fmla="*/ 0 w 175"/>
                  <a:gd name="T7" fmla="*/ 86 h 106"/>
                  <a:gd name="T8" fmla="*/ 0 w 175"/>
                  <a:gd name="T9" fmla="*/ 106 h 106"/>
                  <a:gd name="T10" fmla="*/ 175 w 175"/>
                  <a:gd name="T11" fmla="*/ 106 h 106"/>
                  <a:gd name="T12" fmla="*/ 175 w 175"/>
                  <a:gd name="T13" fmla="*/ 86 h 106"/>
                  <a:gd name="T14" fmla="*/ 123 w 175"/>
                  <a:gd name="T1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5" h="106">
                    <a:moveTo>
                      <a:pt x="123" y="0"/>
                    </a:moveTo>
                    <a:cubicBezTo>
                      <a:pt x="88" y="73"/>
                      <a:pt x="88" y="73"/>
                      <a:pt x="88" y="73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22" y="15"/>
                      <a:pt x="0" y="48"/>
                      <a:pt x="0" y="86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75" y="106"/>
                      <a:pt x="175" y="106"/>
                      <a:pt x="175" y="106"/>
                    </a:cubicBezTo>
                    <a:cubicBezTo>
                      <a:pt x="175" y="86"/>
                      <a:pt x="175" y="86"/>
                      <a:pt x="175" y="86"/>
                    </a:cubicBezTo>
                    <a:cubicBezTo>
                      <a:pt x="175" y="48"/>
                      <a:pt x="154" y="15"/>
                      <a:pt x="123" y="0"/>
                    </a:cubicBez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127" name="그룹 126"/>
            <p:cNvGrpSpPr/>
            <p:nvPr/>
          </p:nvGrpSpPr>
          <p:grpSpPr>
            <a:xfrm>
              <a:off x="4807032" y="5298250"/>
              <a:ext cx="149545" cy="200024"/>
              <a:chOff x="1309268" y="4358919"/>
              <a:chExt cx="150812" cy="200024"/>
            </a:xfrm>
          </p:grpSpPr>
          <p:sp>
            <p:nvSpPr>
              <p:cNvPr id="128" name="Freeform 32"/>
              <p:cNvSpPr>
                <a:spLocks/>
              </p:cNvSpPr>
              <p:nvPr/>
            </p:nvSpPr>
            <p:spPr bwMode="auto">
              <a:xfrm>
                <a:off x="1309268" y="4458931"/>
                <a:ext cx="150812" cy="100012"/>
              </a:xfrm>
              <a:custGeom>
                <a:avLst/>
                <a:gdLst>
                  <a:gd name="T0" fmla="*/ 90 w 90"/>
                  <a:gd name="T1" fmla="*/ 60 h 60"/>
                  <a:gd name="T2" fmla="*/ 90 w 90"/>
                  <a:gd name="T3" fmla="*/ 22 h 60"/>
                  <a:gd name="T4" fmla="*/ 68 w 90"/>
                  <a:gd name="T5" fmla="*/ 0 h 60"/>
                  <a:gd name="T6" fmla="*/ 22 w 90"/>
                  <a:gd name="T7" fmla="*/ 0 h 60"/>
                  <a:gd name="T8" fmla="*/ 0 w 90"/>
                  <a:gd name="T9" fmla="*/ 22 h 60"/>
                  <a:gd name="T10" fmla="*/ 0 w 90"/>
                  <a:gd name="T11" fmla="*/ 60 h 60"/>
                  <a:gd name="T12" fmla="*/ 90 w 90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0">
                    <a:moveTo>
                      <a:pt x="90" y="60"/>
                    </a:moveTo>
                    <a:cubicBezTo>
                      <a:pt x="90" y="22"/>
                      <a:pt x="90" y="22"/>
                      <a:pt x="90" y="22"/>
                    </a:cubicBezTo>
                    <a:cubicBezTo>
                      <a:pt x="90" y="10"/>
                      <a:pt x="80" y="0"/>
                      <a:pt x="6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60"/>
                      <a:pt x="0" y="60"/>
                      <a:pt x="0" y="60"/>
                    </a:cubicBezTo>
                    <a:lnTo>
                      <a:pt x="90" y="60"/>
                    </a:lnTo>
                    <a:close/>
                  </a:path>
                </a:pathLst>
              </a:cu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29" name="Oval 33"/>
              <p:cNvSpPr>
                <a:spLocks noChangeArrowheads="1"/>
              </p:cNvSpPr>
              <p:nvPr/>
            </p:nvSpPr>
            <p:spPr bwMode="auto">
              <a:xfrm>
                <a:off x="1337843" y="4358919"/>
                <a:ext cx="93662" cy="92075"/>
              </a:xfrm>
              <a:prstGeom prst="ellipse">
                <a:avLst/>
              </a:pr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130" name="그룹 129"/>
            <p:cNvGrpSpPr/>
            <p:nvPr/>
          </p:nvGrpSpPr>
          <p:grpSpPr>
            <a:xfrm>
              <a:off x="4877370" y="5352356"/>
              <a:ext cx="149545" cy="200024"/>
              <a:chOff x="1309268" y="4358919"/>
              <a:chExt cx="150812" cy="200024"/>
            </a:xfrm>
          </p:grpSpPr>
          <p:sp>
            <p:nvSpPr>
              <p:cNvPr id="131" name="Freeform 32"/>
              <p:cNvSpPr>
                <a:spLocks/>
              </p:cNvSpPr>
              <p:nvPr/>
            </p:nvSpPr>
            <p:spPr bwMode="auto">
              <a:xfrm>
                <a:off x="1309268" y="4458931"/>
                <a:ext cx="150812" cy="100012"/>
              </a:xfrm>
              <a:custGeom>
                <a:avLst/>
                <a:gdLst>
                  <a:gd name="T0" fmla="*/ 90 w 90"/>
                  <a:gd name="T1" fmla="*/ 60 h 60"/>
                  <a:gd name="T2" fmla="*/ 90 w 90"/>
                  <a:gd name="T3" fmla="*/ 22 h 60"/>
                  <a:gd name="T4" fmla="*/ 68 w 90"/>
                  <a:gd name="T5" fmla="*/ 0 h 60"/>
                  <a:gd name="T6" fmla="*/ 22 w 90"/>
                  <a:gd name="T7" fmla="*/ 0 h 60"/>
                  <a:gd name="T8" fmla="*/ 0 w 90"/>
                  <a:gd name="T9" fmla="*/ 22 h 60"/>
                  <a:gd name="T10" fmla="*/ 0 w 90"/>
                  <a:gd name="T11" fmla="*/ 60 h 60"/>
                  <a:gd name="T12" fmla="*/ 90 w 90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0">
                    <a:moveTo>
                      <a:pt x="90" y="60"/>
                    </a:moveTo>
                    <a:cubicBezTo>
                      <a:pt x="90" y="22"/>
                      <a:pt x="90" y="22"/>
                      <a:pt x="90" y="22"/>
                    </a:cubicBezTo>
                    <a:cubicBezTo>
                      <a:pt x="90" y="10"/>
                      <a:pt x="80" y="0"/>
                      <a:pt x="6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60"/>
                      <a:pt x="0" y="60"/>
                      <a:pt x="0" y="60"/>
                    </a:cubicBezTo>
                    <a:lnTo>
                      <a:pt x="90" y="60"/>
                    </a:lnTo>
                    <a:close/>
                  </a:path>
                </a:pathLst>
              </a:cu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32" name="Oval 33"/>
              <p:cNvSpPr>
                <a:spLocks noChangeArrowheads="1"/>
              </p:cNvSpPr>
              <p:nvPr/>
            </p:nvSpPr>
            <p:spPr bwMode="auto">
              <a:xfrm>
                <a:off x="1337843" y="4358919"/>
                <a:ext cx="93662" cy="92075"/>
              </a:xfrm>
              <a:prstGeom prst="ellipse">
                <a:avLst/>
              </a:pr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133" name="그룹 132"/>
            <p:cNvGrpSpPr/>
            <p:nvPr/>
          </p:nvGrpSpPr>
          <p:grpSpPr>
            <a:xfrm>
              <a:off x="4852762" y="4383096"/>
              <a:ext cx="229068" cy="306390"/>
              <a:chOff x="1309268" y="4358919"/>
              <a:chExt cx="150812" cy="200024"/>
            </a:xfrm>
          </p:grpSpPr>
          <p:sp>
            <p:nvSpPr>
              <p:cNvPr id="134" name="Freeform 32"/>
              <p:cNvSpPr>
                <a:spLocks/>
              </p:cNvSpPr>
              <p:nvPr/>
            </p:nvSpPr>
            <p:spPr bwMode="auto">
              <a:xfrm>
                <a:off x="1309268" y="4458931"/>
                <a:ext cx="150812" cy="100012"/>
              </a:xfrm>
              <a:custGeom>
                <a:avLst/>
                <a:gdLst>
                  <a:gd name="T0" fmla="*/ 90 w 90"/>
                  <a:gd name="T1" fmla="*/ 60 h 60"/>
                  <a:gd name="T2" fmla="*/ 90 w 90"/>
                  <a:gd name="T3" fmla="*/ 22 h 60"/>
                  <a:gd name="T4" fmla="*/ 68 w 90"/>
                  <a:gd name="T5" fmla="*/ 0 h 60"/>
                  <a:gd name="T6" fmla="*/ 22 w 90"/>
                  <a:gd name="T7" fmla="*/ 0 h 60"/>
                  <a:gd name="T8" fmla="*/ 0 w 90"/>
                  <a:gd name="T9" fmla="*/ 22 h 60"/>
                  <a:gd name="T10" fmla="*/ 0 w 90"/>
                  <a:gd name="T11" fmla="*/ 60 h 60"/>
                  <a:gd name="T12" fmla="*/ 90 w 90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0">
                    <a:moveTo>
                      <a:pt x="90" y="60"/>
                    </a:moveTo>
                    <a:cubicBezTo>
                      <a:pt x="90" y="22"/>
                      <a:pt x="90" y="22"/>
                      <a:pt x="90" y="22"/>
                    </a:cubicBezTo>
                    <a:cubicBezTo>
                      <a:pt x="90" y="10"/>
                      <a:pt x="80" y="0"/>
                      <a:pt x="68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2"/>
                    </a:cubicBezTo>
                    <a:cubicBezTo>
                      <a:pt x="0" y="60"/>
                      <a:pt x="0" y="60"/>
                      <a:pt x="0" y="60"/>
                    </a:cubicBezTo>
                    <a:lnTo>
                      <a:pt x="90" y="60"/>
                    </a:lnTo>
                    <a:close/>
                  </a:path>
                </a:pathLst>
              </a:cu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35" name="Oval 33"/>
              <p:cNvSpPr>
                <a:spLocks noChangeArrowheads="1"/>
              </p:cNvSpPr>
              <p:nvPr/>
            </p:nvSpPr>
            <p:spPr bwMode="auto">
              <a:xfrm>
                <a:off x="1337843" y="4358919"/>
                <a:ext cx="93662" cy="92075"/>
              </a:xfrm>
              <a:prstGeom prst="ellipse">
                <a:avLst/>
              </a:prstGeom>
              <a:solidFill>
                <a:srgbClr val="1E3D5B"/>
              </a:solidFill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136" name="그룹 135"/>
            <p:cNvGrpSpPr/>
            <p:nvPr/>
          </p:nvGrpSpPr>
          <p:grpSpPr>
            <a:xfrm>
              <a:off x="4806896" y="3134104"/>
              <a:ext cx="217034" cy="284338"/>
              <a:chOff x="3030537" y="5026026"/>
              <a:chExt cx="355601" cy="461962"/>
            </a:xfrm>
          </p:grpSpPr>
          <p:sp>
            <p:nvSpPr>
              <p:cNvPr id="137" name="Oval 5"/>
              <p:cNvSpPr>
                <a:spLocks noChangeArrowheads="1"/>
              </p:cNvSpPr>
              <p:nvPr/>
            </p:nvSpPr>
            <p:spPr bwMode="auto">
              <a:xfrm>
                <a:off x="3089275" y="5026026"/>
                <a:ext cx="238125" cy="234950"/>
              </a:xfrm>
              <a:prstGeom prst="ellipse">
                <a:avLst/>
              </a:pr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38" name="Freeform 6"/>
              <p:cNvSpPr>
                <a:spLocks/>
              </p:cNvSpPr>
              <p:nvPr/>
            </p:nvSpPr>
            <p:spPr bwMode="auto">
              <a:xfrm>
                <a:off x="3182938" y="5270500"/>
                <a:ext cx="50800" cy="34925"/>
              </a:xfrm>
              <a:custGeom>
                <a:avLst/>
                <a:gdLst>
                  <a:gd name="T0" fmla="*/ 0 w 32"/>
                  <a:gd name="T1" fmla="*/ 0 h 22"/>
                  <a:gd name="T2" fmla="*/ 6 w 32"/>
                  <a:gd name="T3" fmla="*/ 22 h 22"/>
                  <a:gd name="T4" fmla="*/ 27 w 32"/>
                  <a:gd name="T5" fmla="*/ 22 h 22"/>
                  <a:gd name="T6" fmla="*/ 32 w 32"/>
                  <a:gd name="T7" fmla="*/ 0 h 22"/>
                  <a:gd name="T8" fmla="*/ 0 w 32"/>
                  <a:gd name="T9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22">
                    <a:moveTo>
                      <a:pt x="0" y="0"/>
                    </a:moveTo>
                    <a:lnTo>
                      <a:pt x="6" y="22"/>
                    </a:lnTo>
                    <a:lnTo>
                      <a:pt x="27" y="22"/>
                    </a:lnTo>
                    <a:lnTo>
                      <a:pt x="3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39" name="Freeform 7"/>
              <p:cNvSpPr>
                <a:spLocks/>
              </p:cNvSpPr>
              <p:nvPr/>
            </p:nvSpPr>
            <p:spPr bwMode="auto">
              <a:xfrm>
                <a:off x="3184525" y="5311775"/>
                <a:ext cx="47625" cy="77787"/>
              </a:xfrm>
              <a:custGeom>
                <a:avLst/>
                <a:gdLst>
                  <a:gd name="T0" fmla="*/ 5 w 30"/>
                  <a:gd name="T1" fmla="*/ 0 h 49"/>
                  <a:gd name="T2" fmla="*/ 0 w 30"/>
                  <a:gd name="T3" fmla="*/ 30 h 49"/>
                  <a:gd name="T4" fmla="*/ 15 w 30"/>
                  <a:gd name="T5" fmla="*/ 49 h 49"/>
                  <a:gd name="T6" fmla="*/ 30 w 30"/>
                  <a:gd name="T7" fmla="*/ 30 h 49"/>
                  <a:gd name="T8" fmla="*/ 24 w 30"/>
                  <a:gd name="T9" fmla="*/ 0 h 49"/>
                  <a:gd name="T10" fmla="*/ 5 w 30"/>
                  <a:gd name="T11" fmla="*/ 0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" h="49">
                    <a:moveTo>
                      <a:pt x="5" y="0"/>
                    </a:moveTo>
                    <a:lnTo>
                      <a:pt x="0" y="30"/>
                    </a:lnTo>
                    <a:lnTo>
                      <a:pt x="15" y="49"/>
                    </a:lnTo>
                    <a:lnTo>
                      <a:pt x="30" y="30"/>
                    </a:lnTo>
                    <a:lnTo>
                      <a:pt x="24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  <p:sp>
            <p:nvSpPr>
              <p:cNvPr id="140" name="Freeform 8"/>
              <p:cNvSpPr>
                <a:spLocks/>
              </p:cNvSpPr>
              <p:nvPr/>
            </p:nvSpPr>
            <p:spPr bwMode="auto">
              <a:xfrm>
                <a:off x="3030537" y="5272088"/>
                <a:ext cx="355601" cy="215900"/>
              </a:xfrm>
              <a:custGeom>
                <a:avLst/>
                <a:gdLst>
                  <a:gd name="T0" fmla="*/ 123 w 175"/>
                  <a:gd name="T1" fmla="*/ 0 h 106"/>
                  <a:gd name="T2" fmla="*/ 88 w 175"/>
                  <a:gd name="T3" fmla="*/ 73 h 106"/>
                  <a:gd name="T4" fmla="*/ 52 w 175"/>
                  <a:gd name="T5" fmla="*/ 0 h 106"/>
                  <a:gd name="T6" fmla="*/ 0 w 175"/>
                  <a:gd name="T7" fmla="*/ 86 h 106"/>
                  <a:gd name="T8" fmla="*/ 0 w 175"/>
                  <a:gd name="T9" fmla="*/ 106 h 106"/>
                  <a:gd name="T10" fmla="*/ 175 w 175"/>
                  <a:gd name="T11" fmla="*/ 106 h 106"/>
                  <a:gd name="T12" fmla="*/ 175 w 175"/>
                  <a:gd name="T13" fmla="*/ 86 h 106"/>
                  <a:gd name="T14" fmla="*/ 123 w 175"/>
                  <a:gd name="T15" fmla="*/ 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75" h="106">
                    <a:moveTo>
                      <a:pt x="123" y="0"/>
                    </a:moveTo>
                    <a:cubicBezTo>
                      <a:pt x="88" y="73"/>
                      <a:pt x="88" y="73"/>
                      <a:pt x="88" y="73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22" y="15"/>
                      <a:pt x="0" y="48"/>
                      <a:pt x="0" y="86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175" y="106"/>
                      <a:pt x="175" y="106"/>
                      <a:pt x="175" y="106"/>
                    </a:cubicBezTo>
                    <a:cubicBezTo>
                      <a:pt x="175" y="86"/>
                      <a:pt x="175" y="86"/>
                      <a:pt x="175" y="86"/>
                    </a:cubicBezTo>
                    <a:cubicBezTo>
                      <a:pt x="175" y="48"/>
                      <a:pt x="154" y="15"/>
                      <a:pt x="123" y="0"/>
                    </a:cubicBezTo>
                    <a:close/>
                  </a:path>
                </a:pathLst>
              </a:custGeom>
              <a:solidFill>
                <a:srgbClr val="5B9BC7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/>
              </a:p>
            </p:txBody>
          </p:sp>
        </p:grpSp>
        <p:grpSp>
          <p:nvGrpSpPr>
            <p:cNvPr id="141" name="그룹 140"/>
            <p:cNvGrpSpPr/>
            <p:nvPr/>
          </p:nvGrpSpPr>
          <p:grpSpPr>
            <a:xfrm>
              <a:off x="5064832" y="3024930"/>
              <a:ext cx="336523" cy="274708"/>
              <a:chOff x="3096389" y="3934031"/>
              <a:chExt cx="425341" cy="344295"/>
            </a:xfrm>
          </p:grpSpPr>
          <p:pic>
            <p:nvPicPr>
              <p:cNvPr id="142" name="그림 14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6389" y="3934031"/>
                <a:ext cx="228762" cy="298553"/>
              </a:xfrm>
              <a:prstGeom prst="rect">
                <a:avLst/>
              </a:prstGeom>
            </p:spPr>
          </p:pic>
          <p:pic>
            <p:nvPicPr>
              <p:cNvPr id="143" name="그림 14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8568" y="4067123"/>
                <a:ext cx="293162" cy="211203"/>
              </a:xfrm>
              <a:prstGeom prst="rect">
                <a:avLst/>
              </a:prstGeom>
            </p:spPr>
          </p:pic>
        </p:grpSp>
      </p:grpSp>
      <p:sp>
        <p:nvSpPr>
          <p:cNvPr id="144" name="내용 개체 틀 10"/>
          <p:cNvSpPr txBox="1">
            <a:spLocks/>
          </p:cNvSpPr>
          <p:nvPr/>
        </p:nvSpPr>
        <p:spPr bwMode="auto">
          <a:xfrm>
            <a:off x="231774" y="976313"/>
            <a:ext cx="8660705" cy="58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buClr>
                <a:schemeClr val="bg1"/>
              </a:buClr>
              <a:buSzPct val="100000"/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제안사는 사업 수행자로서 프로젝트 진행과정의 관찰을 통하여 나타나는 문제점들을 지속적으로 파악하여 사업관리 사이클에 따른 정기 및 비 정기 보고를 통하여 시정 조치합니다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 </a:t>
            </a:r>
            <a:endParaRPr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+mn-ea"/>
            </a:endParaRPr>
          </a:p>
        </p:txBody>
      </p:sp>
      <p:grpSp>
        <p:nvGrpSpPr>
          <p:cNvPr id="145" name="그룹 65"/>
          <p:cNvGrpSpPr>
            <a:grpSpLocks/>
          </p:cNvGrpSpPr>
          <p:nvPr/>
        </p:nvGrpSpPr>
        <p:grpSpPr bwMode="auto">
          <a:xfrm>
            <a:off x="381000" y="1556792"/>
            <a:ext cx="8439150" cy="227012"/>
            <a:chOff x="381001" y="2050355"/>
            <a:chExt cx="8439470" cy="227385"/>
          </a:xfrm>
        </p:grpSpPr>
        <p:sp>
          <p:nvSpPr>
            <p:cNvPr id="146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2.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업무보고 및 검토계획</a:t>
              </a:r>
            </a:p>
          </p:txBody>
        </p:sp>
        <p:grpSp>
          <p:nvGrpSpPr>
            <p:cNvPr id="147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4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4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graphicFrame>
        <p:nvGraphicFramePr>
          <p:cNvPr id="152" name="표 151"/>
          <p:cNvGraphicFramePr>
            <a:graphicFrameLocks noGrp="1"/>
          </p:cNvGraphicFramePr>
          <p:nvPr/>
        </p:nvGraphicFramePr>
        <p:xfrm>
          <a:off x="5600817" y="2064552"/>
          <a:ext cx="3147896" cy="4187762"/>
        </p:xfrm>
        <a:graphic>
          <a:graphicData uri="http://schemas.openxmlformats.org/drawingml/2006/table">
            <a:tbl>
              <a:tblPr firstRow="1" firstCol="1">
                <a:tableStyleId>{616DA210-FB5B-4158-B5E0-FEB733F419BA}</a:tableStyleId>
              </a:tblPr>
              <a:tblGrid>
                <a:gridCol w="760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9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58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effectLst/>
                          <a:latin typeface="+mj-ea"/>
                          <a:ea typeface="+mj-ea"/>
                        </a:rPr>
                        <a:t>Project  Progress </a:t>
                      </a:r>
                      <a:r>
                        <a:rPr lang="ko-KR" altLang="en-US" sz="1000" dirty="0">
                          <a:effectLst/>
                          <a:latin typeface="+mj-ea"/>
                          <a:ea typeface="+mj-ea"/>
                        </a:rPr>
                        <a:t>보고</a:t>
                      </a:r>
                      <a:endParaRPr lang="ko-KR" altLang="en-US" sz="1000" b="1" dirty="0">
                        <a:effectLst/>
                        <a:latin typeface="+mj-ea"/>
                        <a:ea typeface="+mj-ea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dirty="0">
                          <a:effectLst/>
                        </a:rPr>
                        <a:t>Weekly status Report 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매주 월요일 </a:t>
                      </a:r>
                      <a:r>
                        <a:rPr kumimoji="1" lang="en-US" altLang="ko-KR" sz="800" b="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Status, schedule, issues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5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dirty="0">
                          <a:effectLst/>
                        </a:rPr>
                        <a:t>Monthly progress Report 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매달 월말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월간 진척사항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진척률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다음 일정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Issue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등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9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effectLst/>
                        </a:rPr>
                        <a:t>산출물 관리</a:t>
                      </a:r>
                      <a:endParaRPr lang="ko-KR" altLang="en-US" sz="800" b="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계획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수행 계획서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WBS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분석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요건정의서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요건결정서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현황 파악 설문서</a:t>
                      </a:r>
                      <a:endParaRPr kumimoji="1" lang="en-US" altLang="ko-KR" sz="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설계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시스템 아키텍처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설계서</a:t>
                      </a:r>
                      <a:endParaRPr kumimoji="1" lang="en-US" altLang="ko-KR" sz="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구현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작업 계획서 및 작업 완료 보고서</a:t>
                      </a:r>
                      <a:endParaRPr kumimoji="1" lang="en-US" altLang="ko-KR" sz="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Test – Test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계획서 및 결과 보고서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단위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통합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시스템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인수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시범운영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시범운영 계획서 및 결과 보고서</a:t>
                      </a:r>
                      <a:endParaRPr kumimoji="1" lang="en-US" altLang="ko-KR" sz="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이행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사용자 매뉴얼</a:t>
                      </a:r>
                      <a:endParaRPr kumimoji="1" lang="en-US" altLang="ko-KR" sz="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운영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운영자 매뉴얼</a:t>
                      </a:r>
                      <a:endParaRPr kumimoji="1" lang="en-US" altLang="ko-KR" sz="8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완료 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–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검수 확인서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완료 보고서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588">
                <a:tc rowSpan="2">
                  <a:txBody>
                    <a:bodyPr/>
                    <a:lstStyle/>
                    <a:p>
                      <a:pPr algn="ctr">
                        <a:spcBef>
                          <a:spcPct val="20000"/>
                        </a:spcBef>
                        <a:buSzPct val="90000"/>
                        <a:buFont typeface="Wingdings" pitchFamily="2" charset="2"/>
                        <a:buNone/>
                      </a:pPr>
                      <a:r>
                        <a:rPr lang="en-US" altLang="ko-KR" sz="1000" dirty="0">
                          <a:effectLst/>
                          <a:latin typeface="+mj-ea"/>
                          <a:ea typeface="+mj-ea"/>
                        </a:rPr>
                        <a:t>Project </a:t>
                      </a:r>
                      <a:r>
                        <a:rPr lang="ko-KR" altLang="en-US" sz="1000" dirty="0">
                          <a:effectLst/>
                          <a:latin typeface="+mj-ea"/>
                          <a:ea typeface="+mj-ea"/>
                        </a:rPr>
                        <a:t>관리 및 </a:t>
                      </a:r>
                      <a:endParaRPr lang="en-US" altLang="ko-KR" sz="1000" dirty="0">
                        <a:effectLst/>
                        <a:latin typeface="+mj-ea"/>
                        <a:ea typeface="+mj-ea"/>
                      </a:endParaRPr>
                    </a:p>
                    <a:p>
                      <a:pPr algn="ctr">
                        <a:spcBef>
                          <a:spcPct val="20000"/>
                        </a:spcBef>
                        <a:buSzPct val="90000"/>
                        <a:buFont typeface="Wingdings" pitchFamily="2" charset="2"/>
                        <a:buNone/>
                      </a:pPr>
                      <a:r>
                        <a:rPr lang="ko-KR" altLang="en-US" sz="1000" dirty="0">
                          <a:effectLst/>
                          <a:latin typeface="+mj-ea"/>
                          <a:ea typeface="+mj-ea"/>
                        </a:rPr>
                        <a:t>모니터링</a:t>
                      </a:r>
                      <a:endParaRPr lang="ko-KR" altLang="en-US" sz="1000" b="1" dirty="0">
                        <a:effectLst/>
                        <a:latin typeface="+mj-ea"/>
                        <a:ea typeface="+mj-ea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dirty="0">
                          <a:effectLst/>
                        </a:rPr>
                        <a:t>프로젝트 관리 자료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lang="ko-KR" altLang="en-US" sz="800" dirty="0">
                          <a:effectLst/>
                        </a:rPr>
                        <a:t>주간 보고서</a:t>
                      </a:r>
                      <a:r>
                        <a:rPr lang="en-US" altLang="ko-KR" sz="800" dirty="0">
                          <a:effectLst/>
                        </a:rPr>
                        <a:t>, </a:t>
                      </a:r>
                      <a:r>
                        <a:rPr lang="ko-KR" altLang="en-US" sz="800" dirty="0">
                          <a:effectLst/>
                        </a:rPr>
                        <a:t>월간 보고서</a:t>
                      </a:r>
                      <a:r>
                        <a:rPr lang="en-US" altLang="ko-KR" sz="800" dirty="0">
                          <a:effectLst/>
                        </a:rPr>
                        <a:t>, </a:t>
                      </a:r>
                      <a:r>
                        <a:rPr lang="ko-KR" altLang="en-US" sz="800" dirty="0">
                          <a:effectLst/>
                        </a:rPr>
                        <a:t>프로젝트 </a:t>
                      </a:r>
                      <a:r>
                        <a:rPr lang="en-US" altLang="ko-KR" sz="800" dirty="0">
                          <a:effectLst/>
                        </a:rPr>
                        <a:t>WBS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4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프로젝트 팀 내 상시 미팅 및 각 사 담당자와의 미팅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itchFamily="2" charset="2"/>
                        <a:buChar char="§"/>
                      </a:pPr>
                      <a:r>
                        <a:rPr lang="ko-KR" altLang="en-US" sz="800" dirty="0">
                          <a:effectLst/>
                        </a:rPr>
                        <a:t>회의록</a:t>
                      </a:r>
                      <a:endParaRPr lang="ko-KR" altLang="en-US" sz="800" dirty="0"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T="45701" marB="4570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51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sp>
        <p:nvSpPr>
          <p:cNvPr id="86398" name="Rectangle 86397">
            <a:extLst>
              <a:ext uri="{FF2B5EF4-FFF2-40B4-BE49-F238E27FC236}">
                <a16:creationId xmlns:a16="http://schemas.microsoft.com/office/drawing/2014/main" id="{A059882C-1571-7259-6FB3-B87097486322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440" name="Rectangle 86439">
            <a:extLst>
              <a:ext uri="{FF2B5EF4-FFF2-40B4-BE49-F238E27FC236}">
                <a16:creationId xmlns:a16="http://schemas.microsoft.com/office/drawing/2014/main" id="{19D55CBB-4E77-B4C8-FC0E-396E060E7A56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66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내용 개체 틀 10"/>
          <p:cNvSpPr txBox="1">
            <a:spLocks/>
          </p:cNvSpPr>
          <p:nvPr/>
        </p:nvSpPr>
        <p:spPr bwMode="auto">
          <a:xfrm>
            <a:off x="231774" y="976313"/>
            <a:ext cx="8660705" cy="58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프로젝트 진척을 확인하는 방안으로서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, Kick-off, 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중간보고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최종보고를 수행하며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각 보고회의는 프로젝트 시작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개발 전 단계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그리고 프로젝트  종료 시에 수행됩니다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grpSp>
        <p:nvGrpSpPr>
          <p:cNvPr id="145" name="그룹 65"/>
          <p:cNvGrpSpPr>
            <a:grpSpLocks/>
          </p:cNvGrpSpPr>
          <p:nvPr/>
        </p:nvGrpSpPr>
        <p:grpSpPr bwMode="auto">
          <a:xfrm>
            <a:off x="381000" y="1556792"/>
            <a:ext cx="8439150" cy="227012"/>
            <a:chOff x="381001" y="2050355"/>
            <a:chExt cx="8439470" cy="227385"/>
          </a:xfrm>
        </p:grpSpPr>
        <p:sp>
          <p:nvSpPr>
            <p:cNvPr id="146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</a:rPr>
                <a:t>2.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업무보고 및 검토계획</a:t>
              </a:r>
            </a:p>
          </p:txBody>
        </p:sp>
        <p:grpSp>
          <p:nvGrpSpPr>
            <p:cNvPr id="147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4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4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5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601561" y="2165863"/>
            <a:ext cx="7921129" cy="3773846"/>
            <a:chOff x="839991" y="1988485"/>
            <a:chExt cx="5883915" cy="3773847"/>
          </a:xfrm>
        </p:grpSpPr>
        <p:grpSp>
          <p:nvGrpSpPr>
            <p:cNvPr id="151" name="그룹 46"/>
            <p:cNvGrpSpPr>
              <a:grpSpLocks/>
            </p:cNvGrpSpPr>
            <p:nvPr/>
          </p:nvGrpSpPr>
          <p:grpSpPr bwMode="auto">
            <a:xfrm>
              <a:off x="1528018" y="1998366"/>
              <a:ext cx="1708150" cy="3763962"/>
              <a:chOff x="1410807" y="1648384"/>
              <a:chExt cx="1977852" cy="3763059"/>
            </a:xfrm>
          </p:grpSpPr>
          <p:sp>
            <p:nvSpPr>
              <p:cNvPr id="153" name="직사각형 152"/>
              <p:cNvSpPr/>
              <p:nvPr/>
            </p:nvSpPr>
            <p:spPr>
              <a:xfrm>
                <a:off x="1410808" y="1648384"/>
                <a:ext cx="1977851" cy="720000"/>
              </a:xfrm>
              <a:prstGeom prst="rect">
                <a:avLst/>
              </a:pr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en-US" altLang="ko-KR" sz="1400" b="1" kern="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Arial"/>
                  </a:rPr>
                  <a:t>Kick-Off</a:t>
                </a:r>
                <a:endParaRPr kumimoji="0" lang="ko-KR" altLang="ko-KR" sz="1400" kern="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Arial"/>
                </a:endParaRPr>
              </a:p>
            </p:txBody>
          </p:sp>
          <p:sp>
            <p:nvSpPr>
              <p:cNvPr id="156" name="직사각형 155"/>
              <p:cNvSpPr/>
              <p:nvPr/>
            </p:nvSpPr>
            <p:spPr>
              <a:xfrm>
                <a:off x="1410807" y="2426235"/>
                <a:ext cx="1975337" cy="706226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프로젝트 시작 시 실시</a:t>
                </a:r>
              </a:p>
            </p:txBody>
          </p:sp>
          <p:sp>
            <p:nvSpPr>
              <p:cNvPr id="157" name="직사각형 156"/>
              <p:cNvSpPr/>
              <p:nvPr/>
            </p:nvSpPr>
            <p:spPr>
              <a:xfrm>
                <a:off x="1410807" y="3176747"/>
                <a:ext cx="1975337" cy="1471534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프로젝트 관련자들간 프로젝트 비전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 </a:t>
                </a: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및 일정 공유</a:t>
                </a:r>
              </a:p>
            </p:txBody>
          </p:sp>
          <p:sp>
            <p:nvSpPr>
              <p:cNvPr id="158" name="직사각형 157"/>
              <p:cNvSpPr/>
              <p:nvPr/>
            </p:nvSpPr>
            <p:spPr>
              <a:xfrm>
                <a:off x="1410807" y="4705217"/>
                <a:ext cx="1975337" cy="706226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PMO(</a:t>
                </a:r>
                <a:r>
                  <a:rPr kumimoji="0" lang="ko-KR" altLang="en-US" sz="1100" kern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귀교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, </a:t>
                </a:r>
                <a:r>
                  <a:rPr kumimoji="0" lang="ko-KR" altLang="en-US" sz="1100" kern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제안사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) </a:t>
                </a:r>
                <a:endPara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endParaRPr>
              </a:p>
            </p:txBody>
          </p:sp>
        </p:grpSp>
        <p:grpSp>
          <p:nvGrpSpPr>
            <p:cNvPr id="159" name="그룹 51"/>
            <p:cNvGrpSpPr>
              <a:grpSpLocks/>
            </p:cNvGrpSpPr>
            <p:nvPr/>
          </p:nvGrpSpPr>
          <p:grpSpPr bwMode="auto">
            <a:xfrm>
              <a:off x="3275856" y="1988840"/>
              <a:ext cx="1708150" cy="3762375"/>
              <a:chOff x="3427866" y="1648384"/>
              <a:chExt cx="1977852" cy="3763059"/>
            </a:xfrm>
          </p:grpSpPr>
          <p:sp>
            <p:nvSpPr>
              <p:cNvPr id="160" name="직사각형 159"/>
              <p:cNvSpPr/>
              <p:nvPr/>
            </p:nvSpPr>
            <p:spPr>
              <a:xfrm>
                <a:off x="3427867" y="1648384"/>
                <a:ext cx="1977851" cy="720000"/>
              </a:xfrm>
              <a:prstGeom prst="rect">
                <a:avLst/>
              </a:pr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ko-KR" sz="1400" b="1" kern="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Arial"/>
                  </a:rPr>
                  <a:t>중간 보고</a:t>
                </a:r>
                <a:r>
                  <a:rPr kumimoji="0" lang="en-US" altLang="ko-KR" sz="1400" b="1" kern="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Arial"/>
                  </a:rPr>
                  <a:t> (1</a:t>
                </a:r>
                <a:r>
                  <a:rPr kumimoji="0" lang="ko-KR" altLang="en-US" sz="1400" b="1" kern="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Arial"/>
                  </a:rPr>
                  <a:t>차</a:t>
                </a:r>
                <a:r>
                  <a:rPr kumimoji="0" lang="en-US" altLang="ko-KR" sz="1400" b="1" kern="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Arial"/>
                  </a:rPr>
                  <a:t>)</a:t>
                </a:r>
                <a:endParaRPr kumimoji="0" lang="ko-KR" altLang="ko-KR" sz="1400" kern="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Arial"/>
                </a:endParaRPr>
              </a:p>
            </p:txBody>
          </p:sp>
          <p:sp>
            <p:nvSpPr>
              <p:cNvPr id="161" name="직사각형 160"/>
              <p:cNvSpPr/>
              <p:nvPr/>
            </p:nvSpPr>
            <p:spPr>
              <a:xfrm>
                <a:off x="3427866" y="2426235"/>
                <a:ext cx="1975337" cy="706226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en-US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시스템 </a:t>
                </a: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설계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 </a:t>
                </a: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단계 종료 후 실시</a:t>
                </a:r>
                <a:endPara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endParaRPr>
              </a:p>
            </p:txBody>
          </p:sp>
          <p:sp>
            <p:nvSpPr>
              <p:cNvPr id="162" name="직사각형 161"/>
              <p:cNvSpPr/>
              <p:nvPr/>
            </p:nvSpPr>
            <p:spPr>
              <a:xfrm>
                <a:off x="3427866" y="3176747"/>
                <a:ext cx="1975337" cy="1471534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Milestone </a:t>
                </a: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결과물의 현황 보고</a:t>
                </a:r>
              </a:p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다음 단계에 대한 상세 계획 보고</a:t>
                </a:r>
              </a:p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프로젝트 전체 일정 관리 측면의 위험 요소 관리</a:t>
                </a:r>
              </a:p>
            </p:txBody>
          </p:sp>
          <p:sp>
            <p:nvSpPr>
              <p:cNvPr id="163" name="직사각형 162"/>
              <p:cNvSpPr/>
              <p:nvPr/>
            </p:nvSpPr>
            <p:spPr>
              <a:xfrm>
                <a:off x="3427866" y="4705217"/>
                <a:ext cx="1975337" cy="706226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PMO(</a:t>
                </a:r>
                <a:r>
                  <a:rPr kumimoji="0" lang="ko-KR" altLang="en-US" sz="1100" kern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귀교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, </a:t>
                </a:r>
                <a:r>
                  <a:rPr kumimoji="0" lang="ko-KR" altLang="en-US" sz="1100" kern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제안사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) </a:t>
                </a:r>
                <a:endPara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endParaRPr>
              </a:p>
            </p:txBody>
          </p:sp>
        </p:grpSp>
        <p:grpSp>
          <p:nvGrpSpPr>
            <p:cNvPr id="164" name="그룹 61"/>
            <p:cNvGrpSpPr>
              <a:grpSpLocks/>
            </p:cNvGrpSpPr>
            <p:nvPr/>
          </p:nvGrpSpPr>
          <p:grpSpPr bwMode="auto">
            <a:xfrm>
              <a:off x="5014168" y="1988840"/>
              <a:ext cx="1709738" cy="3762375"/>
              <a:chOff x="7542666" y="1648384"/>
              <a:chExt cx="1977852" cy="3763059"/>
            </a:xfrm>
          </p:grpSpPr>
          <p:sp>
            <p:nvSpPr>
              <p:cNvPr id="165" name="직사각형 164"/>
              <p:cNvSpPr/>
              <p:nvPr/>
            </p:nvSpPr>
            <p:spPr>
              <a:xfrm>
                <a:off x="7542667" y="1648384"/>
                <a:ext cx="1977851" cy="720000"/>
              </a:xfrm>
              <a:prstGeom prst="rect">
                <a:avLst/>
              </a:prstGeom>
              <a:solidFill>
                <a:srgbClr val="44546A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latinLnBrk="1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ko-KR" sz="1400" b="1" kern="0" dirty="0">
                    <a:solidFill>
                      <a:prstClr val="white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sym typeface="Arial"/>
                  </a:rPr>
                  <a:t>최종 보고</a:t>
                </a:r>
                <a:endParaRPr kumimoji="0" lang="ko-KR" altLang="ko-KR" sz="1400" kern="0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sym typeface="Arial"/>
                </a:endParaRPr>
              </a:p>
            </p:txBody>
          </p:sp>
          <p:sp>
            <p:nvSpPr>
              <p:cNvPr id="166" name="직사각형 165"/>
              <p:cNvSpPr/>
              <p:nvPr/>
            </p:nvSpPr>
            <p:spPr>
              <a:xfrm>
                <a:off x="7542666" y="2426235"/>
                <a:ext cx="1975337" cy="706226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프로젝트 종료 시점에서  실시</a:t>
                </a:r>
              </a:p>
            </p:txBody>
          </p:sp>
          <p:sp>
            <p:nvSpPr>
              <p:cNvPr id="167" name="직사각형 166"/>
              <p:cNvSpPr/>
              <p:nvPr/>
            </p:nvSpPr>
            <p:spPr>
              <a:xfrm>
                <a:off x="7542666" y="3176747"/>
                <a:ext cx="1975337" cy="1471534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프로젝트 결과에 대한 보고</a:t>
                </a:r>
              </a:p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향후 시스템 적용 및 확장방안에 </a:t>
                </a:r>
                <a:b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</a:br>
                <a:r>
                  <a:rPr kumimoji="0" lang="ko-KR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대한 제시</a:t>
                </a:r>
              </a:p>
            </p:txBody>
          </p:sp>
          <p:sp>
            <p:nvSpPr>
              <p:cNvPr id="168" name="직사각형 167"/>
              <p:cNvSpPr/>
              <p:nvPr/>
            </p:nvSpPr>
            <p:spPr>
              <a:xfrm>
                <a:off x="7542666" y="4705217"/>
                <a:ext cx="1975337" cy="706226"/>
              </a:xfrm>
              <a:prstGeom prst="rect">
                <a:avLst/>
              </a:prstGeom>
              <a:solidFill>
                <a:srgbClr val="D9D9D9">
                  <a:alpha val="50196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anchor="ctr"/>
              <a:lstStyle/>
              <a:p>
                <a:pPr marL="87313" indent="-87313" eaLnBrk="1" fontAlgn="auto" hangingPunct="1">
                  <a:spcBef>
                    <a:spcPts val="500"/>
                  </a:spcBef>
                  <a:spcAft>
                    <a:spcPts val="0"/>
                  </a:spcAft>
                  <a:buClr>
                    <a:srgbClr val="02A3EE"/>
                  </a:buClr>
                  <a:buSzPct val="90000"/>
                  <a:buFontTx/>
                  <a:buChar char="•"/>
                  <a:defRPr/>
                </a:pP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PMO(</a:t>
                </a:r>
                <a:r>
                  <a:rPr kumimoji="0" lang="ko-KR" altLang="en-US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귀교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, </a:t>
                </a:r>
                <a:r>
                  <a:rPr kumimoji="0" lang="ko-KR" altLang="en-US" sz="1100" kern="0" dirty="0" err="1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제안사</a:t>
                </a:r>
                <a:r>
                  <a:rPr kumimoji="0" lang="en-US" altLang="ko-KR" sz="1100" kern="0" dirty="0">
                    <a:ln>
                      <a:solidFill>
                        <a:srgbClr val="3C3C3C">
                          <a:alpha val="0"/>
                        </a:srgbClr>
                      </a:solidFill>
                    </a:ln>
                    <a:solidFill>
                      <a:srgbClr val="3C3C3C"/>
                    </a:solidFill>
                    <a:latin typeface="맑은 고딕" panose="020F0502020204030204"/>
                    <a:ea typeface="맑은 고딕" panose="020B0503020000020004" pitchFamily="50" charset="-127"/>
                    <a:sym typeface="Arial"/>
                  </a:rPr>
                  <a:t>) </a:t>
                </a:r>
                <a:endPara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endParaRPr>
              </a:p>
            </p:txBody>
          </p:sp>
        </p:grpSp>
        <p:grpSp>
          <p:nvGrpSpPr>
            <p:cNvPr id="169" name="그룹 66"/>
            <p:cNvGrpSpPr>
              <a:grpSpLocks/>
            </p:cNvGrpSpPr>
            <p:nvPr/>
          </p:nvGrpSpPr>
          <p:grpSpPr bwMode="auto">
            <a:xfrm rot="16200000">
              <a:off x="3152031" y="2250778"/>
              <a:ext cx="195262" cy="195262"/>
              <a:chOff x="2105808" y="1516063"/>
              <a:chExt cx="195432" cy="195432"/>
            </a:xfrm>
          </p:grpSpPr>
          <p:sp>
            <p:nvSpPr>
              <p:cNvPr id="170" name="타원 169"/>
              <p:cNvSpPr/>
              <p:nvPr/>
            </p:nvSpPr>
            <p:spPr>
              <a:xfrm>
                <a:off x="2105808" y="1516063"/>
                <a:ext cx="195432" cy="195432"/>
              </a:xfrm>
              <a:prstGeom prst="ellipse">
                <a:avLst/>
              </a:prstGeom>
              <a:solidFill>
                <a:sysClr val="window" lastClr="FFFFFF"/>
              </a:solidFill>
              <a:ln w="6350" algn="ctr">
                <a:noFill/>
                <a:miter lim="800000"/>
                <a:headEnd/>
                <a:tailEnd/>
              </a:ln>
              <a:effectLst>
                <a:innerShdw blurRad="38100" dist="25400" dir="13500000">
                  <a:prstClr val="black">
                    <a:alpha val="40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1" name="이등변 삼각형 170"/>
              <p:cNvSpPr/>
              <p:nvPr/>
            </p:nvSpPr>
            <p:spPr>
              <a:xfrm rot="10800000">
                <a:off x="2158241" y="1589152"/>
                <a:ext cx="90567" cy="77855"/>
              </a:xfrm>
              <a:prstGeom prst="triangle">
                <a:avLst/>
              </a:prstGeom>
              <a:solidFill>
                <a:srgbClr val="555555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72" name="그룹 69"/>
            <p:cNvGrpSpPr>
              <a:grpSpLocks/>
            </p:cNvGrpSpPr>
            <p:nvPr/>
          </p:nvGrpSpPr>
          <p:grpSpPr bwMode="auto">
            <a:xfrm rot="16200000">
              <a:off x="4906219" y="2250777"/>
              <a:ext cx="195262" cy="195263"/>
              <a:chOff x="2105808" y="1516063"/>
              <a:chExt cx="195432" cy="195432"/>
            </a:xfrm>
          </p:grpSpPr>
          <p:sp>
            <p:nvSpPr>
              <p:cNvPr id="173" name="타원 172"/>
              <p:cNvSpPr/>
              <p:nvPr/>
            </p:nvSpPr>
            <p:spPr>
              <a:xfrm>
                <a:off x="2105808" y="1516063"/>
                <a:ext cx="195432" cy="195432"/>
              </a:xfrm>
              <a:prstGeom prst="ellipse">
                <a:avLst/>
              </a:prstGeom>
              <a:solidFill>
                <a:sysClr val="window" lastClr="FFFFFF"/>
              </a:solidFill>
              <a:ln w="6350" algn="ctr">
                <a:noFill/>
                <a:miter lim="800000"/>
                <a:headEnd/>
                <a:tailEnd/>
              </a:ln>
              <a:effectLst>
                <a:innerShdw blurRad="38100" dist="25400" dir="13500000">
                  <a:prstClr val="black">
                    <a:alpha val="40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4" name="이등변 삼각형 173"/>
              <p:cNvSpPr/>
              <p:nvPr/>
            </p:nvSpPr>
            <p:spPr>
              <a:xfrm rot="10800000">
                <a:off x="2158240" y="1589151"/>
                <a:ext cx="90567" cy="77855"/>
              </a:xfrm>
              <a:prstGeom prst="triangle">
                <a:avLst/>
              </a:prstGeom>
              <a:solidFill>
                <a:srgbClr val="555555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75" name="직사각형 174"/>
            <p:cNvSpPr/>
            <p:nvPr/>
          </p:nvSpPr>
          <p:spPr>
            <a:xfrm>
              <a:off x="839991" y="1988482"/>
              <a:ext cx="644034" cy="720000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보고회 </a:t>
              </a:r>
              <a:endParaRPr kumimoji="0" lang="en-US" altLang="ko-KR" sz="1300" b="1" kern="0" dirty="0">
                <a:ln>
                  <a:solidFill>
                    <a:srgbClr val="3C3C3C">
                      <a:alpha val="0"/>
                    </a:srgbClr>
                  </a:solidFill>
                </a:ln>
                <a:latin typeface="맑은 고딕" panose="020F0502020204030204"/>
                <a:ea typeface="맑은 고딕" panose="020B0503020000020004" pitchFamily="50" charset="-127"/>
                <a:sym typeface="Arial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종류</a:t>
              </a:r>
            </a:p>
          </p:txBody>
        </p:sp>
        <p:sp>
          <p:nvSpPr>
            <p:cNvPr id="176" name="직사각형 175"/>
            <p:cNvSpPr/>
            <p:nvPr/>
          </p:nvSpPr>
          <p:spPr>
            <a:xfrm>
              <a:off x="839991" y="2759446"/>
              <a:ext cx="644034" cy="720000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ko-KR" sz="1400" b="1" kern="0" dirty="0">
                  <a:latin typeface="맑은 고딕" panose="020B0503020000020004" pitchFamily="50" charset="-127"/>
                  <a:ea typeface="맑은 고딕" panose="020B0503020000020004" pitchFamily="50" charset="-127"/>
                  <a:sym typeface="Arial"/>
                </a:rPr>
                <a:t>시기</a:t>
              </a:r>
              <a:endParaRPr kumimoji="0" lang="ko-KR" altLang="ko-KR" sz="1400" kern="0" dirty="0"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endParaRPr>
            </a:p>
          </p:txBody>
        </p:sp>
        <p:sp>
          <p:nvSpPr>
            <p:cNvPr id="177" name="직사각형 176"/>
            <p:cNvSpPr/>
            <p:nvPr/>
          </p:nvSpPr>
          <p:spPr>
            <a:xfrm>
              <a:off x="839991" y="3502109"/>
              <a:ext cx="644034" cy="1500235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ko-KR" sz="1400" b="1" kern="0" dirty="0">
                  <a:latin typeface="맑은 고딕" panose="020B0503020000020004" pitchFamily="50" charset="-127"/>
                  <a:ea typeface="맑은 고딕" panose="020B0503020000020004" pitchFamily="50" charset="-127"/>
                  <a:sym typeface="Arial"/>
                </a:rPr>
                <a:t>목적</a:t>
              </a:r>
              <a:endParaRPr kumimoji="0" lang="ko-KR" altLang="ko-KR" sz="1400" kern="0" dirty="0"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839991" y="5038424"/>
              <a:ext cx="644034" cy="720000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ko-KR" sz="1400" b="1" kern="0" dirty="0">
                  <a:latin typeface="맑은 고딕" panose="020B0503020000020004" pitchFamily="50" charset="-127"/>
                  <a:ea typeface="맑은 고딕" panose="020B0503020000020004" pitchFamily="50" charset="-127"/>
                  <a:sym typeface="Arial"/>
                </a:rPr>
                <a:t>주최</a:t>
              </a:r>
              <a:endParaRPr kumimoji="0" lang="ko-KR" altLang="ko-KR" sz="1400" kern="0" dirty="0">
                <a:latin typeface="맑은 고딕" panose="020B0503020000020004" pitchFamily="50" charset="-127"/>
                <a:ea typeface="맑은 고딕" panose="020B0503020000020004" pitchFamily="50" charset="-127"/>
                <a:sym typeface="Arial"/>
              </a:endParaRPr>
            </a:p>
          </p:txBody>
        </p:sp>
      </p:grpSp>
      <p:sp>
        <p:nvSpPr>
          <p:cNvPr id="252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4420629" y="1844940"/>
            <a:ext cx="1217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ko-KR" altLang="en-US" sz="12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위험 관리 방안</a:t>
            </a:r>
          </a:p>
        </p:txBody>
      </p:sp>
      <p:sp>
        <p:nvSpPr>
          <p:cNvPr id="86483" name="Rectangle 86482">
            <a:extLst>
              <a:ext uri="{FF2B5EF4-FFF2-40B4-BE49-F238E27FC236}">
                <a16:creationId xmlns:a16="http://schemas.microsoft.com/office/drawing/2014/main" id="{08B2556B-2519-60BF-59D6-B3908E82A313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527" name="Rectangle 86526">
            <a:extLst>
              <a:ext uri="{FF2B5EF4-FFF2-40B4-BE49-F238E27FC236}">
                <a16:creationId xmlns:a16="http://schemas.microsoft.com/office/drawing/2014/main" id="{3370BD72-457D-6034-BA44-89DF04EADD87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88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내용 개체 틀 10"/>
          <p:cNvSpPr txBox="1">
            <a:spLocks/>
          </p:cNvSpPr>
          <p:nvPr/>
        </p:nvSpPr>
        <p:spPr bwMode="auto">
          <a:xfrm>
            <a:off x="231774" y="976313"/>
            <a:ext cx="8660705" cy="58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프로젝트를 진행하는데 필요한 관련 산출물의 표준화 및 문서의 관리절차를 정의하며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프로젝트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Kick-off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와 동시에 프로젝트 관련자 모두에게 소개되어 단계별 산출물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Template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에 따라 진행하게 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grpSp>
        <p:nvGrpSpPr>
          <p:cNvPr id="145" name="그룹 65"/>
          <p:cNvGrpSpPr>
            <a:grpSpLocks/>
          </p:cNvGrpSpPr>
          <p:nvPr/>
        </p:nvGrpSpPr>
        <p:grpSpPr bwMode="auto">
          <a:xfrm>
            <a:off x="381000" y="1556792"/>
            <a:ext cx="8439150" cy="227012"/>
            <a:chOff x="381001" y="2050355"/>
            <a:chExt cx="8439470" cy="227385"/>
          </a:xfrm>
        </p:grpSpPr>
        <p:sp>
          <p:nvSpPr>
            <p:cNvPr id="146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</a:rPr>
                <a:t>2.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업무보고 및 검토계획</a:t>
              </a:r>
            </a:p>
          </p:txBody>
        </p:sp>
        <p:grpSp>
          <p:nvGrpSpPr>
            <p:cNvPr id="147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4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4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5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529678" y="2132856"/>
            <a:ext cx="8064896" cy="4320480"/>
            <a:chOff x="548822" y="2829373"/>
            <a:chExt cx="5791494" cy="5219971"/>
          </a:xfrm>
        </p:grpSpPr>
        <p:sp>
          <p:nvSpPr>
            <p:cNvPr id="37" name="직사각형 36"/>
            <p:cNvSpPr/>
            <p:nvPr/>
          </p:nvSpPr>
          <p:spPr>
            <a:xfrm>
              <a:off x="548822" y="7240776"/>
              <a:ext cx="855445" cy="808568"/>
            </a:xfrm>
            <a:prstGeom prst="rect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eaLnBrk="1" fontAlgn="auto" hangingPunct="1">
                <a:spcBef>
                  <a:spcPts val="300"/>
                </a:spcBef>
                <a:spcAft>
                  <a:spcPts val="0"/>
                </a:spcAft>
                <a:buClr>
                  <a:srgbClr val="0078B8"/>
                </a:buClr>
                <a:defRPr/>
              </a:pPr>
              <a:r>
                <a:rPr kumimoji="0" lang="ko-KR" altLang="en-US" sz="1300" b="1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진도 현황</a:t>
              </a: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1479286" y="7240776"/>
              <a:ext cx="4859630" cy="808568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0B100"/>
                </a:buClr>
                <a:buSzPct val="90000"/>
                <a:buFontTx/>
                <a:buChar char="•"/>
                <a:defRPr/>
              </a:pPr>
              <a:r>
                <a:rPr kumimoji="0" lang="ko-KR" altLang="en-US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매주 진행중인 </a:t>
              </a:r>
              <a:r>
                <a:rPr kumimoji="0" lang="en-US" altLang="ko-KR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Task</a:t>
              </a:r>
              <a:r>
                <a:rPr kumimoji="0" lang="ko-KR" altLang="en-US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별 실적 </a:t>
              </a:r>
              <a:r>
                <a:rPr kumimoji="0" lang="ko-KR" altLang="en-US" sz="1300" kern="0" spc="-10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보고</a:t>
              </a:r>
              <a:r>
                <a:rPr kumimoji="0" lang="en-US" altLang="ko-KR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(</a:t>
              </a:r>
              <a:r>
                <a:rPr kumimoji="0" lang="ko-KR" altLang="en-US" sz="1300" kern="0" spc="-10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귀교</a:t>
              </a:r>
              <a:r>
                <a:rPr kumimoji="0" lang="en-US" altLang="ko-KR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 </a:t>
              </a:r>
              <a:r>
                <a:rPr kumimoji="0" lang="ko-KR" altLang="en-US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프로젝트관리자 참여</a:t>
              </a:r>
              <a:r>
                <a:rPr kumimoji="0" lang="en-US" altLang="ko-KR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)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0B100"/>
                </a:buClr>
                <a:buSzPct val="90000"/>
                <a:buFontTx/>
                <a:buChar char="•"/>
                <a:defRPr/>
              </a:pPr>
              <a:r>
                <a:rPr kumimoji="0" lang="ko-KR" altLang="en-US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각 팀은 매주 추진 실적을 </a:t>
              </a:r>
              <a:r>
                <a:rPr kumimoji="0" lang="en-US" altLang="ko-KR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PM</a:t>
              </a:r>
              <a:r>
                <a:rPr kumimoji="0" lang="ko-KR" altLang="en-US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에 제출</a:t>
              </a:r>
              <a:r>
                <a:rPr kumimoji="0" lang="en-US" altLang="ko-KR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(</a:t>
              </a:r>
              <a:r>
                <a:rPr kumimoji="0" lang="ko-KR" altLang="en-US" sz="1300" kern="0" spc="-100" dirty="0" err="1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</a:t>
              </a:r>
              <a:r>
                <a:rPr kumimoji="0" lang="ko-KR" altLang="en-US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 세부 진도현황</a:t>
              </a:r>
              <a:r>
                <a:rPr kumimoji="0" lang="ko-KR" altLang="ko-KR" sz="13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)</a:t>
              </a: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479287" y="2829373"/>
              <a:ext cx="1561404" cy="826552"/>
            </a:xfrm>
            <a:prstGeom prst="rect">
              <a:avLst/>
            </a:pr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</a:t>
              </a:r>
              <a:r>
                <a:rPr kumimoji="0" lang="en-US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 </a:t>
              </a: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별 산출물 </a:t>
              </a:r>
              <a:r>
                <a:rPr kumimoji="0" lang="ko-KR" altLang="ko-KR" sz="1300" b="1" kern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작성 </a:t>
              </a:r>
              <a:endParaRPr kumimoji="0" lang="en-US" altLang="ko-KR" sz="1300" b="1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  <a:sym typeface="Arial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및 진도관리</a:t>
              </a: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4777512" y="2829373"/>
              <a:ext cx="1561404" cy="826552"/>
            </a:xfrm>
            <a:prstGeom prst="rect">
              <a:avLst/>
            </a:pr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en-US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전체 작업 진행 보고</a:t>
              </a:r>
              <a:endParaRPr kumimoji="0" lang="en-US" altLang="ko-KR" sz="1300" b="1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en-US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(Monthly)</a:t>
              </a: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3121666" y="2829373"/>
              <a:ext cx="1559419" cy="826552"/>
            </a:xfrm>
            <a:prstGeom prst="rect">
              <a:avLst/>
            </a:prstGeom>
            <a:solidFill>
              <a:srgbClr val="44546A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en-US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전체 작업 상황 보고</a:t>
              </a:r>
              <a:endParaRPr kumimoji="0" lang="en-US" altLang="ko-KR" sz="1300" b="1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en-US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(Weekly)</a:t>
              </a:r>
            </a:p>
          </p:txBody>
        </p:sp>
        <p:grpSp>
          <p:nvGrpSpPr>
            <p:cNvPr id="42" name="그룹 95"/>
            <p:cNvGrpSpPr>
              <a:grpSpLocks/>
            </p:cNvGrpSpPr>
            <p:nvPr/>
          </p:nvGrpSpPr>
          <p:grpSpPr bwMode="auto">
            <a:xfrm rot="-5400000">
              <a:off x="3001963" y="3182938"/>
              <a:ext cx="176212" cy="195262"/>
              <a:chOff x="2105808" y="1516063"/>
              <a:chExt cx="195432" cy="195432"/>
            </a:xfrm>
          </p:grpSpPr>
          <p:sp>
            <p:nvSpPr>
              <p:cNvPr id="43" name="타원 42"/>
              <p:cNvSpPr/>
              <p:nvPr/>
            </p:nvSpPr>
            <p:spPr>
              <a:xfrm>
                <a:off x="2105808" y="1516063"/>
                <a:ext cx="195432" cy="195432"/>
              </a:xfrm>
              <a:prstGeom prst="ellipse">
                <a:avLst/>
              </a:prstGeom>
              <a:solidFill>
                <a:sysClr val="window" lastClr="FFFFFF"/>
              </a:solidFill>
              <a:ln w="6350" algn="ctr">
                <a:noFill/>
                <a:miter lim="800000"/>
                <a:headEnd/>
                <a:tailEnd/>
              </a:ln>
              <a:effectLst>
                <a:innerShdw blurRad="38100" dist="25400" dir="13500000">
                  <a:prstClr val="black">
                    <a:alpha val="40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4" name="이등변 삼각형 43"/>
              <p:cNvSpPr/>
              <p:nvPr/>
            </p:nvSpPr>
            <p:spPr>
              <a:xfrm rot="10800000">
                <a:off x="2156867" y="1589152"/>
                <a:ext cx="93315" cy="77855"/>
              </a:xfrm>
              <a:prstGeom prst="triangle">
                <a:avLst/>
              </a:prstGeom>
              <a:solidFill>
                <a:srgbClr val="555555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45" name="그룹 98"/>
            <p:cNvGrpSpPr>
              <a:grpSpLocks/>
            </p:cNvGrpSpPr>
            <p:nvPr/>
          </p:nvGrpSpPr>
          <p:grpSpPr bwMode="auto">
            <a:xfrm rot="-5400000">
              <a:off x="4665663" y="3182938"/>
              <a:ext cx="176212" cy="195262"/>
              <a:chOff x="2105808" y="1516063"/>
              <a:chExt cx="195432" cy="195432"/>
            </a:xfrm>
          </p:grpSpPr>
          <p:sp>
            <p:nvSpPr>
              <p:cNvPr id="46" name="타원 45"/>
              <p:cNvSpPr/>
              <p:nvPr/>
            </p:nvSpPr>
            <p:spPr>
              <a:xfrm>
                <a:off x="2105808" y="1516063"/>
                <a:ext cx="195432" cy="195432"/>
              </a:xfrm>
              <a:prstGeom prst="ellipse">
                <a:avLst/>
              </a:prstGeom>
              <a:solidFill>
                <a:sysClr val="window" lastClr="FFFFFF"/>
              </a:solidFill>
              <a:ln w="6350" algn="ctr">
                <a:noFill/>
                <a:miter lim="800000"/>
                <a:headEnd/>
                <a:tailEnd/>
              </a:ln>
              <a:effectLst>
                <a:innerShdw blurRad="38100" dist="25400" dir="13500000">
                  <a:prstClr val="black">
                    <a:alpha val="40000"/>
                  </a:prstClr>
                </a:innerShdw>
              </a:effectLst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7" name="이등변 삼각형 46"/>
              <p:cNvSpPr/>
              <p:nvPr/>
            </p:nvSpPr>
            <p:spPr>
              <a:xfrm rot="10800000">
                <a:off x="2156867" y="1589152"/>
                <a:ext cx="93315" cy="77855"/>
              </a:xfrm>
              <a:prstGeom prst="triangle">
                <a:avLst/>
              </a:prstGeom>
              <a:solidFill>
                <a:srgbClr val="555555"/>
              </a:solidFill>
              <a:ln w="6350" algn="ctr">
                <a:noFill/>
                <a:miter lim="800000"/>
                <a:headEnd/>
                <a:tailEnd/>
              </a:ln>
            </p:spPr>
            <p:txBody>
              <a:bodyPr lIns="0" tIns="0" rIns="0" bIns="0" anchor="ctr">
                <a:scene3d>
                  <a:camera prst="orthographicFront"/>
                  <a:lightRig rig="threePt" dir="t"/>
                </a:scene3d>
                <a:sp3d>
                  <a:bevelT w="0" h="0"/>
                  <a:bevelB w="0" h="0"/>
                  <a:extrusionClr>
                    <a:schemeClr val="tx1"/>
                  </a:extrusionClr>
                  <a:contourClr>
                    <a:schemeClr val="tx1"/>
                  </a:contourClr>
                </a:sp3d>
              </a:bodyPr>
              <a:lstStyle/>
              <a:p>
                <a:pPr algn="ctr" eaLnBrk="1" fontAlgn="auto" hangingPunct="1">
                  <a:spcBef>
                    <a:spcPts val="300"/>
                  </a:spcBef>
                  <a:spcAft>
                    <a:spcPts val="0"/>
                  </a:spcAft>
                  <a:defRPr/>
                </a:pPr>
                <a:endParaRPr kumimoji="0" lang="ko-KR" altLang="en-US" sz="1800" kern="0" spc="-10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0078B8"/>
                  </a:solidFill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48" name="직사각형 47"/>
            <p:cNvSpPr/>
            <p:nvPr/>
          </p:nvSpPr>
          <p:spPr>
            <a:xfrm>
              <a:off x="548824" y="2829373"/>
              <a:ext cx="855444" cy="826552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진도</a:t>
              </a:r>
              <a:r>
                <a:rPr kumimoji="0" lang="en-US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 </a:t>
              </a: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관리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단계</a:t>
              </a: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548824" y="3737529"/>
              <a:ext cx="855444" cy="646854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진도관리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미팅</a:t>
              </a: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1479286" y="3743716"/>
              <a:ext cx="1559419" cy="634480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일일 보고</a:t>
              </a: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780897" y="3743716"/>
              <a:ext cx="1559419" cy="634480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월간 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Status Meeting</a:t>
              </a:r>
              <a:endParaRPr kumimoji="0" lang="ko-KR" altLang="ko-KR" sz="1100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맑은 고딕" panose="020F0502020204030204"/>
                <a:ea typeface="맑은 고딕" panose="020B0503020000020004" pitchFamily="50" charset="-127"/>
                <a:sym typeface="Arial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121666" y="3743716"/>
              <a:ext cx="1559419" cy="634480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05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주간 </a:t>
              </a:r>
              <a:r>
                <a:rPr kumimoji="0" lang="en-US" altLang="ko-KR" sz="105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Status Meeting</a:t>
              </a:r>
              <a:endParaRPr kumimoji="0" lang="ko-KR" altLang="ko-KR" sz="1050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맑은 고딕" panose="020F0502020204030204"/>
                <a:ea typeface="맑은 고딕" panose="020B0503020000020004" pitchFamily="50" charset="-127"/>
                <a:sym typeface="Arial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548824" y="4404744"/>
              <a:ext cx="855444" cy="2037202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주요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보고문서</a:t>
              </a: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479286" y="4417983"/>
              <a:ext cx="1559419" cy="1998229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업무 보고</a:t>
              </a: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780897" y="4417983"/>
              <a:ext cx="1559419" cy="1998229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월간 업무 보고서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진도 현황표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산출물 완료 현황표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전체 프로젝트 실적 현황표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주요 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Issue </a:t>
              </a: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상황</a:t>
              </a: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121666" y="4417983"/>
              <a:ext cx="1559419" cy="1998229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주간 업무</a:t>
              </a:r>
              <a:r>
                <a:rPr kumimoji="0" lang="ko-KR" altLang="en-US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 </a:t>
              </a: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보고서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진도 현황표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팀별 산출물 완료 현황표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전체 프로젝트 실적 현황표</a:t>
              </a:r>
            </a:p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주요 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Issue </a:t>
              </a: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상황</a:t>
              </a: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548824" y="6505067"/>
              <a:ext cx="855444" cy="646854"/>
            </a:xfrm>
            <a:prstGeom prst="rect">
              <a:avLst/>
            </a:prstGeom>
            <a:solidFill>
              <a:srgbClr val="E7E6E6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ct val="80000"/>
                <a:buFont typeface="Wingdings" pitchFamily="2" charset="2"/>
                <a:buNone/>
                <a:defRPr/>
              </a:pPr>
              <a:r>
                <a:rPr kumimoji="0" lang="ko-KR" altLang="ko-KR" sz="1300" b="1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주최</a:t>
              </a: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1479286" y="6511254"/>
              <a:ext cx="1559419" cy="634480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개별팀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(</a:t>
              </a:r>
              <a:r>
                <a:rPr kumimoji="0" lang="ko-KR" altLang="en-US" sz="1100" kern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제안사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)</a:t>
              </a:r>
              <a:endParaRPr kumimoji="0" lang="ko-KR" altLang="ko-KR" sz="1100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맑은 고딕" panose="020F0502020204030204"/>
                <a:ea typeface="맑은 고딕" panose="020B0503020000020004" pitchFamily="50" charset="-127"/>
                <a:sym typeface="Arial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780897" y="6511254"/>
              <a:ext cx="1559419" cy="634480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PMO (</a:t>
              </a:r>
              <a:r>
                <a:rPr kumimoji="0" lang="ko-KR" altLang="en-US" sz="1100" kern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제안사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)</a:t>
              </a:r>
              <a:endParaRPr kumimoji="0" lang="ko-KR" altLang="ko-KR" sz="1100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맑은 고딕" panose="020F0502020204030204"/>
                <a:ea typeface="맑은 고딕" panose="020B0503020000020004" pitchFamily="50" charset="-127"/>
                <a:sym typeface="Arial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3121666" y="6511254"/>
              <a:ext cx="1559419" cy="634480"/>
            </a:xfrm>
            <a:prstGeom prst="rect">
              <a:avLst/>
            </a:prstGeom>
            <a:solidFill>
              <a:srgbClr val="D9D9D9">
                <a:alpha val="50196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180000" anchor="ctr"/>
            <a:lstStyle/>
            <a:p>
              <a:pPr marL="87313" indent="-87313" eaLnBrk="1" fontAlgn="auto" hangingPunct="1">
                <a:spcBef>
                  <a:spcPts val="500"/>
                </a:spcBef>
                <a:spcAft>
                  <a:spcPts val="0"/>
                </a:spcAft>
                <a:buClr>
                  <a:srgbClr val="02A3EE"/>
                </a:buClr>
                <a:buSzPct val="90000"/>
                <a:buFontTx/>
                <a:buChar char="•"/>
                <a:defRPr/>
              </a:pPr>
              <a:r>
                <a:rPr kumimoji="0" lang="ko-KR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개별팀 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(</a:t>
              </a:r>
              <a:r>
                <a:rPr kumimoji="0" lang="ko-KR" altLang="en-US" sz="1100" kern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제안사</a:t>
              </a:r>
              <a:r>
                <a:rPr kumimoji="0" lang="en-US" altLang="ko-KR" sz="1100" kern="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srgbClr val="3C3C3C"/>
                  </a:solidFill>
                  <a:latin typeface="맑은 고딕" panose="020F0502020204030204"/>
                  <a:ea typeface="맑은 고딕" panose="020B0503020000020004" pitchFamily="50" charset="-127"/>
                  <a:sym typeface="Arial"/>
                </a:rPr>
                <a:t>)</a:t>
              </a:r>
              <a:endParaRPr kumimoji="0" lang="ko-KR" altLang="ko-KR" sz="1100" kern="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맑은 고딕" panose="020F0502020204030204"/>
                <a:ea typeface="맑은 고딕" panose="020B0503020000020004" pitchFamily="50" charset="-127"/>
                <a:sym typeface="Arial"/>
              </a:endParaRPr>
            </a:p>
          </p:txBody>
        </p:sp>
      </p:grpSp>
      <p:sp>
        <p:nvSpPr>
          <p:cNvPr id="63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4052021" y="1843110"/>
            <a:ext cx="85472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ko-KR" altLang="en-US" sz="12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보고 절차</a:t>
            </a:r>
          </a:p>
        </p:txBody>
      </p:sp>
      <p:sp>
        <p:nvSpPr>
          <p:cNvPr id="86572" name="Rectangle 86571">
            <a:extLst>
              <a:ext uri="{FF2B5EF4-FFF2-40B4-BE49-F238E27FC236}">
                <a16:creationId xmlns:a16="http://schemas.microsoft.com/office/drawing/2014/main" id="{E2F75895-E615-E09B-DB9A-67CB5FF765F1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618" name="Rectangle 86617">
            <a:extLst>
              <a:ext uri="{FF2B5EF4-FFF2-40B4-BE49-F238E27FC236}">
                <a16:creationId xmlns:a16="http://schemas.microsoft.com/office/drawing/2014/main" id="{8DAE57AE-E255-B309-2184-4F775AF8F954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56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내용 개체 틀 10"/>
          <p:cNvSpPr txBox="1">
            <a:spLocks/>
          </p:cNvSpPr>
          <p:nvPr/>
        </p:nvSpPr>
        <p:spPr bwMode="auto">
          <a:xfrm>
            <a:off x="231775" y="976313"/>
            <a:ext cx="8516938" cy="58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프로젝트를 진행하는데 필요한 관련 산출물의 표준화 및 문서의 관리절차를 정의하며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프로젝트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Kick-off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와 동시에 프로젝트 관련자 모두에게 소개되어 단계별 산출물 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Template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에 따라 진행하게 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</a:t>
            </a:r>
            <a:endParaRPr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+mn-ea"/>
            </a:endParaRPr>
          </a:p>
        </p:txBody>
      </p:sp>
      <p:grpSp>
        <p:nvGrpSpPr>
          <p:cNvPr id="145" name="그룹 65"/>
          <p:cNvGrpSpPr>
            <a:grpSpLocks/>
          </p:cNvGrpSpPr>
          <p:nvPr/>
        </p:nvGrpSpPr>
        <p:grpSpPr bwMode="auto">
          <a:xfrm>
            <a:off x="381000" y="1556791"/>
            <a:ext cx="8439150" cy="227012"/>
            <a:chOff x="381001" y="2050354"/>
            <a:chExt cx="8439470" cy="227385"/>
          </a:xfrm>
        </p:grpSpPr>
        <p:sp>
          <p:nvSpPr>
            <p:cNvPr id="146" name="AutoShape 29"/>
            <p:cNvSpPr>
              <a:spLocks noChangeArrowheads="1"/>
            </p:cNvSpPr>
            <p:nvPr/>
          </p:nvSpPr>
          <p:spPr bwMode="auto">
            <a:xfrm>
              <a:off x="381001" y="2050354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</a:rPr>
                <a:t>2.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업무보고 및 검토계획</a:t>
              </a:r>
            </a:p>
          </p:txBody>
        </p:sp>
        <p:grpSp>
          <p:nvGrpSpPr>
            <p:cNvPr id="147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4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4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5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1704715" y="5461986"/>
            <a:ext cx="5906417" cy="1071111"/>
            <a:chOff x="1193536" y="4653136"/>
            <a:chExt cx="5906417" cy="1764069"/>
          </a:xfrm>
        </p:grpSpPr>
        <p:sp>
          <p:nvSpPr>
            <p:cNvPr id="68" name="직사각형 67"/>
            <p:cNvSpPr/>
            <p:nvPr/>
          </p:nvSpPr>
          <p:spPr>
            <a:xfrm>
              <a:off x="1193536" y="4653136"/>
              <a:ext cx="1224000" cy="540000"/>
            </a:xfrm>
            <a:prstGeom prst="rect">
              <a:avLst/>
            </a:prstGeom>
            <a:solidFill>
              <a:srgbClr val="5B9BD5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600" b="1" kern="0" spc="-15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  <a:ea typeface="+mn-ea"/>
                </a:rPr>
                <a:t>산출물 제출</a:t>
              </a: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2634576" y="4653136"/>
              <a:ext cx="1224000" cy="540000"/>
            </a:xfrm>
            <a:prstGeom prst="rect">
              <a:avLst/>
            </a:prstGeom>
            <a:solidFill>
              <a:srgbClr val="5B9BD5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600" b="1" kern="0" spc="-15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  <a:ea typeface="+mn-ea"/>
                </a:rPr>
                <a:t>검토</a:t>
              </a: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2835102" y="5877205"/>
              <a:ext cx="1224000" cy="540000"/>
            </a:xfrm>
            <a:prstGeom prst="rect">
              <a:avLst/>
            </a:prstGeom>
            <a:solidFill>
              <a:srgbClr val="ED7D31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600" b="1" kern="0" spc="-15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  <a:ea typeface="+mn-ea"/>
                </a:rPr>
                <a:t>보완요청</a:t>
              </a: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275262" y="5877205"/>
              <a:ext cx="1224000" cy="540000"/>
            </a:xfrm>
            <a:prstGeom prst="rect">
              <a:avLst/>
            </a:prstGeom>
            <a:solidFill>
              <a:srgbClr val="ED7D31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600" b="1" kern="0" spc="-15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  <a:ea typeface="+mn-ea"/>
                </a:rPr>
                <a:t>보완작업</a:t>
              </a: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4434912" y="4653136"/>
              <a:ext cx="1224000" cy="540000"/>
            </a:xfrm>
            <a:prstGeom prst="rect">
              <a:avLst/>
            </a:prstGeom>
            <a:solidFill>
              <a:srgbClr val="5B9BD5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600" b="1" kern="0" spc="-15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  <a:ea typeface="+mn-ea"/>
                </a:rPr>
                <a:t>승인</a:t>
              </a: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5875953" y="4653136"/>
              <a:ext cx="1224000" cy="540000"/>
            </a:xfrm>
            <a:prstGeom prst="rect">
              <a:avLst/>
            </a:prstGeom>
            <a:solidFill>
              <a:srgbClr val="5B9BD5"/>
            </a:solidFill>
            <a:ln w="6350" algn="ctr">
              <a:noFill/>
              <a:miter lim="800000"/>
              <a:headEnd/>
              <a:tailEnd/>
            </a:ln>
          </p:spPr>
          <p:txBody>
            <a:bodyPr lIns="0" tIns="0" rIns="0" bIns="0" anchor="ctr">
              <a:scene3d>
                <a:camera prst="orthographicFront"/>
                <a:lightRig rig="threePt" dir="t"/>
              </a:scene3d>
              <a:sp3d>
                <a:bevelT w="0" h="0"/>
                <a:bevelB w="0" h="0"/>
                <a:extrusionClr>
                  <a:schemeClr val="tx1"/>
                </a:extrusionClr>
                <a:contourClr>
                  <a:schemeClr val="tx1"/>
                </a:contourClr>
              </a:sp3d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600" b="1" kern="0" spc="-150" dirty="0">
                  <a:ln>
                    <a:solidFill>
                      <a:srgbClr val="3C3C3C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  <a:ea typeface="+mn-ea"/>
                </a:rPr>
                <a:t>저장</a:t>
              </a:r>
            </a:p>
          </p:txBody>
        </p:sp>
        <p:cxnSp>
          <p:nvCxnSpPr>
            <p:cNvPr id="74" name="직선 화살표 연결선 45"/>
            <p:cNvCxnSpPr>
              <a:cxnSpLocks noChangeShapeType="1"/>
              <a:stCxn id="68" idx="3"/>
              <a:endCxn id="69" idx="1"/>
            </p:cNvCxnSpPr>
            <p:nvPr/>
          </p:nvCxnSpPr>
          <p:spPr bwMode="auto">
            <a:xfrm>
              <a:off x="2417957" y="4923864"/>
              <a:ext cx="215900" cy="0"/>
            </a:xfrm>
            <a:prstGeom prst="straightConnector1">
              <a:avLst/>
            </a:prstGeom>
            <a:noFill/>
            <a:ln w="25400" algn="ctr">
              <a:solidFill>
                <a:srgbClr val="BFBFB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직선 화살표 연결선 46"/>
            <p:cNvCxnSpPr>
              <a:cxnSpLocks noChangeShapeType="1"/>
              <a:stCxn id="69" idx="3"/>
              <a:endCxn id="72" idx="1"/>
            </p:cNvCxnSpPr>
            <p:nvPr/>
          </p:nvCxnSpPr>
          <p:spPr bwMode="auto">
            <a:xfrm>
              <a:off x="3857819" y="4923864"/>
              <a:ext cx="577850" cy="0"/>
            </a:xfrm>
            <a:prstGeom prst="straightConnector1">
              <a:avLst/>
            </a:prstGeom>
            <a:noFill/>
            <a:ln w="25400" algn="ctr">
              <a:solidFill>
                <a:srgbClr val="BFBFB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직선 화살표 연결선 51"/>
            <p:cNvCxnSpPr>
              <a:cxnSpLocks noChangeShapeType="1"/>
              <a:stCxn id="72" idx="3"/>
              <a:endCxn id="73" idx="1"/>
            </p:cNvCxnSpPr>
            <p:nvPr/>
          </p:nvCxnSpPr>
          <p:spPr bwMode="auto">
            <a:xfrm>
              <a:off x="5659632" y="4923864"/>
              <a:ext cx="215900" cy="0"/>
            </a:xfrm>
            <a:prstGeom prst="straightConnector1">
              <a:avLst/>
            </a:prstGeom>
            <a:noFill/>
            <a:ln w="25400" algn="ctr">
              <a:solidFill>
                <a:srgbClr val="BFBFB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꺾인 연결선 59"/>
            <p:cNvCxnSpPr>
              <a:cxnSpLocks noChangeShapeType="1"/>
              <a:stCxn id="69" idx="2"/>
              <a:endCxn id="70" idx="1"/>
            </p:cNvCxnSpPr>
            <p:nvPr/>
          </p:nvCxnSpPr>
          <p:spPr bwMode="auto">
            <a:xfrm rot="5400000">
              <a:off x="2564007" y="5465201"/>
              <a:ext cx="954088" cy="411163"/>
            </a:xfrm>
            <a:prstGeom prst="bentConnector4">
              <a:avLst>
                <a:gd name="adj1" fmla="val 35852"/>
                <a:gd name="adj2" fmla="val 155556"/>
              </a:avLst>
            </a:prstGeom>
            <a:noFill/>
            <a:ln w="25400" algn="ctr">
              <a:solidFill>
                <a:srgbClr val="BFBFB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직선 화살표 연결선 60"/>
            <p:cNvCxnSpPr>
              <a:cxnSpLocks noChangeShapeType="1"/>
              <a:stCxn id="70" idx="3"/>
              <a:endCxn id="71" idx="1"/>
            </p:cNvCxnSpPr>
            <p:nvPr/>
          </p:nvCxnSpPr>
          <p:spPr bwMode="auto">
            <a:xfrm>
              <a:off x="4059432" y="6147827"/>
              <a:ext cx="215900" cy="0"/>
            </a:xfrm>
            <a:prstGeom prst="straightConnector1">
              <a:avLst/>
            </a:prstGeom>
            <a:noFill/>
            <a:ln w="25400" algn="ctr">
              <a:solidFill>
                <a:srgbClr val="BFBFB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9" name="꺾인 연결선 61"/>
            <p:cNvCxnSpPr>
              <a:cxnSpLocks noChangeShapeType="1"/>
              <a:stCxn id="71" idx="3"/>
              <a:endCxn id="72" idx="2"/>
            </p:cNvCxnSpPr>
            <p:nvPr/>
          </p:nvCxnSpPr>
          <p:spPr bwMode="auto">
            <a:xfrm flipH="1" flipV="1">
              <a:off x="5046857" y="5193739"/>
              <a:ext cx="452437" cy="954088"/>
            </a:xfrm>
            <a:prstGeom prst="bentConnector4">
              <a:avLst>
                <a:gd name="adj1" fmla="val -50537"/>
                <a:gd name="adj2" fmla="val 64148"/>
              </a:avLst>
            </a:prstGeom>
            <a:noFill/>
            <a:ln w="25400" algn="ctr">
              <a:solidFill>
                <a:srgbClr val="BFBFB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" name="꺾인 연결선 62"/>
            <p:cNvCxnSpPr>
              <a:cxnSpLocks noChangeShapeType="1"/>
              <a:stCxn id="71" idx="0"/>
              <a:endCxn id="70" idx="0"/>
            </p:cNvCxnSpPr>
            <p:nvPr/>
          </p:nvCxnSpPr>
          <p:spPr bwMode="auto">
            <a:xfrm rot="16200000" flipV="1">
              <a:off x="4166588" y="5158021"/>
              <a:ext cx="12700" cy="1439862"/>
            </a:xfrm>
            <a:prstGeom prst="bentConnector3">
              <a:avLst>
                <a:gd name="adj1" fmla="val 1800000"/>
              </a:avLst>
            </a:prstGeom>
            <a:noFill/>
            <a:ln w="25400" algn="ctr">
              <a:solidFill>
                <a:srgbClr val="BFBFBF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30" name="Table 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153814"/>
              </p:ext>
            </p:extLst>
          </p:nvPr>
        </p:nvGraphicFramePr>
        <p:xfrm>
          <a:off x="971600" y="2132856"/>
          <a:ext cx="7372646" cy="3168352"/>
        </p:xfrm>
        <a:graphic>
          <a:graphicData uri="http://schemas.openxmlformats.org/drawingml/2006/table">
            <a:tbl>
              <a:tblPr/>
              <a:tblGrid>
                <a:gridCol w="1279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1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1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1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35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유형</a:t>
                      </a:r>
                    </a:p>
                  </a:txBody>
                  <a:tcPr marL="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공식산출물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중간산출물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4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관리산출물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12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정의</a:t>
                      </a:r>
                    </a:p>
                  </a:txBody>
                  <a:tcPr marL="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182563" marR="0" lvl="1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Stage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 끝나고 나오는 </a:t>
                      </a:r>
                      <a:br>
                        <a:rPr kumimoji="1" lang="en-US" altLang="ko-KR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공식적인 최종산출물</a:t>
                      </a:r>
                    </a:p>
                    <a:p>
                      <a:pPr marL="182563" marR="0" lvl="1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공식산출물 </a:t>
                      </a:r>
                      <a:r>
                        <a:rPr kumimoji="1" lang="en-US" altLang="ko-KR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List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에 정의된 항목</a:t>
                      </a:r>
                      <a:endParaRPr kumimoji="1" lang="en-US" altLang="ko-KR" sz="1000" kern="1200" spc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182563" marR="0" lvl="1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 진행과정에서 </a:t>
                      </a:r>
                      <a:br>
                        <a:rPr kumimoji="1" lang="en-US" altLang="ko-KR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kumimoji="1" lang="en-US" altLang="ko-KR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Task</a:t>
                      </a: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단위에서 정의되는 산출물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182563" marR="0" lvl="1" indent="-904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0000"/>
                        <a:buFontTx/>
                        <a:buChar char="•"/>
                        <a:tabLst/>
                      </a:pPr>
                      <a:r>
                        <a:rPr kumimoji="1" lang="ko-KR" altLang="en-US" sz="1000" kern="1200" spc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프로젝트 관리상 발생하는 산출물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산출물 작성 주체</a:t>
                      </a:r>
                    </a:p>
                  </a:txBody>
                  <a:tcPr marL="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팀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팀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11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산출물 관리 주체</a:t>
                      </a:r>
                    </a:p>
                  </a:txBody>
                  <a:tcPr marL="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사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팀 리더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PM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565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b="1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승인절차</a:t>
                      </a:r>
                    </a:p>
                  </a:txBody>
                  <a:tcPr marL="0" marR="18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주체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kern="120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 사</a:t>
                      </a:r>
                      <a:endParaRPr lang="ko-KR" altLang="en-US" sz="1000" kern="1200" dirty="0">
                        <a:ln>
                          <a:solidFill>
                            <a:schemeClr val="accent1">
                              <a:shade val="50000"/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시기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Stage</a:t>
                      </a: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별 </a:t>
                      </a:r>
                      <a:r>
                        <a:rPr lang="en-US" altLang="ko-KR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Check point</a:t>
                      </a:r>
                    </a:p>
                  </a:txBody>
                  <a:tcPr marL="5400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승인절차를 가지지 않음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000" kern="1200" dirty="0">
                          <a:ln>
                            <a:solidFill>
                              <a:schemeClr val="accent1">
                                <a:shade val="50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승인절차를 가지지 않음</a:t>
                      </a:r>
                    </a:p>
                  </a:txBody>
                  <a:tcPr marL="0" marR="18000" marT="18000" marB="18000" anchor="ctr" horzOverflow="overflow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4174256" y="1830244"/>
            <a:ext cx="10086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ko-KR" altLang="en-US" sz="12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산출물 검토</a:t>
            </a:r>
          </a:p>
        </p:txBody>
      </p:sp>
      <p:sp>
        <p:nvSpPr>
          <p:cNvPr id="86665" name="Rectangle 86664">
            <a:extLst>
              <a:ext uri="{FF2B5EF4-FFF2-40B4-BE49-F238E27FC236}">
                <a16:creationId xmlns:a16="http://schemas.microsoft.com/office/drawing/2014/main" id="{664A1A55-CC2D-4F97-0CCD-E5C18E4B3CF1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713" name="Rectangle 86712">
            <a:extLst>
              <a:ext uri="{FF2B5EF4-FFF2-40B4-BE49-F238E27FC236}">
                <a16:creationId xmlns:a16="http://schemas.microsoft.com/office/drawing/2014/main" id="{18F9D258-8D83-F77B-A4B3-6F0A428216E3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28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내용 개체 틀 10"/>
          <p:cNvSpPr txBox="1">
            <a:spLocks/>
          </p:cNvSpPr>
          <p:nvPr/>
        </p:nvSpPr>
        <p:spPr bwMode="auto">
          <a:xfrm>
            <a:off x="231775" y="976313"/>
            <a:ext cx="8516938" cy="58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어플리케이션과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 DB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각 분야의 수행 경험을 갖춘 최적의 인력을 투입하고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명확하고 유기적인 역할 분담을 통해 최상의 결과를 산출할 것입니다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</a:t>
            </a:r>
            <a:endParaRPr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+mn-ea"/>
            </a:endParaRPr>
          </a:p>
        </p:txBody>
      </p:sp>
      <p:grpSp>
        <p:nvGrpSpPr>
          <p:cNvPr id="145" name="그룹 65"/>
          <p:cNvGrpSpPr>
            <a:grpSpLocks/>
          </p:cNvGrpSpPr>
          <p:nvPr/>
        </p:nvGrpSpPr>
        <p:grpSpPr bwMode="auto">
          <a:xfrm>
            <a:off x="381000" y="1556791"/>
            <a:ext cx="8439150" cy="227012"/>
            <a:chOff x="381001" y="2050354"/>
            <a:chExt cx="8439470" cy="227385"/>
          </a:xfrm>
        </p:grpSpPr>
        <p:sp>
          <p:nvSpPr>
            <p:cNvPr id="146" name="AutoShape 29"/>
            <p:cNvSpPr>
              <a:spLocks noChangeArrowheads="1"/>
            </p:cNvSpPr>
            <p:nvPr/>
          </p:nvSpPr>
          <p:spPr bwMode="auto">
            <a:xfrm>
              <a:off x="381001" y="2050354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3.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수행조직 및 업무분장</a:t>
              </a:r>
            </a:p>
          </p:txBody>
        </p:sp>
        <p:grpSp>
          <p:nvGrpSpPr>
            <p:cNvPr id="147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4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4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5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9" name="Line 97"/>
          <p:cNvSpPr>
            <a:spLocks noChangeAspect="1" noChangeShapeType="1"/>
          </p:cNvSpPr>
          <p:nvPr/>
        </p:nvSpPr>
        <p:spPr bwMode="auto">
          <a:xfrm>
            <a:off x="4599301" y="2966026"/>
            <a:ext cx="2101744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0" name="Line 7"/>
          <p:cNvSpPr>
            <a:spLocks noChangeShapeType="1"/>
          </p:cNvSpPr>
          <p:nvPr/>
        </p:nvSpPr>
        <p:spPr bwMode="auto">
          <a:xfrm>
            <a:off x="3397647" y="4800140"/>
            <a:ext cx="0" cy="314793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5464860" y="4788261"/>
            <a:ext cx="0" cy="375376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2" name="Line 7"/>
          <p:cNvSpPr>
            <a:spLocks noChangeShapeType="1"/>
          </p:cNvSpPr>
          <p:nvPr/>
        </p:nvSpPr>
        <p:spPr bwMode="auto">
          <a:xfrm>
            <a:off x="2644888" y="2383956"/>
            <a:ext cx="0" cy="1126127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3" name="Line 97"/>
          <p:cNvSpPr>
            <a:spLocks noChangeAspect="1" noChangeShapeType="1"/>
          </p:cNvSpPr>
          <p:nvPr/>
        </p:nvSpPr>
        <p:spPr bwMode="auto">
          <a:xfrm>
            <a:off x="3687702" y="3710837"/>
            <a:ext cx="2101744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>
            <a:off x="4569376" y="2966026"/>
            <a:ext cx="0" cy="1822235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45" name="AutoShape 81"/>
          <p:cNvSpPr>
            <a:spLocks noChangeArrowheads="1"/>
          </p:cNvSpPr>
          <p:nvPr/>
        </p:nvSpPr>
        <p:spPr bwMode="auto">
          <a:xfrm>
            <a:off x="5151786" y="3588484"/>
            <a:ext cx="2760121" cy="942002"/>
          </a:xfrm>
          <a:prstGeom prst="roundRect">
            <a:avLst>
              <a:gd name="adj" fmla="val 3579"/>
            </a:avLst>
          </a:prstGeom>
          <a:solidFill>
            <a:schemeClr val="bg1"/>
          </a:solidFill>
          <a:ln w="12700" algn="ctr">
            <a:solidFill>
              <a:srgbClr val="00457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ko-KR" altLang="ko-KR" sz="1000" b="1" u="sng" dirty="0">
              <a:latin typeface="+mn-ea"/>
              <a:ea typeface="+mn-ea"/>
            </a:endParaRPr>
          </a:p>
        </p:txBody>
      </p:sp>
      <p:sp>
        <p:nvSpPr>
          <p:cNvPr id="46" name="AutoShape 82"/>
          <p:cNvSpPr>
            <a:spLocks noChangeArrowheads="1"/>
          </p:cNvSpPr>
          <p:nvPr/>
        </p:nvSpPr>
        <p:spPr bwMode="auto">
          <a:xfrm>
            <a:off x="5151786" y="3407924"/>
            <a:ext cx="2760121" cy="281531"/>
          </a:xfrm>
          <a:prstGeom prst="roundRect">
            <a:avLst>
              <a:gd name="adj" fmla="val 11269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>
              <a:defRPr/>
            </a:pPr>
            <a:endParaRPr lang="ko-KR" altLang="ko-KR" sz="1000" b="1" u="sng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Text Box 84"/>
          <p:cNvSpPr txBox="1">
            <a:spLocks noChangeArrowheads="1"/>
          </p:cNvSpPr>
          <p:nvPr/>
        </p:nvSpPr>
        <p:spPr bwMode="auto">
          <a:xfrm>
            <a:off x="6254075" y="3472340"/>
            <a:ext cx="557845" cy="15388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본사 조직</a:t>
            </a:r>
          </a:p>
        </p:txBody>
      </p:sp>
      <p:pic>
        <p:nvPicPr>
          <p:cNvPr id="48" name="Picture 85" descr="바4"/>
          <p:cNvPicPr>
            <a:picLocks noChangeAspect="1" noChangeArrowheads="1"/>
          </p:cNvPicPr>
          <p:nvPr/>
        </p:nvPicPr>
        <p:blipFill>
          <a:blip r:embed="rId3">
            <a:lum bright="12000" contras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" t="14255" r="5515" b="11879"/>
          <a:stretch>
            <a:fillRect/>
          </a:stretch>
        </p:blipFill>
        <p:spPr bwMode="auto">
          <a:xfrm>
            <a:off x="5246169" y="3732220"/>
            <a:ext cx="2541429" cy="23758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Text Box 86"/>
          <p:cNvSpPr txBox="1">
            <a:spLocks noChangeArrowheads="1"/>
          </p:cNvSpPr>
          <p:nvPr/>
        </p:nvSpPr>
        <p:spPr bwMode="auto">
          <a:xfrm>
            <a:off x="5432632" y="3765751"/>
            <a:ext cx="222375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00" b="1" dirty="0">
                <a:latin typeface="+mn-ea"/>
                <a:ea typeface="+mn-ea"/>
              </a:rPr>
              <a:t>품질 및 공정 검수팀</a:t>
            </a:r>
          </a:p>
        </p:txBody>
      </p:sp>
      <p:pic>
        <p:nvPicPr>
          <p:cNvPr id="50" name="Picture 87" descr="바4"/>
          <p:cNvPicPr>
            <a:picLocks noChangeAspect="1" noChangeArrowheads="1"/>
          </p:cNvPicPr>
          <p:nvPr/>
        </p:nvPicPr>
        <p:blipFill>
          <a:blip r:embed="rId3">
            <a:lum bright="12000" contras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" t="14255" r="5515" b="11879"/>
          <a:stretch>
            <a:fillRect/>
          </a:stretch>
        </p:blipFill>
        <p:spPr bwMode="auto">
          <a:xfrm>
            <a:off x="5246169" y="4000685"/>
            <a:ext cx="2548334" cy="220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Text Box 88"/>
          <p:cNvSpPr txBox="1">
            <a:spLocks noChangeArrowheads="1"/>
          </p:cNvSpPr>
          <p:nvPr/>
        </p:nvSpPr>
        <p:spPr bwMode="auto">
          <a:xfrm>
            <a:off x="5432632" y="4021148"/>
            <a:ext cx="222375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00" b="1" dirty="0">
                <a:latin typeface="+mn-ea"/>
                <a:ea typeface="+mn-ea"/>
              </a:rPr>
              <a:t>교육지원팀</a:t>
            </a:r>
          </a:p>
        </p:txBody>
      </p:sp>
      <p:pic>
        <p:nvPicPr>
          <p:cNvPr id="52" name="Picture 93" descr="바4"/>
          <p:cNvPicPr>
            <a:picLocks noChangeAspect="1" noChangeArrowheads="1"/>
          </p:cNvPicPr>
          <p:nvPr/>
        </p:nvPicPr>
        <p:blipFill>
          <a:blip r:embed="rId3">
            <a:lum bright="12000" contras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" t="14255" r="5515" b="11879"/>
          <a:stretch>
            <a:fillRect/>
          </a:stretch>
        </p:blipFill>
        <p:spPr bwMode="auto">
          <a:xfrm>
            <a:off x="5246169" y="4258459"/>
            <a:ext cx="2548334" cy="220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Text Box 94"/>
          <p:cNvSpPr txBox="1">
            <a:spLocks noChangeArrowheads="1"/>
          </p:cNvSpPr>
          <p:nvPr/>
        </p:nvSpPr>
        <p:spPr bwMode="auto">
          <a:xfrm>
            <a:off x="5432632" y="4278922"/>
            <a:ext cx="222375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00" b="1" dirty="0">
                <a:latin typeface="+mn-ea"/>
                <a:ea typeface="+mn-ea"/>
              </a:rPr>
              <a:t>기술지원팀</a:t>
            </a:r>
          </a:p>
        </p:txBody>
      </p:sp>
      <p:sp>
        <p:nvSpPr>
          <p:cNvPr id="54" name="AutoShape 53"/>
          <p:cNvSpPr>
            <a:spLocks noChangeArrowheads="1"/>
          </p:cNvSpPr>
          <p:nvPr/>
        </p:nvSpPr>
        <p:spPr bwMode="auto">
          <a:xfrm>
            <a:off x="1240657" y="3530277"/>
            <a:ext cx="2762422" cy="618895"/>
          </a:xfrm>
          <a:prstGeom prst="roundRect">
            <a:avLst>
              <a:gd name="adj" fmla="val 3579"/>
            </a:avLst>
          </a:prstGeom>
          <a:solidFill>
            <a:schemeClr val="bg1"/>
          </a:solidFill>
          <a:ln w="12700" algn="ctr">
            <a:solidFill>
              <a:srgbClr val="00457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ko-KR" altLang="ko-KR" sz="1000" b="1" u="sng" dirty="0">
              <a:latin typeface="+mn-ea"/>
              <a:ea typeface="+mn-ea"/>
            </a:endParaRPr>
          </a:p>
        </p:txBody>
      </p:sp>
      <p:sp>
        <p:nvSpPr>
          <p:cNvPr id="68" name="AutoShape 54"/>
          <p:cNvSpPr>
            <a:spLocks noChangeArrowheads="1"/>
          </p:cNvSpPr>
          <p:nvPr/>
        </p:nvSpPr>
        <p:spPr bwMode="auto">
          <a:xfrm>
            <a:off x="1240657" y="3333086"/>
            <a:ext cx="2762422" cy="268465"/>
          </a:xfrm>
          <a:prstGeom prst="roundRect">
            <a:avLst>
              <a:gd name="adj" fmla="val 11269"/>
            </a:avLst>
          </a:prstGeom>
          <a:solidFill>
            <a:schemeClr val="accent1">
              <a:lumMod val="75000"/>
            </a:schemeClr>
          </a:solidFill>
          <a:ln>
            <a:solidFill>
              <a:srgbClr val="FFC000"/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>
              <a:defRPr/>
            </a:pPr>
            <a:endParaRPr lang="ko-KR" altLang="ko-KR" sz="1000" b="1" u="sng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9" name="Text Box 56"/>
          <p:cNvSpPr txBox="1">
            <a:spLocks noChangeArrowheads="1"/>
          </p:cNvSpPr>
          <p:nvPr/>
        </p:nvSpPr>
        <p:spPr bwMode="auto">
          <a:xfrm>
            <a:off x="2150585" y="3402668"/>
            <a:ext cx="942566" cy="15388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프로젝트 관리자</a:t>
            </a:r>
          </a:p>
        </p:txBody>
      </p:sp>
      <p:sp>
        <p:nvSpPr>
          <p:cNvPr id="70" name="Rectangle 66"/>
          <p:cNvSpPr>
            <a:spLocks noChangeArrowheads="1"/>
          </p:cNvSpPr>
          <p:nvPr/>
        </p:nvSpPr>
        <p:spPr bwMode="auto">
          <a:xfrm>
            <a:off x="1339643" y="3789239"/>
            <a:ext cx="2532221" cy="253023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9DCEE7"/>
            </a:solidFill>
            <a:miter lim="800000"/>
            <a:headEnd/>
            <a:tailEnd/>
          </a:ln>
        </p:spPr>
        <p:txBody>
          <a:bodyPr lIns="91418" tIns="45709" rIns="91418" bIns="45709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ko-KR" sz="1000" b="1" dirty="0">
                <a:latin typeface="+mn-ea"/>
                <a:ea typeface="+mn-ea"/>
              </a:rPr>
              <a:t>PM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71" name="Rectangle 67"/>
          <p:cNvSpPr>
            <a:spLocks noChangeArrowheads="1"/>
          </p:cNvSpPr>
          <p:nvPr/>
        </p:nvSpPr>
        <p:spPr bwMode="auto">
          <a:xfrm>
            <a:off x="1339643" y="3651443"/>
            <a:ext cx="2532221" cy="142548"/>
          </a:xfrm>
          <a:prstGeom prst="rect">
            <a:avLst/>
          </a:prstGeom>
          <a:solidFill>
            <a:srgbClr val="CCECFF"/>
          </a:solidFill>
          <a:ln w="9525" algn="ctr">
            <a:solidFill>
              <a:srgbClr val="9DCEE7"/>
            </a:solidFill>
            <a:miter lim="800000"/>
            <a:headEnd/>
            <a:tailEnd/>
          </a:ln>
        </p:spPr>
        <p:txBody>
          <a:bodyPr lIns="91418" tIns="45709" rIns="91418" bIns="45709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ko-KR" altLang="en-US" sz="1000" b="1" dirty="0">
                <a:latin typeface="+mn-ea"/>
                <a:ea typeface="+mn-ea"/>
              </a:rPr>
              <a:t>기술 자격</a:t>
            </a:r>
          </a:p>
        </p:txBody>
      </p:sp>
      <p:sp>
        <p:nvSpPr>
          <p:cNvPr id="72" name="Freeform 6"/>
          <p:cNvSpPr>
            <a:spLocks/>
          </p:cNvSpPr>
          <p:nvPr/>
        </p:nvSpPr>
        <p:spPr bwMode="auto">
          <a:xfrm>
            <a:off x="1599771" y="4788261"/>
            <a:ext cx="6266095" cy="138984"/>
          </a:xfrm>
          <a:custGeom>
            <a:avLst/>
            <a:gdLst>
              <a:gd name="T0" fmla="*/ 0 w 4080"/>
              <a:gd name="T1" fmla="*/ 2147483647 h 96"/>
              <a:gd name="T2" fmla="*/ 0 w 4080"/>
              <a:gd name="T3" fmla="*/ 0 h 96"/>
              <a:gd name="T4" fmla="*/ 2147483647 w 4080"/>
              <a:gd name="T5" fmla="*/ 0 h 96"/>
              <a:gd name="T6" fmla="*/ 2147483647 w 4080"/>
              <a:gd name="T7" fmla="*/ 2147483647 h 9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4080" h="96">
                <a:moveTo>
                  <a:pt x="0" y="96"/>
                </a:moveTo>
                <a:lnTo>
                  <a:pt x="0" y="0"/>
                </a:lnTo>
                <a:lnTo>
                  <a:pt x="4080" y="0"/>
                </a:lnTo>
                <a:lnTo>
                  <a:pt x="4080" y="96"/>
                </a:lnTo>
              </a:path>
            </a:pathLst>
          </a:custGeom>
          <a:noFill/>
          <a:ln w="19050" cap="flat" cmpd="sng">
            <a:solidFill>
              <a:srgbClr val="336699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73" name="AutoShape 46"/>
          <p:cNvSpPr>
            <a:spLocks noChangeArrowheads="1"/>
          </p:cNvSpPr>
          <p:nvPr/>
        </p:nvSpPr>
        <p:spPr bwMode="auto">
          <a:xfrm>
            <a:off x="683568" y="5114933"/>
            <a:ext cx="1770252" cy="1310251"/>
          </a:xfrm>
          <a:prstGeom prst="roundRect">
            <a:avLst>
              <a:gd name="adj" fmla="val 3579"/>
            </a:avLst>
          </a:prstGeom>
          <a:solidFill>
            <a:schemeClr val="bg1"/>
          </a:solidFill>
          <a:ln w="12700" algn="ctr">
            <a:solidFill>
              <a:srgbClr val="00457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ko-KR" altLang="ko-KR" sz="1000" b="1" u="sng" dirty="0">
              <a:latin typeface="+mn-ea"/>
              <a:ea typeface="+mn-ea"/>
            </a:endParaRPr>
          </a:p>
        </p:txBody>
      </p:sp>
      <p:sp>
        <p:nvSpPr>
          <p:cNvPr id="74" name="AutoShape 47"/>
          <p:cNvSpPr>
            <a:spLocks noChangeArrowheads="1"/>
          </p:cNvSpPr>
          <p:nvPr/>
        </p:nvSpPr>
        <p:spPr bwMode="auto">
          <a:xfrm>
            <a:off x="683568" y="4927245"/>
            <a:ext cx="1770252" cy="325484"/>
          </a:xfrm>
          <a:prstGeom prst="roundRect">
            <a:avLst>
              <a:gd name="adj" fmla="val 11269"/>
            </a:avLst>
          </a:prstGeom>
          <a:solidFill>
            <a:schemeClr val="accent1">
              <a:lumMod val="75000"/>
            </a:schemeClr>
          </a:solidFill>
          <a:ln>
            <a:solidFill>
              <a:srgbClr val="FFC000"/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>
              <a:defRPr/>
            </a:pPr>
            <a:endParaRPr lang="ko-KR" altLang="ko-KR" sz="1000" b="1" u="sng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5" name="Text Box 49"/>
          <p:cNvSpPr txBox="1">
            <a:spLocks noChangeArrowheads="1"/>
          </p:cNvSpPr>
          <p:nvPr/>
        </p:nvSpPr>
        <p:spPr bwMode="auto">
          <a:xfrm>
            <a:off x="810178" y="5024922"/>
            <a:ext cx="1526239" cy="15388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IIS</a:t>
            </a:r>
            <a:r>
              <a:rPr lang="ko-KR" altLang="en-US" sz="1000" b="1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이관</a:t>
            </a:r>
          </a:p>
        </p:txBody>
      </p:sp>
      <p:sp>
        <p:nvSpPr>
          <p:cNvPr id="76" name="AutoShape 53"/>
          <p:cNvSpPr>
            <a:spLocks noChangeArrowheads="1"/>
          </p:cNvSpPr>
          <p:nvPr/>
        </p:nvSpPr>
        <p:spPr bwMode="auto">
          <a:xfrm>
            <a:off x="4629228" y="5114933"/>
            <a:ext cx="1770252" cy="1310251"/>
          </a:xfrm>
          <a:prstGeom prst="roundRect">
            <a:avLst>
              <a:gd name="adj" fmla="val 3579"/>
            </a:avLst>
          </a:prstGeom>
          <a:solidFill>
            <a:schemeClr val="bg1"/>
          </a:solidFill>
          <a:ln w="12700" algn="ctr">
            <a:solidFill>
              <a:srgbClr val="00457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ko-KR" altLang="ko-KR" sz="1000" b="1" u="sng" dirty="0">
              <a:latin typeface="+mn-ea"/>
              <a:ea typeface="+mn-ea"/>
            </a:endParaRPr>
          </a:p>
        </p:txBody>
      </p:sp>
      <p:sp>
        <p:nvSpPr>
          <p:cNvPr id="77" name="AutoShape 54"/>
          <p:cNvSpPr>
            <a:spLocks noChangeArrowheads="1"/>
          </p:cNvSpPr>
          <p:nvPr/>
        </p:nvSpPr>
        <p:spPr bwMode="auto">
          <a:xfrm>
            <a:off x="4629228" y="4927245"/>
            <a:ext cx="1770252" cy="325484"/>
          </a:xfrm>
          <a:prstGeom prst="roundRect">
            <a:avLst>
              <a:gd name="adj" fmla="val 11269"/>
            </a:avLst>
          </a:prstGeom>
          <a:solidFill>
            <a:schemeClr val="accent1">
              <a:lumMod val="75000"/>
            </a:schemeClr>
          </a:solidFill>
          <a:ln>
            <a:solidFill>
              <a:srgbClr val="FFC000"/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>
              <a:defRPr/>
            </a:pPr>
            <a:endParaRPr lang="ko-KR" altLang="ko-KR" sz="1000" b="1" u="sng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8" name="Text Box 56"/>
          <p:cNvSpPr txBox="1">
            <a:spLocks noChangeArrowheads="1"/>
          </p:cNvSpPr>
          <p:nvPr/>
        </p:nvSpPr>
        <p:spPr bwMode="auto">
          <a:xfrm>
            <a:off x="4916980" y="5010667"/>
            <a:ext cx="1256902" cy="15388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OS </a:t>
            </a:r>
            <a:r>
              <a:rPr lang="ko-KR" altLang="en-US" sz="1000" b="1">
                <a:solidFill>
                  <a:schemeClr val="bg1"/>
                </a:solidFill>
                <a:latin typeface="+mn-ea"/>
                <a:ea typeface="+mn-ea"/>
              </a:rPr>
              <a:t>이관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79" name="AutoShape 60"/>
          <p:cNvSpPr>
            <a:spLocks noChangeArrowheads="1"/>
          </p:cNvSpPr>
          <p:nvPr/>
        </p:nvSpPr>
        <p:spPr bwMode="auto">
          <a:xfrm>
            <a:off x="2644888" y="5114933"/>
            <a:ext cx="1770252" cy="1310251"/>
          </a:xfrm>
          <a:prstGeom prst="roundRect">
            <a:avLst>
              <a:gd name="adj" fmla="val 3579"/>
            </a:avLst>
          </a:prstGeom>
          <a:solidFill>
            <a:schemeClr val="bg1"/>
          </a:solidFill>
          <a:ln w="12700" algn="ctr">
            <a:solidFill>
              <a:srgbClr val="00457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ko-KR" altLang="ko-KR" sz="1000" b="1" u="sng" dirty="0">
              <a:latin typeface="+mn-ea"/>
              <a:ea typeface="+mn-ea"/>
            </a:endParaRPr>
          </a:p>
        </p:txBody>
      </p:sp>
      <p:sp>
        <p:nvSpPr>
          <p:cNvPr id="80" name="AutoShape 61"/>
          <p:cNvSpPr>
            <a:spLocks noChangeArrowheads="1"/>
          </p:cNvSpPr>
          <p:nvPr/>
        </p:nvSpPr>
        <p:spPr bwMode="auto">
          <a:xfrm>
            <a:off x="2644888" y="4927245"/>
            <a:ext cx="1770252" cy="325484"/>
          </a:xfrm>
          <a:prstGeom prst="roundRect">
            <a:avLst>
              <a:gd name="adj" fmla="val 11269"/>
            </a:avLst>
          </a:prstGeom>
          <a:solidFill>
            <a:schemeClr val="accent1">
              <a:lumMod val="75000"/>
            </a:schemeClr>
          </a:solidFill>
          <a:ln>
            <a:solidFill>
              <a:srgbClr val="FFC000"/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>
              <a:defRPr/>
            </a:pPr>
            <a:endParaRPr lang="ko-KR" altLang="ko-KR" sz="1000" b="1" u="sng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6" name="Text Box 63"/>
          <p:cNvSpPr txBox="1">
            <a:spLocks noChangeArrowheads="1"/>
          </p:cNvSpPr>
          <p:nvPr/>
        </p:nvSpPr>
        <p:spPr bwMode="auto">
          <a:xfrm>
            <a:off x="2803727" y="5017795"/>
            <a:ext cx="1535447" cy="15388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DB</a:t>
            </a:r>
            <a:r>
              <a:rPr lang="ko-KR" altLang="en-US" sz="1000" b="1">
                <a:solidFill>
                  <a:schemeClr val="bg1"/>
                </a:solidFill>
                <a:latin typeface="+mn-ea"/>
                <a:ea typeface="+mn-ea"/>
              </a:rPr>
              <a:t>이관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97" name="Rectangle 98"/>
          <p:cNvSpPr>
            <a:spLocks noChangeArrowheads="1"/>
          </p:cNvSpPr>
          <p:nvPr/>
        </p:nvSpPr>
        <p:spPr bwMode="auto">
          <a:xfrm>
            <a:off x="2787613" y="5306184"/>
            <a:ext cx="1447969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1450" indent="-171450"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sz="1000" b="1" dirty="0">
                <a:latin typeface="+mn-ea"/>
                <a:ea typeface="+mn-ea"/>
              </a:rPr>
              <a:t>환경 분석구축</a:t>
            </a:r>
            <a:endParaRPr lang="en-US" altLang="ko-KR" sz="1000" b="1" dirty="0">
              <a:latin typeface="+mn-ea"/>
              <a:ea typeface="+mn-ea"/>
            </a:endParaRPr>
          </a:p>
          <a:p>
            <a:pPr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sz="1000" b="1" dirty="0">
                <a:latin typeface="+mn-ea"/>
                <a:ea typeface="+mn-ea"/>
              </a:rPr>
              <a:t>데이터베이스 이관</a:t>
            </a:r>
            <a:endParaRPr lang="en-US" altLang="ko-KR" sz="1000" b="1" dirty="0">
              <a:latin typeface="+mn-ea"/>
              <a:ea typeface="+mn-ea"/>
            </a:endParaRPr>
          </a:p>
          <a:p>
            <a:pPr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sz="1000" b="1" dirty="0">
                <a:latin typeface="+mn-ea"/>
                <a:ea typeface="+mn-ea"/>
              </a:rPr>
              <a:t>안정화</a:t>
            </a:r>
            <a:endParaRPr lang="ko-KR" altLang="ko-KR" sz="1000" dirty="0">
              <a:latin typeface="+mn-ea"/>
              <a:ea typeface="+mn-ea"/>
            </a:endParaRPr>
          </a:p>
        </p:txBody>
      </p:sp>
      <p:sp>
        <p:nvSpPr>
          <p:cNvPr id="98" name="Rectangle 99"/>
          <p:cNvSpPr>
            <a:spLocks noChangeArrowheads="1"/>
          </p:cNvSpPr>
          <p:nvPr/>
        </p:nvSpPr>
        <p:spPr bwMode="auto">
          <a:xfrm>
            <a:off x="835501" y="5339446"/>
            <a:ext cx="146868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71450" indent="-171450"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sz="1000" b="1" dirty="0">
                <a:latin typeface="+mn-ea"/>
                <a:ea typeface="+mn-ea"/>
              </a:rPr>
              <a:t>환경 분석</a:t>
            </a:r>
            <a:endParaRPr lang="en-US" altLang="ko-KR" sz="1000" b="1" dirty="0">
              <a:latin typeface="+mn-ea"/>
              <a:ea typeface="+mn-ea"/>
            </a:endParaRPr>
          </a:p>
          <a:p>
            <a:pPr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sz="1000" b="1" dirty="0">
                <a:latin typeface="+mn-ea"/>
                <a:ea typeface="+mn-ea"/>
              </a:rPr>
              <a:t>컴포넌트 </a:t>
            </a:r>
            <a:r>
              <a:rPr lang="en-US" altLang="ko-KR" sz="1000" b="1" dirty="0">
                <a:latin typeface="+mn-ea"/>
                <a:ea typeface="+mn-ea"/>
              </a:rPr>
              <a:t>Test</a:t>
            </a:r>
          </a:p>
          <a:p>
            <a:pPr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000" b="1" dirty="0">
                <a:latin typeface="+mn-ea"/>
                <a:ea typeface="+mn-ea"/>
              </a:rPr>
              <a:t>OS </a:t>
            </a:r>
            <a:r>
              <a:rPr lang="ko-KR" altLang="en-US" sz="1000" b="1">
                <a:latin typeface="+mn-ea"/>
                <a:ea typeface="+mn-ea"/>
              </a:rPr>
              <a:t>구성</a:t>
            </a:r>
            <a:endParaRPr lang="en-US" altLang="ko-KR" sz="1000" b="1" dirty="0">
              <a:latin typeface="+mn-ea"/>
              <a:ea typeface="+mn-ea"/>
            </a:endParaRPr>
          </a:p>
          <a:p>
            <a:pPr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sz="1000" b="1" dirty="0">
                <a:latin typeface="+mn-ea"/>
                <a:ea typeface="+mn-ea"/>
              </a:rPr>
              <a:t>테스트 및 안정화</a:t>
            </a:r>
            <a:endParaRPr lang="en-US" altLang="ko-KR" sz="1000" b="1" dirty="0">
              <a:latin typeface="+mn-ea"/>
              <a:ea typeface="+mn-ea"/>
            </a:endParaRPr>
          </a:p>
        </p:txBody>
      </p:sp>
      <p:sp>
        <p:nvSpPr>
          <p:cNvPr id="99" name="Rectangle 100"/>
          <p:cNvSpPr>
            <a:spLocks noChangeArrowheads="1"/>
          </p:cNvSpPr>
          <p:nvPr/>
        </p:nvSpPr>
        <p:spPr bwMode="auto">
          <a:xfrm>
            <a:off x="4781161" y="5335881"/>
            <a:ext cx="1468688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171450" indent="-171450"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ko-KR" altLang="en-US" sz="1000" b="1" dirty="0">
                <a:latin typeface="+mn-ea"/>
                <a:ea typeface="+mn-ea"/>
              </a:rPr>
              <a:t>서버 </a:t>
            </a:r>
            <a:r>
              <a:rPr lang="en-US" altLang="ko-KR" sz="1000" b="1" dirty="0">
                <a:latin typeface="+mn-ea"/>
                <a:ea typeface="+mn-ea"/>
              </a:rPr>
              <a:t>Role </a:t>
            </a:r>
            <a:r>
              <a:rPr lang="ko-KR" altLang="en-US" sz="1000" b="1">
                <a:latin typeface="+mn-ea"/>
                <a:ea typeface="+mn-ea"/>
              </a:rPr>
              <a:t>분석</a:t>
            </a:r>
            <a:endParaRPr lang="en-US" altLang="ko-KR" sz="1000" b="1" dirty="0">
              <a:latin typeface="+mn-ea"/>
              <a:ea typeface="+mn-ea"/>
            </a:endParaRPr>
          </a:p>
          <a:p>
            <a:pPr marL="171450" indent="-171450" eaLnBrk="1" fontAlgn="ctr" hangingPunct="1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000" b="1" dirty="0">
                <a:latin typeface="+mn-ea"/>
                <a:ea typeface="+mn-ea"/>
              </a:rPr>
              <a:t>OS </a:t>
            </a:r>
            <a:r>
              <a:rPr lang="ko-KR" altLang="en-US" sz="1000" b="1">
                <a:latin typeface="+mn-ea"/>
                <a:ea typeface="+mn-ea"/>
              </a:rPr>
              <a:t>설치 및 </a:t>
            </a:r>
            <a:br>
              <a:rPr lang="en-US" altLang="ko-KR" sz="1000" b="1" dirty="0">
                <a:latin typeface="+mn-ea"/>
                <a:ea typeface="+mn-ea"/>
              </a:rPr>
            </a:br>
            <a:r>
              <a:rPr lang="ko-KR" altLang="en-US" sz="1000" b="1">
                <a:latin typeface="+mn-ea"/>
                <a:ea typeface="+mn-ea"/>
              </a:rPr>
              <a:t>구성</a:t>
            </a:r>
            <a:r>
              <a:rPr lang="en-US" altLang="ko-KR" sz="1000" b="1" dirty="0">
                <a:latin typeface="+mn-ea"/>
                <a:ea typeface="+mn-ea"/>
              </a:rPr>
              <a:t> Migration</a:t>
            </a:r>
          </a:p>
          <a:p>
            <a:pPr eaLnBrk="1" fontAlgn="ctr" hangingPunct="1">
              <a:lnSpc>
                <a:spcPct val="110000"/>
              </a:lnSpc>
              <a:buFont typeface="Wingdings" pitchFamily="2" charset="2"/>
              <a:buChar char=""/>
              <a:defRPr/>
            </a:pPr>
            <a:endParaRPr lang="en-US" altLang="ko-KR" sz="1000" b="1" dirty="0">
              <a:latin typeface="+mn-ea"/>
              <a:ea typeface="+mn-ea"/>
            </a:endParaRPr>
          </a:p>
          <a:p>
            <a:pPr eaLnBrk="1" fontAlgn="ctr" hangingPunct="1">
              <a:lnSpc>
                <a:spcPct val="110000"/>
              </a:lnSpc>
              <a:buFont typeface="Wingdings" pitchFamily="2" charset="2"/>
              <a:buChar char=""/>
              <a:defRPr/>
            </a:pPr>
            <a:endParaRPr lang="en-US" altLang="ko-KR" sz="1000" b="1" dirty="0">
              <a:latin typeface="+mn-ea"/>
              <a:ea typeface="+mn-ea"/>
            </a:endParaRPr>
          </a:p>
        </p:txBody>
      </p:sp>
      <p:sp>
        <p:nvSpPr>
          <p:cNvPr id="101" name="AutoShape 53"/>
          <p:cNvSpPr>
            <a:spLocks noChangeArrowheads="1"/>
          </p:cNvSpPr>
          <p:nvPr/>
        </p:nvSpPr>
        <p:spPr bwMode="auto">
          <a:xfrm>
            <a:off x="6615870" y="5114933"/>
            <a:ext cx="1772554" cy="1310251"/>
          </a:xfrm>
          <a:prstGeom prst="roundRect">
            <a:avLst>
              <a:gd name="adj" fmla="val 3579"/>
            </a:avLst>
          </a:prstGeom>
          <a:solidFill>
            <a:schemeClr val="bg1"/>
          </a:solidFill>
          <a:ln w="12700" algn="ctr">
            <a:solidFill>
              <a:srgbClr val="00457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ko-KR" altLang="ko-KR" sz="1000" b="1" u="sng" dirty="0">
              <a:latin typeface="+mn-ea"/>
              <a:ea typeface="+mn-ea"/>
            </a:endParaRPr>
          </a:p>
        </p:txBody>
      </p:sp>
      <p:sp>
        <p:nvSpPr>
          <p:cNvPr id="102" name="AutoShape 54"/>
          <p:cNvSpPr>
            <a:spLocks noChangeArrowheads="1"/>
          </p:cNvSpPr>
          <p:nvPr/>
        </p:nvSpPr>
        <p:spPr bwMode="auto">
          <a:xfrm>
            <a:off x="6615870" y="4927245"/>
            <a:ext cx="1772554" cy="325484"/>
          </a:xfrm>
          <a:prstGeom prst="roundRect">
            <a:avLst>
              <a:gd name="adj" fmla="val 11269"/>
            </a:avLst>
          </a:prstGeom>
          <a:solidFill>
            <a:schemeClr val="accent1">
              <a:lumMod val="75000"/>
            </a:schemeClr>
          </a:solidFill>
          <a:ln>
            <a:solidFill>
              <a:srgbClr val="FFC000"/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latinLnBrk="1" hangingPunct="1">
              <a:defRPr/>
            </a:pPr>
            <a:endParaRPr lang="ko-KR" altLang="ko-KR" sz="1000" b="1" u="sng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Text Box 56"/>
          <p:cNvSpPr txBox="1">
            <a:spLocks noChangeArrowheads="1"/>
          </p:cNvSpPr>
          <p:nvPr/>
        </p:nvSpPr>
        <p:spPr bwMode="auto">
          <a:xfrm>
            <a:off x="6905924" y="4933723"/>
            <a:ext cx="1256902" cy="307777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Active Directory </a:t>
            </a:r>
            <a:r>
              <a:rPr lang="ko-KR" altLang="en-US" sz="1000" b="1">
                <a:solidFill>
                  <a:schemeClr val="bg1"/>
                </a:solidFill>
                <a:latin typeface="+mn-ea"/>
                <a:ea typeface="+mn-ea"/>
              </a:rPr>
              <a:t>이관</a:t>
            </a:r>
            <a:endParaRPr lang="ko-KR" altLang="en-US" sz="10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4" name="Rectangle 100"/>
          <p:cNvSpPr>
            <a:spLocks noChangeArrowheads="1"/>
          </p:cNvSpPr>
          <p:nvPr/>
        </p:nvSpPr>
        <p:spPr bwMode="auto">
          <a:xfrm>
            <a:off x="6770106" y="5335881"/>
            <a:ext cx="1468688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tabLst>
                <a:tab pos="457200" algn="l"/>
              </a:tabLst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tabLst>
                <a:tab pos="457200" algn="l"/>
              </a:tabLst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fontAlgn="ctr" hangingPunct="1">
              <a:lnSpc>
                <a:spcPct val="110000"/>
              </a:lnSpc>
              <a:buFont typeface="Wingdings" pitchFamily="2" charset="2"/>
              <a:buChar char=""/>
              <a:defRPr/>
            </a:pP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>
                <a:latin typeface="+mn-ea"/>
                <a:ea typeface="+mn-ea"/>
              </a:rPr>
              <a:t>환경 분석</a:t>
            </a:r>
            <a:endParaRPr lang="en-US" altLang="ko-KR" sz="1000" b="1" dirty="0">
              <a:latin typeface="+mn-ea"/>
              <a:ea typeface="+mn-ea"/>
            </a:endParaRPr>
          </a:p>
          <a:p>
            <a:pPr eaLnBrk="1" fontAlgn="ctr" hangingPunct="1">
              <a:lnSpc>
                <a:spcPct val="110000"/>
              </a:lnSpc>
              <a:buFont typeface="Wingdings" pitchFamily="2" charset="2"/>
              <a:buChar char=""/>
              <a:defRPr/>
            </a:pPr>
            <a:r>
              <a:rPr lang="ko-KR" altLang="en-US" sz="1000" b="1" dirty="0">
                <a:latin typeface="+mn-ea"/>
                <a:ea typeface="+mn-ea"/>
              </a:rPr>
              <a:t> </a:t>
            </a:r>
            <a:r>
              <a:rPr lang="en-US" altLang="ko-KR" sz="1000" b="1" dirty="0">
                <a:latin typeface="+mn-ea"/>
                <a:ea typeface="+mn-ea"/>
              </a:rPr>
              <a:t>AD </a:t>
            </a:r>
            <a:r>
              <a:rPr lang="ko-KR" altLang="en-US" sz="1000" b="1">
                <a:latin typeface="+mn-ea"/>
                <a:ea typeface="+mn-ea"/>
              </a:rPr>
              <a:t>아키텍처 설계 </a:t>
            </a:r>
            <a:br>
              <a:rPr lang="en-US" altLang="ko-KR" sz="1000" b="1" dirty="0">
                <a:latin typeface="+mn-ea"/>
                <a:ea typeface="+mn-ea"/>
              </a:rPr>
            </a:br>
            <a:r>
              <a:rPr lang="en-US" altLang="ko-KR" sz="1000" b="1" dirty="0">
                <a:latin typeface="+mn-ea"/>
                <a:ea typeface="+mn-ea"/>
              </a:rPr>
              <a:t>  </a:t>
            </a:r>
            <a:r>
              <a:rPr lang="ko-KR" altLang="en-US" sz="1000" b="1">
                <a:latin typeface="+mn-ea"/>
                <a:ea typeface="+mn-ea"/>
              </a:rPr>
              <a:t>정책 설계 </a:t>
            </a:r>
            <a:endParaRPr lang="en-US" altLang="ko-KR" sz="1000" b="1" dirty="0">
              <a:latin typeface="+mn-ea"/>
              <a:ea typeface="+mn-ea"/>
            </a:endParaRPr>
          </a:p>
          <a:p>
            <a:pPr eaLnBrk="1" fontAlgn="ctr" hangingPunct="1">
              <a:lnSpc>
                <a:spcPct val="110000"/>
              </a:lnSpc>
              <a:buFont typeface="Wingdings" pitchFamily="2" charset="2"/>
              <a:buChar char=""/>
              <a:defRPr/>
            </a:pPr>
            <a:r>
              <a:rPr lang="en-US" altLang="ko-KR" sz="1000" b="1" dirty="0">
                <a:latin typeface="+mn-ea"/>
                <a:ea typeface="+mn-ea"/>
              </a:rPr>
              <a:t>AD Migration</a:t>
            </a:r>
            <a:r>
              <a:rPr lang="ko-KR" altLang="en-US" sz="1000" b="1">
                <a:latin typeface="+mn-ea"/>
                <a:ea typeface="+mn-ea"/>
              </a:rPr>
              <a:t> </a:t>
            </a:r>
            <a:endParaRPr lang="en-US" altLang="ko-KR" sz="1000" b="1" dirty="0">
              <a:latin typeface="+mn-ea"/>
              <a:ea typeface="+mn-ea"/>
            </a:endParaRPr>
          </a:p>
        </p:txBody>
      </p:sp>
      <p:sp>
        <p:nvSpPr>
          <p:cNvPr id="105" name="AutoShape 81"/>
          <p:cNvSpPr>
            <a:spLocks noChangeArrowheads="1"/>
          </p:cNvSpPr>
          <p:nvPr/>
        </p:nvSpPr>
        <p:spPr bwMode="auto">
          <a:xfrm>
            <a:off x="5151786" y="2780714"/>
            <a:ext cx="2760121" cy="438334"/>
          </a:xfrm>
          <a:prstGeom prst="roundRect">
            <a:avLst>
              <a:gd name="adj" fmla="val 3579"/>
            </a:avLst>
          </a:prstGeom>
          <a:solidFill>
            <a:schemeClr val="bg1"/>
          </a:solidFill>
          <a:ln w="12700" algn="ctr">
            <a:solidFill>
              <a:srgbClr val="00457E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ko-KR" altLang="ko-KR" sz="1000" b="1" u="sng" dirty="0">
              <a:latin typeface="+mn-ea"/>
              <a:ea typeface="+mn-ea"/>
            </a:endParaRPr>
          </a:p>
        </p:txBody>
      </p:sp>
      <p:sp>
        <p:nvSpPr>
          <p:cNvPr id="106" name="AutoShape 82"/>
          <p:cNvSpPr>
            <a:spLocks noChangeArrowheads="1"/>
          </p:cNvSpPr>
          <p:nvPr/>
        </p:nvSpPr>
        <p:spPr bwMode="auto">
          <a:xfrm>
            <a:off x="5151786" y="2600154"/>
            <a:ext cx="2760121" cy="281531"/>
          </a:xfrm>
          <a:prstGeom prst="roundRect">
            <a:avLst>
              <a:gd name="adj" fmla="val 11269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>
              <a:defRPr/>
            </a:pPr>
            <a:endParaRPr lang="ko-KR" altLang="ko-KR" sz="1000" b="1" u="sng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7" name="Text Box 84"/>
          <p:cNvSpPr txBox="1">
            <a:spLocks noChangeArrowheads="1"/>
          </p:cNvSpPr>
          <p:nvPr/>
        </p:nvSpPr>
        <p:spPr bwMode="auto">
          <a:xfrm>
            <a:off x="6083004" y="2663975"/>
            <a:ext cx="897682" cy="153888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산돌고딕B" pitchFamily="18" charset="-127"/>
                <a:ea typeface="산돌고딕B" pitchFamily="18" charset="-127"/>
                <a:cs typeface="+mn-cs"/>
              </a:defRPr>
            </a:lvl9pPr>
          </a:lstStyle>
          <a:p>
            <a:pPr algn="ctr" latinLnBrk="0"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마이크로소프트</a:t>
            </a:r>
          </a:p>
        </p:txBody>
      </p:sp>
      <p:pic>
        <p:nvPicPr>
          <p:cNvPr id="108" name="Picture 85" descr="바4"/>
          <p:cNvPicPr>
            <a:picLocks noChangeAspect="1" noChangeArrowheads="1"/>
          </p:cNvPicPr>
          <p:nvPr/>
        </p:nvPicPr>
        <p:blipFill>
          <a:blip r:embed="rId3">
            <a:lum bright="12000" contrast="18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" t="14255" r="5515" b="11879"/>
          <a:stretch>
            <a:fillRect/>
          </a:stretch>
        </p:blipFill>
        <p:spPr bwMode="auto">
          <a:xfrm>
            <a:off x="5246169" y="2923262"/>
            <a:ext cx="2541429" cy="23758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" name="Text Box 86"/>
          <p:cNvSpPr txBox="1">
            <a:spLocks noChangeArrowheads="1"/>
          </p:cNvSpPr>
          <p:nvPr/>
        </p:nvSpPr>
        <p:spPr bwMode="auto">
          <a:xfrm>
            <a:off x="5432632" y="2977348"/>
            <a:ext cx="2223750" cy="115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ko-KR" sz="1000" b="1" dirty="0">
                <a:latin typeface="+mn-ea"/>
                <a:ea typeface="+mn-ea"/>
              </a:rPr>
              <a:t>MS </a:t>
            </a:r>
            <a:r>
              <a:rPr lang="ko-KR" altLang="en-US" sz="1000" b="1">
                <a:latin typeface="+mn-ea"/>
                <a:ea typeface="+mn-ea"/>
              </a:rPr>
              <a:t>프리미어</a:t>
            </a:r>
            <a:endParaRPr lang="ko-KR" altLang="en-US" sz="1000" b="1" dirty="0">
              <a:latin typeface="+mn-ea"/>
              <a:ea typeface="+mn-ea"/>
            </a:endParaRPr>
          </a:p>
        </p:txBody>
      </p:sp>
      <p:sp>
        <p:nvSpPr>
          <p:cNvPr id="112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sp>
        <p:nvSpPr>
          <p:cNvPr id="86762" name="Rectangle 86761">
            <a:extLst>
              <a:ext uri="{FF2B5EF4-FFF2-40B4-BE49-F238E27FC236}">
                <a16:creationId xmlns:a16="http://schemas.microsoft.com/office/drawing/2014/main" id="{A27D0E11-74FE-148B-A565-76E3A210DA35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812" name="Rectangle 86811">
            <a:extLst>
              <a:ext uri="{FF2B5EF4-FFF2-40B4-BE49-F238E27FC236}">
                <a16:creationId xmlns:a16="http://schemas.microsoft.com/office/drawing/2014/main" id="{2D9E8239-FE21-57AA-A33F-090B674C4FC3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423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내용 개체 틀 10"/>
          <p:cNvSpPr txBox="1">
            <a:spLocks/>
          </p:cNvSpPr>
          <p:nvPr/>
        </p:nvSpPr>
        <p:spPr bwMode="auto">
          <a:xfrm>
            <a:off x="231774" y="976313"/>
            <a:ext cx="8732713" cy="580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제안사는 시스템의 안정성 확보와 가상화 시스템 구축 사업의 성공적인 수행을 위하여 프로젝트 전문가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서비스 전문가 등 각 요소 기술 전문가를 주축으로 사업 수행 조직을 구성합니다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또한 본 사업의 프로젝트 팀의 의사소통을 최대한 보장 할 수 있는 조직을 구성 합니다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</a:t>
            </a:r>
          </a:p>
        </p:txBody>
      </p:sp>
      <p:grpSp>
        <p:nvGrpSpPr>
          <p:cNvPr id="145" name="그룹 65"/>
          <p:cNvGrpSpPr>
            <a:grpSpLocks/>
          </p:cNvGrpSpPr>
          <p:nvPr/>
        </p:nvGrpSpPr>
        <p:grpSpPr bwMode="auto">
          <a:xfrm>
            <a:off x="378555" y="1844824"/>
            <a:ext cx="8439150" cy="227012"/>
            <a:chOff x="381001" y="2050354"/>
            <a:chExt cx="8439470" cy="227385"/>
          </a:xfrm>
        </p:grpSpPr>
        <p:sp>
          <p:nvSpPr>
            <p:cNvPr id="146" name="AutoShape 29"/>
            <p:cNvSpPr>
              <a:spLocks noChangeArrowheads="1"/>
            </p:cNvSpPr>
            <p:nvPr/>
          </p:nvSpPr>
          <p:spPr bwMode="auto">
            <a:xfrm>
              <a:off x="381001" y="2050354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3.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수행조직 및 업무분장</a:t>
              </a:r>
            </a:p>
          </p:txBody>
        </p:sp>
        <p:grpSp>
          <p:nvGrpSpPr>
            <p:cNvPr id="147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48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49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50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5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57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sp>
        <p:nvSpPr>
          <p:cNvPr id="82852" name="Rectangle 82851">
            <a:extLst>
              <a:ext uri="{FF2B5EF4-FFF2-40B4-BE49-F238E27FC236}">
                <a16:creationId xmlns:a16="http://schemas.microsoft.com/office/drawing/2014/main" id="{AC117966-E920-925D-6C01-F98D7D2C7886}"/>
              </a:ext>
            </a:extLst>
          </p:cNvPr>
          <p:cNvSpPr/>
          <p:nvPr/>
        </p:nvSpPr>
        <p:spPr>
          <a:xfrm>
            <a:off x="3472000" y="2300000"/>
            <a:ext cx="2200000" cy="62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</a:rPr>
              <a:t>사업 총괄 책임자</a:t>
            </a:r>
          </a:p>
          <a:p>
            <a:pPr algn="ctr">
              <a:buNone/>
            </a:pPr>
            <a:r>
              <a:rPr lang="en-US" sz="1400" b="1">
                <a:solidFill>
                  <a:srgbClr val="FFFFFF"/>
                </a:solidFill>
                <a:effectLst/>
              </a:rPr>
              <a:t>문태윤 수석 (CI팀 리드)</a:t>
            </a:r>
            <a:endParaRPr lang="en-US"/>
          </a:p>
        </p:txBody>
      </p:sp>
      <p:sp>
        <p:nvSpPr>
          <p:cNvPr id="82855" name="Rectangle 82854">
            <a:extLst>
              <a:ext uri="{FF2B5EF4-FFF2-40B4-BE49-F238E27FC236}">
                <a16:creationId xmlns:a16="http://schemas.microsoft.com/office/drawing/2014/main" id="{7D9D1616-6944-0D2E-1F3A-9C9EB6C1BCE2}"/>
              </a:ext>
            </a:extLst>
          </p:cNvPr>
          <p:cNvSpPr/>
          <p:nvPr/>
        </p:nvSpPr>
        <p:spPr>
          <a:xfrm>
            <a:off x="4562475" y="2920000"/>
            <a:ext cx="19050" cy="24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59" name="Rectangle 82858">
            <a:extLst>
              <a:ext uri="{FF2B5EF4-FFF2-40B4-BE49-F238E27FC236}">
                <a16:creationId xmlns:a16="http://schemas.microsoft.com/office/drawing/2014/main" id="{40A8497F-7703-415B-F51C-0D57B49499C3}"/>
              </a:ext>
            </a:extLst>
          </p:cNvPr>
          <p:cNvSpPr/>
          <p:nvPr/>
        </p:nvSpPr>
        <p:spPr>
          <a:xfrm>
            <a:off x="1467000" y="3160000"/>
            <a:ext cx="6229050" cy="1905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64" name="Rectangle 82863">
            <a:extLst>
              <a:ext uri="{FF2B5EF4-FFF2-40B4-BE49-F238E27FC236}">
                <a16:creationId xmlns:a16="http://schemas.microsoft.com/office/drawing/2014/main" id="{2B94EA28-D2C3-CE47-02E3-35E9C5BEFE2A}"/>
              </a:ext>
            </a:extLst>
          </p:cNvPr>
          <p:cNvSpPr/>
          <p:nvPr/>
        </p:nvSpPr>
        <p:spPr>
          <a:xfrm>
            <a:off x="1457475" y="3160000"/>
            <a:ext cx="19050" cy="24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70" name="Rectangle 82869">
            <a:extLst>
              <a:ext uri="{FF2B5EF4-FFF2-40B4-BE49-F238E27FC236}">
                <a16:creationId xmlns:a16="http://schemas.microsoft.com/office/drawing/2014/main" id="{020538B7-F927-6203-A67A-B7B5C1C967F4}"/>
              </a:ext>
            </a:extLst>
          </p:cNvPr>
          <p:cNvSpPr/>
          <p:nvPr/>
        </p:nvSpPr>
        <p:spPr>
          <a:xfrm>
            <a:off x="492000" y="3400000"/>
            <a:ext cx="1950000" cy="520000"/>
          </a:xfrm>
          <a:prstGeom prst="rect">
            <a:avLst/>
          </a:prstGeom>
          <a:solidFill>
            <a:srgbClr val="4454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</a:rPr>
              <a:t>AD 및 OS Migration 부문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877" name="Rectangle 82876">
            <a:extLst>
              <a:ext uri="{FF2B5EF4-FFF2-40B4-BE49-F238E27FC236}">
                <a16:creationId xmlns:a16="http://schemas.microsoft.com/office/drawing/2014/main" id="{DFFD83FD-6E09-63D4-B2AB-FF024AFB1F21}"/>
              </a:ext>
            </a:extLst>
          </p:cNvPr>
          <p:cNvSpPr/>
          <p:nvPr/>
        </p:nvSpPr>
        <p:spPr>
          <a:xfrm>
            <a:off x="492000" y="3990000"/>
            <a:ext cx="1950000" cy="1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[책임] 배수아 책임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Landing Zone 엔지니어</a:t>
            </a:r>
          </a:p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[담당] 신예린 선임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클라우드 네트워크·보안 엔지니어</a:t>
            </a:r>
          </a:p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[담당] 조현우 선임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플랫폼 엔지니어</a:t>
            </a:r>
            <a:endParaRPr lang="en-US"/>
          </a:p>
        </p:txBody>
      </p:sp>
      <p:sp>
        <p:nvSpPr>
          <p:cNvPr id="82885" name="Rectangle 82884">
            <a:extLst>
              <a:ext uri="{FF2B5EF4-FFF2-40B4-BE49-F238E27FC236}">
                <a16:creationId xmlns:a16="http://schemas.microsoft.com/office/drawing/2014/main" id="{148D9DFB-D80B-A334-937A-1B8B608DF73F}"/>
              </a:ext>
            </a:extLst>
          </p:cNvPr>
          <p:cNvSpPr/>
          <p:nvPr/>
        </p:nvSpPr>
        <p:spPr>
          <a:xfrm>
            <a:off x="3527475" y="3160000"/>
            <a:ext cx="19050" cy="24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894" name="Rectangle 82893">
            <a:extLst>
              <a:ext uri="{FF2B5EF4-FFF2-40B4-BE49-F238E27FC236}">
                <a16:creationId xmlns:a16="http://schemas.microsoft.com/office/drawing/2014/main" id="{E3CD95A1-873F-32A4-89A1-EA4A7DCE9B9A}"/>
              </a:ext>
            </a:extLst>
          </p:cNvPr>
          <p:cNvSpPr/>
          <p:nvPr/>
        </p:nvSpPr>
        <p:spPr>
          <a:xfrm>
            <a:off x="2562000" y="3400000"/>
            <a:ext cx="1950000" cy="520000"/>
          </a:xfrm>
          <a:prstGeom prst="rect">
            <a:avLst/>
          </a:prstGeom>
          <a:solidFill>
            <a:srgbClr val="4454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</a:rPr>
              <a:t>DB Migration 부문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904" name="Rectangle 82903">
            <a:extLst>
              <a:ext uri="{FF2B5EF4-FFF2-40B4-BE49-F238E27FC236}">
                <a16:creationId xmlns:a16="http://schemas.microsoft.com/office/drawing/2014/main" id="{A6ECC1B5-5F5B-ED58-7C53-8EB95B60EEEE}"/>
              </a:ext>
            </a:extLst>
          </p:cNvPr>
          <p:cNvSpPr/>
          <p:nvPr/>
        </p:nvSpPr>
        <p:spPr>
          <a:xfrm>
            <a:off x="2562000" y="3990000"/>
            <a:ext cx="1950000" cy="1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[책임] 임하진 선임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클라우드 데이터베이스 엔지니어</a:t>
            </a:r>
          </a:p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[담당] 이도윤 선임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백업·재해복구 엔지니어</a:t>
            </a:r>
            <a:endParaRPr lang="en-US"/>
          </a:p>
        </p:txBody>
      </p:sp>
      <p:sp>
        <p:nvSpPr>
          <p:cNvPr id="82915" name="Rectangle 82914">
            <a:extLst>
              <a:ext uri="{FF2B5EF4-FFF2-40B4-BE49-F238E27FC236}">
                <a16:creationId xmlns:a16="http://schemas.microsoft.com/office/drawing/2014/main" id="{42C17364-3BBE-271C-CF45-73323386EABB}"/>
              </a:ext>
            </a:extLst>
          </p:cNvPr>
          <p:cNvSpPr/>
          <p:nvPr/>
        </p:nvSpPr>
        <p:spPr>
          <a:xfrm>
            <a:off x="5597475" y="3160000"/>
            <a:ext cx="19050" cy="24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927" name="Rectangle 82926">
            <a:extLst>
              <a:ext uri="{FF2B5EF4-FFF2-40B4-BE49-F238E27FC236}">
                <a16:creationId xmlns:a16="http://schemas.microsoft.com/office/drawing/2014/main" id="{366883B6-91DF-4012-8C6C-A4BA7ABBCE87}"/>
              </a:ext>
            </a:extLst>
          </p:cNvPr>
          <p:cNvSpPr/>
          <p:nvPr/>
        </p:nvSpPr>
        <p:spPr>
          <a:xfrm>
            <a:off x="4632000" y="3400000"/>
            <a:ext cx="1950000" cy="520000"/>
          </a:xfrm>
          <a:prstGeom prst="rect">
            <a:avLst/>
          </a:prstGeom>
          <a:solidFill>
            <a:srgbClr val="4454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</a:rPr>
              <a:t>프로젝트 관리 부문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940" name="Rectangle 82939">
            <a:extLst>
              <a:ext uri="{FF2B5EF4-FFF2-40B4-BE49-F238E27FC236}">
                <a16:creationId xmlns:a16="http://schemas.microsoft.com/office/drawing/2014/main" id="{1A5E7A0C-E9A8-689A-53A1-B6F48F24FFDF}"/>
              </a:ext>
            </a:extLst>
          </p:cNvPr>
          <p:cNvSpPr/>
          <p:nvPr/>
        </p:nvSpPr>
        <p:spPr>
          <a:xfrm>
            <a:off x="4632000" y="3990000"/>
            <a:ext cx="1950000" cy="1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[책임] 문태윤 수석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클라우드 인프라 리드</a:t>
            </a:r>
          </a:p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[담당] 윤재혁 선임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클라우드 비용 관리 엔지니어</a:t>
            </a:r>
            <a:endParaRPr lang="en-US"/>
          </a:p>
        </p:txBody>
      </p:sp>
      <p:sp>
        <p:nvSpPr>
          <p:cNvPr id="82954" name="Rectangle 82953">
            <a:extLst>
              <a:ext uri="{FF2B5EF4-FFF2-40B4-BE49-F238E27FC236}">
                <a16:creationId xmlns:a16="http://schemas.microsoft.com/office/drawing/2014/main" id="{D9A6DAA0-CCBC-6D03-78AB-C6577AF36BBA}"/>
              </a:ext>
            </a:extLst>
          </p:cNvPr>
          <p:cNvSpPr/>
          <p:nvPr/>
        </p:nvSpPr>
        <p:spPr>
          <a:xfrm>
            <a:off x="7667475" y="3160000"/>
            <a:ext cx="19050" cy="240000"/>
          </a:xfrm>
          <a:prstGeom prst="rect">
            <a:avLst/>
          </a:prstGeom>
          <a:solidFill>
            <a:srgbClr val="7F7F7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969" name="Rectangle 82968">
            <a:extLst>
              <a:ext uri="{FF2B5EF4-FFF2-40B4-BE49-F238E27FC236}">
                <a16:creationId xmlns:a16="http://schemas.microsoft.com/office/drawing/2014/main" id="{4D8DE0C5-D161-DE25-4B04-EE8444DD1933}"/>
              </a:ext>
            </a:extLst>
          </p:cNvPr>
          <p:cNvSpPr/>
          <p:nvPr/>
        </p:nvSpPr>
        <p:spPr>
          <a:xfrm>
            <a:off x="6702000" y="3400000"/>
            <a:ext cx="1950000" cy="520000"/>
          </a:xfrm>
          <a:prstGeom prst="rect">
            <a:avLst/>
          </a:prstGeom>
          <a:solidFill>
            <a:srgbClr val="44546A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effectLst/>
              </a:rPr>
              <a:t>기술지원 부문</a:t>
            </a:r>
          </a:p>
          <a:p>
            <a:pPr algn="ct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2985" name="Rectangle 82984">
            <a:extLst>
              <a:ext uri="{FF2B5EF4-FFF2-40B4-BE49-F238E27FC236}">
                <a16:creationId xmlns:a16="http://schemas.microsoft.com/office/drawing/2014/main" id="{6E83FF0A-6E4C-21D8-C79E-C56EF5818957}"/>
              </a:ext>
            </a:extLst>
          </p:cNvPr>
          <p:cNvSpPr/>
          <p:nvPr/>
        </p:nvSpPr>
        <p:spPr>
          <a:xfrm>
            <a:off x="6702000" y="3990000"/>
            <a:ext cx="1950000" cy="175000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[책임] 김도윤 책임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클라우드 플랫폼 엔지니어</a:t>
            </a:r>
          </a:p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[담당] 박시온 선임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클라우드 모니터링 엔지니어</a:t>
            </a:r>
          </a:p>
          <a:p>
            <a:pPr algn="ctr">
              <a:buNone/>
            </a:pPr>
            <a:r>
              <a:rPr lang="en-US" sz="1300" b="1">
                <a:solidFill>
                  <a:srgbClr val="262626"/>
                </a:solidFill>
                <a:effectLst/>
              </a:rPr>
              <a:t>[담당] 장우진 전임</a:t>
            </a:r>
          </a:p>
          <a:p>
            <a:pPr algn="ctr">
              <a:buNone/>
            </a:pPr>
            <a:r>
              <a:rPr lang="en-US" sz="1100">
                <a:solidFill>
                  <a:srgbClr val="595959"/>
                </a:solidFill>
                <a:effectLst/>
              </a:rPr>
              <a:t>클라우드 운영 엔지니어</a:t>
            </a:r>
            <a:endParaRPr lang="en-US"/>
          </a:p>
        </p:txBody>
      </p:sp>
      <p:sp>
        <p:nvSpPr>
          <p:cNvPr id="83002" name="Rectangle 83001">
            <a:extLst>
              <a:ext uri="{FF2B5EF4-FFF2-40B4-BE49-F238E27FC236}">
                <a16:creationId xmlns:a16="http://schemas.microsoft.com/office/drawing/2014/main" id="{02D0AFDD-5428-527A-1560-A7005E693C97}"/>
              </a:ext>
            </a:extLst>
          </p:cNvPr>
          <p:cNvSpPr/>
          <p:nvPr/>
        </p:nvSpPr>
        <p:spPr>
          <a:xfrm>
            <a:off x="492000" y="5850000"/>
            <a:ext cx="8000000" cy="436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200">
                <a:solidFill>
                  <a:srgbClr val="595959"/>
                </a:solidFill>
                <a:effectLst/>
              </a:rPr>
              <a:t>※ 투입 인력: Cloud Infrastructure(CI)팀 10명 (인력관리 샘플 데이터 기준)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6863" name="Rectangle 86862">
            <a:extLst>
              <a:ext uri="{FF2B5EF4-FFF2-40B4-BE49-F238E27FC236}">
                <a16:creationId xmlns:a16="http://schemas.microsoft.com/office/drawing/2014/main" id="{C96A62A4-BDEE-3F63-89AF-C3E94E105739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915" name="Rectangle 86914">
            <a:extLst>
              <a:ext uri="{FF2B5EF4-FFF2-40B4-BE49-F238E27FC236}">
                <a16:creationId xmlns:a16="http://schemas.microsoft.com/office/drawing/2014/main" id="{64C294ED-0621-6EEB-86F7-7797F5D6A014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6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13" name="그룹 65"/>
          <p:cNvGrpSpPr>
            <a:grpSpLocks/>
          </p:cNvGrpSpPr>
          <p:nvPr/>
        </p:nvGrpSpPr>
        <p:grpSpPr bwMode="auto">
          <a:xfrm>
            <a:off x="381000" y="1495482"/>
            <a:ext cx="8439150" cy="227012"/>
            <a:chOff x="381001" y="2050355"/>
            <a:chExt cx="8439470" cy="227385"/>
          </a:xfrm>
        </p:grpSpPr>
        <p:sp>
          <p:nvSpPr>
            <p:cNvPr id="14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참여인력 현황</a:t>
              </a:r>
            </a:p>
          </p:txBody>
        </p:sp>
        <p:grpSp>
          <p:nvGrpSpPr>
            <p:cNvPr id="15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6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7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8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1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sp>
        <p:nvSpPr>
          <p:cNvPr id="12" name="내용 개체 틀 10"/>
          <p:cNvSpPr txBox="1">
            <a:spLocks/>
          </p:cNvSpPr>
          <p:nvPr/>
        </p:nvSpPr>
        <p:spPr bwMode="auto">
          <a:xfrm>
            <a:off x="314325" y="988621"/>
            <a:ext cx="8516938" cy="499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ts val="1000"/>
              </a:spcBef>
              <a:spcAft>
                <a:spcPts val="700"/>
              </a:spcAft>
              <a:buClr>
                <a:schemeClr val="bg1"/>
              </a:buClr>
              <a:buSzPct val="100000"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 본 사업의 수행을 위한 투입인력 현황은 다음과 같습니다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kumimoji="1"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1C5110-29AE-44A2-AC42-14132A4518E2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192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7800738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0345305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89707716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398017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9449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성  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소  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직  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역  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레벨 / 경력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893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문태윤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㈜ 아르케온클라우드 CI팀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수석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클라우드 인프라 리드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특급 / 14년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70411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7BAA6D-808D-4FB7-AF9C-388B7814814D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2706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4184567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59500175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012948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20899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참여임무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참여기간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상주 유무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참여율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919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사업 총괄 · 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5개월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비상주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30%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13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4768C0-6A5D-49B3-86CB-0F5BC3F16CA4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3492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3469262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보유 자격증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699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 Certified: Azure Solutions Architect Expert / 정보통신기사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966284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7EF672E-BDC5-47CC-B7B3-9AD34BA520A7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11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96465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업무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144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클라우드 기반 아키텍처와 거버넌스를 총괄합니다. 가용성·보안·네트워크·운영 통제를 조정하고 표준 예외 및 핵심 설계 결정을 검토합니다.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931860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9C90B20-885D-48F8-891E-943F2ECC6ACD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896000"/>
          <a:ext cx="6096000" cy="777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7786354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63979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수행 프로젝트 이력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333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업무 플랫폼 Landing Zone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구조·통제 리드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211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서비스 복구 개선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복원력 기준 수립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504813"/>
                  </a:ext>
                </a:extLst>
              </a:tr>
            </a:tbl>
          </a:graphicData>
        </a:graphic>
      </p:graphicFrame>
      <p:sp>
        <p:nvSpPr>
          <p:cNvPr id="86968" name="Rectangle 86967">
            <a:extLst>
              <a:ext uri="{FF2B5EF4-FFF2-40B4-BE49-F238E27FC236}">
                <a16:creationId xmlns:a16="http://schemas.microsoft.com/office/drawing/2014/main" id="{88BFD67D-625C-5E5A-3F6A-3FD7D10DC8B8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22" name="Rectangle 87021">
            <a:extLst>
              <a:ext uri="{FF2B5EF4-FFF2-40B4-BE49-F238E27FC236}">
                <a16:creationId xmlns:a16="http://schemas.microsoft.com/office/drawing/2014/main" id="{F017D98B-EC49-C89B-74A7-6FA6B8AF175C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44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5"/>
          <p:cNvGrpSpPr>
            <a:grpSpLocks/>
          </p:cNvGrpSpPr>
          <p:nvPr/>
        </p:nvGrpSpPr>
        <p:grpSpPr bwMode="auto">
          <a:xfrm>
            <a:off x="381000" y="1484784"/>
            <a:ext cx="8439150" cy="227012"/>
            <a:chOff x="381001" y="2050355"/>
            <a:chExt cx="8439470" cy="227385"/>
          </a:xfrm>
        </p:grpSpPr>
        <p:sp>
          <p:nvSpPr>
            <p:cNvPr id="8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참여인력 현황</a:t>
              </a:r>
            </a:p>
          </p:txBody>
        </p:sp>
        <p:grpSp>
          <p:nvGrpSpPr>
            <p:cNvPr id="9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2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3" name="내용 개체 틀 10"/>
          <p:cNvSpPr txBox="1">
            <a:spLocks/>
          </p:cNvSpPr>
          <p:nvPr/>
        </p:nvSpPr>
        <p:spPr bwMode="auto">
          <a:xfrm>
            <a:off x="314325" y="988621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ts val="1000"/>
              </a:spcBef>
              <a:spcAft>
                <a:spcPts val="700"/>
              </a:spcAft>
              <a:buClr>
                <a:schemeClr val="bg1"/>
              </a:buClr>
              <a:buSzPct val="100000"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 본 사업의 수행을 위한 투입인력 현황은 다음과 같습니다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kumimoji="1"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sp>
        <p:nvSpPr>
          <p:cNvPr id="17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9DEE05-043E-4376-AE4A-904D1043D241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192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9565647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7570981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1310492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30928892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44731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성  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소  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직  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역  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레벨 / 경력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56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배수아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㈜ 아르케온클라우드 CI팀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책임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Landing Zone 엔지니어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고급 / 10년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78712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8C13B6-78A1-47B0-8BA2-E182A1525B0C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2706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39622402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3678603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92417175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491807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참여임무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참여기간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상주 유무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참여율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593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AD 및 OS Migration 책임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5개월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상주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95856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F423EE9-58A1-4800-ACCC-F1D3887808CA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3492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630876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보유 자격증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176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 Certified: Azure Administrator Associate / 정보처리기사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185467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98468FA-8928-4DBC-ADC7-A0BBD4CAC3E5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11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566803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업무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22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관리 그룹·구독·정책·태깅·권한 기준을 구현합니다. 개발·검증·운영 환경 분리, 표준 배포 템플릿과 플랫폼 운영 경계를 정리합니다.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2215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69CD938-0247-40AF-A31D-55F3BD4B65E2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896000"/>
          <a:ext cx="6096000" cy="777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1145301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40125340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수행 프로젝트 이력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565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다중 환경 기반 구성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구독·정책·태그 설계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63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클라우드 전환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기반 서비스 배치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175053"/>
                  </a:ext>
                </a:extLst>
              </a:tr>
            </a:tbl>
          </a:graphicData>
        </a:graphic>
      </p:graphicFrame>
      <p:sp>
        <p:nvSpPr>
          <p:cNvPr id="87077" name="Rectangle 87076">
            <a:extLst>
              <a:ext uri="{FF2B5EF4-FFF2-40B4-BE49-F238E27FC236}">
                <a16:creationId xmlns:a16="http://schemas.microsoft.com/office/drawing/2014/main" id="{3A0C2FFF-73F8-D13B-D9F5-523DBBB4AC0B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133" name="Rectangle 87132">
            <a:extLst>
              <a:ext uri="{FF2B5EF4-FFF2-40B4-BE49-F238E27FC236}">
                <a16:creationId xmlns:a16="http://schemas.microsoft.com/office/drawing/2014/main" id="{D907C209-95D1-4AE3-92E2-B96D51E6D392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05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0"/>
          <p:cNvSpPr txBox="1">
            <a:spLocks/>
          </p:cNvSpPr>
          <p:nvPr/>
        </p:nvSpPr>
        <p:spPr bwMode="auto">
          <a:xfrm>
            <a:off x="314325" y="988621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ts val="1000"/>
              </a:spcBef>
              <a:spcAft>
                <a:spcPts val="700"/>
              </a:spcAft>
              <a:buClr>
                <a:schemeClr val="bg1"/>
              </a:buClr>
              <a:buSzPct val="100000"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 본 사업의 수행을 위한 투입인력 현황은 다음과 같습니다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kumimoji="1"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grpSp>
        <p:nvGrpSpPr>
          <p:cNvPr id="7" name="그룹 65"/>
          <p:cNvGrpSpPr>
            <a:grpSpLocks/>
          </p:cNvGrpSpPr>
          <p:nvPr/>
        </p:nvGrpSpPr>
        <p:grpSpPr bwMode="auto">
          <a:xfrm>
            <a:off x="381000" y="1484784"/>
            <a:ext cx="8439150" cy="227012"/>
            <a:chOff x="381001" y="2050355"/>
            <a:chExt cx="8439470" cy="227385"/>
          </a:xfrm>
        </p:grpSpPr>
        <p:sp>
          <p:nvSpPr>
            <p:cNvPr id="8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참여인력 현황</a:t>
              </a:r>
            </a:p>
          </p:txBody>
        </p:sp>
        <p:grpSp>
          <p:nvGrpSpPr>
            <p:cNvPr id="9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2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6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7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E89089-240F-4131-95E4-2D94ADB49828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1920000"/>
          <a:ext cx="6096000" cy="85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85428961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4186537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5559968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267115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02109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성  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소  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직  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역  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레벨 / 경력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4335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신예린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㈜ 아르케온클라우드 CI팀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선임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클라우드 네트워크·보안 엔지니어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중급 / 5년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86347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F52FCD6-6E02-4617-801C-A2E7E0C0BBDB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2706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195744637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5016929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0149605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555952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참여임무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참여기간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상주 유무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참여율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605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AD·DNS·인증서 이관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3개월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상주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26489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623F3FF-7838-47C5-9D8C-7B686915575E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3492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7482368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보유 자격증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892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 Certified: Azure Network Engineer Associate / 정보통신기사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182986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3B2220D-10C1-46E7-8739-4CE61ADC4074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11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161380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업무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27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주소 계획, 서브넷, 라우팅, DNS, 방화벽과 하이브리드 연결 요구를 구현·검증합니다. 네트워크 경계와 보안 담당자 확인 항목을 문서화합니다.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39299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3D667C2-6A06-435F-A353-8ADCDA76C120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896000"/>
          <a:ext cx="6096000" cy="777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4762700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40723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수행 프로젝트 이력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94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하이브리드 연결 PoC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경로·DNS 점검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8746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워크로드 보안 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접근 경계 검토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081485"/>
                  </a:ext>
                </a:extLst>
              </a:tr>
            </a:tbl>
          </a:graphicData>
        </a:graphic>
      </p:graphicFrame>
      <p:sp>
        <p:nvSpPr>
          <p:cNvPr id="87190" name="Rectangle 87189">
            <a:extLst>
              <a:ext uri="{FF2B5EF4-FFF2-40B4-BE49-F238E27FC236}">
                <a16:creationId xmlns:a16="http://schemas.microsoft.com/office/drawing/2014/main" id="{1B5C324F-70FE-DB23-48BD-7C1FE8D2BCC7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248" name="Rectangle 87247">
            <a:extLst>
              <a:ext uri="{FF2B5EF4-FFF2-40B4-BE49-F238E27FC236}">
                <a16:creationId xmlns:a16="http://schemas.microsoft.com/office/drawing/2014/main" id="{C9A84544-2396-BC23-6E9D-B9B8BEC39A40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2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5"/>
          <p:cNvGrpSpPr>
            <a:grpSpLocks/>
          </p:cNvGrpSpPr>
          <p:nvPr/>
        </p:nvGrpSpPr>
        <p:grpSpPr bwMode="auto">
          <a:xfrm>
            <a:off x="381000" y="1484784"/>
            <a:ext cx="8439150" cy="227012"/>
            <a:chOff x="381001" y="2050355"/>
            <a:chExt cx="8439470" cy="227385"/>
          </a:xfrm>
        </p:grpSpPr>
        <p:sp>
          <p:nvSpPr>
            <p:cNvPr id="8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참여인력 현황</a:t>
              </a:r>
            </a:p>
          </p:txBody>
        </p:sp>
        <p:grpSp>
          <p:nvGrpSpPr>
            <p:cNvPr id="9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2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3" name="내용 개체 틀 10"/>
          <p:cNvSpPr txBox="1">
            <a:spLocks/>
          </p:cNvSpPr>
          <p:nvPr/>
        </p:nvSpPr>
        <p:spPr bwMode="auto">
          <a:xfrm>
            <a:off x="314325" y="988621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ts val="1000"/>
              </a:spcBef>
              <a:spcAft>
                <a:spcPts val="700"/>
              </a:spcAft>
              <a:buClr>
                <a:schemeClr val="bg1"/>
              </a:buClr>
              <a:buSzPct val="100000"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 본 사업의 수행을 위한 투입인력 현황은 다음과 같습니다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kumimoji="1"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sp>
        <p:nvSpPr>
          <p:cNvPr id="17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30801E-92D4-40A1-8B53-76DFFFAFDBAA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192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1396445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2556013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0894508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09133119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79383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성  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소  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직  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역  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레벨 / 경력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170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조현우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㈜ 아르케온클라우드 CI팀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선임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플랫폼 엔지니어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중급 / 6년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29522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E616CB-9934-4855-8D32-76D38E896271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2706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5518102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2552866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8989513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042529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참여임무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참여기간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상주 유무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참여율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295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IIS·VM Migration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4개월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상주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49323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7BDC053-E921-4AF2-BBF1-DCC42D9D43E4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3492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543988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보유 자격증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1085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 Certified: DevOps Engineer Expert / 정보처리기사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29998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E172112-DE91-4BD1-8106-594258D1B91B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11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6025418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업무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125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애플리케이션 배포를 위한 플랫폼 구성과 자동화를 구현합니다. IaC 모듈, CI/CD 작업, 환경별 설정, 배포 검증 및 롤백 절차를 관리합니다.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80032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0E68F26-D6E6-4F6C-B1E2-62D430452F0A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896000"/>
          <a:ext cx="6096000" cy="777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05384835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9911181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수행 프로젝트 이력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7099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API 플랫폼 배포 자동화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파이프라인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640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컨테이너 환경 구축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플랫폼 구성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571864"/>
                  </a:ext>
                </a:extLst>
              </a:tr>
            </a:tbl>
          </a:graphicData>
        </a:graphic>
      </p:graphicFrame>
      <p:sp>
        <p:nvSpPr>
          <p:cNvPr id="87307" name="Rectangle 87306">
            <a:extLst>
              <a:ext uri="{FF2B5EF4-FFF2-40B4-BE49-F238E27FC236}">
                <a16:creationId xmlns:a16="http://schemas.microsoft.com/office/drawing/2014/main" id="{CAEE9F12-F593-D570-4766-EE19598EE809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367" name="Rectangle 87366">
            <a:extLst>
              <a:ext uri="{FF2B5EF4-FFF2-40B4-BE49-F238E27FC236}">
                <a16:creationId xmlns:a16="http://schemas.microsoft.com/office/drawing/2014/main" id="{0BB63690-CE8F-A410-4BC3-DD3100064A10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68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5"/>
          <p:cNvGrpSpPr>
            <a:grpSpLocks/>
          </p:cNvGrpSpPr>
          <p:nvPr/>
        </p:nvGrpSpPr>
        <p:grpSpPr bwMode="auto">
          <a:xfrm>
            <a:off x="381000" y="1484784"/>
            <a:ext cx="8439150" cy="227012"/>
            <a:chOff x="381001" y="2050355"/>
            <a:chExt cx="8439470" cy="227385"/>
          </a:xfrm>
        </p:grpSpPr>
        <p:sp>
          <p:nvSpPr>
            <p:cNvPr id="8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참여인력 현황</a:t>
              </a:r>
            </a:p>
          </p:txBody>
        </p:sp>
        <p:grpSp>
          <p:nvGrpSpPr>
            <p:cNvPr id="9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2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3" name="내용 개체 틀 10"/>
          <p:cNvSpPr txBox="1">
            <a:spLocks/>
          </p:cNvSpPr>
          <p:nvPr/>
        </p:nvSpPr>
        <p:spPr bwMode="auto">
          <a:xfrm>
            <a:off x="314325" y="988621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ts val="1000"/>
              </a:spcBef>
              <a:spcAft>
                <a:spcPts val="700"/>
              </a:spcAft>
              <a:buClr>
                <a:schemeClr val="bg1"/>
              </a:buClr>
              <a:buSzPct val="100000"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 본 사업의 수행을 위한 투입인력 현황은 다음과 같습니다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kumimoji="1"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sp>
        <p:nvSpPr>
          <p:cNvPr id="17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6A584B0-B805-40D7-A24A-3C08F6795E9F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192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46367747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4647489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706585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476782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0700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성  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소  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직  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역  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레벨 / 경력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382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임하진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㈜ 아르케온클라우드 CI팀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선임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클라우드 데이터베이스 엔지니어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중급 / 5년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76424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34A1383-DDDF-464C-8921-0053F30D1A9A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2706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53094883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3690433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122940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71517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참여임무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참여기간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상주 유무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참여율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63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SQL Server 이관 책임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3개월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상주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401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C0BF336-CFD0-4877-8D34-42E74B39FBCD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3492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483098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보유 자격증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58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 Certified: Azure Database Administrator Associate / 정보처리기사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86065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F2DF9B3-DEFC-4295-B94F-487FB52D2D5E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11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5912761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업무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377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관리형 데이터베이스의 구성, 성능, 백업 및 복구 절차를 관리합니다. 변경 영향과 운영 기준을 점검합니다.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482390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BB8C61B-7FBD-4163-83E0-76200DF124CD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896000"/>
          <a:ext cx="6096000" cy="777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50121799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13883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수행 프로젝트 이력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551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관리형 데이터베이스 전환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구성·성능 검증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945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백업 정책 개선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복구 점검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556160"/>
                  </a:ext>
                </a:extLst>
              </a:tr>
            </a:tbl>
          </a:graphicData>
        </a:graphic>
      </p:graphicFrame>
      <p:sp>
        <p:nvSpPr>
          <p:cNvPr id="87428" name="Rectangle 87427">
            <a:extLst>
              <a:ext uri="{FF2B5EF4-FFF2-40B4-BE49-F238E27FC236}">
                <a16:creationId xmlns:a16="http://schemas.microsoft.com/office/drawing/2014/main" id="{A0A44363-1BB0-C7E5-6915-4C20BBF06489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490" name="Rectangle 87489">
            <a:extLst>
              <a:ext uri="{FF2B5EF4-FFF2-40B4-BE49-F238E27FC236}">
                <a16:creationId xmlns:a16="http://schemas.microsoft.com/office/drawing/2014/main" id="{7D70B9F6-0078-EFB9-E6A5-A583ED47E7CB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35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5"/>
          <p:cNvGrpSpPr>
            <a:grpSpLocks/>
          </p:cNvGrpSpPr>
          <p:nvPr/>
        </p:nvGrpSpPr>
        <p:grpSpPr bwMode="auto">
          <a:xfrm>
            <a:off x="381000" y="1484784"/>
            <a:ext cx="8439150" cy="227012"/>
            <a:chOff x="381001" y="2050355"/>
            <a:chExt cx="8439470" cy="227385"/>
          </a:xfrm>
        </p:grpSpPr>
        <p:sp>
          <p:nvSpPr>
            <p:cNvPr id="8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참여인력 현황</a:t>
              </a:r>
            </a:p>
          </p:txBody>
        </p:sp>
        <p:grpSp>
          <p:nvGrpSpPr>
            <p:cNvPr id="9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1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12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3" name="내용 개체 틀 10"/>
          <p:cNvSpPr txBox="1">
            <a:spLocks/>
          </p:cNvSpPr>
          <p:nvPr/>
        </p:nvSpPr>
        <p:spPr bwMode="auto">
          <a:xfrm>
            <a:off x="314325" y="988621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ts val="1000"/>
              </a:spcBef>
              <a:spcAft>
                <a:spcPts val="700"/>
              </a:spcAft>
              <a:buClr>
                <a:schemeClr val="bg1"/>
              </a:buClr>
              <a:buSzPct val="100000"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 본 사업의 수행을 위한 투입인력 현황은 다음과 같습니다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.</a:t>
            </a:r>
            <a:endParaRPr kumimoji="1" lang="ko-KR" altLang="en-US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</a:endParaRPr>
          </a:p>
        </p:txBody>
      </p:sp>
      <p:sp>
        <p:nvSpPr>
          <p:cNvPr id="17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8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A0CE0B-3E9A-42AD-99CB-0950CF06BA06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192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7275909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7237428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9981412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9329887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415687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성  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소  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직  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역  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레벨 / 경력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989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이도윤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㈜ 아르케온클라우드 CI팀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선임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백업·재해복구 엔지니어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중급 / 4년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15603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5DBE69-33A1-43C4-B7E3-6238C1B6B6D1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2706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804401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11892184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4724929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81035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참여임무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본 사업 참여기간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상주 유무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참여율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380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DB 백업·복구 및 이관 검증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2개월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비상주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effectLst/>
                        </a:rPr>
                        <a:t>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88738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4FC8653-4D0A-4B9A-A8F1-24BC23485CD0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3492000"/>
          <a:ext cx="6096000" cy="5181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11095060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보유 자격증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62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MS Certified: Azure Solutions Architect Expert / 정보처리기사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74890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088770D-E895-4B32-9AF2-0F01B378E4FB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110000"/>
          <a:ext cx="6096000" cy="685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835361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업무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39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백업 및 복구 구성을 검증하고 복구 훈련을 운영합니다. 복구 목표와 결과 기록을 관리해 개선 항목을 도출합니다.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97285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AFACA08-028A-4BCF-8C46-610F71CED11D}"/>
              </a:ext>
            </a:extLst>
          </p:cNvPr>
          <p:cNvGraphicFramePr>
            <a:graphicFrameLocks noGrp="1"/>
          </p:cNvGraphicFramePr>
          <p:nvPr/>
        </p:nvGraphicFramePr>
        <p:xfrm>
          <a:off x="561340" y="4896000"/>
          <a:ext cx="6096000" cy="777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5892086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95847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수행 프로젝트 이력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담당 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6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복구 훈련 체계 개선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시나리오·결과 관리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390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백업 정책 점검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</a:rPr>
                        <a:t>보존 기준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645139"/>
                  </a:ext>
                </a:extLst>
              </a:tr>
            </a:tbl>
          </a:graphicData>
        </a:graphic>
      </p:graphicFrame>
      <p:sp>
        <p:nvSpPr>
          <p:cNvPr id="87553" name="Rectangle 87552">
            <a:extLst>
              <a:ext uri="{FF2B5EF4-FFF2-40B4-BE49-F238E27FC236}">
                <a16:creationId xmlns:a16="http://schemas.microsoft.com/office/drawing/2014/main" id="{C8FF13C3-5244-F7FB-79DD-B99660EA2A23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617" name="Rectangle 87616">
            <a:extLst>
              <a:ext uri="{FF2B5EF4-FFF2-40B4-BE49-F238E27FC236}">
                <a16:creationId xmlns:a16="http://schemas.microsoft.com/office/drawing/2014/main" id="{76A079CA-25BC-63D7-EE7F-2F21DEC0358E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90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1187624" y="1759892"/>
            <a:ext cx="6730231" cy="747348"/>
            <a:chOff x="120" y="2340"/>
            <a:chExt cx="3922" cy="365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156" y="2378"/>
              <a:ext cx="1384" cy="266"/>
            </a:xfrm>
            <a:prstGeom prst="roundRect">
              <a:avLst>
                <a:gd name="adj" fmla="val 50000"/>
              </a:avLst>
            </a:prstGeom>
            <a:solidFill>
              <a:srgbClr val="7783A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Ctr="1"/>
            <a:lstStyle/>
            <a:p>
              <a:pPr algn="ctr" eaLnBrk="1" latinLnBrk="1" hangingPunct="1">
                <a:defRPr/>
              </a:pPr>
              <a:endPara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HY울릉도M" pitchFamily="18" charset="-127"/>
              </a:endParaRP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92" y="2510"/>
              <a:ext cx="3750" cy="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71" y="2564"/>
              <a:ext cx="1875" cy="1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292" y="2525"/>
              <a:ext cx="3750" cy="48"/>
            </a:xfrm>
            <a:prstGeom prst="rect">
              <a:avLst/>
            </a:prstGeom>
            <a:gradFill rotWithShape="0">
              <a:gsLst>
                <a:gs pos="0">
                  <a:srgbClr val="7783A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701" y="2379"/>
              <a:ext cx="356" cy="100"/>
            </a:xfrm>
            <a:prstGeom prst="rect">
              <a:avLst/>
            </a:prstGeom>
            <a:solidFill>
              <a:srgbClr val="7783A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="ctr" anchorCtr="1"/>
            <a:lstStyle/>
            <a:p>
              <a:pPr algn="ctr" eaLnBrk="1" latinLnBrk="1" hangingPunct="1">
                <a:defRPr/>
              </a:pPr>
              <a:r>
                <a:rPr lang="ko-KR" altLang="en-US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품질개선 내용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20" y="2340"/>
              <a:ext cx="173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</p:grpSp>
      <p:sp>
        <p:nvSpPr>
          <p:cNvPr id="14" name="Text Box 487"/>
          <p:cNvSpPr txBox="1">
            <a:spLocks noChangeArrowheads="1"/>
          </p:cNvSpPr>
          <p:nvPr/>
        </p:nvSpPr>
        <p:spPr bwMode="auto">
          <a:xfrm>
            <a:off x="266127" y="990526"/>
            <a:ext cx="8554346" cy="823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j-ea"/>
                <a:ea typeface="+mj-ea"/>
              </a:rPr>
              <a:t>실질적인 품질보증 활동을 개발 단계와 최종 제품에 반영하기 위해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j-ea"/>
                <a:ea typeface="+mj-ea"/>
              </a:rPr>
              <a:t>, </a:t>
            </a: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j-ea"/>
                <a:ea typeface="+mj-ea"/>
              </a:rPr>
              <a:t>체계적인 품질개선 활동과 품질보증 활동을 프로젝트 단계별로 수시 검토활동을 통해 산출물의 적정성을 확보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j-ea"/>
                <a:ea typeface="+mj-ea"/>
              </a:rPr>
              <a:t>, </a:t>
            </a: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j-ea"/>
                <a:ea typeface="+mj-ea"/>
              </a:rPr>
              <a:t>검증 활동 수행 시 발생하는 제반 문제점을 조기에 해결하겠습니다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</a:t>
            </a:r>
            <a:endParaRPr lang="ko-KR" altLang="en-US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+mn-ea"/>
            </a:endParaRPr>
          </a:p>
        </p:txBody>
      </p:sp>
      <p:grpSp>
        <p:nvGrpSpPr>
          <p:cNvPr id="16" name="Group 5"/>
          <p:cNvGrpSpPr>
            <a:grpSpLocks/>
          </p:cNvGrpSpPr>
          <p:nvPr/>
        </p:nvGrpSpPr>
        <p:grpSpPr bwMode="auto">
          <a:xfrm>
            <a:off x="1187625" y="4078180"/>
            <a:ext cx="6754696" cy="679849"/>
            <a:chOff x="120" y="2340"/>
            <a:chExt cx="3922" cy="365"/>
          </a:xfrm>
        </p:grpSpPr>
        <p:sp>
          <p:nvSpPr>
            <p:cNvPr id="17" name="AutoShape 6"/>
            <p:cNvSpPr>
              <a:spLocks noChangeArrowheads="1"/>
            </p:cNvSpPr>
            <p:nvPr/>
          </p:nvSpPr>
          <p:spPr bwMode="auto">
            <a:xfrm>
              <a:off x="156" y="2378"/>
              <a:ext cx="1384" cy="266"/>
            </a:xfrm>
            <a:prstGeom prst="roundRect">
              <a:avLst>
                <a:gd name="adj" fmla="val 50000"/>
              </a:avLst>
            </a:prstGeom>
            <a:solidFill>
              <a:srgbClr val="7783A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Ctr="1"/>
            <a:lstStyle/>
            <a:p>
              <a:pPr algn="ctr" eaLnBrk="1" latinLnBrk="1" hangingPunct="1">
                <a:defRPr/>
              </a:pPr>
              <a:endPara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HY울릉도M" pitchFamily="18" charset="-127"/>
              </a:endParaRPr>
            </a:p>
          </p:txBody>
        </p:sp>
        <p:sp>
          <p:nvSpPr>
            <p:cNvPr id="18" name="Rectangle 7"/>
            <p:cNvSpPr>
              <a:spLocks noChangeArrowheads="1"/>
            </p:cNvSpPr>
            <p:nvPr/>
          </p:nvSpPr>
          <p:spPr bwMode="auto">
            <a:xfrm>
              <a:off x="292" y="2510"/>
              <a:ext cx="3750" cy="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  <p:sp>
          <p:nvSpPr>
            <p:cNvPr id="19" name="Rectangle 8"/>
            <p:cNvSpPr>
              <a:spLocks noChangeArrowheads="1"/>
            </p:cNvSpPr>
            <p:nvPr/>
          </p:nvSpPr>
          <p:spPr bwMode="auto">
            <a:xfrm>
              <a:off x="171" y="2564"/>
              <a:ext cx="1875" cy="1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  <p:sp>
          <p:nvSpPr>
            <p:cNvPr id="20" name="Rectangle 9"/>
            <p:cNvSpPr>
              <a:spLocks noChangeArrowheads="1"/>
            </p:cNvSpPr>
            <p:nvPr/>
          </p:nvSpPr>
          <p:spPr bwMode="auto">
            <a:xfrm>
              <a:off x="292" y="2525"/>
              <a:ext cx="3750" cy="48"/>
            </a:xfrm>
            <a:prstGeom prst="rect">
              <a:avLst/>
            </a:prstGeom>
            <a:gradFill rotWithShape="0">
              <a:gsLst>
                <a:gs pos="0">
                  <a:srgbClr val="7783A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701" y="2387"/>
              <a:ext cx="356" cy="100"/>
            </a:xfrm>
            <a:prstGeom prst="rect">
              <a:avLst/>
            </a:prstGeom>
            <a:solidFill>
              <a:srgbClr val="7783A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 anchor="ctr" anchorCtr="1"/>
            <a:lstStyle/>
            <a:p>
              <a:pPr algn="ctr" eaLnBrk="1" latinLnBrk="1" hangingPunct="1">
                <a:defRPr/>
              </a:pPr>
              <a:r>
                <a:rPr lang="ko-KR" altLang="en-US" sz="12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품질보증 내용</a:t>
              </a: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120" y="2340"/>
              <a:ext cx="173" cy="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/>
              <a:endParaRPr lang="ko-KR" altLang="en-US" dirty="0"/>
            </a:p>
          </p:txBody>
        </p:sp>
      </p:grpSp>
      <p:pic>
        <p:nvPicPr>
          <p:cNvPr id="23" name="Picture 2" descr="C:\Documents and Settings\master\바탕 화면\파워포인트2007_대림\장경호\cd\chapter02\화살표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accent1">
                <a:lumMod val="25000"/>
                <a:tint val="45000"/>
                <a:satMod val="400000"/>
              </a:schemeClr>
            </a:duotone>
          </a:blip>
          <a:srcRect b="5208"/>
          <a:stretch>
            <a:fillRect/>
          </a:stretch>
        </p:blipFill>
        <p:spPr bwMode="auto">
          <a:xfrm flipV="1">
            <a:off x="1482779" y="2971408"/>
            <a:ext cx="6353034" cy="400829"/>
          </a:xfrm>
          <a:prstGeom prst="rect">
            <a:avLst/>
          </a:prstGeom>
          <a:noFill/>
        </p:spPr>
      </p:pic>
      <p:grpSp>
        <p:nvGrpSpPr>
          <p:cNvPr id="26" name="그룹 54"/>
          <p:cNvGrpSpPr>
            <a:grpSpLocks/>
          </p:cNvGrpSpPr>
          <p:nvPr/>
        </p:nvGrpSpPr>
        <p:grpSpPr bwMode="auto">
          <a:xfrm>
            <a:off x="1504582" y="2212584"/>
            <a:ext cx="6413273" cy="758825"/>
            <a:chOff x="560346" y="3804180"/>
            <a:chExt cx="5726154" cy="1791762"/>
          </a:xfrm>
        </p:grpSpPr>
        <p:sp>
          <p:nvSpPr>
            <p:cNvPr id="27" name="모서리가 둥근 직사각형 26"/>
            <p:cNvSpPr/>
            <p:nvPr/>
          </p:nvSpPr>
          <p:spPr bwMode="auto">
            <a:xfrm>
              <a:off x="560346" y="3804180"/>
              <a:ext cx="5726154" cy="1791762"/>
            </a:xfrm>
            <a:prstGeom prst="roundRect">
              <a:avLst>
                <a:gd name="adj" fmla="val 5538"/>
              </a:avLst>
            </a:prstGeom>
            <a:solidFill>
              <a:srgbClr val="EDEF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latin typeface="+mn-ea"/>
              </a:endParaRPr>
            </a:p>
          </p:txBody>
        </p:sp>
        <p:sp>
          <p:nvSpPr>
            <p:cNvPr id="28" name="모서리가 둥근 직사각형 27"/>
            <p:cNvSpPr/>
            <p:nvPr/>
          </p:nvSpPr>
          <p:spPr bwMode="auto">
            <a:xfrm>
              <a:off x="642950" y="3946382"/>
              <a:ext cx="5570298" cy="1434674"/>
            </a:xfrm>
            <a:prstGeom prst="roundRect">
              <a:avLst>
                <a:gd name="adj" fmla="val 3593"/>
              </a:avLst>
            </a:prstGeom>
            <a:solidFill>
              <a:schemeClr val="bg1">
                <a:alpha val="68000"/>
              </a:schemeClr>
            </a:solidFill>
            <a:ln w="1270">
              <a:solidFill>
                <a:schemeClr val="bg1">
                  <a:lumMod val="65000"/>
                  <a:alpha val="51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000" dirty="0">
                <a:latin typeface="+mn-ea"/>
              </a:endParaRPr>
            </a:p>
          </p:txBody>
        </p:sp>
      </p:grpSp>
      <p:sp>
        <p:nvSpPr>
          <p:cNvPr id="29" name="직사각형 57"/>
          <p:cNvSpPr>
            <a:spLocks noChangeArrowheads="1"/>
          </p:cNvSpPr>
          <p:nvPr/>
        </p:nvSpPr>
        <p:spPr bwMode="auto">
          <a:xfrm>
            <a:off x="1534745" y="2293546"/>
            <a:ext cx="600551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8900" indent="-889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>
              <a:lnSpc>
                <a:spcPct val="12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GOAL</a:t>
            </a:r>
            <a:r>
              <a:rPr lang="en-US" altLang="ko-KR" sz="800" dirty="0">
                <a:latin typeface="+mn-ea"/>
                <a:ea typeface="+mn-ea"/>
              </a:rPr>
              <a:t> : </a:t>
            </a:r>
            <a:r>
              <a:rPr lang="ko-KR" altLang="en-US" sz="800" dirty="0">
                <a:latin typeface="+mn-ea"/>
                <a:ea typeface="+mn-ea"/>
              </a:rPr>
              <a:t>프로젝트가 목표를 달성하고 있는가</a:t>
            </a:r>
            <a:r>
              <a:rPr lang="en-US" altLang="ko-KR" sz="800" dirty="0">
                <a:latin typeface="+mn-ea"/>
                <a:ea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Methods</a:t>
            </a:r>
            <a:r>
              <a:rPr lang="en-US" altLang="ko-KR" sz="800" dirty="0">
                <a:latin typeface="+mn-ea"/>
                <a:ea typeface="+mn-ea"/>
              </a:rPr>
              <a:t> : </a:t>
            </a:r>
            <a:r>
              <a:rPr lang="ko-KR" altLang="en-US" sz="800" dirty="0">
                <a:latin typeface="+mn-ea"/>
                <a:ea typeface="+mn-ea"/>
              </a:rPr>
              <a:t>적절한 방법론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표준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절차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기준 이 효율적으로 이용되었는가</a:t>
            </a:r>
            <a:r>
              <a:rPr lang="en-US" altLang="ko-KR" sz="800" dirty="0">
                <a:latin typeface="+mn-ea"/>
                <a:ea typeface="+mn-ea"/>
              </a:rPr>
              <a:t>?</a:t>
            </a:r>
          </a:p>
          <a:p>
            <a:pPr>
              <a:lnSpc>
                <a:spcPct val="120000"/>
              </a:lnSpc>
              <a:spcBef>
                <a:spcPct val="1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ko-KR" sz="800" dirty="0">
                <a:solidFill>
                  <a:srgbClr val="0070C0"/>
                </a:solidFill>
                <a:latin typeface="+mn-ea"/>
                <a:ea typeface="+mn-ea"/>
              </a:rPr>
              <a:t>Performance</a:t>
            </a:r>
            <a:r>
              <a:rPr lang="en-US" altLang="ko-KR" sz="800" dirty="0">
                <a:latin typeface="+mn-ea"/>
                <a:ea typeface="+mn-ea"/>
              </a:rPr>
              <a:t> : </a:t>
            </a:r>
            <a:r>
              <a:rPr lang="ko-KR" altLang="en-US" sz="800" dirty="0">
                <a:latin typeface="+mn-ea"/>
                <a:ea typeface="+mn-ea"/>
              </a:rPr>
              <a:t>비용과 기능면에서 효과적인 최종 결과물을 산출하도록 프로젝트가 구성되었는가</a:t>
            </a:r>
            <a:r>
              <a:rPr lang="en-US" altLang="ko-KR" sz="1000" dirty="0">
                <a:latin typeface="+mn-ea"/>
                <a:ea typeface="+mn-ea"/>
              </a:rPr>
              <a:t>?</a:t>
            </a:r>
          </a:p>
        </p:txBody>
      </p:sp>
      <p:pic>
        <p:nvPicPr>
          <p:cNvPr id="30" name="그림 9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344" y="3201955"/>
            <a:ext cx="6408511" cy="860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3" name="표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69343"/>
              </p:ext>
            </p:extLst>
          </p:nvPr>
        </p:nvGraphicFramePr>
        <p:xfrm>
          <a:off x="1504582" y="4873997"/>
          <a:ext cx="6413273" cy="17175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6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7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방법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시기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실시자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85D6A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8D0E4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프로세스 검토</a:t>
                      </a:r>
                    </a:p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일정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자원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표준검토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단계말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사업담당</a:t>
                      </a:r>
                    </a:p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품질담당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사업관리 활동</a:t>
                      </a:r>
                    </a:p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기반구축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전개 활동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3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발주처에 의한 검토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85D6A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8D0E4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수행절차 및 산출물 검토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구축</a:t>
                      </a:r>
                      <a:r>
                        <a:rPr kumimoji="1" lang="en-US" altLang="ko-KR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</a:t>
                      </a: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전개단계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 </a:t>
                      </a:r>
                    </a:p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품질담당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공정 절차 및 수행방법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34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산출물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85D6A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D0E4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내부검토</a:t>
                      </a:r>
                    </a:p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 검토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단계말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개발자</a:t>
                      </a:r>
                    </a:p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품질담당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/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산출물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341">
                <a:tc vMerge="1">
                  <a:txBody>
                    <a:bodyPr/>
                    <a:lstStyle/>
                    <a:p>
                      <a:pPr marL="0" marR="0" lvl="0" indent="0" algn="ctr" defTabSz="10541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산돌고딕 M" pitchFamily="18" charset="-127"/>
                        <a:ea typeface="산돌고딕 M" pitchFamily="18" charset="-127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9F0FB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합동검토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단계말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</a:p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팀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250" marR="0" lvl="0" indent="-95250" algn="l" defTabSz="855663" rtl="0" eaLnBrk="1" fontAlgn="b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rgbClr val="969696"/>
                        </a:buClr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800" u="none" strike="noStrike" cap="none" normalizeH="0" baseline="0" dirty="0">
                          <a:ln>
                            <a:noFill/>
                          </a:ln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공식적인 인도 산출물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0" marR="76200" marT="57152" marB="57152" anchor="ctr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1493879" y="4437112"/>
            <a:ext cx="5927725" cy="79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900" dirty="0">
                <a:latin typeface="+mn-ea"/>
                <a:ea typeface="+mn-ea"/>
              </a:rPr>
              <a:t>본 사업 유지보수는 문제 발생 시 신속한 복구뿐만 아니라 효과적인 예방정비를 통한 문제 발생의 근본적인 차단을 목표로 신속한 유지보수 지원체계를 운영한다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</p:txBody>
      </p:sp>
      <p:sp>
        <p:nvSpPr>
          <p:cNvPr id="3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1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 관리</a:t>
            </a:r>
          </a:p>
        </p:txBody>
      </p:sp>
      <p:grpSp>
        <p:nvGrpSpPr>
          <p:cNvPr id="32" name="그룹 65"/>
          <p:cNvGrpSpPr>
            <a:grpSpLocks/>
          </p:cNvGrpSpPr>
          <p:nvPr/>
        </p:nvGrpSpPr>
        <p:grpSpPr bwMode="auto">
          <a:xfrm>
            <a:off x="381323" y="1558209"/>
            <a:ext cx="8439150" cy="227012"/>
            <a:chOff x="381001" y="2050355"/>
            <a:chExt cx="8439470" cy="227385"/>
          </a:xfrm>
        </p:grpSpPr>
        <p:sp>
          <p:nvSpPr>
            <p:cNvPr id="37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</a:rPr>
                <a:t>5.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사업관리 방안</a:t>
              </a:r>
            </a:p>
          </p:txBody>
        </p:sp>
        <p:grpSp>
          <p:nvGrpSpPr>
            <p:cNvPr id="38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39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40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41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87682" name="Rectangle 87681">
            <a:extLst>
              <a:ext uri="{FF2B5EF4-FFF2-40B4-BE49-F238E27FC236}">
                <a16:creationId xmlns:a16="http://schemas.microsoft.com/office/drawing/2014/main" id="{849ACA2C-2A7F-06FF-2D6A-02C80D0BE34A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748" name="Rectangle 87747">
            <a:extLst>
              <a:ext uri="{FF2B5EF4-FFF2-40B4-BE49-F238E27FC236}">
                <a16:creationId xmlns:a16="http://schemas.microsoft.com/office/drawing/2014/main" id="{A4E9637A-DD19-D1E2-81F7-5D3A3548E620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48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내용 개체 틀 10"/>
          <p:cNvSpPr txBox="1">
            <a:spLocks/>
          </p:cNvSpPr>
          <p:nvPr/>
        </p:nvSpPr>
        <p:spPr bwMode="auto">
          <a:xfrm>
            <a:off x="283039" y="1016953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프로젝트 단계별 프로젝트 진척도 관리는 각 단계의 산출물이 프로젝트의 요구사항을 적절히 반영하고 있는지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논리적 정합성 및 일관성을 갖고 있는지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또는 다음 단계로의 진행을 계속할 수 있는지 등에 대한 프로젝트 조직 내부 및 귀사 담당자의 확인 활동입니다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.</a:t>
            </a:r>
          </a:p>
        </p:txBody>
      </p:sp>
      <p:sp>
        <p:nvSpPr>
          <p:cNvPr id="12" name="Rectangle 97"/>
          <p:cNvSpPr>
            <a:spLocks noChangeArrowheads="1"/>
          </p:cNvSpPr>
          <p:nvPr/>
        </p:nvSpPr>
        <p:spPr bwMode="auto">
          <a:xfrm>
            <a:off x="3793321" y="3109660"/>
            <a:ext cx="4680520" cy="2717324"/>
          </a:xfrm>
          <a:prstGeom prst="rect">
            <a:avLst/>
          </a:prstGeom>
          <a:solidFill>
            <a:srgbClr val="D9D9D9">
              <a:alpha val="5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anchor="ctr"/>
          <a:lstStyle/>
          <a:p>
            <a:pPr marL="85725" lvl="1" indent="-85725" algn="just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프로젝트 진척도 관리에서 확정된 내용에 따라 프로젝트 조직은 산출물을 수정</a:t>
            </a:r>
            <a:r>
              <a:rPr kumimoji="0" lang="en-US" altLang="ko-KR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, </a:t>
            </a: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변경하고</a:t>
            </a:r>
            <a:r>
              <a:rPr kumimoji="0" lang="en-US" altLang="ko-KR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, </a:t>
            </a: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이를 반드시 추후에 일정관리자에게 확인을 받음</a:t>
            </a:r>
          </a:p>
          <a:p>
            <a:pPr marL="85725" lvl="1" indent="-8572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endParaRPr kumimoji="0" lang="ko-KR" altLang="en-US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  <a:p>
            <a:pPr marL="85725" lvl="1" indent="-85725" algn="just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r>
              <a:rPr kumimoji="0" lang="ko-KR" altLang="en-US" sz="900" kern="0" spc="-15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프로젝트 조직과 일정관리자는 확정된 내용에 대해 책임짐</a:t>
            </a:r>
          </a:p>
          <a:p>
            <a:pPr marL="85725" lvl="1" indent="-8572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endParaRPr kumimoji="0" lang="ko-KR" altLang="en-US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  <a:p>
            <a:pPr marL="85725" lvl="1" indent="-85725" algn="just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r>
              <a:rPr kumimoji="0" lang="ko-KR" altLang="en-US" sz="900" kern="0" spc="-18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일정관리자는 확정된 내용을 기준으로 본 프로젝트를 진행함</a:t>
            </a:r>
          </a:p>
          <a:p>
            <a:pPr marL="85725" lvl="1" indent="-8572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endParaRPr kumimoji="0" lang="ko-KR" altLang="en-US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  <a:p>
            <a:pPr marL="85725" lvl="1" indent="-85725" algn="just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미해결 사항에 대해서는 추후 해결을 위한 추가 일정관리 및 회의를 약속함</a:t>
            </a:r>
          </a:p>
          <a:p>
            <a:pPr marL="85725" lvl="1" indent="-8572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endParaRPr kumimoji="0" lang="ko-KR" altLang="en-US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  <a:p>
            <a:pPr marL="85725" lvl="1" indent="-85725" algn="just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검토 예정일 최소 </a:t>
            </a:r>
            <a:r>
              <a:rPr kumimoji="0" lang="en-US" altLang="ko-KR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3</a:t>
            </a: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일 이전에 프로젝트 조직은 산출물 작성을 완료하여 일정관리회의 참석자 수만큼 자료를 준비</a:t>
            </a:r>
            <a:r>
              <a:rPr kumimoji="0" lang="en-US" altLang="ko-KR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, </a:t>
            </a: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배포함</a:t>
            </a:r>
          </a:p>
          <a:p>
            <a:pPr marL="85725" lvl="1" indent="-85725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endParaRPr kumimoji="0" lang="ko-KR" altLang="en-US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  <a:p>
            <a:pPr marL="85725" lvl="1" indent="-85725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일정관리 시에는 일정관리회의 내용을 정리한 후 일정 관리자 의 승인을 득함</a:t>
            </a:r>
            <a:endParaRPr kumimoji="0" lang="en-US" altLang="ko-KR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  <a:p>
            <a:pPr marL="85725" lvl="1" indent="-85725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endParaRPr kumimoji="0" lang="en-US" altLang="ko-KR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  <a:p>
            <a:pPr marL="85725" lvl="1" indent="-85725" eaLnBrk="1" fontAlgn="auto" hangingPunct="1">
              <a:spcBef>
                <a:spcPts val="300"/>
              </a:spcBef>
              <a:spcAft>
                <a:spcPts val="0"/>
              </a:spcAft>
              <a:buClr>
                <a:srgbClr val="02A3EE"/>
              </a:buClr>
              <a:buFontTx/>
              <a:buChar char="•"/>
              <a:defRPr/>
            </a:pP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수시로 고위급 임원의 프로젝트 진행 사항 체크 및 스폰서 </a:t>
            </a:r>
            <a:r>
              <a:rPr kumimoji="0" lang="en-US" altLang="ko-KR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(</a:t>
            </a: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내부 </a:t>
            </a:r>
            <a:r>
              <a:rPr kumimoji="0" lang="en-US" altLang="ko-KR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PMS </a:t>
            </a:r>
            <a:r>
              <a:rPr kumimoji="0" lang="ko-KR" altLang="en-US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활용</a:t>
            </a:r>
            <a:r>
              <a:rPr kumimoji="0" lang="en-US" altLang="ko-KR" sz="900" kern="0" spc="-10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srgbClr val="3C3C3C"/>
                </a:solidFill>
                <a:latin typeface="+mn-ea"/>
                <a:ea typeface="+mn-ea"/>
              </a:rPr>
              <a:t>)</a:t>
            </a:r>
            <a:endParaRPr kumimoji="0" lang="ko-KR" altLang="en-US" sz="900" kern="0" spc="-100" dirty="0">
              <a:ln>
                <a:solidFill>
                  <a:srgbClr val="3C3C3C">
                    <a:alpha val="0"/>
                  </a:srgbClr>
                </a:solidFill>
              </a:ln>
              <a:solidFill>
                <a:srgbClr val="3C3C3C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34097" y="2708920"/>
            <a:ext cx="3087215" cy="288000"/>
          </a:xfrm>
          <a:prstGeom prst="rect">
            <a:avLst/>
          </a:prstGeom>
          <a:solidFill>
            <a:srgbClr val="44546A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defRPr/>
            </a:pPr>
            <a:r>
              <a:rPr kumimoji="0" lang="ko-KR" altLang="en-US" sz="900" b="1" kern="0" spc="-15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ea typeface="+mn-ea"/>
                <a:sym typeface="Monotype Sorts" pitchFamily="2" charset="2"/>
              </a:rPr>
              <a:t>  프로젝트 진척도 관리의 필요성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793321" y="2708920"/>
            <a:ext cx="4681390" cy="288000"/>
          </a:xfrm>
          <a:prstGeom prst="rect">
            <a:avLst/>
          </a:prstGeom>
          <a:solidFill>
            <a:srgbClr val="44546A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80000"/>
              <a:defRPr/>
            </a:pPr>
            <a:r>
              <a:rPr kumimoji="0" lang="ko-KR" altLang="en-US" sz="900" b="1" kern="0" spc="-150" dirty="0">
                <a:ln>
                  <a:solidFill>
                    <a:srgbClr val="3C3C3C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ea typeface="+mn-ea"/>
                <a:sym typeface="Monotype Sorts" pitchFamily="2" charset="2"/>
              </a:rPr>
              <a:t>  프로젝트 진척도 관리의 기본원칙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634097" y="3140968"/>
            <a:ext cx="3087216" cy="305940"/>
          </a:xfrm>
          <a:prstGeom prst="rect">
            <a:avLst/>
          </a:prstGeom>
          <a:solidFill>
            <a:srgbClr val="5B9BD5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ko-KR" altLang="en-US" sz="900" b="1" kern="0" dirty="0">
                <a:solidFill>
                  <a:prstClr val="white"/>
                </a:solidFill>
                <a:latin typeface="+mn-ea"/>
                <a:ea typeface="+mn-ea"/>
              </a:rPr>
              <a:t>위험의 사전 평가와 대책마련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34097" y="3515269"/>
            <a:ext cx="3087216" cy="305940"/>
          </a:xfrm>
          <a:prstGeom prst="rect">
            <a:avLst/>
          </a:prstGeom>
          <a:solidFill>
            <a:srgbClr val="ED7D3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ko-KR" altLang="en-US" sz="900" b="1" kern="0" dirty="0">
                <a:solidFill>
                  <a:prstClr val="white"/>
                </a:solidFill>
                <a:latin typeface="+mn-ea"/>
                <a:ea typeface="+mn-ea"/>
              </a:rPr>
              <a:t>산출물의 품질보증 및 품질향상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34097" y="3874459"/>
            <a:ext cx="3087216" cy="305940"/>
          </a:xfrm>
          <a:prstGeom prst="rect">
            <a:avLst/>
          </a:prstGeom>
          <a:solidFill>
            <a:srgbClr val="5B9BD5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ko-KR" altLang="en-US" sz="900" b="1" kern="0" dirty="0">
                <a:solidFill>
                  <a:prstClr val="white"/>
                </a:solidFill>
                <a:latin typeface="+mn-ea"/>
                <a:ea typeface="+mn-ea"/>
              </a:rPr>
              <a:t>책임 영역 명확화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34097" y="4240125"/>
            <a:ext cx="3087216" cy="305940"/>
          </a:xfrm>
          <a:prstGeom prst="rect">
            <a:avLst/>
          </a:prstGeom>
          <a:solidFill>
            <a:srgbClr val="ED7D3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ko-KR" altLang="en-US" sz="900" b="1" kern="0" dirty="0">
                <a:solidFill>
                  <a:prstClr val="white"/>
                </a:solidFill>
                <a:latin typeface="+mn-ea"/>
                <a:ea typeface="+mn-ea"/>
              </a:rPr>
              <a:t>사용자의 요구사항 파악 및 해결방안 확정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634097" y="4641304"/>
            <a:ext cx="3087216" cy="305940"/>
          </a:xfrm>
          <a:prstGeom prst="rect">
            <a:avLst/>
          </a:prstGeom>
          <a:solidFill>
            <a:srgbClr val="5B9BD5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ko-KR" altLang="en-US" sz="900" b="1" kern="0" dirty="0">
                <a:solidFill>
                  <a:prstClr val="white"/>
                </a:solidFill>
                <a:latin typeface="+mn-ea"/>
                <a:ea typeface="+mn-ea"/>
              </a:rPr>
              <a:t>프로젝트 관리자와 구성원과의 의사소통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34097" y="5001344"/>
            <a:ext cx="3087216" cy="305940"/>
          </a:xfrm>
          <a:prstGeom prst="rect">
            <a:avLst/>
          </a:prstGeom>
          <a:solidFill>
            <a:srgbClr val="ED7D3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ko-KR" altLang="en-US" sz="900" b="1" kern="0" dirty="0">
                <a:solidFill>
                  <a:prstClr val="white"/>
                </a:solidFill>
                <a:latin typeface="+mn-ea"/>
                <a:ea typeface="+mn-ea"/>
              </a:rPr>
              <a:t>주체와 의사소통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34097" y="5361384"/>
            <a:ext cx="3087216" cy="305940"/>
          </a:xfrm>
          <a:prstGeom prst="rect">
            <a:avLst/>
          </a:prstGeom>
          <a:solidFill>
            <a:srgbClr val="5B9BD5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>
            <a:scene3d>
              <a:camera prst="orthographicFront"/>
              <a:lightRig rig="threePt" dir="t"/>
            </a:scene3d>
            <a:sp3d>
              <a:bevelT w="0" h="0"/>
              <a:bevelB w="0" h="0"/>
              <a:extrusionClr>
                <a:schemeClr val="tx1"/>
              </a:extrusionClr>
              <a:contourClr>
                <a:schemeClr val="tx1"/>
              </a:contourClr>
            </a:sp3d>
          </a:bodyPr>
          <a:lstStyle/>
          <a:p>
            <a:pPr algn="ctr" eaLnBrk="1" fontAlgn="auto" hangingPunct="1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ko-KR" altLang="en-US" sz="900" b="1" kern="0" dirty="0">
                <a:solidFill>
                  <a:prstClr val="white"/>
                </a:solidFill>
                <a:latin typeface="+mn-ea"/>
                <a:ea typeface="+mn-ea"/>
              </a:rPr>
              <a:t>프로젝트 진행 모니터링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634097" y="5826984"/>
            <a:ext cx="5927725" cy="29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en-US" altLang="ko-KR" sz="900" b="1" i="1" dirty="0">
                <a:latin typeface="+mn-ea"/>
                <a:ea typeface="+mn-ea"/>
              </a:rPr>
              <a:t>* PMS (Project Management System) : </a:t>
            </a:r>
            <a:r>
              <a:rPr lang="ko-KR" altLang="en-US" sz="900" b="1" i="1" dirty="0">
                <a:latin typeface="+mn-ea"/>
                <a:ea typeface="+mn-ea"/>
              </a:rPr>
              <a:t>프로젝트 관리 시스템</a:t>
            </a:r>
          </a:p>
        </p:txBody>
      </p:sp>
      <p:sp>
        <p:nvSpPr>
          <p:cNvPr id="26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7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</a:t>
            </a:r>
          </a:p>
        </p:txBody>
      </p:sp>
      <p:grpSp>
        <p:nvGrpSpPr>
          <p:cNvPr id="22" name="그룹 65"/>
          <p:cNvGrpSpPr>
            <a:grpSpLocks/>
          </p:cNvGrpSpPr>
          <p:nvPr/>
        </p:nvGrpSpPr>
        <p:grpSpPr bwMode="auto">
          <a:xfrm>
            <a:off x="381323" y="1905844"/>
            <a:ext cx="8439150" cy="227012"/>
            <a:chOff x="381001" y="2050355"/>
            <a:chExt cx="8439470" cy="227385"/>
          </a:xfrm>
        </p:grpSpPr>
        <p:sp>
          <p:nvSpPr>
            <p:cNvPr id="28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</a:rPr>
                <a:t>5.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</a:rPr>
                <a:t>사업관리 방안</a:t>
              </a:r>
            </a:p>
          </p:txBody>
        </p:sp>
        <p:grpSp>
          <p:nvGrpSpPr>
            <p:cNvPr id="29" name="그룹 6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3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3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32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39552" y="2412004"/>
            <a:ext cx="13681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진척 관리</a:t>
            </a:r>
          </a:p>
        </p:txBody>
      </p:sp>
      <p:sp>
        <p:nvSpPr>
          <p:cNvPr id="87815" name="Rectangle 87814">
            <a:extLst>
              <a:ext uri="{FF2B5EF4-FFF2-40B4-BE49-F238E27FC236}">
                <a16:creationId xmlns:a16="http://schemas.microsoft.com/office/drawing/2014/main" id="{66567E29-5E89-2638-1BC3-B5E8993F0A4D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883" name="Rectangle 87882">
            <a:extLst>
              <a:ext uri="{FF2B5EF4-FFF2-40B4-BE49-F238E27FC236}">
                <a16:creationId xmlns:a16="http://schemas.microsoft.com/office/drawing/2014/main" id="{1EEB5C5A-5675-3391-9F79-0951A7F2F0D2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90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내용 개체 틀 10"/>
          <p:cNvSpPr txBox="1">
            <a:spLocks/>
          </p:cNvSpPr>
          <p:nvPr/>
        </p:nvSpPr>
        <p:spPr bwMode="auto">
          <a:xfrm>
            <a:off x="283039" y="1016953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PM/PMO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는 전체 위험 관리 현황을 파악 및 관리하고 각 팀 별로 위험 관리 활동을 수행합니다</a:t>
            </a:r>
            <a:endParaRPr lang="en-US" altLang="ko-KR" sz="1200" dirty="0">
              <a:gradFill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</a:gradFill>
              <a:latin typeface="+mn-ea"/>
            </a:endParaRPr>
          </a:p>
        </p:txBody>
      </p:sp>
      <p:grpSp>
        <p:nvGrpSpPr>
          <p:cNvPr id="79883" name="그룹 32"/>
          <p:cNvGrpSpPr>
            <a:grpSpLocks/>
          </p:cNvGrpSpPr>
          <p:nvPr/>
        </p:nvGrpSpPr>
        <p:grpSpPr bwMode="auto">
          <a:xfrm>
            <a:off x="381000" y="1627347"/>
            <a:ext cx="8439150" cy="227012"/>
            <a:chOff x="381001" y="2050355"/>
            <a:chExt cx="8439470" cy="227385"/>
          </a:xfrm>
        </p:grpSpPr>
        <p:sp>
          <p:nvSpPr>
            <p:cNvPr id="34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5.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사업관리 방안</a:t>
              </a:r>
            </a:p>
          </p:txBody>
        </p:sp>
        <p:grpSp>
          <p:nvGrpSpPr>
            <p:cNvPr id="79886" name="그룹 34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9887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9888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9889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graphicFrame>
        <p:nvGraphicFramePr>
          <p:cNvPr id="13" name="Group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2063"/>
              </p:ext>
            </p:extLst>
          </p:nvPr>
        </p:nvGraphicFramePr>
        <p:xfrm>
          <a:off x="392743" y="2345751"/>
          <a:ext cx="8407233" cy="3717184"/>
        </p:xfrm>
        <a:graphic>
          <a:graphicData uri="http://schemas.openxmlformats.org/drawingml/2006/table">
            <a:tbl>
              <a:tblPr/>
              <a:tblGrid>
                <a:gridCol w="95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4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6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3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/>
                          <a:ea typeface="맑은 고딕"/>
                          <a:sym typeface="Arial"/>
                        </a:rPr>
                        <a:t>구분 </a:t>
                      </a:r>
                      <a:endParaRPr kumimoji="1" 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/>
                          <a:ea typeface="맑은 고딕"/>
                          <a:sym typeface="Arial"/>
                        </a:rPr>
                        <a:t>관련자 별 주요 계획관리 활동 </a:t>
                      </a:r>
                      <a:endParaRPr kumimoji="1" 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84B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/>
                          <a:ea typeface="맑은 고딕"/>
                          <a:sym typeface="Arial"/>
                        </a:rPr>
                        <a:t>공통 사항 </a:t>
                      </a:r>
                      <a:endParaRPr kumimoji="1" lang="ko-K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맑은 고딕"/>
                        <a:sym typeface="Arial"/>
                      </a:endParaRP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F84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2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300" b="1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팀원</a:t>
                      </a: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작업진행 중 예상되는 위험에 대한 위험 등록 요청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 활동에 대하여 주기적으로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PL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에게 보고  </a:t>
                      </a: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sz="12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 원칙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Wingdings" pitchFamily="2" charset="2"/>
                        <a:buChar char="§"/>
                        <a:tabLst/>
                      </a:pPr>
                      <a:endParaRPr kumimoji="1" lang="ko-KR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447675" marR="0" lvl="1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447675" algn="l"/>
                        </a:tabLst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프로젝트의 규모와 복잡도에 비례하여 위험 관리의 </a:t>
                      </a:r>
                      <a:b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필요성이 증대됨</a:t>
                      </a:r>
                    </a:p>
                    <a:p>
                      <a:pPr marL="447675" marR="0" lvl="1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447675" algn="l"/>
                        </a:tabLst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모든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IT 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프로젝트에는 고유 위험이 있음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447675" marR="0" lvl="1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447675" algn="l"/>
                        </a:tabLst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관리를 통해 위험을 최소화</a:t>
                      </a:r>
                    </a:p>
                    <a:p>
                      <a:pPr marL="447675" marR="0" lvl="1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447675" algn="l"/>
                        </a:tabLst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효율적인 위험 관리는 위험 상황의 분석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감소 및 해소까지 포함</a:t>
                      </a:r>
                    </a:p>
                    <a:p>
                      <a:pPr marL="447675" marR="0" lvl="1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447675" algn="l"/>
                        </a:tabLst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일반적인 프로젝트 위험은 프로젝트 초기에 예상이 가능하며 위험 가능성과 영향을 고려한 적절한 대책마련이 가능함</a:t>
                      </a:r>
                    </a:p>
                    <a:p>
                      <a:pPr marL="447675" marR="0" lvl="1" indent="-179388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447675" algn="l"/>
                        </a:tabLst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관리는 프로젝트 기간 내내 지속되는 과정임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Wingdings" pitchFamily="2" charset="2"/>
                        <a:buNone/>
                        <a:tabLst/>
                      </a:pPr>
                      <a:endParaRPr kumimoji="1" lang="ko-KR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Wingdings" pitchFamily="2" charset="2"/>
                        <a:buChar char="§"/>
                        <a:tabLst/>
                      </a:pPr>
                      <a:endParaRPr kumimoji="1" lang="ko-KR" sz="1200" b="0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8682" marR="98682" marT="50513" marB="493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71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300" b="1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PL</a:t>
                      </a:r>
                      <a:endParaRPr kumimoji="1" lang="ko-KR" altLang="ko-KR" sz="1300" b="1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제기된 위험에 대하여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PMO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에 전달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 계획 수립 지원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 활동을 위한 담당자 지원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위험관리 현황에 대하여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PM/PMO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에 보고</a:t>
                      </a: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74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300" b="1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PM/ PMO</a:t>
                      </a:r>
                      <a:endParaRPr kumimoji="1" lang="ko-KR" altLang="ko-KR" sz="1300" b="1" i="0" u="none" strike="noStrike" kern="1200" cap="none" normalizeH="0" baseline="0" dirty="0">
                        <a:ln>
                          <a:noFill/>
                        </a:ln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+mn-ea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제기된 위험에 대하여 위험 등록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PMO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담당자는 주기적으로 위험관리 사항을 파악하여 </a:t>
                      </a:r>
                      <a:r>
                        <a:rPr kumimoji="1" lang="en-US" alt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PM 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및 주간보고회의에 보고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 계획 취합 및 활동 모니터링</a:t>
                      </a: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04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sz="1300" b="1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현업 </a:t>
                      </a:r>
                      <a:r>
                        <a:rPr kumimoji="1" lang="en-US" altLang="ko-KR" sz="1300" b="1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PM</a:t>
                      </a:r>
                      <a:r>
                        <a:rPr kumimoji="1" lang="ko-KR" altLang="ko-KR" sz="1300" b="1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 </a:t>
                      </a: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위험 관리에 대한</a:t>
                      </a:r>
                      <a:r>
                        <a:rPr kumimoji="1" lang="ko-KR" altLang="en-US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상황 파악 </a:t>
                      </a:r>
                    </a:p>
                    <a:p>
                      <a:pPr marL="176213" marR="0" lvl="0" indent="-1762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ts val="1200"/>
                        <a:buFont typeface="Arial" pitchFamily="34" charset="0"/>
                        <a:buChar char="•"/>
                        <a:tabLst/>
                      </a:pPr>
                      <a:r>
                        <a:rPr kumimoji="1" lang="ko-KR" sz="1100" b="0" i="0" u="none" strike="noStrike" kern="1200" cap="none" normalizeH="0" baseline="0" dirty="0">
                          <a:ln>
                            <a:noFill/>
                          </a:ln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+mn-ea"/>
                          <a:ea typeface="+mn-ea"/>
                          <a:cs typeface="+mn-cs"/>
                          <a:sym typeface="Arial"/>
                        </a:rPr>
                        <a:t>필요 시 현업 측 담당자를 지정하여 위험 관리 활동 지원</a:t>
                      </a:r>
                    </a:p>
                  </a:txBody>
                  <a:tcPr marL="98682" marR="98682" marT="50513" marB="4934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5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1.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23669" y="2060848"/>
            <a:ext cx="12170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ko-KR" altLang="en-US" sz="12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+mn-ea"/>
              </a:rPr>
              <a:t>위험 관리 방안</a:t>
            </a:r>
          </a:p>
        </p:txBody>
      </p:sp>
      <p:sp>
        <p:nvSpPr>
          <p:cNvPr id="87952" name="Rectangle 87951">
            <a:extLst>
              <a:ext uri="{FF2B5EF4-FFF2-40B4-BE49-F238E27FC236}">
                <a16:creationId xmlns:a16="http://schemas.microsoft.com/office/drawing/2014/main" id="{D1FAE617-FD1C-4229-4C61-E1E423596DC1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022" name="Rectangle 88021">
            <a:extLst>
              <a:ext uri="{FF2B5EF4-FFF2-40B4-BE49-F238E27FC236}">
                <a16:creationId xmlns:a16="http://schemas.microsoft.com/office/drawing/2014/main" id="{FEE8227B-EC08-5A95-32FF-479B55E5A5A5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208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IV. </a:t>
            </a:r>
            <a:r>
              <a:rPr lang="ko-KR" altLang="en-US" dirty="0"/>
              <a:t>사업관리 및 지원 내용</a:t>
            </a:r>
          </a:p>
        </p:txBody>
      </p:sp>
      <p:grpSp>
        <p:nvGrpSpPr>
          <p:cNvPr id="13" name="그룹 2"/>
          <p:cNvGrpSpPr>
            <a:grpSpLocks/>
          </p:cNvGrpSpPr>
          <p:nvPr/>
        </p:nvGrpSpPr>
        <p:grpSpPr bwMode="auto">
          <a:xfrm>
            <a:off x="971550" y="4444498"/>
            <a:ext cx="4536504" cy="504825"/>
            <a:chOff x="3395663" y="2564904"/>
            <a:chExt cx="3839493" cy="504825"/>
          </a:xfrm>
        </p:grpSpPr>
        <p:sp>
          <p:nvSpPr>
            <p:cNvPr id="14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15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2.</a:t>
              </a:r>
            </a:p>
          </p:txBody>
        </p:sp>
      </p:grpSp>
      <p:sp>
        <p:nvSpPr>
          <p:cNvPr id="25" name="Rectangle 34"/>
          <p:cNvSpPr>
            <a:spLocks noChangeArrowheads="1"/>
          </p:cNvSpPr>
          <p:nvPr/>
        </p:nvSpPr>
        <p:spPr bwMode="auto">
          <a:xfrm>
            <a:off x="2066875" y="4433380"/>
            <a:ext cx="3081139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지원부문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35646" y="4990863"/>
            <a:ext cx="26934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교육훈련 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유지보수 지원계획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기술이전 지원계획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기타 지원사항</a:t>
            </a:r>
          </a:p>
        </p:txBody>
      </p:sp>
      <p:grpSp>
        <p:nvGrpSpPr>
          <p:cNvPr id="17" name="그룹 2"/>
          <p:cNvGrpSpPr>
            <a:grpSpLocks/>
          </p:cNvGrpSpPr>
          <p:nvPr/>
        </p:nvGrpSpPr>
        <p:grpSpPr bwMode="auto">
          <a:xfrm>
            <a:off x="971550" y="2564904"/>
            <a:ext cx="4536554" cy="504825"/>
            <a:chOff x="3395663" y="2564904"/>
            <a:chExt cx="3839493" cy="504825"/>
          </a:xfrm>
        </p:grpSpPr>
        <p:sp>
          <p:nvSpPr>
            <p:cNvPr id="18" name="AutoShape 27"/>
            <p:cNvSpPr>
              <a:spLocks noChangeArrowheads="1"/>
            </p:cNvSpPr>
            <p:nvPr/>
          </p:nvSpPr>
          <p:spPr bwMode="auto">
            <a:xfrm>
              <a:off x="3395663" y="2572842"/>
              <a:ext cx="3839493" cy="47783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EAEAEA"/>
                </a:gs>
              </a:gsLst>
              <a:lin ang="5400000" scaled="1"/>
            </a:gradFill>
            <a:ln w="9525" algn="ctr">
              <a:solidFill>
                <a:srgbClr val="C0C0C0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fontAlgn="ctr" latinLnBrk="1" hangingPunct="1"/>
              <a:endParaRPr kumimoji="1" lang="ko-KR" altLang="en-US" sz="1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pic>
          <p:nvPicPr>
            <p:cNvPr id="19" name="Picture 36" descr="num"/>
            <p:cNvPicPr preferRelativeResize="0"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95663" y="2569667"/>
              <a:ext cx="1047750" cy="48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" name="Rectangle 43"/>
            <p:cNvSpPr>
              <a:spLocks noChangeArrowheads="1"/>
            </p:cNvSpPr>
            <p:nvPr/>
          </p:nvSpPr>
          <p:spPr bwMode="auto">
            <a:xfrm>
              <a:off x="3584575" y="2564904"/>
              <a:ext cx="608013" cy="504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457200" indent="-4572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latinLnBrk="1" hangingPunct="1">
                <a:lnSpc>
                  <a:spcPct val="118000"/>
                </a:lnSpc>
                <a:spcBef>
                  <a:spcPct val="60000"/>
                </a:spcBef>
              </a:pPr>
              <a:r>
                <a:rPr kumimoji="1" lang="en-US" altLang="ko-KR" sz="2100" b="1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1.</a:t>
              </a:r>
            </a:p>
          </p:txBody>
        </p:sp>
      </p:grpSp>
      <p:sp>
        <p:nvSpPr>
          <p:cNvPr id="21" name="Rectangle 34"/>
          <p:cNvSpPr>
            <a:spLocks noChangeArrowheads="1"/>
          </p:cNvSpPr>
          <p:nvPr/>
        </p:nvSpPr>
        <p:spPr bwMode="auto">
          <a:xfrm>
            <a:off x="2066925" y="2582366"/>
            <a:ext cx="2793107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35000"/>
              </a:lnSpc>
              <a:spcBef>
                <a:spcPct val="60000"/>
              </a:spcBef>
            </a:pPr>
            <a:r>
              <a:rPr kumimoji="1" lang="ko-KR" altLang="en-US" sz="1900" b="1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</a:rPr>
              <a:t>사업관리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5696" y="3095394"/>
            <a:ext cx="26934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추진 일정 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업무보고 및 검토계획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수행조직 및 업무분장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투입인력 및 이력사항</a:t>
            </a:r>
            <a:endParaRPr lang="en-US" altLang="ko-KR" sz="1600" b="1" dirty="0">
              <a:gradFill flip="none" rotWithShape="1">
                <a:gsLst>
                  <a:gs pos="100000">
                    <a:schemeClr val="tx1"/>
                  </a:gs>
                  <a:gs pos="100000">
                    <a:schemeClr val="bg1">
                      <a:lumMod val="6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65000"/>
                      <a:shade val="100000"/>
                      <a:satMod val="115000"/>
                    </a:schemeClr>
                  </a:gs>
                </a:gsLst>
                <a:lin ang="0" scaled="1"/>
                <a:tileRect/>
              </a:gradFill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sz="1600" b="1" dirty="0">
                <a:gradFill flip="none" rotWithShape="1"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  <a:tileRect/>
                </a:gradFill>
              </a:rPr>
              <a:t>사업관리 방안</a:t>
            </a:r>
          </a:p>
        </p:txBody>
      </p:sp>
      <p:sp>
        <p:nvSpPr>
          <p:cNvPr id="85277" name="brand_footer">
            <a:extLst>
              <a:ext uri="{FF2B5EF4-FFF2-40B4-BE49-F238E27FC236}">
                <a16:creationId xmlns:a16="http://schemas.microsoft.com/office/drawing/2014/main" id="{C640DC2B-F0D5-4170-9DBA-FCFEEEAFAE4C}"/>
              </a:ext>
            </a:extLst>
          </p:cNvPr>
          <p:cNvSpPr/>
          <p:nvPr/>
        </p:nvSpPr>
        <p:spPr>
          <a:xfrm>
            <a:off x="270000" y="640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5360" name="client_footer">
            <a:extLst>
              <a:ext uri="{FF2B5EF4-FFF2-40B4-BE49-F238E27FC236}">
                <a16:creationId xmlns:a16="http://schemas.microsoft.com/office/drawing/2014/main" id="{7F4B0311-0C69-BF7E-E373-CFC1F708BACC}"/>
              </a:ext>
            </a:extLst>
          </p:cNvPr>
          <p:cNvSpPr/>
          <p:nvPr/>
        </p:nvSpPr>
        <p:spPr>
          <a:xfrm>
            <a:off x="7680000" y="6270000"/>
            <a:ext cx="1440000" cy="47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97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487"/>
          <p:cNvSpPr txBox="1">
            <a:spLocks noChangeArrowheads="1"/>
          </p:cNvSpPr>
          <p:nvPr/>
        </p:nvSpPr>
        <p:spPr bwMode="auto">
          <a:xfrm>
            <a:off x="266127" y="990526"/>
            <a:ext cx="8554346" cy="41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프로젝트 관련 교육 과정은 시스템의 교육 대상자 별로 구분하여 교육 목표를 달성할 수 있도록 최상의 교육 서비스를 제공합니다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043608" y="1772816"/>
            <a:ext cx="6950274" cy="1404832"/>
            <a:chOff x="1335993" y="1911008"/>
            <a:chExt cx="6414613" cy="1404832"/>
          </a:xfrm>
        </p:grpSpPr>
        <p:sp>
          <p:nvSpPr>
            <p:cNvPr id="29" name="Rectangle 65"/>
            <p:cNvSpPr>
              <a:spLocks noChangeArrowheads="1"/>
            </p:cNvSpPr>
            <p:nvPr/>
          </p:nvSpPr>
          <p:spPr bwMode="auto">
            <a:xfrm>
              <a:off x="1335993" y="1916832"/>
              <a:ext cx="6414613" cy="1399008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defRPr/>
              </a:pPr>
              <a:endParaRPr kumimoji="0" lang="ko-KR" altLang="en-US" b="1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</p:txBody>
        </p:sp>
        <p:grpSp>
          <p:nvGrpSpPr>
            <p:cNvPr id="30" name="Group 167"/>
            <p:cNvGrpSpPr>
              <a:grpSpLocks/>
            </p:cNvGrpSpPr>
            <p:nvPr/>
          </p:nvGrpSpPr>
          <p:grpSpPr bwMode="auto">
            <a:xfrm>
              <a:off x="1552544" y="1911008"/>
              <a:ext cx="5988543" cy="1301121"/>
              <a:chOff x="351" y="1383"/>
              <a:chExt cx="3155" cy="1366"/>
            </a:xfrm>
          </p:grpSpPr>
          <p:sp>
            <p:nvSpPr>
              <p:cNvPr id="37" name="Freeform 68"/>
              <p:cNvSpPr>
                <a:spLocks/>
              </p:cNvSpPr>
              <p:nvPr/>
            </p:nvSpPr>
            <p:spPr bwMode="auto">
              <a:xfrm rot="9287715" flipV="1">
                <a:off x="3112" y="1599"/>
                <a:ext cx="286" cy="288"/>
              </a:xfrm>
              <a:custGeom>
                <a:avLst/>
                <a:gdLst>
                  <a:gd name="T0" fmla="*/ 0 w 640"/>
                  <a:gd name="T1" fmla="*/ 0 h 816"/>
                  <a:gd name="T2" fmla="*/ 0 w 640"/>
                  <a:gd name="T3" fmla="*/ 0 h 816"/>
                  <a:gd name="T4" fmla="*/ 0 w 640"/>
                  <a:gd name="T5" fmla="*/ 0 h 816"/>
                  <a:gd name="T6" fmla="*/ 0 w 640"/>
                  <a:gd name="T7" fmla="*/ 0 h 816"/>
                  <a:gd name="T8" fmla="*/ 0 w 640"/>
                  <a:gd name="T9" fmla="*/ 0 h 816"/>
                  <a:gd name="T10" fmla="*/ 0 w 640"/>
                  <a:gd name="T11" fmla="*/ 0 h 816"/>
                  <a:gd name="T12" fmla="*/ 0 w 640"/>
                  <a:gd name="T13" fmla="*/ 0 h 816"/>
                  <a:gd name="T14" fmla="*/ 0 w 640"/>
                  <a:gd name="T15" fmla="*/ 0 h 81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40"/>
                  <a:gd name="T25" fmla="*/ 0 h 816"/>
                  <a:gd name="T26" fmla="*/ 640 w 640"/>
                  <a:gd name="T27" fmla="*/ 816 h 81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40" h="816">
                    <a:moveTo>
                      <a:pt x="556" y="2"/>
                    </a:moveTo>
                    <a:cubicBezTo>
                      <a:pt x="563" y="4"/>
                      <a:pt x="274" y="6"/>
                      <a:pt x="137" y="257"/>
                    </a:cubicBezTo>
                    <a:cubicBezTo>
                      <a:pt x="0" y="508"/>
                      <a:pt x="306" y="720"/>
                      <a:pt x="300" y="720"/>
                    </a:cubicBezTo>
                    <a:cubicBezTo>
                      <a:pt x="304" y="725"/>
                      <a:pt x="246" y="780"/>
                      <a:pt x="240" y="816"/>
                    </a:cubicBezTo>
                    <a:cubicBezTo>
                      <a:pt x="444" y="786"/>
                      <a:pt x="632" y="757"/>
                      <a:pt x="640" y="750"/>
                    </a:cubicBezTo>
                    <a:cubicBezTo>
                      <a:pt x="538" y="606"/>
                      <a:pt x="527" y="387"/>
                      <a:pt x="527" y="387"/>
                    </a:cubicBezTo>
                    <a:cubicBezTo>
                      <a:pt x="522" y="388"/>
                      <a:pt x="478" y="510"/>
                      <a:pt x="466" y="486"/>
                    </a:cubicBezTo>
                    <a:cubicBezTo>
                      <a:pt x="28" y="92"/>
                      <a:pt x="557" y="0"/>
                      <a:pt x="556" y="2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CECEC"/>
                  </a:gs>
                  <a:gs pos="100000">
                    <a:srgbClr val="BBC9C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endParaRPr>
              </a:p>
            </p:txBody>
          </p:sp>
          <p:sp>
            <p:nvSpPr>
              <p:cNvPr id="38" name="Line 70"/>
              <p:cNvSpPr>
                <a:spLocks noChangeShapeType="1"/>
              </p:cNvSpPr>
              <p:nvPr/>
            </p:nvSpPr>
            <p:spPr bwMode="auto">
              <a:xfrm>
                <a:off x="1273" y="1714"/>
                <a:ext cx="1" cy="321"/>
              </a:xfrm>
              <a:prstGeom prst="line">
                <a:avLst/>
              </a:prstGeom>
              <a:noFill/>
              <a:ln w="12700" algn="ctr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endParaRPr>
              </a:p>
            </p:txBody>
          </p:sp>
          <p:sp>
            <p:nvSpPr>
              <p:cNvPr id="39" name="Line 73"/>
              <p:cNvSpPr>
                <a:spLocks noChangeShapeType="1"/>
              </p:cNvSpPr>
              <p:nvPr/>
            </p:nvSpPr>
            <p:spPr bwMode="auto">
              <a:xfrm>
                <a:off x="3061" y="1618"/>
                <a:ext cx="1" cy="436"/>
              </a:xfrm>
              <a:prstGeom prst="line">
                <a:avLst/>
              </a:prstGeom>
              <a:noFill/>
              <a:ln w="12700" algn="ctr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ko-KR" altLang="en-US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endParaRPr>
              </a:p>
            </p:txBody>
          </p:sp>
          <p:sp>
            <p:nvSpPr>
              <p:cNvPr id="40" name="Freeform 72"/>
              <p:cNvSpPr>
                <a:spLocks/>
              </p:cNvSpPr>
              <p:nvPr/>
            </p:nvSpPr>
            <p:spPr bwMode="auto">
              <a:xfrm rot="5063371" flipV="1">
                <a:off x="1844" y="1973"/>
                <a:ext cx="238" cy="498"/>
              </a:xfrm>
              <a:custGeom>
                <a:avLst/>
                <a:gdLst>
                  <a:gd name="T0" fmla="*/ 0 w 1808"/>
                  <a:gd name="T1" fmla="*/ 484 h 993"/>
                  <a:gd name="T2" fmla="*/ 0 w 1808"/>
                  <a:gd name="T3" fmla="*/ 484 h 993"/>
                  <a:gd name="T4" fmla="*/ 0 w 1808"/>
                  <a:gd name="T5" fmla="*/ 484 h 993"/>
                  <a:gd name="T6" fmla="*/ 0 w 1808"/>
                  <a:gd name="T7" fmla="*/ 482 h 993"/>
                  <a:gd name="T8" fmla="*/ 0 w 1808"/>
                  <a:gd name="T9" fmla="*/ 474 h 993"/>
                  <a:gd name="T10" fmla="*/ 0 w 1808"/>
                  <a:gd name="T11" fmla="*/ 463 h 993"/>
                  <a:gd name="T12" fmla="*/ 0 w 1808"/>
                  <a:gd name="T13" fmla="*/ 452 h 993"/>
                  <a:gd name="T14" fmla="*/ 0 w 1808"/>
                  <a:gd name="T15" fmla="*/ 434 h 993"/>
                  <a:gd name="T16" fmla="*/ 0 w 1808"/>
                  <a:gd name="T17" fmla="*/ 417 h 993"/>
                  <a:gd name="T18" fmla="*/ 0 w 1808"/>
                  <a:gd name="T19" fmla="*/ 396 h 993"/>
                  <a:gd name="T20" fmla="*/ 0 w 1808"/>
                  <a:gd name="T21" fmla="*/ 374 h 993"/>
                  <a:gd name="T22" fmla="*/ 0 w 1808"/>
                  <a:gd name="T23" fmla="*/ 345 h 993"/>
                  <a:gd name="T24" fmla="*/ 0 w 1808"/>
                  <a:gd name="T25" fmla="*/ 315 h 993"/>
                  <a:gd name="T26" fmla="*/ 0 w 1808"/>
                  <a:gd name="T27" fmla="*/ 283 h 993"/>
                  <a:gd name="T28" fmla="*/ 0 w 1808"/>
                  <a:gd name="T29" fmla="*/ 253 h 993"/>
                  <a:gd name="T30" fmla="*/ 0 w 1808"/>
                  <a:gd name="T31" fmla="*/ 218 h 993"/>
                  <a:gd name="T32" fmla="*/ 0 w 1808"/>
                  <a:gd name="T33" fmla="*/ 178 h 993"/>
                  <a:gd name="T34" fmla="*/ 0 w 1808"/>
                  <a:gd name="T35" fmla="*/ 132 h 993"/>
                  <a:gd name="T36" fmla="*/ 0 w 1808"/>
                  <a:gd name="T37" fmla="*/ 97 h 993"/>
                  <a:gd name="T38" fmla="*/ 0 w 1808"/>
                  <a:gd name="T39" fmla="*/ 46 h 993"/>
                  <a:gd name="T40" fmla="*/ 0 w 1808"/>
                  <a:gd name="T41" fmla="*/ 0 h 993"/>
                  <a:gd name="T42" fmla="*/ 0 w 1808"/>
                  <a:gd name="T43" fmla="*/ 14 h 993"/>
                  <a:gd name="T44" fmla="*/ 0 w 1808"/>
                  <a:gd name="T45" fmla="*/ 70 h 993"/>
                  <a:gd name="T46" fmla="*/ 0 w 1808"/>
                  <a:gd name="T47" fmla="*/ 110 h 993"/>
                  <a:gd name="T48" fmla="*/ 0 w 1808"/>
                  <a:gd name="T49" fmla="*/ 116 h 993"/>
                  <a:gd name="T50" fmla="*/ 0 w 1808"/>
                  <a:gd name="T51" fmla="*/ 167 h 993"/>
                  <a:gd name="T52" fmla="*/ 0 w 1808"/>
                  <a:gd name="T53" fmla="*/ 210 h 993"/>
                  <a:gd name="T54" fmla="*/ 0 w 1808"/>
                  <a:gd name="T55" fmla="*/ 253 h 993"/>
                  <a:gd name="T56" fmla="*/ 0 w 1808"/>
                  <a:gd name="T57" fmla="*/ 296 h 993"/>
                  <a:gd name="T58" fmla="*/ 0 w 1808"/>
                  <a:gd name="T59" fmla="*/ 331 h 993"/>
                  <a:gd name="T60" fmla="*/ 0 w 1808"/>
                  <a:gd name="T61" fmla="*/ 366 h 993"/>
                  <a:gd name="T62" fmla="*/ 0 w 1808"/>
                  <a:gd name="T63" fmla="*/ 401 h 993"/>
                  <a:gd name="T64" fmla="*/ 0 w 1808"/>
                  <a:gd name="T65" fmla="*/ 431 h 993"/>
                  <a:gd name="T66" fmla="*/ 0 w 1808"/>
                  <a:gd name="T67" fmla="*/ 463 h 993"/>
                  <a:gd name="T68" fmla="*/ 0 w 1808"/>
                  <a:gd name="T69" fmla="*/ 484 h 993"/>
                  <a:gd name="T70" fmla="*/ 0 w 1808"/>
                  <a:gd name="T71" fmla="*/ 512 h 993"/>
                  <a:gd name="T72" fmla="*/ 0 w 1808"/>
                  <a:gd name="T73" fmla="*/ 533 h 993"/>
                  <a:gd name="T74" fmla="*/ 0 w 1808"/>
                  <a:gd name="T75" fmla="*/ 549 h 993"/>
                  <a:gd name="T76" fmla="*/ 0 w 1808"/>
                  <a:gd name="T77" fmla="*/ 566 h 993"/>
                  <a:gd name="T78" fmla="*/ 0 w 1808"/>
                  <a:gd name="T79" fmla="*/ 579 h 993"/>
                  <a:gd name="T80" fmla="*/ 0 w 1808"/>
                  <a:gd name="T81" fmla="*/ 587 h 993"/>
                  <a:gd name="T82" fmla="*/ 0 w 1808"/>
                  <a:gd name="T83" fmla="*/ 598 h 993"/>
                  <a:gd name="T84" fmla="*/ 0 w 1808"/>
                  <a:gd name="T85" fmla="*/ 601 h 993"/>
                  <a:gd name="T86" fmla="*/ 0 w 1808"/>
                  <a:gd name="T87" fmla="*/ 603 h 993"/>
                  <a:gd name="T88" fmla="*/ 0 w 1808"/>
                  <a:gd name="T89" fmla="*/ 603 h 993"/>
                  <a:gd name="T90" fmla="*/ 0 w 1808"/>
                  <a:gd name="T91" fmla="*/ 603 h 993"/>
                  <a:gd name="T92" fmla="*/ 0 w 1808"/>
                  <a:gd name="T93" fmla="*/ 641 h 993"/>
                  <a:gd name="T94" fmla="*/ 0 w 1808"/>
                  <a:gd name="T95" fmla="*/ 520 h 993"/>
                  <a:gd name="T96" fmla="*/ 0 w 1808"/>
                  <a:gd name="T97" fmla="*/ 436 h 993"/>
                  <a:gd name="T98" fmla="*/ 0 w 1808"/>
                  <a:gd name="T99" fmla="*/ 484 h 993"/>
                  <a:gd name="T100" fmla="*/ 0 w 1808"/>
                  <a:gd name="T101" fmla="*/ 484 h 993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808"/>
                  <a:gd name="T154" fmla="*/ 0 h 993"/>
                  <a:gd name="T155" fmla="*/ 1808 w 1808"/>
                  <a:gd name="T156" fmla="*/ 993 h 993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808" h="993">
                    <a:moveTo>
                      <a:pt x="1370" y="752"/>
                    </a:moveTo>
                    <a:lnTo>
                      <a:pt x="1290" y="752"/>
                    </a:lnTo>
                    <a:lnTo>
                      <a:pt x="1209" y="751"/>
                    </a:lnTo>
                    <a:lnTo>
                      <a:pt x="1124" y="744"/>
                    </a:lnTo>
                    <a:lnTo>
                      <a:pt x="1040" y="733"/>
                    </a:lnTo>
                    <a:lnTo>
                      <a:pt x="951" y="716"/>
                    </a:lnTo>
                    <a:lnTo>
                      <a:pt x="865" y="698"/>
                    </a:lnTo>
                    <a:lnTo>
                      <a:pt x="778" y="673"/>
                    </a:lnTo>
                    <a:lnTo>
                      <a:pt x="694" y="645"/>
                    </a:lnTo>
                    <a:lnTo>
                      <a:pt x="610" y="612"/>
                    </a:lnTo>
                    <a:lnTo>
                      <a:pt x="529" y="575"/>
                    </a:lnTo>
                    <a:lnTo>
                      <a:pt x="453" y="534"/>
                    </a:lnTo>
                    <a:lnTo>
                      <a:pt x="379" y="491"/>
                    </a:lnTo>
                    <a:lnTo>
                      <a:pt x="309" y="441"/>
                    </a:lnTo>
                    <a:lnTo>
                      <a:pt x="245" y="389"/>
                    </a:lnTo>
                    <a:lnTo>
                      <a:pt x="187" y="333"/>
                    </a:lnTo>
                    <a:lnTo>
                      <a:pt x="137" y="272"/>
                    </a:lnTo>
                    <a:lnTo>
                      <a:pt x="92" y="209"/>
                    </a:lnTo>
                    <a:lnTo>
                      <a:pt x="59" y="143"/>
                    </a:lnTo>
                    <a:lnTo>
                      <a:pt x="32" y="71"/>
                    </a:lnTo>
                    <a:lnTo>
                      <a:pt x="16" y="0"/>
                    </a:lnTo>
                    <a:lnTo>
                      <a:pt x="6" y="22"/>
                    </a:lnTo>
                    <a:lnTo>
                      <a:pt x="0" y="107"/>
                    </a:lnTo>
                    <a:lnTo>
                      <a:pt x="6" y="166"/>
                    </a:lnTo>
                    <a:lnTo>
                      <a:pt x="10" y="182"/>
                    </a:lnTo>
                    <a:lnTo>
                      <a:pt x="25" y="253"/>
                    </a:lnTo>
                    <a:lnTo>
                      <a:pt x="52" y="323"/>
                    </a:lnTo>
                    <a:lnTo>
                      <a:pt x="85" y="390"/>
                    </a:lnTo>
                    <a:lnTo>
                      <a:pt x="129" y="454"/>
                    </a:lnTo>
                    <a:lnTo>
                      <a:pt x="180" y="512"/>
                    </a:lnTo>
                    <a:lnTo>
                      <a:pt x="236" y="569"/>
                    </a:lnTo>
                    <a:lnTo>
                      <a:pt x="299" y="621"/>
                    </a:lnTo>
                    <a:lnTo>
                      <a:pt x="367" y="669"/>
                    </a:lnTo>
                    <a:lnTo>
                      <a:pt x="440" y="712"/>
                    </a:lnTo>
                    <a:lnTo>
                      <a:pt x="517" y="753"/>
                    </a:lnTo>
                    <a:lnTo>
                      <a:pt x="595" y="790"/>
                    </a:lnTo>
                    <a:lnTo>
                      <a:pt x="678" y="822"/>
                    </a:lnTo>
                    <a:lnTo>
                      <a:pt x="761" y="850"/>
                    </a:lnTo>
                    <a:lnTo>
                      <a:pt x="848" y="874"/>
                    </a:lnTo>
                    <a:lnTo>
                      <a:pt x="935" y="894"/>
                    </a:lnTo>
                    <a:lnTo>
                      <a:pt x="1020" y="909"/>
                    </a:lnTo>
                    <a:lnTo>
                      <a:pt x="1104" y="922"/>
                    </a:lnTo>
                    <a:lnTo>
                      <a:pt x="1188" y="926"/>
                    </a:lnTo>
                    <a:lnTo>
                      <a:pt x="1269" y="928"/>
                    </a:lnTo>
                    <a:lnTo>
                      <a:pt x="1350" y="928"/>
                    </a:lnTo>
                    <a:lnTo>
                      <a:pt x="1338" y="993"/>
                    </a:lnTo>
                    <a:lnTo>
                      <a:pt x="1808" y="801"/>
                    </a:lnTo>
                    <a:lnTo>
                      <a:pt x="1322" y="677"/>
                    </a:lnTo>
                    <a:lnTo>
                      <a:pt x="1365" y="752"/>
                    </a:lnTo>
                    <a:lnTo>
                      <a:pt x="1370" y="75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7E3FF"/>
                  </a:gs>
                  <a:gs pos="100000">
                    <a:srgbClr val="3399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/>
              <a:p>
                <a:pPr>
                  <a:defRPr/>
                </a:pPr>
                <a:endParaRPr lang="ko-KR" altLang="en-US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endParaRPr>
              </a:p>
            </p:txBody>
          </p:sp>
          <p:sp>
            <p:nvSpPr>
              <p:cNvPr id="41" name="Text Box 75"/>
              <p:cNvSpPr txBox="1">
                <a:spLocks noChangeArrowheads="1"/>
              </p:cNvSpPr>
              <p:nvPr/>
            </p:nvSpPr>
            <p:spPr bwMode="auto">
              <a:xfrm>
                <a:off x="2530" y="2242"/>
                <a:ext cx="30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ko-KR" altLang="en-US" sz="800" b="1" i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 소집</a:t>
                </a:r>
              </a:p>
            </p:txBody>
          </p:sp>
          <p:sp>
            <p:nvSpPr>
              <p:cNvPr id="42" name="Text Box 76"/>
              <p:cNvSpPr txBox="1">
                <a:spLocks noChangeArrowheads="1"/>
              </p:cNvSpPr>
              <p:nvPr/>
            </p:nvSpPr>
            <p:spPr bwMode="auto">
              <a:xfrm>
                <a:off x="1570" y="2230"/>
                <a:ext cx="407" cy="4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ko-KR" altLang="en-US" sz="800" b="1" i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교육전담조직 </a:t>
                </a:r>
              </a:p>
              <a:p>
                <a:pPr eaLnBrk="1" latinLnBrk="1" hangingPunct="1">
                  <a:defRPr/>
                </a:pPr>
                <a:r>
                  <a:rPr lang="ko-KR" altLang="en-US" sz="800" b="1" i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구성하여 </a:t>
                </a:r>
              </a:p>
              <a:p>
                <a:pPr eaLnBrk="1" latinLnBrk="1" hangingPunct="1">
                  <a:defRPr/>
                </a:pPr>
                <a:r>
                  <a:rPr lang="ko-KR" altLang="en-US" sz="800" b="1" i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교육실시</a:t>
                </a:r>
              </a:p>
            </p:txBody>
          </p:sp>
          <p:sp>
            <p:nvSpPr>
              <p:cNvPr id="43" name="AutoShape 106"/>
              <p:cNvSpPr>
                <a:spLocks noChangeArrowheads="1"/>
              </p:cNvSpPr>
              <p:nvPr/>
            </p:nvSpPr>
            <p:spPr bwMode="auto">
              <a:xfrm>
                <a:off x="791" y="1732"/>
                <a:ext cx="472" cy="237"/>
              </a:xfrm>
              <a:prstGeom prst="rightArrow">
                <a:avLst>
                  <a:gd name="adj1" fmla="val 50000"/>
                  <a:gd name="adj2" fmla="val 51312"/>
                </a:avLst>
              </a:prstGeom>
              <a:gradFill rotWithShape="1">
                <a:gsLst>
                  <a:gs pos="0">
                    <a:srgbClr val="ECECEC"/>
                  </a:gs>
                  <a:gs pos="100000">
                    <a:srgbClr val="BBC9C5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ko-KR" altLang="en-US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endParaRPr>
              </a:p>
            </p:txBody>
          </p:sp>
          <p:sp>
            <p:nvSpPr>
              <p:cNvPr id="44" name="AutoShape 108"/>
              <p:cNvSpPr>
                <a:spLocks noChangeArrowheads="1"/>
              </p:cNvSpPr>
              <p:nvPr/>
            </p:nvSpPr>
            <p:spPr bwMode="auto">
              <a:xfrm flipH="1">
                <a:off x="1278" y="1732"/>
                <a:ext cx="492" cy="237"/>
              </a:xfrm>
              <a:prstGeom prst="rightArrow">
                <a:avLst>
                  <a:gd name="adj1" fmla="val 50000"/>
                  <a:gd name="adj2" fmla="val 51322"/>
                </a:avLst>
              </a:prstGeom>
              <a:gradFill rotWithShape="1">
                <a:gsLst>
                  <a:gs pos="0">
                    <a:srgbClr val="ECECEC"/>
                  </a:gs>
                  <a:gs pos="100000">
                    <a:srgbClr val="BBC9C5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eaLnBrk="1" hangingPunct="1">
                  <a:defRPr/>
                </a:pPr>
                <a:endParaRPr kumimoji="0" lang="ko-KR" altLang="en-US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endParaRPr>
              </a:p>
            </p:txBody>
          </p:sp>
          <p:sp>
            <p:nvSpPr>
              <p:cNvPr id="45" name="Rectangle 169"/>
              <p:cNvSpPr>
                <a:spLocks noChangeArrowheads="1"/>
              </p:cNvSpPr>
              <p:nvPr/>
            </p:nvSpPr>
            <p:spPr bwMode="auto">
              <a:xfrm>
                <a:off x="2031" y="2567"/>
                <a:ext cx="54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lang="ko-KR" altLang="en-US" sz="900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교육대상자</a:t>
                </a:r>
              </a:p>
            </p:txBody>
          </p:sp>
          <p:sp>
            <p:nvSpPr>
              <p:cNvPr id="46" name="Rectangle 170"/>
              <p:cNvSpPr>
                <a:spLocks noChangeArrowheads="1"/>
              </p:cNvSpPr>
              <p:nvPr/>
            </p:nvSpPr>
            <p:spPr bwMode="auto">
              <a:xfrm>
                <a:off x="2634" y="1971"/>
                <a:ext cx="849" cy="225"/>
              </a:xfrm>
              <a:prstGeom prst="rect">
                <a:avLst/>
              </a:prstGeom>
              <a:solidFill>
                <a:srgbClr val="FFFFFF"/>
              </a:solidFill>
              <a:ln w="38100" cmpd="dbl" algn="ctr">
                <a:solidFill>
                  <a:srgbClr val="BBC9C5"/>
                </a:solidFill>
                <a:miter lim="800000"/>
                <a:headEnd/>
                <a:tailEnd/>
              </a:ln>
            </p:spPr>
            <p:txBody>
              <a:bodyPr lIns="0" tIns="36000" rIns="0" bIns="360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교육담당</a:t>
                </a:r>
              </a:p>
            </p:txBody>
          </p:sp>
          <p:sp>
            <p:nvSpPr>
              <p:cNvPr id="47" name="AutoShape 171"/>
              <p:cNvSpPr>
                <a:spLocks noChangeArrowheads="1"/>
              </p:cNvSpPr>
              <p:nvPr/>
            </p:nvSpPr>
            <p:spPr bwMode="auto">
              <a:xfrm>
                <a:off x="2628" y="1390"/>
                <a:ext cx="856" cy="238"/>
              </a:xfrm>
              <a:prstGeom prst="roundRect">
                <a:avLst>
                  <a:gd name="adj" fmla="val 3458"/>
                </a:avLst>
              </a:prstGeom>
              <a:solidFill>
                <a:srgbClr val="FFFFFF"/>
              </a:solidFill>
              <a:ln w="38100" cmpd="dbl" algn="ctr">
                <a:solidFill>
                  <a:srgbClr val="BBC9C5"/>
                </a:solidFill>
                <a:round/>
                <a:headEnd/>
                <a:tailEnd/>
              </a:ln>
            </p:spPr>
            <p:txBody>
              <a:bodyPr lIns="0" tIns="36000" rIns="0" bIns="360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시스템 구축 프로젝트 팀</a:t>
                </a:r>
              </a:p>
            </p:txBody>
          </p:sp>
          <p:sp>
            <p:nvSpPr>
              <p:cNvPr id="48" name="Rectangle 172"/>
              <p:cNvSpPr>
                <a:spLocks noChangeArrowheads="1"/>
              </p:cNvSpPr>
              <p:nvPr/>
            </p:nvSpPr>
            <p:spPr bwMode="auto">
              <a:xfrm>
                <a:off x="951" y="1383"/>
                <a:ext cx="640" cy="320"/>
              </a:xfrm>
              <a:prstGeom prst="rect">
                <a:avLst/>
              </a:prstGeom>
              <a:solidFill>
                <a:srgbClr val="FFFFFF"/>
              </a:solidFill>
              <a:ln w="38100" cmpd="dbl" algn="ctr">
                <a:solidFill>
                  <a:srgbClr val="BBC9C5"/>
                </a:solidFill>
                <a:miter lim="800000"/>
                <a:headEnd/>
                <a:tailEnd/>
              </a:ln>
            </p:spPr>
            <p:txBody>
              <a:bodyPr lIns="0" tIns="36000" rIns="0" bIns="360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프로젝트 관리자</a:t>
                </a:r>
              </a:p>
              <a:p>
                <a:pPr algn="ctr">
                  <a:lnSpc>
                    <a:spcPct val="90000"/>
                  </a:lnSpc>
                  <a:defRPr/>
                </a:pPr>
                <a:r>
                  <a:rPr kumimoji="0" lang="en-US" altLang="ko-KR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(</a:t>
                </a: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교육훈련 총괄</a:t>
                </a:r>
                <a:r>
                  <a:rPr kumimoji="0" lang="en-US" altLang="ko-KR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)</a:t>
                </a:r>
              </a:p>
            </p:txBody>
          </p:sp>
          <p:sp>
            <p:nvSpPr>
              <p:cNvPr id="49" name="AutoShape 173"/>
              <p:cNvSpPr>
                <a:spLocks noChangeArrowheads="1"/>
              </p:cNvSpPr>
              <p:nvPr/>
            </p:nvSpPr>
            <p:spPr bwMode="auto">
              <a:xfrm>
                <a:off x="351" y="1714"/>
                <a:ext cx="494" cy="253"/>
              </a:xfrm>
              <a:prstGeom prst="roundRect">
                <a:avLst>
                  <a:gd name="adj" fmla="val 3458"/>
                </a:avLst>
              </a:prstGeom>
              <a:solidFill>
                <a:srgbClr val="FFFFFF"/>
              </a:solidFill>
              <a:ln w="38100" cmpd="dbl" algn="ctr">
                <a:solidFill>
                  <a:srgbClr val="BBC9C5"/>
                </a:solidFill>
                <a:round/>
                <a:headEnd/>
                <a:tailEnd/>
              </a:ln>
            </p:spPr>
            <p:txBody>
              <a:bodyPr lIns="0" tIns="36000" rIns="0" bIns="360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귀교</a:t>
                </a:r>
              </a:p>
            </p:txBody>
          </p:sp>
          <p:sp>
            <p:nvSpPr>
              <p:cNvPr id="50" name="AutoShape 174"/>
              <p:cNvSpPr>
                <a:spLocks noChangeArrowheads="1"/>
              </p:cNvSpPr>
              <p:nvPr/>
            </p:nvSpPr>
            <p:spPr bwMode="auto">
              <a:xfrm>
                <a:off x="1714" y="1750"/>
                <a:ext cx="597" cy="211"/>
              </a:xfrm>
              <a:prstGeom prst="roundRect">
                <a:avLst>
                  <a:gd name="adj" fmla="val 3458"/>
                </a:avLst>
              </a:prstGeom>
              <a:solidFill>
                <a:srgbClr val="FFFFFF"/>
              </a:solidFill>
              <a:ln w="38100" cmpd="dbl" algn="ctr">
                <a:solidFill>
                  <a:srgbClr val="BBC9C5"/>
                </a:solidFill>
                <a:round/>
                <a:headEnd/>
                <a:tailEnd/>
              </a:ln>
            </p:spPr>
            <p:txBody>
              <a:bodyPr lIns="0" tIns="36000" rIns="0" bIns="360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제안사 프로젝트 팀원</a:t>
                </a:r>
              </a:p>
            </p:txBody>
          </p:sp>
          <p:sp>
            <p:nvSpPr>
              <p:cNvPr id="51" name="AutoShape 175"/>
              <p:cNvSpPr>
                <a:spLocks noChangeArrowheads="1"/>
              </p:cNvSpPr>
              <p:nvPr/>
            </p:nvSpPr>
            <p:spPr bwMode="auto">
              <a:xfrm>
                <a:off x="976" y="2019"/>
                <a:ext cx="585" cy="209"/>
              </a:xfrm>
              <a:prstGeom prst="roundRect">
                <a:avLst>
                  <a:gd name="adj" fmla="val 3458"/>
                </a:avLst>
              </a:prstGeom>
              <a:solidFill>
                <a:srgbClr val="FFFFFF"/>
              </a:solidFill>
              <a:ln w="38100" cmpd="dbl" algn="ctr">
                <a:solidFill>
                  <a:srgbClr val="BBC9C5"/>
                </a:solidFill>
                <a:round/>
                <a:headEnd/>
                <a:tailEnd/>
              </a:ln>
            </p:spPr>
            <p:txBody>
              <a:bodyPr lIns="0" tIns="36000" rIns="0" bIns="360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관리담당자</a:t>
                </a:r>
              </a:p>
            </p:txBody>
          </p:sp>
          <p:sp>
            <p:nvSpPr>
              <p:cNvPr id="52" name="AutoShape 176"/>
              <p:cNvSpPr>
                <a:spLocks noChangeArrowheads="1"/>
              </p:cNvSpPr>
              <p:nvPr/>
            </p:nvSpPr>
            <p:spPr bwMode="auto">
              <a:xfrm>
                <a:off x="976" y="2251"/>
                <a:ext cx="585" cy="209"/>
              </a:xfrm>
              <a:prstGeom prst="roundRect">
                <a:avLst>
                  <a:gd name="adj" fmla="val 3458"/>
                </a:avLst>
              </a:prstGeom>
              <a:solidFill>
                <a:srgbClr val="FFFFFF"/>
              </a:solidFill>
              <a:ln w="38100" cmpd="dbl" algn="ctr">
                <a:solidFill>
                  <a:srgbClr val="BBC9C5"/>
                </a:solidFill>
                <a:round/>
                <a:headEnd/>
                <a:tailEnd/>
              </a:ln>
            </p:spPr>
            <p:txBody>
              <a:bodyPr lIns="0" tIns="36000" rIns="0" bIns="36000" anchor="ctr"/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>
                  <a:lnSpc>
                    <a:spcPct val="90000"/>
                  </a:lnSpc>
                  <a:defRPr/>
                </a:pPr>
                <a:r>
                  <a:rPr kumimoji="0" lang="ko-KR" altLang="en-US" sz="900" b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프로젝트 팀</a:t>
                </a:r>
              </a:p>
            </p:txBody>
          </p:sp>
          <p:sp>
            <p:nvSpPr>
              <p:cNvPr id="53" name="Text Box 107"/>
              <p:cNvSpPr txBox="1">
                <a:spLocks noChangeArrowheads="1"/>
              </p:cNvSpPr>
              <p:nvPr/>
            </p:nvSpPr>
            <p:spPr bwMode="auto">
              <a:xfrm>
                <a:off x="819" y="1760"/>
                <a:ext cx="3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 eaLnBrk="1" latinLnBrk="1" hangingPunct="1">
                  <a:lnSpc>
                    <a:spcPct val="90000"/>
                  </a:lnSpc>
                  <a:defRPr/>
                </a:pPr>
                <a:r>
                  <a:rPr lang="ko-KR" altLang="en-US" sz="800" b="1" i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교육훈련지원</a:t>
                </a:r>
              </a:p>
            </p:txBody>
          </p:sp>
          <p:sp>
            <p:nvSpPr>
              <p:cNvPr id="54" name="Text Box 109"/>
              <p:cNvSpPr txBox="1">
                <a:spLocks noChangeArrowheads="1"/>
              </p:cNvSpPr>
              <p:nvPr/>
            </p:nvSpPr>
            <p:spPr bwMode="auto">
              <a:xfrm>
                <a:off x="1307" y="1760"/>
                <a:ext cx="3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algn="ctr" eaLnBrk="1" latinLnBrk="1" hangingPunct="1">
                  <a:lnSpc>
                    <a:spcPct val="90000"/>
                  </a:lnSpc>
                  <a:defRPr/>
                </a:pPr>
                <a:r>
                  <a:rPr lang="ko-KR" altLang="en-US" sz="800" b="1" i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교육훈련지원</a:t>
                </a:r>
              </a:p>
            </p:txBody>
          </p:sp>
          <p:grpSp>
            <p:nvGrpSpPr>
              <p:cNvPr id="59" name="Group 156"/>
              <p:cNvGrpSpPr>
                <a:grpSpLocks/>
              </p:cNvGrpSpPr>
              <p:nvPr/>
            </p:nvGrpSpPr>
            <p:grpSpPr bwMode="auto">
              <a:xfrm>
                <a:off x="2103" y="2322"/>
                <a:ext cx="386" cy="169"/>
                <a:chOff x="2097" y="2388"/>
                <a:chExt cx="727" cy="316"/>
              </a:xfrm>
            </p:grpSpPr>
            <p:pic>
              <p:nvPicPr>
                <p:cNvPr id="61" name="Picture 82" descr="6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97" y="2388"/>
                  <a:ext cx="290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2" name="Picture 82" descr="6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34" y="2388"/>
                  <a:ext cx="290" cy="3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sp>
            <p:nvSpPr>
              <p:cNvPr id="56" name="Freeform 72"/>
              <p:cNvSpPr>
                <a:spLocks/>
              </p:cNvSpPr>
              <p:nvPr/>
            </p:nvSpPr>
            <p:spPr bwMode="auto">
              <a:xfrm rot="-5063371" flipH="1" flipV="1">
                <a:off x="2479" y="1973"/>
                <a:ext cx="238" cy="498"/>
              </a:xfrm>
              <a:custGeom>
                <a:avLst/>
                <a:gdLst>
                  <a:gd name="T0" fmla="*/ 0 w 1808"/>
                  <a:gd name="T1" fmla="*/ 484 h 993"/>
                  <a:gd name="T2" fmla="*/ 0 w 1808"/>
                  <a:gd name="T3" fmla="*/ 484 h 993"/>
                  <a:gd name="T4" fmla="*/ 0 w 1808"/>
                  <a:gd name="T5" fmla="*/ 484 h 993"/>
                  <a:gd name="T6" fmla="*/ 0 w 1808"/>
                  <a:gd name="T7" fmla="*/ 482 h 993"/>
                  <a:gd name="T8" fmla="*/ 0 w 1808"/>
                  <a:gd name="T9" fmla="*/ 474 h 993"/>
                  <a:gd name="T10" fmla="*/ 0 w 1808"/>
                  <a:gd name="T11" fmla="*/ 463 h 993"/>
                  <a:gd name="T12" fmla="*/ 0 w 1808"/>
                  <a:gd name="T13" fmla="*/ 452 h 993"/>
                  <a:gd name="T14" fmla="*/ 0 w 1808"/>
                  <a:gd name="T15" fmla="*/ 434 h 993"/>
                  <a:gd name="T16" fmla="*/ 0 w 1808"/>
                  <a:gd name="T17" fmla="*/ 417 h 993"/>
                  <a:gd name="T18" fmla="*/ 0 w 1808"/>
                  <a:gd name="T19" fmla="*/ 396 h 993"/>
                  <a:gd name="T20" fmla="*/ 0 w 1808"/>
                  <a:gd name="T21" fmla="*/ 374 h 993"/>
                  <a:gd name="T22" fmla="*/ 0 w 1808"/>
                  <a:gd name="T23" fmla="*/ 345 h 993"/>
                  <a:gd name="T24" fmla="*/ 0 w 1808"/>
                  <a:gd name="T25" fmla="*/ 315 h 993"/>
                  <a:gd name="T26" fmla="*/ 0 w 1808"/>
                  <a:gd name="T27" fmla="*/ 283 h 993"/>
                  <a:gd name="T28" fmla="*/ 0 w 1808"/>
                  <a:gd name="T29" fmla="*/ 253 h 993"/>
                  <a:gd name="T30" fmla="*/ 0 w 1808"/>
                  <a:gd name="T31" fmla="*/ 218 h 993"/>
                  <a:gd name="T32" fmla="*/ 0 w 1808"/>
                  <a:gd name="T33" fmla="*/ 178 h 993"/>
                  <a:gd name="T34" fmla="*/ 0 w 1808"/>
                  <a:gd name="T35" fmla="*/ 132 h 993"/>
                  <a:gd name="T36" fmla="*/ 0 w 1808"/>
                  <a:gd name="T37" fmla="*/ 97 h 993"/>
                  <a:gd name="T38" fmla="*/ 0 w 1808"/>
                  <a:gd name="T39" fmla="*/ 46 h 993"/>
                  <a:gd name="T40" fmla="*/ 0 w 1808"/>
                  <a:gd name="T41" fmla="*/ 0 h 993"/>
                  <a:gd name="T42" fmla="*/ 0 w 1808"/>
                  <a:gd name="T43" fmla="*/ 14 h 993"/>
                  <a:gd name="T44" fmla="*/ 0 w 1808"/>
                  <a:gd name="T45" fmla="*/ 70 h 993"/>
                  <a:gd name="T46" fmla="*/ 0 w 1808"/>
                  <a:gd name="T47" fmla="*/ 110 h 993"/>
                  <a:gd name="T48" fmla="*/ 0 w 1808"/>
                  <a:gd name="T49" fmla="*/ 116 h 993"/>
                  <a:gd name="T50" fmla="*/ 0 w 1808"/>
                  <a:gd name="T51" fmla="*/ 167 h 993"/>
                  <a:gd name="T52" fmla="*/ 0 w 1808"/>
                  <a:gd name="T53" fmla="*/ 210 h 993"/>
                  <a:gd name="T54" fmla="*/ 0 w 1808"/>
                  <a:gd name="T55" fmla="*/ 253 h 993"/>
                  <a:gd name="T56" fmla="*/ 0 w 1808"/>
                  <a:gd name="T57" fmla="*/ 296 h 993"/>
                  <a:gd name="T58" fmla="*/ 0 w 1808"/>
                  <a:gd name="T59" fmla="*/ 331 h 993"/>
                  <a:gd name="T60" fmla="*/ 0 w 1808"/>
                  <a:gd name="T61" fmla="*/ 366 h 993"/>
                  <a:gd name="T62" fmla="*/ 0 w 1808"/>
                  <a:gd name="T63" fmla="*/ 401 h 993"/>
                  <a:gd name="T64" fmla="*/ 0 w 1808"/>
                  <a:gd name="T65" fmla="*/ 431 h 993"/>
                  <a:gd name="T66" fmla="*/ 0 w 1808"/>
                  <a:gd name="T67" fmla="*/ 463 h 993"/>
                  <a:gd name="T68" fmla="*/ 0 w 1808"/>
                  <a:gd name="T69" fmla="*/ 484 h 993"/>
                  <a:gd name="T70" fmla="*/ 0 w 1808"/>
                  <a:gd name="T71" fmla="*/ 512 h 993"/>
                  <a:gd name="T72" fmla="*/ 0 w 1808"/>
                  <a:gd name="T73" fmla="*/ 533 h 993"/>
                  <a:gd name="T74" fmla="*/ 0 w 1808"/>
                  <a:gd name="T75" fmla="*/ 549 h 993"/>
                  <a:gd name="T76" fmla="*/ 0 w 1808"/>
                  <a:gd name="T77" fmla="*/ 566 h 993"/>
                  <a:gd name="T78" fmla="*/ 0 w 1808"/>
                  <a:gd name="T79" fmla="*/ 579 h 993"/>
                  <a:gd name="T80" fmla="*/ 0 w 1808"/>
                  <a:gd name="T81" fmla="*/ 587 h 993"/>
                  <a:gd name="T82" fmla="*/ 0 w 1808"/>
                  <a:gd name="T83" fmla="*/ 598 h 993"/>
                  <a:gd name="T84" fmla="*/ 0 w 1808"/>
                  <a:gd name="T85" fmla="*/ 601 h 993"/>
                  <a:gd name="T86" fmla="*/ 0 w 1808"/>
                  <a:gd name="T87" fmla="*/ 603 h 993"/>
                  <a:gd name="T88" fmla="*/ 0 w 1808"/>
                  <a:gd name="T89" fmla="*/ 603 h 993"/>
                  <a:gd name="T90" fmla="*/ 0 w 1808"/>
                  <a:gd name="T91" fmla="*/ 603 h 993"/>
                  <a:gd name="T92" fmla="*/ 0 w 1808"/>
                  <a:gd name="T93" fmla="*/ 641 h 993"/>
                  <a:gd name="T94" fmla="*/ 0 w 1808"/>
                  <a:gd name="T95" fmla="*/ 520 h 993"/>
                  <a:gd name="T96" fmla="*/ 0 w 1808"/>
                  <a:gd name="T97" fmla="*/ 436 h 993"/>
                  <a:gd name="T98" fmla="*/ 0 w 1808"/>
                  <a:gd name="T99" fmla="*/ 484 h 993"/>
                  <a:gd name="T100" fmla="*/ 0 w 1808"/>
                  <a:gd name="T101" fmla="*/ 484 h 993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w 1808"/>
                  <a:gd name="T154" fmla="*/ 0 h 993"/>
                  <a:gd name="T155" fmla="*/ 1808 w 1808"/>
                  <a:gd name="T156" fmla="*/ 993 h 993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T153" t="T154" r="T155" b="T156"/>
                <a:pathLst>
                  <a:path w="1808" h="993">
                    <a:moveTo>
                      <a:pt x="1370" y="752"/>
                    </a:moveTo>
                    <a:lnTo>
                      <a:pt x="1290" y="752"/>
                    </a:lnTo>
                    <a:lnTo>
                      <a:pt x="1209" y="751"/>
                    </a:lnTo>
                    <a:lnTo>
                      <a:pt x="1124" y="744"/>
                    </a:lnTo>
                    <a:lnTo>
                      <a:pt x="1040" y="733"/>
                    </a:lnTo>
                    <a:lnTo>
                      <a:pt x="951" y="716"/>
                    </a:lnTo>
                    <a:lnTo>
                      <a:pt x="865" y="698"/>
                    </a:lnTo>
                    <a:lnTo>
                      <a:pt x="778" y="673"/>
                    </a:lnTo>
                    <a:lnTo>
                      <a:pt x="694" y="645"/>
                    </a:lnTo>
                    <a:lnTo>
                      <a:pt x="610" y="612"/>
                    </a:lnTo>
                    <a:lnTo>
                      <a:pt x="529" y="575"/>
                    </a:lnTo>
                    <a:lnTo>
                      <a:pt x="453" y="534"/>
                    </a:lnTo>
                    <a:lnTo>
                      <a:pt x="379" y="491"/>
                    </a:lnTo>
                    <a:lnTo>
                      <a:pt x="309" y="441"/>
                    </a:lnTo>
                    <a:lnTo>
                      <a:pt x="245" y="389"/>
                    </a:lnTo>
                    <a:lnTo>
                      <a:pt x="187" y="333"/>
                    </a:lnTo>
                    <a:lnTo>
                      <a:pt x="137" y="272"/>
                    </a:lnTo>
                    <a:lnTo>
                      <a:pt x="92" y="209"/>
                    </a:lnTo>
                    <a:lnTo>
                      <a:pt x="59" y="143"/>
                    </a:lnTo>
                    <a:lnTo>
                      <a:pt x="32" y="71"/>
                    </a:lnTo>
                    <a:lnTo>
                      <a:pt x="16" y="0"/>
                    </a:lnTo>
                    <a:lnTo>
                      <a:pt x="6" y="22"/>
                    </a:lnTo>
                    <a:lnTo>
                      <a:pt x="0" y="107"/>
                    </a:lnTo>
                    <a:lnTo>
                      <a:pt x="6" y="166"/>
                    </a:lnTo>
                    <a:lnTo>
                      <a:pt x="10" y="182"/>
                    </a:lnTo>
                    <a:lnTo>
                      <a:pt x="25" y="253"/>
                    </a:lnTo>
                    <a:lnTo>
                      <a:pt x="52" y="323"/>
                    </a:lnTo>
                    <a:lnTo>
                      <a:pt x="85" y="390"/>
                    </a:lnTo>
                    <a:lnTo>
                      <a:pt x="129" y="454"/>
                    </a:lnTo>
                    <a:lnTo>
                      <a:pt x="180" y="512"/>
                    </a:lnTo>
                    <a:lnTo>
                      <a:pt x="236" y="569"/>
                    </a:lnTo>
                    <a:lnTo>
                      <a:pt x="299" y="621"/>
                    </a:lnTo>
                    <a:lnTo>
                      <a:pt x="367" y="669"/>
                    </a:lnTo>
                    <a:lnTo>
                      <a:pt x="440" y="712"/>
                    </a:lnTo>
                    <a:lnTo>
                      <a:pt x="517" y="753"/>
                    </a:lnTo>
                    <a:lnTo>
                      <a:pt x="595" y="790"/>
                    </a:lnTo>
                    <a:lnTo>
                      <a:pt x="678" y="822"/>
                    </a:lnTo>
                    <a:lnTo>
                      <a:pt x="761" y="850"/>
                    </a:lnTo>
                    <a:lnTo>
                      <a:pt x="848" y="874"/>
                    </a:lnTo>
                    <a:lnTo>
                      <a:pt x="935" y="894"/>
                    </a:lnTo>
                    <a:lnTo>
                      <a:pt x="1020" y="909"/>
                    </a:lnTo>
                    <a:lnTo>
                      <a:pt x="1104" y="922"/>
                    </a:lnTo>
                    <a:lnTo>
                      <a:pt x="1188" y="926"/>
                    </a:lnTo>
                    <a:lnTo>
                      <a:pt x="1269" y="928"/>
                    </a:lnTo>
                    <a:lnTo>
                      <a:pt x="1350" y="928"/>
                    </a:lnTo>
                    <a:lnTo>
                      <a:pt x="1338" y="993"/>
                    </a:lnTo>
                    <a:lnTo>
                      <a:pt x="1808" y="801"/>
                    </a:lnTo>
                    <a:lnTo>
                      <a:pt x="1322" y="677"/>
                    </a:lnTo>
                    <a:lnTo>
                      <a:pt x="1365" y="752"/>
                    </a:lnTo>
                    <a:lnTo>
                      <a:pt x="1370" y="75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7E3FF"/>
                  </a:gs>
                  <a:gs pos="100000">
                    <a:srgbClr val="3399FF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/>
              <a:lstStyle/>
              <a:p>
                <a:pPr>
                  <a:defRPr/>
                </a:pPr>
                <a:endParaRPr lang="ko-KR" altLang="en-US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endParaRPr>
              </a:p>
            </p:txBody>
          </p:sp>
          <p:sp>
            <p:nvSpPr>
              <p:cNvPr id="57" name="Text Box 69"/>
              <p:cNvSpPr txBox="1">
                <a:spLocks noChangeArrowheads="1"/>
              </p:cNvSpPr>
              <p:nvPr/>
            </p:nvSpPr>
            <p:spPr bwMode="auto">
              <a:xfrm>
                <a:off x="3117" y="1717"/>
                <a:ext cx="3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1pPr>
                <a:lvl2pPr marL="742950" indent="-28575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2pPr>
                <a:lvl3pPr marL="11430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3pPr>
                <a:lvl4pPr marL="16002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4pPr>
                <a:lvl5pPr marL="2057400" indent="-228600"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Book Antiqua" panose="02040602050305030304" pitchFamily="18" charset="0"/>
                    <a:ea typeface="바탕체" panose="02030609000101010101" pitchFamily="17" charset="-127"/>
                  </a:defRPr>
                </a:lvl9pPr>
              </a:lstStyle>
              <a:p>
                <a:pPr eaLnBrk="1" latinLnBrk="1" hangingPunct="1">
                  <a:lnSpc>
                    <a:spcPct val="90000"/>
                  </a:lnSpc>
                  <a:defRPr/>
                </a:pPr>
                <a:r>
                  <a:rPr lang="ko-KR" altLang="en-US" sz="800" b="1" i="1" dirty="0">
                    <a:gradFill>
                      <a:gsLst>
                        <a:gs pos="100000">
                          <a:schemeClr val="tx1"/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  <a:latin typeface="+mn-ea"/>
                    <a:ea typeface="+mn-ea"/>
                  </a:rPr>
                  <a:t>교육대상선정</a:t>
                </a:r>
              </a:p>
            </p:txBody>
          </p:sp>
        </p:grpSp>
      </p:grp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4052"/>
              </p:ext>
            </p:extLst>
          </p:nvPr>
        </p:nvGraphicFramePr>
        <p:xfrm>
          <a:off x="1043608" y="3290808"/>
          <a:ext cx="6950274" cy="1402993"/>
        </p:xfrm>
        <a:graphic>
          <a:graphicData uri="http://schemas.openxmlformats.org/drawingml/2006/table">
            <a:tbl>
              <a:tblPr bandRow="1">
                <a:tableStyleId>{6E25E649-3F16-4E02-A733-19D2CDBF48F0}</a:tableStyleId>
              </a:tblPr>
              <a:tblGrid>
                <a:gridCol w="936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9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귀교</a:t>
                      </a:r>
                    </a:p>
                  </a:txBody>
                  <a:tcPr marL="91425" marR="91425" marT="45671" marB="4567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교육담당</a:t>
                      </a:r>
                    </a:p>
                  </a:txBody>
                  <a:tcPr marL="91425" marR="91425" marT="45671" marB="4567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교육계획 검토 및 확인</a:t>
                      </a:r>
                      <a:r>
                        <a:rPr lang="en-US" altLang="ko-KR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교육대상자 선정 지원</a:t>
                      </a:r>
                      <a:r>
                        <a:rPr lang="en-US" altLang="ko-KR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준비 지원</a:t>
                      </a:r>
                    </a:p>
                  </a:txBody>
                  <a:tcPr marL="91425" marR="91425" marT="45671" marB="4567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41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제안사</a:t>
                      </a:r>
                    </a:p>
                  </a:txBody>
                  <a:tcPr marL="91425" marR="91425" marT="45671" marB="45671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프로젝트 관리자</a:t>
                      </a:r>
                    </a:p>
                  </a:txBody>
                  <a:tcPr marL="91425" marR="91425" marT="45671" marB="4567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교육훈련계획의 전반적인 조정 감독</a:t>
                      </a:r>
                    </a:p>
                  </a:txBody>
                  <a:tcPr marL="91425" marR="91425" marT="45671" marB="4567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1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사업관리 담당자</a:t>
                      </a:r>
                    </a:p>
                  </a:txBody>
                  <a:tcPr marL="91425" marR="91425" marT="45671" marB="4567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교육계획 수립</a:t>
                      </a:r>
                      <a:r>
                        <a:rPr lang="en-US" altLang="ko-KR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en-US" altLang="ko-KR" sz="1000" b="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 지원</a:t>
                      </a:r>
                      <a:endParaRPr lang="ko-KR" altLang="en-US" sz="1000" b="0" dirty="0">
                        <a:gradFill>
                          <a:gsLst>
                            <a:gs pos="100000">
                              <a:schemeClr val="tx1"/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45000"/>
                                <a:lumOff val="55000"/>
                              </a:schemeClr>
                            </a:gs>
                            <a:gs pos="100000">
                              <a:schemeClr val="accent1">
                                <a:lumMod val="30000"/>
                                <a:lumOff val="70000"/>
                              </a:schemeClr>
                            </a:gs>
                          </a:gsLst>
                          <a:lin ang="5400000" scaled="1"/>
                        </a:gra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25" marR="91425" marT="45671" marB="4567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41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</a:t>
                      </a:r>
                      <a:r>
                        <a:rPr lang="ko-KR" altLang="en-US" sz="1000" b="0" baseline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구축 </a:t>
                      </a:r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조직</a:t>
                      </a:r>
                    </a:p>
                  </a:txBody>
                  <a:tcPr marL="91425" marR="91425" marT="45671" marB="4567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운영자 매뉴얼 작성</a:t>
                      </a:r>
                      <a:r>
                        <a:rPr lang="en-US" altLang="ko-KR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운영자 교육 수행</a:t>
                      </a:r>
                    </a:p>
                  </a:txBody>
                  <a:tcPr marL="91425" marR="91425" marT="45671" marB="4567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10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조직</a:t>
                      </a:r>
                    </a:p>
                  </a:txBody>
                  <a:tcPr marL="91425" marR="91425" marT="45671" marB="45671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S/W </a:t>
                      </a:r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매뉴얼 작성 및 기술</a:t>
                      </a:r>
                      <a:r>
                        <a:rPr lang="en-US" altLang="ko-KR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dirty="0">
                          <a:gradFill>
                            <a:gsLst>
                              <a:gs pos="100000">
                                <a:schemeClr val="tx1"/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45000"/>
                                  <a:lumOff val="55000"/>
                                </a:schemeClr>
                              </a:gs>
                              <a:gs pos="100000">
                                <a:schemeClr val="accent1">
                                  <a:lumMod val="30000"/>
                                  <a:lumOff val="70000"/>
                                </a:schemeClr>
                              </a:gs>
                            </a:gsLst>
                            <a:lin ang="5400000" scaled="1"/>
                          </a:gra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설치 교육</a:t>
                      </a:r>
                    </a:p>
                  </a:txBody>
                  <a:tcPr marL="91425" marR="91425" marT="45671" marB="4567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4" name="다이어그램 63"/>
          <p:cNvGraphicFramePr/>
          <p:nvPr>
            <p:extLst>
              <p:ext uri="{D42A27DB-BD31-4B8C-83A1-F6EECF244321}">
                <p14:modId xmlns:p14="http://schemas.microsoft.com/office/powerpoint/2010/main" val="3392998394"/>
              </p:ext>
            </p:extLst>
          </p:nvPr>
        </p:nvGraphicFramePr>
        <p:xfrm>
          <a:off x="1043608" y="4804066"/>
          <a:ext cx="7095117" cy="662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" name="그룹 2"/>
          <p:cNvGrpSpPr/>
          <p:nvPr/>
        </p:nvGrpSpPr>
        <p:grpSpPr>
          <a:xfrm>
            <a:off x="1043608" y="5379040"/>
            <a:ext cx="6950274" cy="1152128"/>
            <a:chOff x="1043608" y="5445224"/>
            <a:chExt cx="6321975" cy="980747"/>
          </a:xfrm>
        </p:grpSpPr>
        <p:sp>
          <p:nvSpPr>
            <p:cNvPr id="65" name="Rectangle 65"/>
            <p:cNvSpPr>
              <a:spLocks noChangeArrowheads="1"/>
            </p:cNvSpPr>
            <p:nvPr/>
          </p:nvSpPr>
          <p:spPr bwMode="auto">
            <a:xfrm>
              <a:off x="1043608" y="5450476"/>
              <a:ext cx="1506571" cy="97549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latinLnBrk="0">
                <a:lnSpc>
                  <a:spcPct val="120000"/>
                </a:lnSpc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프로젝트 추진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latinLnBrk="0">
                <a:lnSpc>
                  <a:spcPct val="120000"/>
                </a:lnSpc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일정 참조하여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latinLnBrk="0">
                <a:lnSpc>
                  <a:spcPct val="120000"/>
                </a:lnSpc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계획 수립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latinLnBrk="0">
                <a:lnSpc>
                  <a:spcPct val="120000"/>
                </a:lnSpc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교육대상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장소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</a:p>
            <a:p>
              <a:pPr latinLnBrk="0">
                <a:lnSpc>
                  <a:spcPct val="120000"/>
                </a:lnSpc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방법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내용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</a:p>
            <a:p>
              <a:pPr latinLnBrk="0">
                <a:lnSpc>
                  <a:spcPct val="120000"/>
                </a:lnSpc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자료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  <a:r>
                <a:rPr lang="ko-KR" altLang="en-US" sz="900" dirty="0">
                  <a:latin typeface="+mn-ea"/>
                  <a:ea typeface="+mn-ea"/>
                </a:rPr>
                <a:t>강사</a:t>
              </a:r>
              <a:r>
                <a:rPr lang="en-US" altLang="ko-KR" sz="900" dirty="0">
                  <a:latin typeface="+mn-ea"/>
                  <a:ea typeface="+mn-ea"/>
                </a:rPr>
                <a:t>, </a:t>
              </a:r>
            </a:p>
            <a:p>
              <a:pPr latinLnBrk="0">
                <a:lnSpc>
                  <a:spcPct val="120000"/>
                </a:lnSpc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준비물 계획 등</a:t>
              </a:r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2409480" y="5445224"/>
              <a:ext cx="1348658" cy="975495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귀교 협의하에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교육대상자 선정</a:t>
              </a: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3628786" y="5445224"/>
              <a:ext cx="1772142" cy="97655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교육과정별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교육 환경 구축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귀교와 함께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구체적인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교육환경을 준비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en-US" altLang="ko-KR" sz="900" dirty="0">
                  <a:latin typeface="+mn-ea"/>
                  <a:ea typeface="+mn-ea"/>
                </a:rPr>
                <a:t>(</a:t>
              </a:r>
              <a:r>
                <a:rPr lang="ko-KR" altLang="en-US" sz="900" dirty="0">
                  <a:latin typeface="+mn-ea"/>
                  <a:ea typeface="+mn-ea"/>
                </a:rPr>
                <a:t>강사</a:t>
              </a:r>
              <a:r>
                <a:rPr lang="en-US" altLang="ko-KR" sz="900" dirty="0">
                  <a:latin typeface="+mn-ea"/>
                  <a:ea typeface="+mn-ea"/>
                </a:rPr>
                <a:t>,</a:t>
              </a:r>
              <a:r>
                <a:rPr lang="ko-KR" altLang="en-US" sz="900" dirty="0">
                  <a:latin typeface="+mn-ea"/>
                  <a:ea typeface="+mn-ea"/>
                </a:rPr>
                <a:t>장소</a:t>
              </a:r>
              <a:r>
                <a:rPr lang="en-US" altLang="ko-KR" sz="900" dirty="0">
                  <a:latin typeface="+mn-ea"/>
                  <a:ea typeface="+mn-ea"/>
                </a:rPr>
                <a:t>,</a:t>
              </a: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시간</a:t>
              </a:r>
              <a:r>
                <a:rPr lang="en-US" altLang="ko-KR" sz="900" dirty="0">
                  <a:latin typeface="+mn-ea"/>
                  <a:ea typeface="+mn-ea"/>
                </a:rPr>
                <a:t>,</a:t>
              </a:r>
              <a:r>
                <a:rPr lang="ko-KR" altLang="en-US" sz="900" dirty="0" err="1">
                  <a:latin typeface="+mn-ea"/>
                  <a:ea typeface="+mn-ea"/>
                </a:rPr>
                <a:t>교보재</a:t>
              </a:r>
              <a:r>
                <a:rPr lang="en-US" altLang="ko-KR" sz="900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68" name="Rectangle 65"/>
            <p:cNvSpPr>
              <a:spLocks noChangeArrowheads="1"/>
            </p:cNvSpPr>
            <p:nvPr/>
          </p:nvSpPr>
          <p:spPr bwMode="auto">
            <a:xfrm>
              <a:off x="4811979" y="5445224"/>
              <a:ext cx="1694322" cy="97655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교육대상자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집중 운영교육 실시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endParaRPr lang="ko-KR" altLang="en-US" sz="900" dirty="0">
                <a:latin typeface="+mn-ea"/>
                <a:ea typeface="+mn-ea"/>
              </a:endParaRPr>
            </a:p>
          </p:txBody>
        </p:sp>
        <p:sp>
          <p:nvSpPr>
            <p:cNvPr id="69" name="Rectangle 65"/>
            <p:cNvSpPr>
              <a:spLocks noChangeArrowheads="1"/>
            </p:cNvSpPr>
            <p:nvPr/>
          </p:nvSpPr>
          <p:spPr bwMode="auto">
            <a:xfrm>
              <a:off x="5943465" y="5445224"/>
              <a:ext cx="1422118" cy="976558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>
              <a:lvl1pPr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 latinLnBrk="1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시스템 발전 방향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공유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관련 기술 자문 </a:t>
              </a:r>
              <a:endParaRPr lang="en-US" altLang="ko-KR" sz="900" dirty="0">
                <a:latin typeface="+mn-ea"/>
                <a:ea typeface="+mn-ea"/>
              </a:endParaRPr>
            </a:p>
            <a:p>
              <a:pPr eaLnBrk="1" hangingPunct="1">
                <a:defRPr/>
              </a:pPr>
              <a:r>
                <a:rPr lang="ko-KR" altLang="en-US" sz="900" dirty="0">
                  <a:latin typeface="+mn-ea"/>
                  <a:ea typeface="+mn-ea"/>
                </a:rPr>
                <a:t>지원</a:t>
              </a:r>
              <a:endParaRPr lang="en-US" altLang="ko-KR" sz="900" dirty="0">
                <a:latin typeface="+mn-ea"/>
                <a:ea typeface="+mn-ea"/>
              </a:endParaRPr>
            </a:p>
          </p:txBody>
        </p:sp>
      </p:grpSp>
      <p:sp>
        <p:nvSpPr>
          <p:cNvPr id="70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71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지원부문</a:t>
            </a:r>
          </a:p>
        </p:txBody>
      </p:sp>
      <p:grpSp>
        <p:nvGrpSpPr>
          <p:cNvPr id="72" name="그룹 15"/>
          <p:cNvGrpSpPr>
            <a:grpSpLocks/>
          </p:cNvGrpSpPr>
          <p:nvPr/>
        </p:nvGrpSpPr>
        <p:grpSpPr bwMode="auto">
          <a:xfrm>
            <a:off x="381000" y="1412776"/>
            <a:ext cx="8439150" cy="227012"/>
            <a:chOff x="381001" y="2050355"/>
            <a:chExt cx="8439470" cy="227385"/>
          </a:xfrm>
        </p:grpSpPr>
        <p:sp>
          <p:nvSpPr>
            <p:cNvPr id="73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1.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교육훈련 계획</a:t>
              </a:r>
            </a:p>
          </p:txBody>
        </p:sp>
        <p:grpSp>
          <p:nvGrpSpPr>
            <p:cNvPr id="74" name="그룹 1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5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6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7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88093" name="Rectangle 88092">
            <a:extLst>
              <a:ext uri="{FF2B5EF4-FFF2-40B4-BE49-F238E27FC236}">
                <a16:creationId xmlns:a16="http://schemas.microsoft.com/office/drawing/2014/main" id="{C2CBB093-EEFE-0C99-D34C-12C081D3181F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165" name="Rectangle 88164">
            <a:extLst>
              <a:ext uri="{FF2B5EF4-FFF2-40B4-BE49-F238E27FC236}">
                <a16:creationId xmlns:a16="http://schemas.microsoft.com/office/drawing/2014/main" id="{DD7603F3-D4CB-A530-AA7D-B6569DA63468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009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487"/>
          <p:cNvSpPr txBox="1">
            <a:spLocks noChangeArrowheads="1"/>
          </p:cNvSpPr>
          <p:nvPr/>
        </p:nvSpPr>
        <p:spPr bwMode="auto">
          <a:xfrm>
            <a:off x="266127" y="990526"/>
            <a:ext cx="8554346" cy="823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Book Antiqua" panose="02040602050305030304" pitchFamily="18" charset="0"/>
                <a:ea typeface="바탕체" panose="02030609000101010101" pitchFamily="17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다수의 구축 및 운영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유지보수 경험을 통한 노하우로 장애 시 신속하게 원인을 파악하고 복구하며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유지보수 사항의 발생부터 조치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보고에 이르기까지 전체 유지보수 프로세스를 표준화하여 시스템 운영 중단 등의 장애 발생을 최소화합니다</a:t>
            </a:r>
            <a:r>
              <a:rPr lang="en-US" altLang="ko-KR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70" name="그림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441" y="3140968"/>
            <a:ext cx="6401739" cy="2953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6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지원부문</a:t>
            </a:r>
          </a:p>
        </p:txBody>
      </p:sp>
      <p:grpSp>
        <p:nvGrpSpPr>
          <p:cNvPr id="27" name="그룹 15"/>
          <p:cNvGrpSpPr>
            <a:grpSpLocks/>
          </p:cNvGrpSpPr>
          <p:nvPr/>
        </p:nvGrpSpPr>
        <p:grpSpPr bwMode="auto">
          <a:xfrm>
            <a:off x="381000" y="1617663"/>
            <a:ext cx="8439150" cy="227012"/>
            <a:chOff x="381001" y="2050355"/>
            <a:chExt cx="8439470" cy="227385"/>
          </a:xfrm>
        </p:grpSpPr>
        <p:sp>
          <p:nvSpPr>
            <p:cNvPr id="28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2.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유지보수 지원계획</a:t>
              </a:r>
              <a:endParaRPr kumimoji="1" lang="en-US" altLang="ko-KR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29" name="그룹 1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3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3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32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2" name="모서리가 둥근 직사각형 1"/>
          <p:cNvSpPr/>
          <p:nvPr/>
        </p:nvSpPr>
        <p:spPr>
          <a:xfrm>
            <a:off x="1779215" y="2492896"/>
            <a:ext cx="5457081" cy="64807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사전 정기 점검 및 장애 예방을 목표로  시스템 운영을 위한 유지보수 계획 수립 및 유지보수 운영 체계를 제공 하여 안정적인 시스템 운영  </a:t>
            </a:r>
          </a:p>
        </p:txBody>
      </p:sp>
      <p:sp>
        <p:nvSpPr>
          <p:cNvPr id="88238" name="Rectangle 88237">
            <a:extLst>
              <a:ext uri="{FF2B5EF4-FFF2-40B4-BE49-F238E27FC236}">
                <a16:creationId xmlns:a16="http://schemas.microsoft.com/office/drawing/2014/main" id="{C02AF69E-7F68-60AB-5464-E9BE9D4037A9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312" name="Rectangle 88311">
            <a:extLst>
              <a:ext uri="{FF2B5EF4-FFF2-40B4-BE49-F238E27FC236}">
                <a16:creationId xmlns:a16="http://schemas.microsoft.com/office/drawing/2014/main" id="{A9F24B1B-6554-AAB3-BACE-856AA92BB47E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841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4" name="내용 개체 틀 10"/>
          <p:cNvSpPr txBox="1">
            <a:spLocks/>
          </p:cNvSpPr>
          <p:nvPr/>
        </p:nvSpPr>
        <p:spPr bwMode="auto">
          <a:xfrm>
            <a:off x="283039" y="1027907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lnSpc>
                <a:spcPct val="110000"/>
              </a:lnSpc>
              <a:spcBef>
                <a:spcPts val="1000"/>
              </a:spcBef>
              <a:spcAft>
                <a:spcPts val="700"/>
              </a:spcAft>
              <a:buClr>
                <a:schemeClr val="bg1"/>
              </a:buClr>
              <a:buSzPct val="100000"/>
            </a:pPr>
            <a:r>
              <a:rPr kumimoji="1"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</a:rPr>
              <a:t>장애가 발생하면 접수</a:t>
            </a:r>
            <a:r>
              <a:rPr kumimoji="1"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</a:rPr>
              <a:t>, </a:t>
            </a:r>
            <a:r>
              <a:rPr kumimoji="1"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</a:rPr>
              <a:t>장애해결</a:t>
            </a:r>
            <a:r>
              <a:rPr kumimoji="1"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</a:rPr>
              <a:t>, </a:t>
            </a:r>
            <a:r>
              <a:rPr kumimoji="1"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</a:rPr>
              <a:t>장애처리 결과 보고까지 단계별 수행되는 절차와 대응 절차는 아래와 같고 문제 해결을 위해 필요하면 관련 전문가와 즉시 공조하여 장애시간을 최소화합니다</a:t>
            </a:r>
            <a:r>
              <a:rPr kumimoji="1"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bg1">
                        <a:lumMod val="65000"/>
                        <a:shade val="67500"/>
                        <a:satMod val="115000"/>
                      </a:schemeClr>
                    </a:gs>
                    <a:gs pos="100000">
                      <a:schemeClr val="bg1">
                        <a:lumMod val="65000"/>
                        <a:shade val="100000"/>
                        <a:satMod val="115000"/>
                      </a:schemeClr>
                    </a:gs>
                  </a:gsLst>
                  <a:lin ang="0" scaled="1"/>
                </a:gradFill>
                <a:latin typeface="Calibri" panose="020F0502020204030204" pitchFamily="34" charset="0"/>
              </a:rPr>
              <a:t>.</a:t>
            </a:r>
          </a:p>
        </p:txBody>
      </p:sp>
      <p:pic>
        <p:nvPicPr>
          <p:cNvPr id="81925" name="그림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2190750"/>
            <a:ext cx="8161337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1926" name="그룹 15"/>
          <p:cNvGrpSpPr>
            <a:grpSpLocks/>
          </p:cNvGrpSpPr>
          <p:nvPr/>
        </p:nvGrpSpPr>
        <p:grpSpPr bwMode="auto">
          <a:xfrm>
            <a:off x="381000" y="1617663"/>
            <a:ext cx="8439150" cy="227012"/>
            <a:chOff x="381001" y="2050355"/>
            <a:chExt cx="8439470" cy="227385"/>
          </a:xfrm>
        </p:grpSpPr>
        <p:sp>
          <p:nvSpPr>
            <p:cNvPr id="17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유지보수 지원계획</a:t>
              </a:r>
              <a:endParaRPr kumimoji="1" lang="en-US" altLang="ko-KR" sz="12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81929" name="그룹 17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81930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81931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81932" name="Line 32"/>
              <p:cNvSpPr>
                <a:spLocks noChangeShapeType="1"/>
              </p:cNvSpPr>
              <p:nvPr/>
            </p:nvSpPr>
            <p:spPr bwMode="auto">
              <a:xfrm>
                <a:off x="2051720" y="2065734"/>
                <a:ext cx="6768752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3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4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지원부문</a:t>
            </a:r>
          </a:p>
        </p:txBody>
      </p:sp>
      <p:sp>
        <p:nvSpPr>
          <p:cNvPr id="88387" name="Rectangle 88386">
            <a:extLst>
              <a:ext uri="{FF2B5EF4-FFF2-40B4-BE49-F238E27FC236}">
                <a16:creationId xmlns:a16="http://schemas.microsoft.com/office/drawing/2014/main" id="{43035D61-356A-9B0A-3D43-FB795ED585F4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463" name="Rectangle 88462">
            <a:extLst>
              <a:ext uri="{FF2B5EF4-FFF2-40B4-BE49-F238E27FC236}">
                <a16:creationId xmlns:a16="http://schemas.microsoft.com/office/drawing/2014/main" id="{AF596622-E0A6-D10C-36E3-69AD8D19550B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6634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내용 개체 틀 10"/>
          <p:cNvSpPr txBox="1">
            <a:spLocks/>
          </p:cNvSpPr>
          <p:nvPr/>
        </p:nvSpPr>
        <p:spPr bwMode="auto">
          <a:xfrm>
            <a:off x="283039" y="1016953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1" hangingPunct="1">
              <a:lnSpc>
                <a:spcPct val="130000"/>
              </a:lnSpc>
              <a:spcAft>
                <a:spcPts val="700"/>
              </a:spcAft>
              <a:defRPr/>
            </a:pP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</a:rPr>
              <a:t>기술지원 방안은 크게 프로젝트참여를 통한 방안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</a:rPr>
              <a:t>지속적인 지원 방안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</a:rPr>
              <a:t>, </a:t>
            </a:r>
            <a:r>
              <a:rPr lang="ko-KR" altLang="en-US" sz="1200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</a:rPr>
              <a:t>교육을 통한 지원 방안으로 영역으로 이루어집니다</a:t>
            </a:r>
            <a:r>
              <a:rPr lang="en-US" altLang="ko-KR" sz="1200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</a:rPr>
              <a:t>. </a:t>
            </a:r>
          </a:p>
        </p:txBody>
      </p:sp>
      <p:grpSp>
        <p:nvGrpSpPr>
          <p:cNvPr id="79883" name="그룹 32"/>
          <p:cNvGrpSpPr>
            <a:grpSpLocks/>
          </p:cNvGrpSpPr>
          <p:nvPr/>
        </p:nvGrpSpPr>
        <p:grpSpPr bwMode="auto">
          <a:xfrm>
            <a:off x="359706" y="1534182"/>
            <a:ext cx="8439150" cy="227012"/>
            <a:chOff x="381001" y="2050355"/>
            <a:chExt cx="8439470" cy="227385"/>
          </a:xfrm>
        </p:grpSpPr>
        <p:sp>
          <p:nvSpPr>
            <p:cNvPr id="34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3.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기술이전 지원계획</a:t>
              </a:r>
            </a:p>
          </p:txBody>
        </p:sp>
        <p:grpSp>
          <p:nvGrpSpPr>
            <p:cNvPr id="79886" name="그룹 34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9887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9888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9889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703768" y="1911668"/>
            <a:ext cx="8115289" cy="2654284"/>
            <a:chOff x="683567" y="1911668"/>
            <a:chExt cx="8115289" cy="2654284"/>
          </a:xfrm>
        </p:grpSpPr>
        <p:cxnSp>
          <p:nvCxnSpPr>
            <p:cNvPr id="16" name="직선 연결선 15"/>
            <p:cNvCxnSpPr/>
            <p:nvPr/>
          </p:nvCxnSpPr>
          <p:spPr bwMode="auto">
            <a:xfrm flipV="1">
              <a:off x="2054192" y="2452857"/>
              <a:ext cx="401597" cy="405569"/>
            </a:xfrm>
            <a:prstGeom prst="line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 bwMode="auto">
            <a:xfrm flipV="1">
              <a:off x="2551304" y="3256246"/>
              <a:ext cx="753267" cy="20666"/>
            </a:xfrm>
            <a:prstGeom prst="line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/>
            <p:cNvCxnSpPr/>
            <p:nvPr/>
          </p:nvCxnSpPr>
          <p:spPr bwMode="auto">
            <a:xfrm>
              <a:off x="2151877" y="3635983"/>
              <a:ext cx="332133" cy="352613"/>
            </a:xfrm>
            <a:prstGeom prst="line">
              <a:avLst/>
            </a:prstGeom>
            <a:ln w="762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그림 4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567" y="2642939"/>
              <a:ext cx="2072460" cy="1220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타원 36"/>
            <p:cNvSpPr>
              <a:spLocks noChangeArrowheads="1"/>
            </p:cNvSpPr>
            <p:nvPr/>
          </p:nvSpPr>
          <p:spPr bwMode="auto">
            <a:xfrm>
              <a:off x="2998488" y="2858427"/>
              <a:ext cx="1324186" cy="789182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buClr>
                  <a:srgbClr val="FFFFFF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ko-KR" altLang="en-US" sz="1400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교육을</a:t>
              </a:r>
            </a:p>
            <a:p>
              <a:pPr algn="ctr" eaLnBrk="1" latinLnBrk="0" hangingPunct="1">
                <a:buClr>
                  <a:srgbClr val="FFFFFF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ko-KR" altLang="en-US" sz="1400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통한 지원 </a:t>
              </a:r>
            </a:p>
          </p:txBody>
        </p:sp>
        <p:sp>
          <p:nvSpPr>
            <p:cNvPr id="25" name="TextBox 75"/>
            <p:cNvSpPr txBox="1">
              <a:spLocks noChangeArrowheads="1"/>
            </p:cNvSpPr>
            <p:nvPr/>
          </p:nvSpPr>
          <p:spPr bwMode="auto">
            <a:xfrm>
              <a:off x="3308912" y="2031788"/>
              <a:ext cx="548994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27000" indent="-1270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분석기술에 대한 노하우 제공</a:t>
              </a:r>
            </a:p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각종 관련 세미나 참여를 통한 기술이전</a:t>
              </a:r>
            </a:p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장애접수 및 처리 후 결과통보 까지 지속적 추적시스템 운영</a:t>
              </a:r>
            </a:p>
          </p:txBody>
        </p:sp>
        <p:sp>
          <p:nvSpPr>
            <p:cNvPr id="26" name="타원 36"/>
            <p:cNvSpPr>
              <a:spLocks noChangeArrowheads="1"/>
            </p:cNvSpPr>
            <p:nvPr/>
          </p:nvSpPr>
          <p:spPr bwMode="auto">
            <a:xfrm>
              <a:off x="1993410" y="1911668"/>
              <a:ext cx="1324186" cy="789181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buClr>
                  <a:srgbClr val="FFFFFF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ko-KR" altLang="en-US" sz="1400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지속적인</a:t>
              </a:r>
            </a:p>
            <a:p>
              <a:pPr algn="ctr" eaLnBrk="1" latinLnBrk="0" hangingPunct="1">
                <a:buClr>
                  <a:srgbClr val="FFFFFF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ko-KR" altLang="en-US" sz="1400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지원</a:t>
              </a:r>
            </a:p>
          </p:txBody>
        </p:sp>
        <p:sp>
          <p:nvSpPr>
            <p:cNvPr id="27" name="TextBox 75"/>
            <p:cNvSpPr txBox="1">
              <a:spLocks noChangeArrowheads="1"/>
            </p:cNvSpPr>
            <p:nvPr/>
          </p:nvSpPr>
          <p:spPr bwMode="auto">
            <a:xfrm>
              <a:off x="4322674" y="2965632"/>
              <a:ext cx="4315543" cy="650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27000" indent="-1270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본 제안서 교육훈련에 준하여 실시</a:t>
              </a:r>
            </a:p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전문이론</a:t>
              </a:r>
              <a:r>
                <a:rPr lang="en-US" altLang="ko-KR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, </a:t>
              </a: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기술이전 교육을 통해 체계적 기술이전</a:t>
              </a:r>
            </a:p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필요 시 전문 교육과정을 개설하여 중점 교육 실시                                                         </a:t>
              </a:r>
            </a:p>
          </p:txBody>
        </p:sp>
        <p:sp>
          <p:nvSpPr>
            <p:cNvPr id="28" name="TextBox 75"/>
            <p:cNvSpPr txBox="1">
              <a:spLocks noChangeArrowheads="1"/>
            </p:cNvSpPr>
            <p:nvPr/>
          </p:nvSpPr>
          <p:spPr bwMode="auto">
            <a:xfrm>
              <a:off x="3285033" y="3811644"/>
              <a:ext cx="535318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27000" indent="-1270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분석가 및 관리자의 공동 참여로 분석과정 및 전반적인 기술에 대해 익숙하도록 유도</a:t>
              </a:r>
            </a:p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분석 및 프로젝트 진행 시 사용자의 요구사항 적극반영</a:t>
              </a:r>
            </a:p>
            <a:p>
              <a:pPr eaLnBrk="1" hangingPunct="1">
                <a:spcBef>
                  <a:spcPct val="30000"/>
                </a:spcBef>
                <a:buFontTx/>
                <a:buChar char="•"/>
                <a:defRPr/>
              </a:pPr>
              <a:r>
                <a:rPr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시스템 구축을 위한 요소 정보기술 및 독자적인 시스템 구축 전략 기획능력 함양</a:t>
              </a:r>
            </a:p>
          </p:txBody>
        </p:sp>
        <p:sp>
          <p:nvSpPr>
            <p:cNvPr id="29" name="타원 36"/>
            <p:cNvSpPr>
              <a:spLocks noChangeArrowheads="1"/>
            </p:cNvSpPr>
            <p:nvPr/>
          </p:nvSpPr>
          <p:spPr bwMode="auto">
            <a:xfrm>
              <a:off x="1993410" y="3778062"/>
              <a:ext cx="1324186" cy="787890"/>
            </a:xfrm>
            <a:prstGeom prst="ellipse">
              <a:avLst/>
            </a:prstGeom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lIns="0" tIns="0" rIns="0" bIns="0" anchor="ctr"/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0" hangingPunct="1">
                <a:buClr>
                  <a:srgbClr val="FFFFFF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ko-KR" altLang="en-US" sz="1400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프로젝트</a:t>
              </a:r>
            </a:p>
            <a:p>
              <a:pPr algn="ctr" eaLnBrk="1" latinLnBrk="0" hangingPunct="1">
                <a:buClr>
                  <a:srgbClr val="FFFFFF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lang="ko-KR" altLang="en-US" sz="1400" b="1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참여</a:t>
              </a:r>
            </a:p>
          </p:txBody>
        </p:sp>
      </p:grpSp>
      <p:grpSp>
        <p:nvGrpSpPr>
          <p:cNvPr id="39" name="그룹 67"/>
          <p:cNvGrpSpPr>
            <a:grpSpLocks/>
          </p:cNvGrpSpPr>
          <p:nvPr/>
        </p:nvGrpSpPr>
        <p:grpSpPr bwMode="auto">
          <a:xfrm>
            <a:off x="703768" y="4693823"/>
            <a:ext cx="8075696" cy="1873250"/>
            <a:chOff x="484188" y="6393160"/>
            <a:chExt cx="5882344" cy="1872208"/>
          </a:xfrm>
        </p:grpSpPr>
        <p:sp>
          <p:nvSpPr>
            <p:cNvPr id="40" name="모서리가 둥근 직사각형 39"/>
            <p:cNvSpPr/>
            <p:nvPr/>
          </p:nvSpPr>
          <p:spPr>
            <a:xfrm>
              <a:off x="484188" y="6393160"/>
              <a:ext cx="5882344" cy="1872208"/>
            </a:xfrm>
            <a:prstGeom prst="roundRect">
              <a:avLst>
                <a:gd name="adj" fmla="val 3797"/>
              </a:avLst>
            </a:prstGeom>
            <a:solidFill>
              <a:schemeClr val="bg1"/>
            </a:solidFill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>
                <a:latin typeface="+mn-ea"/>
              </a:endParaRPr>
            </a:p>
          </p:txBody>
        </p:sp>
        <p:pic>
          <p:nvPicPr>
            <p:cNvPr id="41" name="Picture 203" descr="Untitled-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97" r="50932" b="51981"/>
            <a:stretch>
              <a:fillRect/>
            </a:stretch>
          </p:blipFill>
          <p:spPr bwMode="auto">
            <a:xfrm>
              <a:off x="767680" y="7528073"/>
              <a:ext cx="573088" cy="449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Rectangle 201"/>
            <p:cNvSpPr>
              <a:spLocks noChangeArrowheads="1"/>
            </p:cNvSpPr>
            <p:nvPr/>
          </p:nvSpPr>
          <p:spPr bwMode="auto">
            <a:xfrm rot="16200000">
              <a:off x="585067" y="6592237"/>
              <a:ext cx="184048" cy="128602"/>
            </a:xfrm>
            <a:prstGeom prst="rect">
              <a:avLst/>
            </a:prstGeom>
            <a:solidFill>
              <a:srgbClr val="87AA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0" tIns="0" rIns="0" bIns="0" anchor="ctr"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latinLnBrk="1" hangingPunct="1">
                <a:defRPr/>
              </a:pPr>
              <a:endParaRPr lang="ko-KR" altLang="en-US" b="1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Text Box 22"/>
            <p:cNvSpPr txBox="1">
              <a:spLocks noChangeArrowheads="1"/>
            </p:cNvSpPr>
            <p:nvPr/>
          </p:nvSpPr>
          <p:spPr bwMode="gray">
            <a:xfrm>
              <a:off x="869993" y="6661298"/>
              <a:ext cx="1055806" cy="804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 eaLnBrk="1" hangingPunct="1">
                <a:lnSpc>
                  <a:spcPct val="110000"/>
                </a:lnSpc>
                <a:defRPr/>
              </a:pPr>
              <a:r>
                <a:rPr lang="ko-KR" altLang="en-US" sz="1400" b="1" dirty="0">
                  <a:solidFill>
                    <a:srgbClr val="4D4D4D"/>
                  </a:solidFill>
                  <a:latin typeface="+mn-ea"/>
                  <a:ea typeface="+mn-ea"/>
                </a:rPr>
                <a:t>기술</a:t>
              </a:r>
            </a:p>
            <a:p>
              <a:pPr eaLnBrk="1" hangingPunct="1">
                <a:lnSpc>
                  <a:spcPct val="110000"/>
                </a:lnSpc>
                <a:defRPr/>
              </a:pPr>
              <a:r>
                <a:rPr lang="ko-KR" altLang="en-US" sz="1400" b="1" dirty="0">
                  <a:solidFill>
                    <a:srgbClr val="2C589F"/>
                  </a:solidFill>
                  <a:latin typeface="+mn-ea"/>
                  <a:ea typeface="+mn-ea"/>
                </a:rPr>
                <a:t>   이전 정책</a:t>
              </a:r>
            </a:p>
          </p:txBody>
        </p:sp>
        <p:sp>
          <p:nvSpPr>
            <p:cNvPr id="44" name="Rectangle 34"/>
            <p:cNvSpPr>
              <a:spLocks noChangeArrowheads="1"/>
            </p:cNvSpPr>
            <p:nvPr/>
          </p:nvSpPr>
          <p:spPr bwMode="auto">
            <a:xfrm>
              <a:off x="1676533" y="6437585"/>
              <a:ext cx="4632842" cy="1756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 marL="101600" indent="-101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Book Antiqua" panose="02040602050305030304" pitchFamily="18" charset="0"/>
                  <a:ea typeface="바탕체" panose="02030609000101010101" pitchFamily="17" charset="-127"/>
                </a:defRPr>
              </a:lvl9pPr>
            </a:lstStyle>
            <a:p>
              <a:pPr>
                <a:buFontTx/>
                <a:buChar char="•"/>
                <a:defRPr/>
              </a:pPr>
              <a:r>
                <a:rPr kumimoji="0"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업무의 신속한 처리를 위해 시스템 설치 후 안정적인 운영 지향</a:t>
              </a:r>
            </a:p>
            <a:p>
              <a:pPr>
                <a:buFontTx/>
                <a:buChar char="•"/>
                <a:defRPr/>
              </a:pPr>
              <a:r>
                <a:rPr kumimoji="0"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시스템의 안정적인 운영을 위해 업무의 성격과 시스템에 적용된 기술을 완벽하게 이해하여 운영</a:t>
              </a:r>
            </a:p>
            <a:p>
              <a:pPr>
                <a:buFontTx/>
                <a:buChar char="•"/>
                <a:defRPr/>
              </a:pPr>
              <a:r>
                <a:rPr kumimoji="0"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조직적인 분석 기술이전 체계의 정립을 위하여 추진과정은 단계적 절차를 마련하여 실시</a:t>
              </a:r>
            </a:p>
            <a:p>
              <a:pPr>
                <a:buFontTx/>
                <a:buChar char="•"/>
                <a:defRPr/>
              </a:pPr>
              <a:r>
                <a:rPr kumimoji="0"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정보기술 변화를 이해하고 분석 기술지식을 습득하여 독자적인 분석능력을 확보</a:t>
              </a:r>
            </a:p>
            <a:p>
              <a:pPr>
                <a:buFontTx/>
                <a:buChar char="•"/>
                <a:defRPr/>
              </a:pPr>
              <a:r>
                <a:rPr kumimoji="0"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기술이전의 최종 목표는 독자적인 운영 능력에 있으며 이를 위하여 기술한 내용 이외에 노하우까지도 최대한 전수</a:t>
              </a:r>
              <a:endParaRPr kumimoji="0" lang="en-US" altLang="ko-KR" sz="1000" dirty="0">
                <a:gradFill>
                  <a:gsLst>
                    <a:gs pos="100000">
                      <a:schemeClr val="tx1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+mn-ea"/>
                <a:ea typeface="+mn-ea"/>
              </a:endParaRPr>
            </a:p>
            <a:p>
              <a:pPr>
                <a:buFontTx/>
                <a:buChar char="•"/>
                <a:defRPr/>
              </a:pPr>
              <a:r>
                <a:rPr kumimoji="0" lang="ko-KR" altLang="en-US" sz="1000" dirty="0">
                  <a:gradFill>
                    <a:gsLst>
                      <a:gs pos="100000">
                        <a:schemeClr val="tx1"/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  <a:latin typeface="+mn-ea"/>
                  <a:ea typeface="+mn-ea"/>
                </a:rPr>
                <a:t>응용 프로그램 소스 및 코어에 해당하는 솔루션 소스는 귀교에 전달되지 않으며 사용자 및 운영자 매뉴얼을 통한 교육 진행</a:t>
              </a:r>
            </a:p>
          </p:txBody>
        </p:sp>
        <p:pic>
          <p:nvPicPr>
            <p:cNvPr id="45" name="Picture 206" descr="악세사리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1863" y="6438046"/>
              <a:ext cx="150350" cy="1570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6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지원부문</a:t>
            </a:r>
          </a:p>
        </p:txBody>
      </p:sp>
      <p:sp>
        <p:nvSpPr>
          <p:cNvPr id="88540" name="Rectangle 88539">
            <a:extLst>
              <a:ext uri="{FF2B5EF4-FFF2-40B4-BE49-F238E27FC236}">
                <a16:creationId xmlns:a16="http://schemas.microsoft.com/office/drawing/2014/main" id="{8F313B4F-D301-BFE5-160E-561A13262A5D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618" name="Rectangle 88617">
            <a:extLst>
              <a:ext uri="{FF2B5EF4-FFF2-40B4-BE49-F238E27FC236}">
                <a16:creationId xmlns:a16="http://schemas.microsoft.com/office/drawing/2014/main" id="{2F8475BA-D077-B626-D3AF-D052B681C10D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1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83" name="그룹 32"/>
          <p:cNvGrpSpPr>
            <a:grpSpLocks/>
          </p:cNvGrpSpPr>
          <p:nvPr/>
        </p:nvGrpSpPr>
        <p:grpSpPr bwMode="auto">
          <a:xfrm>
            <a:off x="359706" y="1534182"/>
            <a:ext cx="8439150" cy="227012"/>
            <a:chOff x="381001" y="2050355"/>
            <a:chExt cx="8439470" cy="227385"/>
          </a:xfrm>
        </p:grpSpPr>
        <p:sp>
          <p:nvSpPr>
            <p:cNvPr id="34" name="AutoShape 29"/>
            <p:cNvSpPr>
              <a:spLocks noChangeArrowheads="1"/>
            </p:cNvSpPr>
            <p:nvPr/>
          </p:nvSpPr>
          <p:spPr bwMode="auto">
            <a:xfrm>
              <a:off x="381001" y="2050355"/>
              <a:ext cx="2319426" cy="227385"/>
            </a:xfrm>
            <a:prstGeom prst="roundRect">
              <a:avLst>
                <a:gd name="adj" fmla="val 29310"/>
              </a:avLst>
            </a:prstGeom>
            <a:solidFill>
              <a:srgbClr val="B62448"/>
            </a:solidFill>
            <a:ln>
              <a:noFill/>
            </a:ln>
            <a:effectLst/>
          </p:spPr>
          <p:txBody>
            <a:bodyPr wrap="none" anchor="ctr"/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1" lang="en-US" altLang="ko-KR" sz="1200" b="1" dirty="0">
                  <a:solidFill>
                    <a:schemeClr val="bg1"/>
                  </a:solidFill>
                  <a:latin typeface="+mn-ea"/>
                  <a:ea typeface="+mn-ea"/>
                </a:rPr>
                <a:t>5. </a:t>
              </a:r>
              <a:r>
                <a:rPr kumimoji="1" lang="ko-KR" altLang="en-US" sz="1200" b="1" dirty="0">
                  <a:solidFill>
                    <a:schemeClr val="bg1"/>
                  </a:solidFill>
                  <a:latin typeface="+mn-ea"/>
                  <a:ea typeface="+mn-ea"/>
                </a:rPr>
                <a:t>기밀보안 계획</a:t>
              </a:r>
            </a:p>
          </p:txBody>
        </p:sp>
        <p:grpSp>
          <p:nvGrpSpPr>
            <p:cNvPr id="79886" name="그룹 34"/>
            <p:cNvGrpSpPr>
              <a:grpSpLocks/>
            </p:cNvGrpSpPr>
            <p:nvPr/>
          </p:nvGrpSpPr>
          <p:grpSpPr bwMode="auto">
            <a:xfrm>
              <a:off x="2545388" y="2051480"/>
              <a:ext cx="6275083" cy="225392"/>
              <a:chOff x="1979712" y="2051480"/>
              <a:chExt cx="6840760" cy="225392"/>
            </a:xfrm>
          </p:grpSpPr>
          <p:sp>
            <p:nvSpPr>
              <p:cNvPr id="79887" name="Arc 30"/>
              <p:cNvSpPr>
                <a:spLocks/>
              </p:cNvSpPr>
              <p:nvPr/>
            </p:nvSpPr>
            <p:spPr bwMode="auto">
              <a:xfrm flipH="1">
                <a:off x="1979712" y="2051480"/>
                <a:ext cx="289849" cy="225392"/>
              </a:xfrm>
              <a:custGeom>
                <a:avLst/>
                <a:gdLst>
                  <a:gd name="T0" fmla="*/ 0 w 21600"/>
                  <a:gd name="T1" fmla="*/ 0 h 21600"/>
                  <a:gd name="T2" fmla="*/ 2147483646 w 21600"/>
                  <a:gd name="T3" fmla="*/ 2147483646 h 21600"/>
                  <a:gd name="T4" fmla="*/ 0 w 21600"/>
                  <a:gd name="T5" fmla="*/ 2147483646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6822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9888" name="Arc 31"/>
              <p:cNvSpPr>
                <a:spLocks/>
              </p:cNvSpPr>
              <p:nvPr/>
            </p:nvSpPr>
            <p:spPr bwMode="auto">
              <a:xfrm flipH="1">
                <a:off x="2030436" y="2061071"/>
                <a:ext cx="355065" cy="215801"/>
              </a:xfrm>
              <a:custGeom>
                <a:avLst/>
                <a:gdLst>
                  <a:gd name="T0" fmla="*/ 2147483646 w 21600"/>
                  <a:gd name="T1" fmla="*/ 0 h 21468"/>
                  <a:gd name="T2" fmla="*/ 2147483646 w 21600"/>
                  <a:gd name="T3" fmla="*/ 2147483646 h 21468"/>
                  <a:gd name="T4" fmla="*/ 0 w 21600"/>
                  <a:gd name="T5" fmla="*/ 2147483646 h 214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468" fill="none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</a:path>
                  <a:path w="21600" h="21468" stroke="0" extrusionOk="0">
                    <a:moveTo>
                      <a:pt x="2386" y="0"/>
                    </a:moveTo>
                    <a:cubicBezTo>
                      <a:pt x="13325" y="1216"/>
                      <a:pt x="21600" y="10462"/>
                      <a:pt x="21600" y="21468"/>
                    </a:cubicBezTo>
                    <a:lnTo>
                      <a:pt x="0" y="21468"/>
                    </a:lnTo>
                    <a:lnTo>
                      <a:pt x="2386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  <p:sp>
            <p:nvSpPr>
              <p:cNvPr id="79889" name="Line 32"/>
              <p:cNvSpPr>
                <a:spLocks noChangeShapeType="1"/>
              </p:cNvSpPr>
              <p:nvPr/>
            </p:nvSpPr>
            <p:spPr bwMode="auto">
              <a:xfrm>
                <a:off x="2051721" y="2075259"/>
                <a:ext cx="6768751" cy="0"/>
              </a:xfrm>
              <a:prstGeom prst="line">
                <a:avLst/>
              </a:prstGeom>
              <a:noFill/>
              <a:ln w="38100">
                <a:solidFill>
                  <a:srgbClr val="C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 anchor="ctr">
                <a:spAutoFit/>
              </a:bodyPr>
              <a:lstStyle/>
              <a:p>
                <a:endParaRPr lang="ko-KR" altLang="en-US" dirty="0"/>
              </a:p>
            </p:txBody>
          </p:sp>
        </p:grpSp>
      </p:grpSp>
      <p:sp>
        <p:nvSpPr>
          <p:cNvPr id="14" name="제목 2"/>
          <p:cNvSpPr txBox="1">
            <a:spLocks/>
          </p:cNvSpPr>
          <p:nvPr/>
        </p:nvSpPr>
        <p:spPr bwMode="auto">
          <a:xfrm>
            <a:off x="282575" y="487363"/>
            <a:ext cx="2993281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/>
            <a:r>
              <a:rPr lang="en-US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IV. </a:t>
            </a:r>
            <a:r>
              <a:rPr lang="ko-KR" altLang="en-US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사업관리 및 지원</a:t>
            </a:r>
            <a:endParaRPr lang="ko-KR" altLang="en-US" dirty="0"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1" name="제목 2"/>
          <p:cNvSpPr txBox="1">
            <a:spLocks/>
          </p:cNvSpPr>
          <p:nvPr/>
        </p:nvSpPr>
        <p:spPr bwMode="auto">
          <a:xfrm>
            <a:off x="6444207" y="519609"/>
            <a:ext cx="2699793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algn="l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2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algn="ctr" defTabSz="912813" rtl="0" eaLnBrk="0" fontAlgn="base" latinLnBrk="1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4572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9144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13716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1828800" algn="ctr" defTabSz="912813" rtl="0" fontAlgn="base" latinLnBrk="1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hangingPunct="1"/>
            <a:r>
              <a:rPr lang="en-US" altLang="ko-KR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2. </a:t>
            </a:r>
            <a:r>
              <a:rPr lang="ko-KR" altLang="en-US" sz="1600" dirty="0"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지원부문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803432"/>
              </p:ext>
            </p:extLst>
          </p:nvPr>
        </p:nvGraphicFramePr>
        <p:xfrm>
          <a:off x="323850" y="2752622"/>
          <a:ext cx="8424862" cy="26205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0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9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957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직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4" marR="62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역 할</a:t>
                      </a:r>
                      <a:endParaRPr lang="ko-KR" sz="1000" b="1" kern="10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4" marR="62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53">
                <a:tc>
                  <a:txBody>
                    <a:bodyPr/>
                    <a:lstStyle/>
                    <a:p>
                      <a:pPr algn="ctr">
                        <a:lnSpc>
                          <a:spcPts val="96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보안 책임자 운용</a:t>
                      </a:r>
                      <a:endParaRPr lang="ko-KR" sz="10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4" marR="62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ts val="96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보안 책임자 정</a:t>
                      </a:r>
                      <a:r>
                        <a:rPr lang="en-US" altLang="ko-KR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000" kern="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부 임명</a:t>
                      </a:r>
                      <a:endParaRPr lang="en-US" altLang="ko-KR" sz="10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171450" indent="-171450" algn="l">
                        <a:lnSpc>
                          <a:spcPts val="96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보안임무 수행에 필요한 교육을 이수하여 임무 수행</a:t>
                      </a:r>
                      <a:endParaRPr lang="ko-KR" sz="1000" kern="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2864" marR="6286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인원 보안</a:t>
                      </a: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62865" marR="6286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프로젝트 투입인원은 보안서약서 작성 및 출입증 패용</a:t>
                      </a:r>
                    </a:p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방문객은 방문객 출입대장에 기록 후 보안책임자의 승인 받음</a:t>
                      </a:r>
                    </a:p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방문객의 방문시간은 정상근무시간에 한하며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지정된 장소에서만 허용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단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보안책임자의 승인 시 예외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62865" marR="6286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문서 보안</a:t>
                      </a: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62865" marR="6286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비밀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대외비 문서는 본인에게 직접 전달하는 것을 원칙으로 함</a:t>
                      </a:r>
                    </a:p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비밀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대외비 문서를 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FAX/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전자우편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우편 등을 이용할 시에는 보안 책임자의 사전 승인 취득</a:t>
                      </a:r>
                      <a:endParaRPr kumimoji="0" lang="en-US" altLang="ko-KR" sz="1000" b="0" spc="0" dirty="0">
                        <a:latin typeface="+mn-ea"/>
                        <a:ea typeface="+mn-ea"/>
                      </a:endParaRPr>
                    </a:p>
                  </a:txBody>
                  <a:tcPr marL="62865" marR="62865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통신 보안</a:t>
                      </a: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37200" marR="372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전화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/FAX/PC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통신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인터넷 사용은 보안책임자의 통제하에 사용</a:t>
                      </a:r>
                    </a:p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본 사업 주진내역에 대해서는 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PC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통신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인터넷 등의 접근 통제하고 보안책임자의 승인하에 열람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작성</a:t>
                      </a:r>
                    </a:p>
                  </a:txBody>
                  <a:tcPr marL="37200" marR="372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itchFamily="18" charset="0"/>
                        </a:rPr>
                        <a:t>시설 보안</a:t>
                      </a:r>
                      <a:endParaRPr kumimoji="0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Times New Roman" pitchFamily="18" charset="0"/>
                      </a:endParaRPr>
                    </a:p>
                  </a:txBody>
                  <a:tcPr marL="37200" marR="372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본 사업 개발을 위해 사용되는 서버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네트워크 장비는 보안이 잘 유지되는 장소에 보관</a:t>
                      </a:r>
                    </a:p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장비의 위치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네트워크 구성요소와 접속장치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하드웨어</a:t>
                      </a:r>
                      <a:r>
                        <a:rPr kumimoji="0" lang="en-US" altLang="ko-KR" sz="1000" b="0" spc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kumimoji="0" lang="ko-KR" altLang="en-US" sz="1000" b="0" spc="0">
                          <a:latin typeface="+mn-ea"/>
                          <a:ea typeface="+mn-ea"/>
                        </a:rPr>
                        <a:t>소프트웨어의 등록사항을 기록 및 관리</a:t>
                      </a:r>
                    </a:p>
                    <a:p>
                      <a:pPr marL="171450" indent="-171450" algn="l" eaLnBrk="1" fontAlgn="ctr" latinLnBrk="0" hangingPunct="1">
                        <a:lnSpc>
                          <a:spcPct val="10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ko-KR" altLang="en-US" sz="1000" b="0" spc="0" dirty="0">
                          <a:latin typeface="+mn-ea"/>
                          <a:ea typeface="+mn-ea"/>
                        </a:rPr>
                        <a:t>장비가 위치한 장소에 대한 비인가자의 출입 통제 및 보안일지 작성</a:t>
                      </a:r>
                      <a:endParaRPr kumimoji="0" lang="en-US" altLang="ko-KR" sz="1000" b="0" spc="0" dirty="0">
                        <a:latin typeface="+mn-ea"/>
                        <a:ea typeface="+mn-ea"/>
                      </a:endParaRPr>
                    </a:p>
                  </a:txBody>
                  <a:tcPr marL="37200" marR="372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51520" y="2348880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b="1" dirty="0">
                <a:latin typeface="+mn-ea"/>
                <a:ea typeface="+mn-ea"/>
              </a:rPr>
              <a:t>보안관리 조직 정책</a:t>
            </a:r>
          </a:p>
        </p:txBody>
      </p:sp>
      <p:sp>
        <p:nvSpPr>
          <p:cNvPr id="15" name="내용 개체 틀 10"/>
          <p:cNvSpPr txBox="1">
            <a:spLocks/>
          </p:cNvSpPr>
          <p:nvPr/>
        </p:nvSpPr>
        <p:spPr bwMode="auto">
          <a:xfrm>
            <a:off x="283039" y="1016953"/>
            <a:ext cx="85169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9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5715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800100" indent="-1143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028700" indent="-174625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14859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19431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24003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2857500" indent="-1746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just" eaLnBrk="1" latinLnBrk="0" hangingPunct="1">
              <a:lnSpc>
                <a:spcPct val="130000"/>
              </a:lnSpc>
              <a:defRPr/>
            </a:pPr>
            <a:r>
              <a:rPr lang="en-US" altLang="ko-KR" sz="1200" b="1" dirty="0">
                <a:latin typeface="+mn-ea"/>
              </a:rPr>
              <a:t> </a:t>
            </a:r>
            <a:r>
              <a:rPr lang="ko-KR" altLang="ko-KR" sz="1200" b="1">
                <a:latin typeface="+mn-ea"/>
              </a:rPr>
              <a:t>제안사는 본 사업과 관련한 기밀 보안사항을 준수하기 위해 최선을 다할 것이며 사업과 관련된 인원, 정보 및 자료 등에 대해서 주관기관의 보안업무 시행규칙 뿐 아니라 제안사의 보안정책을</a:t>
            </a:r>
            <a:r>
              <a:rPr lang="ko-KR" altLang="en-US" sz="1200" b="1">
                <a:latin typeface="+mn-ea"/>
              </a:rPr>
              <a:t> 적용 하겠습니다</a:t>
            </a:r>
            <a:endParaRPr lang="ko-KR" altLang="ko-KR" sz="1200" b="1" dirty="0">
              <a:latin typeface="+mn-ea"/>
            </a:endParaRPr>
          </a:p>
        </p:txBody>
      </p:sp>
      <p:sp>
        <p:nvSpPr>
          <p:cNvPr id="88697" name="Rectangle 88696">
            <a:extLst>
              <a:ext uri="{FF2B5EF4-FFF2-40B4-BE49-F238E27FC236}">
                <a16:creationId xmlns:a16="http://schemas.microsoft.com/office/drawing/2014/main" id="{EA813282-4250-31F8-284A-4DC22ED8F344}"/>
              </a:ext>
            </a:extLst>
          </p:cNvPr>
          <p:cNvSpPr/>
          <p:nvPr/>
        </p:nvSpPr>
        <p:spPr>
          <a:xfrm>
            <a:off x="190000" y="110000"/>
            <a:ext cx="2450000" cy="360000"/>
          </a:xfrm>
          <a:prstGeom prst="rect">
            <a:avLst/>
          </a:prstGeom>
          <a:solidFill>
            <a:srgbClr val="B62448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777" name="Rectangle 88776">
            <a:extLst>
              <a:ext uri="{FF2B5EF4-FFF2-40B4-BE49-F238E27FC236}">
                <a16:creationId xmlns:a16="http://schemas.microsoft.com/office/drawing/2014/main" id="{4361E79F-F492-1ABF-18D7-EC1CA9124D33}"/>
              </a:ext>
            </a:extLst>
          </p:cNvPr>
          <p:cNvSpPr/>
          <p:nvPr/>
        </p:nvSpPr>
        <p:spPr>
          <a:xfrm>
            <a:off x="250000" y="0"/>
            <a:ext cx="2380000" cy="58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2200" b="1" i="1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93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세로 제목 4"/>
          <p:cNvSpPr>
            <a:spLocks noGrp="1"/>
          </p:cNvSpPr>
          <p:nvPr>
            <p:ph type="title" orient="vert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5444" name="brand_footer">
            <a:extLst>
              <a:ext uri="{FF2B5EF4-FFF2-40B4-BE49-F238E27FC236}">
                <a16:creationId xmlns:a16="http://schemas.microsoft.com/office/drawing/2014/main" id="{FED9BF87-E451-841E-53F0-6FCCC27980DC}"/>
              </a:ext>
            </a:extLst>
          </p:cNvPr>
          <p:cNvSpPr/>
          <p:nvPr/>
        </p:nvSpPr>
        <p:spPr>
          <a:xfrm>
            <a:off x="270000" y="6360000"/>
            <a:ext cx="2400000" cy="30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None/>
            </a:pPr>
            <a:r>
              <a:rPr lang="en-US" sz="1600" b="1" i="1">
                <a:solidFill>
                  <a:srgbClr val="B62448"/>
                </a:solidFill>
                <a:effectLst/>
                <a:latin typeface="Arial" panose="020B0604020202020204" pitchFamily="34" charset="0"/>
              </a:rPr>
              <a:t>ArcheonCloud</a:t>
            </a:r>
          </a:p>
          <a:p>
            <a:pPr algn="l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  <p:sp>
        <p:nvSpPr>
          <p:cNvPr id="85529" name="client_footer">
            <a:extLst>
              <a:ext uri="{FF2B5EF4-FFF2-40B4-BE49-F238E27FC236}">
                <a16:creationId xmlns:a16="http://schemas.microsoft.com/office/drawing/2014/main" id="{8659ACFB-0191-1567-AA80-DA2EAA83AEDC}"/>
              </a:ext>
            </a:extLst>
          </p:cNvPr>
          <p:cNvSpPr/>
          <p:nvPr/>
        </p:nvSpPr>
        <p:spPr>
          <a:xfrm>
            <a:off x="7680000" y="6090000"/>
            <a:ext cx="1440000" cy="56000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  <a:effectLst>
            <a:outerShdw algn="ctr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buNone/>
            </a:pPr>
            <a:r>
              <a:rPr lang="en-US" sz="1400" b="1">
                <a:solidFill>
                  <a:srgbClr val="262626"/>
                </a:solidFill>
                <a:effectLst/>
              </a:rPr>
              <a:t>한빛정보통신</a:t>
            </a:r>
          </a:p>
          <a:p>
            <a:pPr algn="r">
              <a:buNone/>
            </a:pPr>
            <a:r>
              <a:rPr lang="en-US" sz="100">
                <a:effectLst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11969"/>
      </p:ext>
    </p:extLst>
  </p:cSld>
  <p:clrMapOvr>
    <a:masterClrMapping/>
  </p:clrMapOvr>
</p:sld>
</file>

<file path=ppt/theme/theme1.xml><?xml version="1.0" encoding="utf-8"?>
<a:theme xmlns:a="http://schemas.openxmlformats.org/drawingml/2006/main" name="TechData_2013_PPT_공용양식_일반비율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Data_2013_PPT_공용양식_일반비율" id="{C58E0089-4CB7-401F-8376-4B789719F7FB}" vid="{152D1D01-1328-4557-95F8-98DED1B9C73F}"/>
    </a:ext>
  </a:extLst>
</a:theme>
</file>

<file path=ppt/theme/theme2.xml><?xml version="1.0" encoding="utf-8"?>
<a:theme xmlns:a="http://schemas.openxmlformats.org/drawingml/2006/main" name="본문레이아웃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bg1">
              <a:lumMod val="8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200" b="1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3_본문레이아웃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본문레이아웃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표지/컨텐츠/간지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_dlc_DocId xmlns="6000db5a-f726-4625-9f5f-1329f1913430">C5FVS5HYH33J-85-35</_dlc_DocId>
    <_dlc_DocIdUrl xmlns="6000db5a-f726-4625-9f5f-1329f1913430">
      <Url>https://portal.techdata.co.kr/ServiceDiv/infra/_layouts/15/DocIdRedir.aspx?ID=C5FVS5HYH33J-85-35</Url>
      <Description>C5FVS5HYH33J-85-35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D15571FEE585D4CA7A456B4CDC6DA42" ma:contentTypeVersion="1" ma:contentTypeDescription="새 문서를 만듭니다." ma:contentTypeScope="" ma:versionID="49b40ff598ee16aa94671ceda5218aaa">
  <xsd:schema xmlns:xsd="http://www.w3.org/2001/XMLSchema" xmlns:xs="http://www.w3.org/2001/XMLSchema" xmlns:p="http://schemas.microsoft.com/office/2006/metadata/properties" xmlns:ns1="http://schemas.microsoft.com/sharepoint/v3" xmlns:ns2="6000db5a-f726-4625-9f5f-1329f1913430" targetNamespace="http://schemas.microsoft.com/office/2006/metadata/properties" ma:root="true" ma:fieldsID="c76682d8acaca805ab4eb128a724ab91" ns1:_="" ns2:_="">
    <xsd:import namespace="http://schemas.microsoft.com/sharepoint/v3"/>
    <xsd:import namespace="6000db5a-f726-4625-9f5f-1329f1913430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시작 날짜 예약" ma:description="시작 날짜 예약은 게시 기능을 사용하여 만드는 사이트 열로, 사이트 방문자에게 이 페이지를 처음 표시할 날짜 및 시간을 지정하는 데 사용합니다." ma:internalName="PublishingStartDate">
      <xsd:simpleType>
        <xsd:restriction base="dms:Unknown"/>
      </xsd:simpleType>
    </xsd:element>
    <xsd:element name="PublishingExpirationDate" ma:index="9" nillable="true" ma:displayName="종료 날짜 예약" ma:description="종료 날짜 예약은 게시 기능을 사용하여 만드는 사이트 열로, 사이트 방문자에게 이 페이지를 더 이상 표시하지 않을 날짜 및 시간을 지정하는 데 사용됩니다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00db5a-f726-4625-9f5f-1329f1913430" elementFormDefault="qualified">
    <xsd:import namespace="http://schemas.microsoft.com/office/2006/documentManagement/types"/>
    <xsd:import namespace="http://schemas.microsoft.com/office/infopath/2007/PartnerControls"/>
    <xsd:element name="_dlc_DocId" ma:index="10" nillable="true" ma:displayName="문서 ID 값" ma:description="이 항목에 할당된 문서 ID 값입니다." ma:internalName="_dlc_DocId" ma:readOnly="true">
      <xsd:simpleType>
        <xsd:restriction base="dms:Text"/>
      </xsd:simpleType>
    </xsd:element>
    <xsd:element name="_dlc_DocIdUrl" ma:index="11" nillable="true" ma:displayName="문서 ID" ma:description="이 문서에 대한 영구 링크입니다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2" nillable="true" ma:displayName="영구 ID" ma:description="추가 시 ID를 유지합니다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6F193E-54AE-4F4D-8CC9-46092A87078A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FEA4CE00-7521-4C9A-9C58-3E36B85ABE7C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sharepoint/v3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6000db5a-f726-4625-9f5f-1329f1913430"/>
  </ds:schemaRefs>
</ds:datastoreItem>
</file>

<file path=customXml/itemProps3.xml><?xml version="1.0" encoding="utf-8"?>
<ds:datastoreItem xmlns:ds="http://schemas.openxmlformats.org/officeDocument/2006/customXml" ds:itemID="{A143C997-502C-4F4F-9DF0-2002B3FED95B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1E05F43-6F55-41B3-BC2A-04B211BFA3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00db5a-f726-4625-9f5f-1329f19134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9479</TotalTime>
  <Words>5870</Words>
  <Application>Microsoft Office PowerPoint</Application>
  <PresentationFormat>화면 슬라이드 쇼(4:3)</PresentationFormat>
  <Paragraphs>1509</Paragraphs>
  <Slides>47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47</vt:i4>
      </vt:variant>
    </vt:vector>
  </HeadingPairs>
  <TitlesOfParts>
    <vt:vector size="62" baseType="lpstr">
      <vt:lpstr>Futura Bk</vt:lpstr>
      <vt:lpstr>HY견고딕</vt:lpstr>
      <vt:lpstr>HY울릉도M</vt:lpstr>
      <vt:lpstr>HY헤드라인M</vt:lpstr>
      <vt:lpstr>Rix모던고딕 B</vt:lpstr>
      <vt:lpstr>맑은 고딕</vt:lpstr>
      <vt:lpstr>Arial</vt:lpstr>
      <vt:lpstr>Calibri</vt:lpstr>
      <vt:lpstr>Segoe UI Semibold</vt:lpstr>
      <vt:lpstr>Wingdings</vt:lpstr>
      <vt:lpstr>TechData_2013_PPT_공용양식_일반비율</vt:lpstr>
      <vt:lpstr>본문레이아웃</vt:lpstr>
      <vt:lpstr>3_본문레이아웃</vt:lpstr>
      <vt:lpstr>4_본문레이아웃</vt:lpstr>
      <vt:lpstr>1_표지/컨텐츠/간지</vt:lpstr>
      <vt:lpstr>한빛정보통신</vt:lpstr>
      <vt:lpstr>PowerPoint 프레젠테이션</vt:lpstr>
      <vt:lpstr>I. 제안 개요</vt:lpstr>
      <vt:lpstr>PowerPoint 프레젠테이션</vt:lpstr>
      <vt:lpstr>PowerPoint 프레젠테이션</vt:lpstr>
      <vt:lpstr>PowerPoint 프레젠테이션</vt:lpstr>
      <vt:lpstr>II. 제안 업체 일반</vt:lpstr>
      <vt:lpstr>1. 일반현황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III. 제안 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IV. 사업관리 및 지원 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IV. 사업관리 및 지원 내용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</vt:vector>
  </TitlesOfParts>
  <Company>테크데이타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제일제당_IT_인프라_효율화_사업_제안서_v0.1</dc:title>
  <dc:creator>조일수</dc:creator>
  <cp:lastModifiedBy>고은석</cp:lastModifiedBy>
  <cp:revision>1000</cp:revision>
  <dcterms:created xsi:type="dcterms:W3CDTF">2012-06-20T02:26:28Z</dcterms:created>
  <dcterms:modified xsi:type="dcterms:W3CDTF">2026-10-28T04:59:23Z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0x010100AD15571FEE585D4CA7A456B4CDC6DA42</vt:lpwstr>
  </property>
  <property fmtid="{D5CDD505-2E9C-101B-9397-08002B2CF9AE}" pid="3" name="_dlc_DocIdItemGuid">
    <vt:lpwstr>5952a3dd-38f0-4bf4-a01c-ad65839c613f</vt:lpwstr>
  </property>
  <property fmtid="{D5CDD505-2E9C-101B-9397-08002B2CF9AE}" pid="4" name="MSIP_Label_8a7ee6f8-8cc4-4aa6-ade4-2236ec909272_Enabled">
    <vt:lpwstr>true</vt:lpwstr>
  </property>
  <property fmtid="{D5CDD505-2E9C-101B-9397-08002B2CF9AE}" pid="5" name="MSIP_Label_8a7ee6f8-8cc4-4aa6-ade4-2236ec909272_SetDate">
    <vt:lpwstr>2026-10-28T04:00:48Z</vt:lpwstr>
  </property>
  <property fmtid="{D5CDD505-2E9C-101B-9397-08002B2CF9AE}" pid="6" name="MSIP_Label_8a7ee6f8-8cc4-4aa6-ade4-2236ec909272_Method">
    <vt:lpwstr>Standard</vt:lpwstr>
  </property>
  <property fmtid="{D5CDD505-2E9C-101B-9397-08002B2CF9AE}" pid="7" name="MSIP_Label_8a7ee6f8-8cc4-4aa6-ade4-2236ec909272_Name">
    <vt:lpwstr>Confidential-unlock</vt:lpwstr>
  </property>
  <property fmtid="{D5CDD505-2E9C-101B-9397-08002B2CF9AE}" pid="8" name="MSIP_Label_8a7ee6f8-8cc4-4aa6-ade4-2236ec909272_SiteId">
    <vt:lpwstr>6144959d-620b-4d3d-9090-c4891f1914ce</vt:lpwstr>
  </property>
  <property fmtid="{D5CDD505-2E9C-101B-9397-08002B2CF9AE}" pid="9" name="MSIP_Label_8a7ee6f8-8cc4-4aa6-ade4-2236ec909272_ActionId">
    <vt:lpwstr>dc44c1eb-04ca-454f-8a89-fecf7f66e675</vt:lpwstr>
  </property>
  <property fmtid="{D5CDD505-2E9C-101B-9397-08002B2CF9AE}" pid="10" name="MSIP_Label_8a7ee6f8-8cc4-4aa6-ade4-2236ec909272_ContentBits">
    <vt:lpwstr>0</vt:lpwstr>
  </property>
</Properties>
</file>